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tags/tag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 id="2147483663" r:id="rId3"/>
  </p:sldMasterIdLst>
  <p:notesMasterIdLst>
    <p:notesMasterId r:id="rId28"/>
  </p:notesMasterIdLst>
  <p:handoutMasterIdLst>
    <p:handoutMasterId r:id="rId29"/>
  </p:handoutMasterIdLst>
  <p:sldIdLst>
    <p:sldId id="267" r:id="rId4"/>
    <p:sldId id="271" r:id="rId5"/>
    <p:sldId id="277" r:id="rId6"/>
    <p:sldId id="278" r:id="rId7"/>
    <p:sldId id="279" r:id="rId8"/>
    <p:sldId id="280" r:id="rId9"/>
    <p:sldId id="281" r:id="rId10"/>
    <p:sldId id="282" r:id="rId11"/>
    <p:sldId id="292" r:id="rId12"/>
    <p:sldId id="283" r:id="rId13"/>
    <p:sldId id="284" r:id="rId14"/>
    <p:sldId id="285" r:id="rId15"/>
    <p:sldId id="286" r:id="rId16"/>
    <p:sldId id="293" r:id="rId17"/>
    <p:sldId id="287" r:id="rId18"/>
    <p:sldId id="288" r:id="rId19"/>
    <p:sldId id="289" r:id="rId20"/>
    <p:sldId id="290" r:id="rId21"/>
    <p:sldId id="291" r:id="rId22"/>
    <p:sldId id="294" r:id="rId23"/>
    <p:sldId id="295" r:id="rId24"/>
    <p:sldId id="296" r:id="rId25"/>
    <p:sldId id="297" r:id="rId26"/>
    <p:sldId id="298" r:id="rId2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64" userDrawn="1">
          <p15:clr>
            <a:srgbClr val="A4A3A4"/>
          </p15:clr>
        </p15:guide>
        <p15:guide id="2" orient="horz" pos="61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75817" autoAdjust="0"/>
  </p:normalViewPr>
  <p:slideViewPr>
    <p:cSldViewPr>
      <p:cViewPr varScale="1">
        <p:scale>
          <a:sx n="62" d="100"/>
          <a:sy n="62" d="100"/>
        </p:scale>
        <p:origin x="1354" y="62"/>
      </p:cViewPr>
      <p:guideLst>
        <p:guide pos="664"/>
        <p:guide orient="horz" pos="618"/>
      </p:guideLst>
    </p:cSldViewPr>
  </p:slideViewPr>
  <p:notesTextViewPr>
    <p:cViewPr>
      <p:scale>
        <a:sx n="1" d="1"/>
        <a:sy n="1" d="1"/>
      </p:scale>
      <p:origin x="0" y="0"/>
    </p:cViewPr>
  </p:notesTextViewPr>
  <p:sorterViewPr>
    <p:cViewPr varScale="1">
      <p:scale>
        <a:sx n="100" d="100"/>
        <a:sy n="100" d="100"/>
      </p:scale>
      <p:origin x="0" y="0"/>
    </p:cViewPr>
  </p:sorterViewPr>
  <p:notesViewPr>
    <p:cSldViewPr>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2.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985FFBF-2C64-42CD-9E2F-09E2049D891B}" type="datetimeFigureOut">
              <a:rPr lang="en-US"/>
              <a:t>10/30/2024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AF2C6B-0C1B-4F88-BCBA-898BA50DE788}" type="slidenum">
              <a:rPr/>
              <a:t>‹#›</a:t>
            </a:fld>
            <a:endParaRPr/>
          </a:p>
        </p:txBody>
      </p:sp>
    </p:spTree>
    <p:extLst>
      <p:ext uri="{BB962C8B-B14F-4D97-AF65-F5344CB8AC3E}">
        <p14:creationId xmlns:p14="http://schemas.microsoft.com/office/powerpoint/2010/main" val="2410930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A3DF44-BBF1-44C7-A0B1-7B7B2F7B3880}" type="datetimeFigureOut">
              <a:rPr lang="en-US"/>
              <a:t>10/30/2024</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8E53BB-F993-49A1-9E37-CA3E5BE0709B}" type="slidenum">
              <a:rPr/>
              <a:t>‹#›</a:t>
            </a:fld>
            <a:endParaRPr/>
          </a:p>
        </p:txBody>
      </p:sp>
    </p:spTree>
    <p:extLst>
      <p:ext uri="{BB962C8B-B14F-4D97-AF65-F5344CB8AC3E}">
        <p14:creationId xmlns:p14="http://schemas.microsoft.com/office/powerpoint/2010/main" val="60987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and welcome to Chapter 7 of</a:t>
            </a:r>
            <a:r>
              <a:rPr lang="en-US" baseline="0" dirty="0"/>
              <a:t> </a:t>
            </a:r>
            <a:r>
              <a:rPr lang="en-US" dirty="0"/>
              <a:t>the CE2002 course on Object-Oriented Design &amp; Programming. This video lecture will focus on sequence diagrams.</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GB" smtClean="0"/>
              <a:t>1</a:t>
            </a:fld>
            <a:endParaRPr lang="en-GB"/>
          </a:p>
        </p:txBody>
      </p:sp>
    </p:spTree>
    <p:extLst>
      <p:ext uri="{BB962C8B-B14F-4D97-AF65-F5344CB8AC3E}">
        <p14:creationId xmlns:p14="http://schemas.microsoft.com/office/powerpoint/2010/main" val="314353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the end of this chapter, you should be able to describe the elements of a sequence diagram</a:t>
            </a:r>
            <a:r>
              <a:rPr lang="en-US" baseline="0" dirty="0"/>
              <a:t> and </a:t>
            </a:r>
            <a:r>
              <a:rPr lang="en-US" dirty="0"/>
              <a:t>describe interaction fragments. Furthermore,</a:t>
            </a:r>
            <a:r>
              <a:rPr lang="en-US" baseline="0" dirty="0"/>
              <a:t> you will also be able to demonstrate diagram to a code</a:t>
            </a:r>
            <a:r>
              <a:rPr lang="en-US" dirty="0"/>
              <a:t>.</a:t>
            </a:r>
          </a:p>
          <a:p>
            <a:endParaRPr lang="en-GB" dirty="0"/>
          </a:p>
        </p:txBody>
      </p:sp>
      <p:sp>
        <p:nvSpPr>
          <p:cNvPr id="4" name="Slide Number Placeholder 3"/>
          <p:cNvSpPr>
            <a:spLocks noGrp="1"/>
          </p:cNvSpPr>
          <p:nvPr>
            <p:ph type="sldNum" sz="quarter" idx="10"/>
          </p:nvPr>
        </p:nvSpPr>
        <p:spPr/>
        <p:txBody>
          <a:bodyPr/>
          <a:lstStyle/>
          <a:p>
            <a:fld id="{3F8E53BB-F993-49A1-9E37-CA3E5BE0709B}" type="slidenum">
              <a:rPr lang="en-GB" smtClean="0"/>
              <a:t>2</a:t>
            </a:fld>
            <a:endParaRPr lang="en-GB"/>
          </a:p>
        </p:txBody>
      </p:sp>
    </p:spTree>
    <p:extLst>
      <p:ext uri="{BB962C8B-B14F-4D97-AF65-F5344CB8AC3E}">
        <p14:creationId xmlns:p14="http://schemas.microsoft.com/office/powerpoint/2010/main" val="1594375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868673-1B6A-429D-99E5-738C3C2F8C23}" type="slidenum">
              <a:rPr lang="zh-TW" altLang="en-US" sz="1200"/>
              <a:pPr eaLnBrk="1" hangingPunct="1"/>
              <a:t>3</a:t>
            </a:fld>
            <a:endParaRPr lang="en-US" altLang="zh-TW"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Let’s start with the first topic of this chapter, Sequence Diagram Elements.</a:t>
            </a:r>
            <a:endParaRPr lang="zh-TW" altLang="en-US" dirty="0"/>
          </a:p>
        </p:txBody>
      </p:sp>
    </p:spTree>
    <p:extLst>
      <p:ext uri="{BB962C8B-B14F-4D97-AF65-F5344CB8AC3E}">
        <p14:creationId xmlns:p14="http://schemas.microsoft.com/office/powerpoint/2010/main" val="2583282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by revising what sequence or </a:t>
            </a:r>
            <a:r>
              <a:rPr lang="en-US" dirty="0" err="1"/>
              <a:t>behavioural</a:t>
            </a:r>
            <a:r>
              <a:rPr lang="en-US" dirty="0"/>
              <a:t> diagrams are.</a:t>
            </a:r>
          </a:p>
          <a:p>
            <a:endParaRPr lang="en-US" dirty="0"/>
          </a:p>
          <a:p>
            <a:r>
              <a:rPr lang="en-US" altLang="en-US" dirty="0">
                <a:latin typeface="Arial" pitchFamily="34" charset="0"/>
              </a:rPr>
              <a:t>A sequence diagram is an interaction diagram that shows how objects operate with one another and in what order. It is a construct of a message sequence chart.</a:t>
            </a:r>
            <a:r>
              <a:rPr lang="en-US" altLang="en-US" baseline="0" dirty="0">
                <a:latin typeface="Arial" pitchFamily="34" charset="0"/>
              </a:rPr>
              <a:t> It </a:t>
            </a:r>
            <a:r>
              <a:rPr lang="en-US" altLang="en-US" dirty="0">
                <a:latin typeface="Arial" pitchFamily="34" charset="0"/>
              </a:rPr>
              <a:t>shows object interactions arranged in time sequence. It depicts the objects and classes involved in the scenario and the sequence of messages exchanged between the objects needed to carry out the functionality of the scenario. Sequence diagrams are typically associated with use case realizations in the Logical View of the system under development. </a:t>
            </a:r>
            <a:endParaRPr lang="en-GB" dirty="0"/>
          </a:p>
        </p:txBody>
      </p:sp>
      <p:sp>
        <p:nvSpPr>
          <p:cNvPr id="4" name="Slide Number Placeholder 3"/>
          <p:cNvSpPr>
            <a:spLocks noGrp="1"/>
          </p:cNvSpPr>
          <p:nvPr>
            <p:ph type="sldNum" sz="quarter" idx="10"/>
          </p:nvPr>
        </p:nvSpPr>
        <p:spPr/>
        <p:txBody>
          <a:bodyPr/>
          <a:lstStyle/>
          <a:p>
            <a:fld id="{3F8E53BB-F993-49A1-9E37-CA3E5BE0709B}" type="slidenum">
              <a:rPr lang="en-GB" smtClean="0"/>
              <a:t>4</a:t>
            </a:fld>
            <a:endParaRPr lang="en-GB"/>
          </a:p>
        </p:txBody>
      </p:sp>
    </p:spTree>
    <p:extLst>
      <p:ext uri="{BB962C8B-B14F-4D97-AF65-F5344CB8AC3E}">
        <p14:creationId xmlns:p14="http://schemas.microsoft.com/office/powerpoint/2010/main" val="3946143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1B9BB204-C9D0-4EC9-A810-41F15046FD66}" type="slidenum">
              <a:rPr lang="en-US" altLang="en-US" sz="1300"/>
              <a:pPr eaLnBrk="1" hangingPunct="1">
                <a:spcBef>
                  <a:spcPct val="0"/>
                </a:spcBef>
              </a:pPr>
              <a:t>5</a:t>
            </a:fld>
            <a:endParaRPr lang="en-US" altLang="en-US" sz="13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Let</a:t>
            </a:r>
            <a:r>
              <a:rPr lang="en-US" altLang="en-US" baseline="0" dirty="0"/>
              <a:t> us look at the elements of a sequence diagram. On the sequence diagram itself there is a frame and on top of it the name of the sequence diagram has been mentioned. Sequence diagram is about object to object interaction. Therefore, we have what you call classifiers or can also be called as participants. These are mainly objects. But of course, sometimes we also see one skeleton of the human which is the hand of the human acting as a user which is an external user using the system or an application. Talking about the object itself, the convention is similar to the object diagram whereby you have a colon. Before the colon is the object name and after the colon is the class name. So you can easily know which object belongs to which class and what name is give to this object. Next, you can see the dash line itself which is basically the lifeline. When you see a lifeline, it means that this object needs to be instantiated and ready to be called to do work. Until this is activated which has been shown by the activation block or box, you will know that some object has invoked a method and triggered it to do some work. Object interaction is basically object to object interaction by sending messages between them. They are either asynchronous or synchronous. Synchronous message in itself is basically blocking. When you send a message out, you expect that to return before you can continue. So most of the codes are written in the synchronous way where you invoke a method and wait for it to return before you can continue to the next event. Asynchronous is mostly for fortified instances where you have to inform another track to continue and process with some information. For the purpose of this application, what you are going mostly going to use are synchronous messages. Of course when you send a message itself, that also is a return message. A return message is similar to the dependency notation which if you notice is a skeleton dash line. Having said that, a message being sent to an object is basically a method belonging to the object itself that is being invoked. For this case, toggle method exists inside the light class. An object itself can also call its own method by doing a self message. For the method itself you can follow the usual message signature. To elaborate, this is the actual method which is being invoked. </a:t>
            </a:r>
          </a:p>
          <a:p>
            <a:pPr eaLnBrk="1" hangingPunct="1"/>
            <a:endParaRPr lang="en-US" altLang="en-US" baseline="0" dirty="0"/>
          </a:p>
          <a:p>
            <a:pPr eaLnBrk="1" hangingPunct="1"/>
            <a:r>
              <a:rPr lang="en-US" altLang="en-US" baseline="0" dirty="0"/>
              <a:t>A sequence diagram should be read top down. Left and right depends, as it mostly depends on how you place the objects and the flow of the messages would be different. So it could be left to right or right to left depending on the sequence of the objects placed. But it should most definitely be read top down. </a:t>
            </a:r>
          </a:p>
          <a:p>
            <a:pPr eaLnBrk="1" hangingPunct="1"/>
            <a:endParaRPr lang="en-US" altLang="en-US" dirty="0"/>
          </a:p>
        </p:txBody>
      </p:sp>
    </p:spTree>
    <p:extLst>
      <p:ext uri="{BB962C8B-B14F-4D97-AF65-F5344CB8AC3E}">
        <p14:creationId xmlns:p14="http://schemas.microsoft.com/office/powerpoint/2010/main" val="3932872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C2DF0D84-5019-4B44-AA17-2EC5605A152C}" type="slidenum">
              <a:rPr lang="en-US" altLang="en-US" sz="1300"/>
              <a:pPr eaLnBrk="1" hangingPunct="1">
                <a:spcBef>
                  <a:spcPct val="0"/>
                </a:spcBef>
              </a:pPr>
              <a:t>6</a:t>
            </a:fld>
            <a:endParaRPr lang="en-US" altLang="en-US" sz="13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You always do learn about the stereotype classes. You can always put the stereotype notations and icon in the sequence diagrams. You</a:t>
            </a:r>
            <a:r>
              <a:rPr lang="en-US" altLang="en-US" baseline="0" dirty="0"/>
              <a:t> will notice that if you put it in a stereotype format, you would be able to retrieve more information about the role of this class. </a:t>
            </a:r>
          </a:p>
          <a:p>
            <a:pPr eaLnBrk="1" hangingPunct="1"/>
            <a:endParaRPr lang="en-US" altLang="en-US" baseline="0" dirty="0"/>
          </a:p>
          <a:p>
            <a:pPr eaLnBrk="1" hangingPunct="1"/>
            <a:r>
              <a:rPr lang="en-US" altLang="en-US" baseline="0" dirty="0"/>
              <a:t>There will be a lot of activation boxes. It actually helps you to know where is the start of the method body. As mentioned earlier, toggle is a method belonging to this slide class. So by having this where you see the activation block means that it is the starting of the method body. Within this method body there is a self call bin which is calling the </a:t>
            </a:r>
            <a:r>
              <a:rPr lang="en-US" altLang="en-US" baseline="0" dirty="0" err="1"/>
              <a:t>getState</a:t>
            </a:r>
            <a:r>
              <a:rPr lang="en-US" altLang="en-US" baseline="0" dirty="0"/>
              <a:t> which is inside the method body itself. The activation boxes are important to understand where is the start of the method and the boundaries. There are two types of self message but you only use the recursive message because it can clearly show where is the message coming from since the activation block will tell you where is boundary of the method. If the message is being sent, you will know where it is coming from. </a:t>
            </a:r>
            <a:endParaRPr lang="en-US" altLang="en-US" dirty="0"/>
          </a:p>
        </p:txBody>
      </p:sp>
    </p:spTree>
    <p:extLst>
      <p:ext uri="{BB962C8B-B14F-4D97-AF65-F5344CB8AC3E}">
        <p14:creationId xmlns:p14="http://schemas.microsoft.com/office/powerpoint/2010/main" val="3795140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aseline="0" dirty="0"/>
              <a:t>The next thing is how you instantiate the object. But having these two together, that is, the object creation instantiation. You can put any new parameters inside ‘new’ to show that a certain constructor is being called by passing values to initiate it. If there is construct, there is also going to be destruct which is the cross. The cross itself in java is used to know the object.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7</a:t>
            </a:fld>
            <a:endParaRPr lang="en-US"/>
          </a:p>
        </p:txBody>
      </p:sp>
    </p:spTree>
    <p:extLst>
      <p:ext uri="{BB962C8B-B14F-4D97-AF65-F5344CB8AC3E}">
        <p14:creationId xmlns:p14="http://schemas.microsoft.com/office/powerpoint/2010/main" val="154350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30F3CE45-058E-4921-B878-6D939977076D}" type="slidenum">
              <a:rPr lang="en-US" altLang="en-US" sz="1300"/>
              <a:pPr eaLnBrk="1" hangingPunct="1">
                <a:spcBef>
                  <a:spcPct val="0"/>
                </a:spcBef>
              </a:pPr>
              <a:t>8</a:t>
            </a:fld>
            <a:endParaRPr lang="en-US" altLang="en-US" sz="13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Usually</a:t>
            </a:r>
            <a:r>
              <a:rPr lang="en-US" altLang="en-US" baseline="0" dirty="0"/>
              <a:t> there is a class diagram before a sequence diagram. By the time you will have a sequence diagram, certain methods would already have been created and defined so that you can map out the flow. Sometimes when you are drawing the sequence diagrams, you may discover new methods based on which you can modify the class diagrams. Class diagrams and sequence diagrams compliment each other to make each of the diagram complete. On the message itself you have to clear about what is being passed to the method and what is being returned. Every information that is being put into the sequence diagram must be traceable. For example, the dispatch in this case is a method put in this order class because it is invoking into this order class itself and there should be a correlation in the class diagrams to have a clear method signature for you to know what is the argument type. With the result itself, you would want to have variables to be able to hold on to the result returned so that it can be used later in the flow. Similarly, today itself should be mentioned in some part of the sequence diagram to mention where this comes from. Where it is created and where it is being returned from. It can also do some assignments of the local variables. In UML, you will see the word called operations. It holds the same meaning as method and functions. Just that UML is called operations. </a:t>
            </a:r>
            <a:endParaRPr lang="en-US" altLang="en-US" dirty="0"/>
          </a:p>
        </p:txBody>
      </p:sp>
    </p:spTree>
    <p:extLst>
      <p:ext uri="{BB962C8B-B14F-4D97-AF65-F5344CB8AC3E}">
        <p14:creationId xmlns:p14="http://schemas.microsoft.com/office/powerpoint/2010/main" val="3733054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868673-1B6A-429D-99E5-738C3C2F8C23}" type="slidenum">
              <a:rPr lang="zh-TW" altLang="en-US" sz="1200"/>
              <a:pPr eaLnBrk="1" hangingPunct="1"/>
              <a:t>9</a:t>
            </a:fld>
            <a:endParaRPr lang="en-US" altLang="zh-TW"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Let’s start with the next topic of this chapter, Interaction Fragments.</a:t>
            </a:r>
            <a:endParaRPr lang="zh-TW" altLang="en-US" dirty="0"/>
          </a:p>
        </p:txBody>
      </p:sp>
    </p:spTree>
    <p:extLst>
      <p:ext uri="{BB962C8B-B14F-4D97-AF65-F5344CB8AC3E}">
        <p14:creationId xmlns:p14="http://schemas.microsoft.com/office/powerpoint/2010/main" val="792385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8111DB17-9379-4112-AA07-9DA256ACFDB7}" type="slidenum">
              <a:rPr lang="en-US" altLang="en-US" sz="1300"/>
              <a:pPr eaLnBrk="1" hangingPunct="1">
                <a:spcBef>
                  <a:spcPct val="0"/>
                </a:spcBef>
              </a:pPr>
              <a:t>10</a:t>
            </a:fld>
            <a:endParaRPr lang="en-US" altLang="en-US" sz="13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Let us now talk about the interaction fragments. The main interaction fragment is called ref</a:t>
            </a:r>
            <a:r>
              <a:rPr lang="en-US" altLang="en-US" baseline="0" dirty="0"/>
              <a:t> or reference. Usually you want to reference another sequential diagram. One of the possible reasons is that the sequence diagram is being repeated regularly. So instead of repeating this sequence again and again, use this to refer to a single sequence diagram instead of recreating it again. It is as though another sequence diagram is being fit into it. </a:t>
            </a:r>
          </a:p>
          <a:p>
            <a:pPr eaLnBrk="1" hangingPunct="1"/>
            <a:endParaRPr lang="en-US" altLang="en-US" baseline="0" dirty="0"/>
          </a:p>
          <a:p>
            <a:pPr eaLnBrk="1" hangingPunct="1"/>
            <a:r>
              <a:rPr lang="en-US" altLang="en-US" baseline="0" dirty="0"/>
              <a:t>In codes you have control structures. There is a usage of if statement. Here you can see that in opt is basically the if statement.  Within the guard itself has been placed the condition of the if statement. </a:t>
            </a:r>
            <a:endParaRPr lang="en-US" altLang="en-US" dirty="0"/>
          </a:p>
        </p:txBody>
      </p:sp>
    </p:spTree>
    <p:extLst>
      <p:ext uri="{BB962C8B-B14F-4D97-AF65-F5344CB8AC3E}">
        <p14:creationId xmlns:p14="http://schemas.microsoft.com/office/powerpoint/2010/main" val="3356179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BA8AED7B-B240-4A4C-8CA3-56B74784511F}" type="slidenum">
              <a:rPr lang="en-US" altLang="en-US" sz="1300"/>
              <a:pPr eaLnBrk="1" hangingPunct="1">
                <a:spcBef>
                  <a:spcPct val="0"/>
                </a:spcBef>
              </a:pPr>
              <a:t>11</a:t>
            </a:fld>
            <a:endParaRPr lang="en-US" altLang="en-US" sz="13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681310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88988" indent="-303213" defTabSz="989013" eaLnBrk="0" hangingPunct="0">
              <a:spcBef>
                <a:spcPct val="30000"/>
              </a:spcBef>
              <a:defRPr sz="1200">
                <a:solidFill>
                  <a:schemeClr val="tx1"/>
                </a:solidFill>
                <a:latin typeface="Garamond" panose="02020404030301010803" pitchFamily="18" charset="0"/>
              </a:defRPr>
            </a:lvl2pPr>
            <a:lvl3pPr marL="1214438" indent="-242888" defTabSz="989013" eaLnBrk="0" hangingPunct="0">
              <a:spcBef>
                <a:spcPct val="30000"/>
              </a:spcBef>
              <a:defRPr sz="1200">
                <a:solidFill>
                  <a:schemeClr val="tx1"/>
                </a:solidFill>
                <a:latin typeface="Garamond" panose="02020404030301010803" pitchFamily="18" charset="0"/>
              </a:defRPr>
            </a:lvl3pPr>
            <a:lvl4pPr marL="1700213" indent="-242888" defTabSz="989013" eaLnBrk="0" hangingPunct="0">
              <a:spcBef>
                <a:spcPct val="30000"/>
              </a:spcBef>
              <a:defRPr sz="1200">
                <a:solidFill>
                  <a:schemeClr val="tx1"/>
                </a:solidFill>
                <a:latin typeface="Garamond" panose="02020404030301010803" pitchFamily="18" charset="0"/>
              </a:defRPr>
            </a:lvl4pPr>
            <a:lvl5pPr marL="2185988" indent="-242888" defTabSz="989013" eaLnBrk="0" hangingPunct="0">
              <a:spcBef>
                <a:spcPct val="30000"/>
              </a:spcBef>
              <a:defRPr sz="1200">
                <a:solidFill>
                  <a:schemeClr val="tx1"/>
                </a:solidFill>
                <a:latin typeface="Garamond" panose="02020404030301010803" pitchFamily="18" charset="0"/>
              </a:defRPr>
            </a:lvl5pPr>
            <a:lvl6pPr marL="2643188" indent="-242888" defTabSz="989013"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9013"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9013"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2D22ACAE-8684-4CD7-B39C-17764A407524}" type="slidenum">
              <a:rPr lang="en-US" altLang="en-US" sz="1300"/>
              <a:pPr eaLnBrk="1" hangingPunct="1">
                <a:spcBef>
                  <a:spcPct val="0"/>
                </a:spcBef>
              </a:pPr>
              <a:t>12</a:t>
            </a:fld>
            <a:endParaRPr lang="en-US" altLang="en-US" sz="13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This is an important part which discussing</a:t>
            </a:r>
            <a:r>
              <a:rPr lang="en-US" altLang="en-US" baseline="0" dirty="0"/>
              <a:t> </a:t>
            </a:r>
            <a:r>
              <a:rPr lang="en-US" altLang="en-US" dirty="0"/>
              <a:t>interaction fragments. This</a:t>
            </a:r>
            <a:r>
              <a:rPr lang="en-US" altLang="en-US" baseline="0" dirty="0"/>
              <a:t> sequence diagram is about the method </a:t>
            </a:r>
            <a:r>
              <a:rPr lang="en-US" altLang="en-US" baseline="0" dirty="0" err="1"/>
              <a:t>printcurrentrecords</a:t>
            </a:r>
            <a:r>
              <a:rPr lang="en-US" altLang="en-US" baseline="0" dirty="0"/>
              <a:t> while passing in a file structure or type. The dot in the structure is called found message. Found message basically mentions that there is a message coming from the outside. You are not interested to know where this message is coming from but want to focus on what this message is doing. This is invoked into the print manager class. So the method </a:t>
            </a:r>
            <a:r>
              <a:rPr lang="en-US" altLang="en-US" baseline="0" dirty="0" err="1"/>
              <a:t>printcurrentrecords</a:t>
            </a:r>
            <a:r>
              <a:rPr lang="en-US" altLang="en-US" baseline="0" dirty="0"/>
              <a:t> belongs to this </a:t>
            </a:r>
            <a:r>
              <a:rPr lang="en-US" altLang="en-US" baseline="0" dirty="0" err="1"/>
              <a:t>printmanager</a:t>
            </a:r>
            <a:r>
              <a:rPr lang="en-US" altLang="en-US" baseline="0" dirty="0"/>
              <a:t> class. After receiving it, you send the message to this file object with the reference f to open it. Then there will be a return back. A message being sent to </a:t>
            </a:r>
            <a:r>
              <a:rPr lang="en-US" altLang="en-US" baseline="0" dirty="0" err="1"/>
              <a:t>printmanager</a:t>
            </a:r>
            <a:r>
              <a:rPr lang="en-US" altLang="en-US" baseline="0" dirty="0"/>
              <a:t> and the </a:t>
            </a:r>
            <a:r>
              <a:rPr lang="en-US" altLang="en-US" baseline="0" dirty="0" err="1"/>
              <a:t>printmanager</a:t>
            </a:r>
            <a:r>
              <a:rPr lang="en-US" altLang="en-US" baseline="0" dirty="0"/>
              <a:t> sends an open message to the file object and then there is the return. As mentioned earlier, in a sequence diagram, you don’t see a lot of return messages which is the dash line. It is always understood that whenever you invoke a method, there will always be a return. Whether you return a void, integer or an object, it will always be there. You don’t see that in a sequence diagram because you don’t want to crowd it and make it too messy so much that it becomes difficult to read. So for this case, there is the return back and then there is the loop. Loop itself is for the while loop or the for loop. This is for the case which is the not end of file which you will have to look through. What it does is that the </a:t>
            </a:r>
            <a:r>
              <a:rPr lang="en-US" altLang="en-US" baseline="0" dirty="0" err="1"/>
              <a:t>printmanagers</a:t>
            </a:r>
            <a:r>
              <a:rPr lang="en-US" altLang="en-US" baseline="0" dirty="0"/>
              <a:t> sends a message </a:t>
            </a:r>
            <a:r>
              <a:rPr lang="en-US" altLang="en-US" baseline="0" dirty="0" err="1"/>
              <a:t>readrecord</a:t>
            </a:r>
            <a:r>
              <a:rPr lang="en-US" altLang="en-US" baseline="0" dirty="0"/>
              <a:t> from the file and then hold on to the return in this REC variable. Imagine a return message being sent by returning to the REC assigned to this REC variable. We know that opt is if. We now have alt or alternative. This is used for </a:t>
            </a:r>
            <a:r>
              <a:rPr lang="en-US" altLang="en-US" baseline="0" dirty="0" err="1"/>
              <a:t>ifelse</a:t>
            </a:r>
            <a:r>
              <a:rPr lang="en-US" altLang="en-US" baseline="0" dirty="0"/>
              <a:t> so , that you can have multiple else. This is the case where if the record is valid, the same thing as the if condition in the square bracket to go into this segment. </a:t>
            </a:r>
            <a:r>
              <a:rPr lang="en-US" altLang="en-US" baseline="0" dirty="0" err="1"/>
              <a:t>Ifelse</a:t>
            </a:r>
            <a:r>
              <a:rPr lang="en-US" altLang="en-US" baseline="0" dirty="0"/>
              <a:t> can also be used for switch and then there is the corresponding else as well separated by the dash line. This way you can have multiple </a:t>
            </a:r>
            <a:r>
              <a:rPr lang="en-US" altLang="en-US" baseline="0" dirty="0" err="1"/>
              <a:t>ifelse</a:t>
            </a:r>
            <a:r>
              <a:rPr lang="en-US" altLang="en-US" baseline="0" dirty="0"/>
              <a:t> separated by this dash line. If this record is valid, you can tell the printer to print out this record. Else, you log this record. So the sequence seconds should be with such information that is you can trace where the variables are coming from. For example, if you look at rec, you might wonder where it is coming from. It is basically a return from the print record. Every information in the sequence must be traceable other than the method which can be traced back to the class diagram. Then the last part comes in. When you loop through and come to the end of the loop you close the file. </a:t>
            </a:r>
          </a:p>
          <a:p>
            <a:pPr eaLnBrk="1" hangingPunct="1"/>
            <a:endParaRPr lang="en-US" altLang="en-US" baseline="0" dirty="0"/>
          </a:p>
          <a:p>
            <a:pPr eaLnBrk="1" hangingPunct="1"/>
            <a:r>
              <a:rPr lang="en-US" altLang="en-US" baseline="0" dirty="0"/>
              <a:t>What you know of the activation boxes is the same as the interaction fragments. Where does the while loop start? And where does it end. It basically starts from here and goes down to the end. You can write the code as while and then the condition next to it. The same thing is to be followed for alt. You mention the start and the end. You write if and here you have the else. This will map out the flow. You read this as top down. Sometimes if the return message is not shown on the diagram, it becomes very difficult to trace. But you must know that there should always be a return message and thee flow itself must be very smooth. </a:t>
            </a:r>
          </a:p>
          <a:p>
            <a:pPr eaLnBrk="1" hangingPunct="1"/>
            <a:endParaRPr lang="en-US" altLang="en-US" baseline="0" dirty="0"/>
          </a:p>
          <a:p>
            <a:pPr eaLnBrk="1" hangingPunct="1"/>
            <a:r>
              <a:rPr lang="en-US" altLang="en-US" baseline="0" dirty="0"/>
              <a:t>There is another slide which will be discussed here. Basically, when you trace a sequence diagram, you need to be as smooth as you can be. You start from the top, return and flow back. This is a very simple representation without any loop, but just one loop shall cover all the cases. To verify if the sequence diagram is correct or not, make sure you can flow through smoothly and not in a way that when you send a message to one object, you are not able to trace anything or unable to connect to any other object. If such a situation arises, it would mean that there is something wrong with the sequence diagram. </a:t>
            </a:r>
          </a:p>
          <a:p>
            <a:pPr eaLnBrk="1" hangingPunct="1"/>
            <a:endParaRPr lang="en-US" altLang="en-US" baseline="0" dirty="0"/>
          </a:p>
          <a:p>
            <a:pPr eaLnBrk="1" hangingPunct="1"/>
            <a:r>
              <a:rPr lang="en-US" altLang="en-US" baseline="0" dirty="0"/>
              <a:t>Another interaction fragment is the break. If there is an if statement, you want a condition such that when this fragment is completed, for example, if y &gt; 0, you go into this segment and execute save. At the end of it, you break out of the loop. This shows that the break is there in the if statement but with the condition that you break out of the loop. </a:t>
            </a:r>
          </a:p>
          <a:p>
            <a:pPr eaLnBrk="1" hangingPunct="1"/>
            <a:endParaRPr lang="en-US" altLang="en-US" baseline="0" dirty="0"/>
          </a:p>
          <a:p>
            <a:pPr eaLnBrk="1" hangingPunct="1"/>
            <a:r>
              <a:rPr lang="en-US" altLang="en-US" baseline="0" dirty="0"/>
              <a:t>Sequence diagram as you can see is to trace out the flow of the method. What are the method flow between methods, what are the interaction objects etc. Another use for the sequence diagrams is that you map out the flow of a system function. </a:t>
            </a:r>
          </a:p>
          <a:p>
            <a:pPr eaLnBrk="1" hangingPunct="1"/>
            <a:endParaRPr lang="en-US" altLang="en-US" dirty="0"/>
          </a:p>
        </p:txBody>
      </p:sp>
    </p:spTree>
    <p:extLst>
      <p:ext uri="{BB962C8B-B14F-4D97-AF65-F5344CB8AC3E}">
        <p14:creationId xmlns:p14="http://schemas.microsoft.com/office/powerpoint/2010/main" val="599005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ltLang="en-US" dirty="0"/>
              <a:t>Let</a:t>
            </a:r>
            <a:r>
              <a:rPr lang="en-SG" altLang="en-US" baseline="0" dirty="0"/>
              <a:t> us use the displayed diagram as an example. So it is either used for mapping out the flow of the method, system function or an application function. How do we know which is which? By looking at the actor itself. As you now, system function is mostly used to map out and stimulate a user using that system or an application. Usually you have an external user using a system. For this case, it is trying to show a used case flow of a finger print access. First the user presses on the fingerprint reader, and then asks the </a:t>
            </a:r>
            <a:r>
              <a:rPr lang="en-SG" altLang="en-US" baseline="0" dirty="0" err="1"/>
              <a:t>FASmanager</a:t>
            </a:r>
            <a:r>
              <a:rPr lang="en-SG" altLang="en-US" baseline="0" dirty="0"/>
              <a:t> to receive the fingerprint image. Then this is forwarded to the finger print manager to validate the image. It is then going to look through all the records in the database and try to find a match this image by asking the fingerprint object to get it done. Then optimally, it is going to return the result. </a:t>
            </a:r>
          </a:p>
          <a:p>
            <a:endParaRPr lang="en-SG" altLang="en-US" baseline="0" dirty="0"/>
          </a:p>
          <a:p>
            <a:r>
              <a:rPr lang="en-SG" altLang="en-US" baseline="0" dirty="0"/>
              <a:t>Where is the result being stored? From this you know that the result is going to be stored in this variable called result. Then the result is going to be checked against whether it is true. Remember that this is if. If at all it is true, a message will be sent to the entry gate interface to unlock the door. The it just returns back. Another thing that should be noticed is that there are basically two control objects. Control objects depends on what the functions are which you are trying to repeat. It could be one or multiple. Use control class to elaborate on the logics. For this case it is the FAS manager because it is catering to the whole system which might not have a lot logics. Therefore, it may want to dedicate out the logic to another object which is in a control class specialising in fingerprint verification. This is why you should have two control objects to perform different logics. One is the main object while the other one dedicates itself to another specialised one to perform specialised tasks. This in a way is a good practice because you are separating out the responsibilities. If you want to change the logics on how to verify the fingerprint, you only have to modify the fingerprint manager. </a:t>
            </a:r>
            <a:endParaRPr lang="en-SG" altLang="en-US" dirty="0"/>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sz="1200">
                <a:solidFill>
                  <a:schemeClr val="tx1"/>
                </a:solidFill>
                <a:latin typeface="Garamond" panose="02020404030301010803" pitchFamily="18" charset="0"/>
              </a:defRPr>
            </a:lvl1pPr>
            <a:lvl2pPr marL="742950" indent="-285750" defTabSz="989013" eaLnBrk="0" hangingPunct="0">
              <a:spcBef>
                <a:spcPct val="30000"/>
              </a:spcBef>
              <a:defRPr sz="1200">
                <a:solidFill>
                  <a:schemeClr val="tx1"/>
                </a:solidFill>
                <a:latin typeface="Garamond" panose="02020404030301010803" pitchFamily="18" charset="0"/>
              </a:defRPr>
            </a:lvl2pPr>
            <a:lvl3pPr marL="1143000" indent="-228600" defTabSz="989013" eaLnBrk="0" hangingPunct="0">
              <a:spcBef>
                <a:spcPct val="30000"/>
              </a:spcBef>
              <a:defRPr sz="1200">
                <a:solidFill>
                  <a:schemeClr val="tx1"/>
                </a:solidFill>
                <a:latin typeface="Garamond" panose="02020404030301010803" pitchFamily="18" charset="0"/>
              </a:defRPr>
            </a:lvl3pPr>
            <a:lvl4pPr marL="1600200" indent="-228600" defTabSz="989013" eaLnBrk="0" hangingPunct="0">
              <a:spcBef>
                <a:spcPct val="30000"/>
              </a:spcBef>
              <a:defRPr sz="1200">
                <a:solidFill>
                  <a:schemeClr val="tx1"/>
                </a:solidFill>
                <a:latin typeface="Garamond" panose="02020404030301010803" pitchFamily="18" charset="0"/>
              </a:defRPr>
            </a:lvl4pPr>
            <a:lvl5pPr marL="2057400" indent="-228600" defTabSz="989013" eaLnBrk="0" hangingPunct="0">
              <a:spcBef>
                <a:spcPct val="30000"/>
              </a:spcBef>
              <a:defRPr sz="1200">
                <a:solidFill>
                  <a:schemeClr val="tx1"/>
                </a:solidFill>
                <a:latin typeface="Garamond" panose="02020404030301010803" pitchFamily="18" charset="0"/>
              </a:defRPr>
            </a:lvl5pPr>
            <a:lvl6pPr marL="2514600" indent="-228600" defTabSz="989013" eaLnBrk="0" fontAlgn="base" hangingPunct="0">
              <a:spcBef>
                <a:spcPct val="30000"/>
              </a:spcBef>
              <a:spcAft>
                <a:spcPct val="0"/>
              </a:spcAft>
              <a:defRPr sz="1200">
                <a:solidFill>
                  <a:schemeClr val="tx1"/>
                </a:solidFill>
                <a:latin typeface="Garamond" panose="02020404030301010803" pitchFamily="18" charset="0"/>
              </a:defRPr>
            </a:lvl6pPr>
            <a:lvl7pPr marL="2971800" indent="-228600" defTabSz="989013" eaLnBrk="0" fontAlgn="base" hangingPunct="0">
              <a:spcBef>
                <a:spcPct val="30000"/>
              </a:spcBef>
              <a:spcAft>
                <a:spcPct val="0"/>
              </a:spcAft>
              <a:defRPr sz="1200">
                <a:solidFill>
                  <a:schemeClr val="tx1"/>
                </a:solidFill>
                <a:latin typeface="Garamond" panose="02020404030301010803" pitchFamily="18" charset="0"/>
              </a:defRPr>
            </a:lvl7pPr>
            <a:lvl8pPr marL="3429000" indent="-228600" defTabSz="989013" eaLnBrk="0" fontAlgn="base" hangingPunct="0">
              <a:spcBef>
                <a:spcPct val="30000"/>
              </a:spcBef>
              <a:spcAft>
                <a:spcPct val="0"/>
              </a:spcAft>
              <a:defRPr sz="1200">
                <a:solidFill>
                  <a:schemeClr val="tx1"/>
                </a:solidFill>
                <a:latin typeface="Garamond" panose="02020404030301010803" pitchFamily="18" charset="0"/>
              </a:defRPr>
            </a:lvl8pPr>
            <a:lvl9pPr marL="3886200" indent="-228600" defTabSz="989013"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E5038038-F736-4DA2-82DA-03F6675C4B73}" type="slidenum">
              <a:rPr lang="en-US" altLang="en-US" sz="1300"/>
              <a:pPr eaLnBrk="1" hangingPunct="1">
                <a:spcBef>
                  <a:spcPct val="0"/>
                </a:spcBef>
              </a:pPr>
              <a:t>13</a:t>
            </a:fld>
            <a:endParaRPr lang="en-US" altLang="en-US" sz="1300"/>
          </a:p>
        </p:txBody>
      </p:sp>
    </p:spTree>
    <p:extLst>
      <p:ext uri="{BB962C8B-B14F-4D97-AF65-F5344CB8AC3E}">
        <p14:creationId xmlns:p14="http://schemas.microsoft.com/office/powerpoint/2010/main" val="312814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868673-1B6A-429D-99E5-738C3C2F8C23}" type="slidenum">
              <a:rPr lang="zh-TW" altLang="en-US" sz="1200"/>
              <a:pPr eaLnBrk="1" hangingPunct="1"/>
              <a:t>14</a:t>
            </a:fld>
            <a:endParaRPr lang="en-US" altLang="zh-TW"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Let’s start with the next topic of this chapter, Diagram to Code.</a:t>
            </a:r>
            <a:endParaRPr lang="zh-TW" altLang="en-US" dirty="0"/>
          </a:p>
        </p:txBody>
      </p:sp>
    </p:spTree>
    <p:extLst>
      <p:ext uri="{BB962C8B-B14F-4D97-AF65-F5344CB8AC3E}">
        <p14:creationId xmlns:p14="http://schemas.microsoft.com/office/powerpoint/2010/main" val="3560428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eaLnBrk="0" hangingPunct="0">
              <a:spcBef>
                <a:spcPct val="30000"/>
              </a:spcBef>
              <a:defRPr sz="1200">
                <a:solidFill>
                  <a:schemeClr val="tx1"/>
                </a:solidFill>
                <a:latin typeface="Garamond" panose="02020404030301010803" pitchFamily="18" charset="0"/>
              </a:defRPr>
            </a:lvl1pPr>
            <a:lvl2pPr marL="788988" indent="-303213" defTabSz="987425" eaLnBrk="0" hangingPunct="0">
              <a:spcBef>
                <a:spcPct val="30000"/>
              </a:spcBef>
              <a:defRPr sz="1200">
                <a:solidFill>
                  <a:schemeClr val="tx1"/>
                </a:solidFill>
                <a:latin typeface="Garamond" panose="02020404030301010803" pitchFamily="18" charset="0"/>
              </a:defRPr>
            </a:lvl2pPr>
            <a:lvl3pPr marL="1214438" indent="-242888" defTabSz="987425" eaLnBrk="0" hangingPunct="0">
              <a:spcBef>
                <a:spcPct val="30000"/>
              </a:spcBef>
              <a:defRPr sz="1200">
                <a:solidFill>
                  <a:schemeClr val="tx1"/>
                </a:solidFill>
                <a:latin typeface="Garamond" panose="02020404030301010803" pitchFamily="18" charset="0"/>
              </a:defRPr>
            </a:lvl3pPr>
            <a:lvl4pPr marL="1700213" indent="-242888" defTabSz="987425" eaLnBrk="0" hangingPunct="0">
              <a:spcBef>
                <a:spcPct val="30000"/>
              </a:spcBef>
              <a:defRPr sz="1200">
                <a:solidFill>
                  <a:schemeClr val="tx1"/>
                </a:solidFill>
                <a:latin typeface="Garamond" panose="02020404030301010803" pitchFamily="18" charset="0"/>
              </a:defRPr>
            </a:lvl4pPr>
            <a:lvl5pPr marL="2185988" indent="-242888" defTabSz="987425" eaLnBrk="0" hangingPunct="0">
              <a:spcBef>
                <a:spcPct val="30000"/>
              </a:spcBef>
              <a:defRPr sz="1200">
                <a:solidFill>
                  <a:schemeClr val="tx1"/>
                </a:solidFill>
                <a:latin typeface="Garamond" panose="02020404030301010803" pitchFamily="18" charset="0"/>
              </a:defRPr>
            </a:lvl5pPr>
            <a:lvl6pPr marL="2643188" indent="-242888" defTabSz="987425"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7425"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7425"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7425"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44A2A291-8B69-4467-A927-CBA82B900139}" type="slidenum">
              <a:rPr lang="en-US" altLang="en-US" sz="1300"/>
              <a:pPr eaLnBrk="1" hangingPunct="1">
                <a:spcBef>
                  <a:spcPct val="0"/>
                </a:spcBef>
              </a:pPr>
              <a:t>15</a:t>
            </a:fld>
            <a:endParaRPr lang="en-US" altLang="en-US" sz="130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Let us now talk about mapping into codes. Displayed</a:t>
            </a:r>
            <a:r>
              <a:rPr lang="en-US" altLang="en-US" baseline="0" dirty="0"/>
              <a:t> here is the sequence diagram to calculate price. This calculate price is present mainly within the order class. Let us look at the sequence diagram first. What it does here is that basically an invocation has been sent from an external source (it doesn’t matter which one) which is shown by the message calculate price. Other objects that is sent, such as </a:t>
            </a:r>
            <a:r>
              <a:rPr lang="en-US" altLang="en-US" baseline="0" dirty="0" err="1"/>
              <a:t>getquantity</a:t>
            </a:r>
            <a:r>
              <a:rPr lang="en-US" altLang="en-US" baseline="0" dirty="0"/>
              <a:t> is received on this order line, which is the class, with the object name called </a:t>
            </a:r>
            <a:r>
              <a:rPr lang="en-US" altLang="en-US" baseline="0" dirty="0" err="1"/>
              <a:t>ol</a:t>
            </a:r>
            <a:r>
              <a:rPr lang="en-US" altLang="en-US" baseline="0" dirty="0"/>
              <a:t>. That is going to return the quantity which is called in this variable. Then it goes to the product and returns the product information as p. P is basically the product. Then what it does is that gets the pricing details of the product and returns the price details. After that there are two self calls. One is to calculate the basic price, and the other is to calculate the discount. Just now we discussed that we use this activation block with an additional one because from here you know that from this message itself, get discount information, is coming out from the calculate discount call. Then perform another self call which is </a:t>
            </a:r>
            <a:r>
              <a:rPr lang="en-US" altLang="en-US" sz="1200" dirty="0"/>
              <a:t>calculate total Price and then return the total. Lets now see how to map this into the code.</a:t>
            </a:r>
            <a:r>
              <a:rPr lang="en-US" altLang="en-US" sz="1200" baseline="0" dirty="0"/>
              <a:t> To map up the code, you have to go class by class. For example, you have to get the codes for this order class.</a:t>
            </a:r>
          </a:p>
          <a:p>
            <a:pPr eaLnBrk="1" hangingPunct="1"/>
            <a:endParaRPr lang="en-US" altLang="en-US" sz="1200" baseline="0" dirty="0"/>
          </a:p>
          <a:p>
            <a:pPr eaLnBrk="1" hangingPunct="1"/>
            <a:r>
              <a:rPr lang="en-US" altLang="en-US" sz="1200" baseline="0" dirty="0"/>
              <a:t>So just focus on this order class. You know that any message that is being sent to this class itself is a method belonging to this class. So order class itself has four messages and methods. Then when you map out the flow, you also need to know what message is being sent out from this object and to which object. So you will also need to know what are the other objects. As we figure out the flow, we see that </a:t>
            </a:r>
            <a:r>
              <a:rPr lang="en-US" altLang="en-US" sz="1200" baseline="0" dirty="0" err="1"/>
              <a:t>calculateprice</a:t>
            </a:r>
            <a:r>
              <a:rPr lang="en-US" altLang="en-US" sz="1200" baseline="0" dirty="0"/>
              <a:t> is from here to here, which will return you. From here is the start and this is the end. For statement itself, this message is mapped to this. </a:t>
            </a:r>
            <a:r>
              <a:rPr lang="en-US" altLang="en-US" sz="1200" baseline="0" dirty="0" err="1"/>
              <a:t>Getquantity</a:t>
            </a:r>
            <a:r>
              <a:rPr lang="en-US" altLang="en-US" sz="1200" baseline="0" dirty="0"/>
              <a:t> is basically invoking the belonging to the order line and from here itself you can see that the object reference is OL. We don’t know what the exact data type is, hence you have to make the proper assumptions. The next statement, </a:t>
            </a:r>
            <a:r>
              <a:rPr lang="en-US" altLang="en-US" sz="1200" baseline="0" dirty="0" err="1"/>
              <a:t>getproduct</a:t>
            </a:r>
            <a:r>
              <a:rPr lang="en-US" altLang="en-US" sz="1200" baseline="0" dirty="0"/>
              <a:t>, </a:t>
            </a:r>
            <a:r>
              <a:rPr lang="en-US" altLang="en-US" sz="1200" baseline="0" dirty="0" err="1"/>
              <a:t>returnproduct</a:t>
            </a:r>
            <a:r>
              <a:rPr lang="en-US" altLang="en-US" sz="1200" baseline="0" dirty="0"/>
              <a:t>, gives us the next payment. You can see that it is extremely easy to trace. Subsequently, using product, you get the pricing details which is from here using this object reference. Next you have the two self calls which have no object reference since they are calling themselves. Then you will return back the calculate and therefore return the total. So you can either write this way or you can write in two statements to calculate the total and return it. This completes the entre flow of the calculate price itself. There are three more methods to implement. </a:t>
            </a:r>
            <a:endParaRPr lang="en-US" altLang="en-US" dirty="0"/>
          </a:p>
        </p:txBody>
      </p:sp>
    </p:spTree>
    <p:extLst>
      <p:ext uri="{BB962C8B-B14F-4D97-AF65-F5344CB8AC3E}">
        <p14:creationId xmlns:p14="http://schemas.microsoft.com/office/powerpoint/2010/main" val="1362404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aseline="0" dirty="0"/>
              <a:t>Another thing to note is that if you look at p, you will see that it is written from this message call gate product. This shows how the reference is being retrieved. But what about </a:t>
            </a:r>
            <a:r>
              <a:rPr lang="en-US" altLang="en-US" sz="1200" baseline="0" dirty="0" err="1"/>
              <a:t>ol</a:t>
            </a:r>
            <a:r>
              <a:rPr lang="en-US" altLang="en-US" sz="1200" baseline="0" dirty="0"/>
              <a:t>? The reference has not been mentioned. So this must have been accessed from somewhere outside this method which could mean that it has come directly from the attribute itself. So in order to make this code complete, there must be a declaration of the </a:t>
            </a:r>
            <a:r>
              <a:rPr lang="en-US" altLang="en-US" sz="1200" baseline="0" dirty="0" err="1"/>
              <a:t>ol</a:t>
            </a:r>
            <a:r>
              <a:rPr lang="en-US" altLang="en-US" sz="1200" baseline="0" dirty="0"/>
              <a:t> as well as an attribute. You can simply declare the attribute without introducing the constructor since it might be instantiated elsewhere. It is the same as ‘c’ where you have object reference but you don’t know where it comes from. If it is outside the method, then it definitely must be at an attribute level.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16</a:t>
            </a:fld>
            <a:endParaRPr lang="en-US"/>
          </a:p>
        </p:txBody>
      </p:sp>
    </p:spTree>
    <p:extLst>
      <p:ext uri="{BB962C8B-B14F-4D97-AF65-F5344CB8AC3E}">
        <p14:creationId xmlns:p14="http://schemas.microsoft.com/office/powerpoint/2010/main" val="1677072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holds true for the rest of the classes as well. For example, going back to the previous example where you created the sequence diagram for calculating the price, if you look at the </a:t>
            </a:r>
            <a:r>
              <a:rPr lang="en-US" baseline="0" dirty="0" err="1"/>
              <a:t>orderline</a:t>
            </a:r>
            <a:r>
              <a:rPr lang="en-US" baseline="0" dirty="0"/>
              <a:t> class, you can easily ignore the rest of the codes and focus on the class and the messages sent to it and sent out. The simple observation to it would be that there are two batches sent to it without any message being sent out from the object. That way you can map out the flow accordingly.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17</a:t>
            </a:fld>
            <a:endParaRPr lang="en-US"/>
          </a:p>
        </p:txBody>
      </p:sp>
    </p:spTree>
    <p:extLst>
      <p:ext uri="{BB962C8B-B14F-4D97-AF65-F5344CB8AC3E}">
        <p14:creationId xmlns:p14="http://schemas.microsoft.com/office/powerpoint/2010/main" val="3370745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Optimally, when you write down all these codes, they must be comparable. There shouldn’t be any missing variable</a:t>
            </a:r>
            <a:r>
              <a:rPr lang="en-US" baseline="0" dirty="0"/>
              <a:t> or declaration.  </a:t>
            </a:r>
          </a:p>
          <a:p>
            <a:endParaRPr lang="en-US" baseline="0" dirty="0"/>
          </a:p>
          <a:p>
            <a:r>
              <a:rPr lang="en-US" baseline="0" dirty="0"/>
              <a:t>Returning to the previous slide, you will notice that there are two ways, for example, you may only get an idea of the quantity but you might not what is being implemented within this method. For one of the ways, we usually have the conventions </a:t>
            </a:r>
            <a:r>
              <a:rPr lang="en-US" baseline="0" dirty="0" err="1"/>
              <a:t>getquantity</a:t>
            </a:r>
            <a:r>
              <a:rPr lang="en-US" baseline="0" dirty="0"/>
              <a:t> and </a:t>
            </a:r>
            <a:r>
              <a:rPr lang="en-US" baseline="0" dirty="0" err="1"/>
              <a:t>returnquantity</a:t>
            </a:r>
            <a:r>
              <a:rPr lang="en-US" baseline="0" dirty="0"/>
              <a:t>. SO you can define your own attribute, or you can simply return something meaningful to make it comparable. This is so because in the user phase, there will be multiple sequence diagrams. Certain sequence diagrams will be the complete class codes in other sequence diagrams. So the focus of this example is basically for the </a:t>
            </a:r>
            <a:r>
              <a:rPr lang="en-US" baseline="0" dirty="0" err="1"/>
              <a:t>calculateprice</a:t>
            </a:r>
            <a:r>
              <a:rPr lang="en-US" baseline="0" dirty="0"/>
              <a:t> method in this order class. There will be other sequence diagrams to make other methods complete to make a flow about the logics.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18</a:t>
            </a:fld>
            <a:endParaRPr lang="en-US"/>
          </a:p>
        </p:txBody>
      </p:sp>
    </p:spTree>
    <p:extLst>
      <p:ext uri="{BB962C8B-B14F-4D97-AF65-F5344CB8AC3E}">
        <p14:creationId xmlns:p14="http://schemas.microsoft.com/office/powerpoint/2010/main" val="1223327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eaLnBrk="0" hangingPunct="0">
              <a:spcBef>
                <a:spcPct val="30000"/>
              </a:spcBef>
              <a:defRPr sz="1200">
                <a:solidFill>
                  <a:schemeClr val="tx1"/>
                </a:solidFill>
                <a:latin typeface="Garamond" panose="02020404030301010803" pitchFamily="18" charset="0"/>
              </a:defRPr>
            </a:lvl1pPr>
            <a:lvl2pPr marL="788988" indent="-303213" defTabSz="987425" eaLnBrk="0" hangingPunct="0">
              <a:spcBef>
                <a:spcPct val="30000"/>
              </a:spcBef>
              <a:defRPr sz="1200">
                <a:solidFill>
                  <a:schemeClr val="tx1"/>
                </a:solidFill>
                <a:latin typeface="Garamond" panose="02020404030301010803" pitchFamily="18" charset="0"/>
              </a:defRPr>
            </a:lvl2pPr>
            <a:lvl3pPr marL="1214438" indent="-242888" defTabSz="987425" eaLnBrk="0" hangingPunct="0">
              <a:spcBef>
                <a:spcPct val="30000"/>
              </a:spcBef>
              <a:defRPr sz="1200">
                <a:solidFill>
                  <a:schemeClr val="tx1"/>
                </a:solidFill>
                <a:latin typeface="Garamond" panose="02020404030301010803" pitchFamily="18" charset="0"/>
              </a:defRPr>
            </a:lvl3pPr>
            <a:lvl4pPr marL="1700213" indent="-242888" defTabSz="987425" eaLnBrk="0" hangingPunct="0">
              <a:spcBef>
                <a:spcPct val="30000"/>
              </a:spcBef>
              <a:defRPr sz="1200">
                <a:solidFill>
                  <a:schemeClr val="tx1"/>
                </a:solidFill>
                <a:latin typeface="Garamond" panose="02020404030301010803" pitchFamily="18" charset="0"/>
              </a:defRPr>
            </a:lvl4pPr>
            <a:lvl5pPr marL="2185988" indent="-242888" defTabSz="987425" eaLnBrk="0" hangingPunct="0">
              <a:spcBef>
                <a:spcPct val="30000"/>
              </a:spcBef>
              <a:defRPr sz="1200">
                <a:solidFill>
                  <a:schemeClr val="tx1"/>
                </a:solidFill>
                <a:latin typeface="Garamond" panose="02020404030301010803" pitchFamily="18" charset="0"/>
              </a:defRPr>
            </a:lvl5pPr>
            <a:lvl6pPr marL="2643188" indent="-242888" defTabSz="987425" eaLnBrk="0" fontAlgn="base" hangingPunct="0">
              <a:spcBef>
                <a:spcPct val="30000"/>
              </a:spcBef>
              <a:spcAft>
                <a:spcPct val="0"/>
              </a:spcAft>
              <a:defRPr sz="1200">
                <a:solidFill>
                  <a:schemeClr val="tx1"/>
                </a:solidFill>
                <a:latin typeface="Garamond" panose="02020404030301010803" pitchFamily="18" charset="0"/>
              </a:defRPr>
            </a:lvl6pPr>
            <a:lvl7pPr marL="3100388" indent="-242888" defTabSz="987425" eaLnBrk="0" fontAlgn="base" hangingPunct="0">
              <a:spcBef>
                <a:spcPct val="30000"/>
              </a:spcBef>
              <a:spcAft>
                <a:spcPct val="0"/>
              </a:spcAft>
              <a:defRPr sz="1200">
                <a:solidFill>
                  <a:schemeClr val="tx1"/>
                </a:solidFill>
                <a:latin typeface="Garamond" panose="02020404030301010803" pitchFamily="18" charset="0"/>
              </a:defRPr>
            </a:lvl7pPr>
            <a:lvl8pPr marL="3557588" indent="-242888" defTabSz="987425" eaLnBrk="0" fontAlgn="base" hangingPunct="0">
              <a:spcBef>
                <a:spcPct val="30000"/>
              </a:spcBef>
              <a:spcAft>
                <a:spcPct val="0"/>
              </a:spcAft>
              <a:defRPr sz="1200">
                <a:solidFill>
                  <a:schemeClr val="tx1"/>
                </a:solidFill>
                <a:latin typeface="Garamond" panose="02020404030301010803" pitchFamily="18" charset="0"/>
              </a:defRPr>
            </a:lvl8pPr>
            <a:lvl9pPr marL="4014788" indent="-242888" defTabSz="987425"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A9DC2069-144A-4CAD-8510-A9DFF0124886}" type="slidenum">
              <a:rPr lang="zh-TW" altLang="en-US" sz="1300"/>
              <a:pPr eaLnBrk="1" hangingPunct="1">
                <a:spcBef>
                  <a:spcPct val="0"/>
                </a:spcBef>
              </a:pPr>
              <a:t>19</a:t>
            </a:fld>
            <a:endParaRPr lang="en-US" altLang="zh-TW" sz="1300"/>
          </a:p>
        </p:txBody>
      </p:sp>
      <p:sp>
        <p:nvSpPr>
          <p:cNvPr id="28675" name="Rectangle 2050"/>
          <p:cNvSpPr>
            <a:spLocks noGrp="1" noRot="1" noChangeAspect="1" noChangeArrowheads="1" noTextEdit="1"/>
          </p:cNvSpPr>
          <p:nvPr>
            <p:ph type="sldImg"/>
          </p:nvPr>
        </p:nvSpPr>
        <p:spPr>
          <a:solidFill>
            <a:srgbClr val="FFFFFF"/>
          </a:solidFill>
          <a:ln/>
        </p:spPr>
      </p:sp>
      <p:sp>
        <p:nvSpPr>
          <p:cNvPr id="28676" name="Rectangle 2051"/>
          <p:cNvSpPr>
            <a:spLocks noGrp="1" noChangeArrowheads="1"/>
          </p:cNvSpPr>
          <p:nvPr>
            <p:ph type="body" idx="1"/>
          </p:nvPr>
        </p:nvSpPr>
        <p:spPr>
          <a:solidFill>
            <a:srgbClr val="FFFFFF"/>
          </a:solidFill>
          <a:ln>
            <a:solidFill>
              <a:srgbClr val="000000"/>
            </a:solidFill>
          </a:ln>
        </p:spPr>
        <p:txBody>
          <a:bodyPr/>
          <a:lstStyle/>
          <a:p>
            <a:pPr eaLnBrk="1" hangingPunct="1"/>
            <a:r>
              <a:rPr lang="en-US" altLang="zh-TW" dirty="0">
                <a:latin typeface="Arial Unicode MS" panose="020B0604020202020204" pitchFamily="34" charset="-128"/>
              </a:rPr>
              <a:t>In</a:t>
            </a:r>
            <a:r>
              <a:rPr lang="en-US" altLang="zh-TW" baseline="0" dirty="0">
                <a:latin typeface="Arial Unicode MS" panose="020B0604020202020204" pitchFamily="34" charset="-128"/>
              </a:rPr>
              <a:t> conclusion to your learnings, the important thing to note about the sequence diagrams is that you should know how to map from diagrams and put them in a code as far as the exams go. For the assignments, you are only required to map out one function flow. </a:t>
            </a:r>
          </a:p>
          <a:p>
            <a:pPr eaLnBrk="1" hangingPunct="1"/>
            <a:endParaRPr lang="en-US" altLang="zh-TW" baseline="0" dirty="0">
              <a:latin typeface="Arial Unicode MS" panose="020B0604020202020204" pitchFamily="34" charset="-128"/>
            </a:endParaRPr>
          </a:p>
          <a:p>
            <a:pPr eaLnBrk="1" hangingPunct="1"/>
            <a:r>
              <a:rPr lang="en-US" altLang="zh-TW" baseline="0" dirty="0">
                <a:latin typeface="Arial Unicode MS" panose="020B0604020202020204" pitchFamily="34" charset="-128"/>
              </a:rPr>
              <a:t>Refer to chapter 4 from the reference book.</a:t>
            </a:r>
            <a:endParaRPr lang="zh-TW" altLang="en-US" dirty="0">
              <a:latin typeface="Arial Unicode MS" panose="020B0604020202020204" pitchFamily="34" charset="-128"/>
            </a:endParaRPr>
          </a:p>
        </p:txBody>
      </p:sp>
    </p:spTree>
    <p:extLst>
      <p:ext uri="{BB962C8B-B14F-4D97-AF65-F5344CB8AC3E}">
        <p14:creationId xmlns:p14="http://schemas.microsoft.com/office/powerpoint/2010/main" val="1863946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refer</a:t>
            </a:r>
            <a:r>
              <a:rPr lang="en-US" baseline="0" dirty="0"/>
              <a:t> to lecture notes PDF shared with you.</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20</a:t>
            </a:fld>
            <a:endParaRPr lang="en-US"/>
          </a:p>
        </p:txBody>
      </p:sp>
    </p:spTree>
    <p:extLst>
      <p:ext uri="{BB962C8B-B14F-4D97-AF65-F5344CB8AC3E}">
        <p14:creationId xmlns:p14="http://schemas.microsoft.com/office/powerpoint/2010/main" val="799855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88825" cy="4449836"/>
          </a:xfrm>
          <a:custGeom>
            <a:avLst/>
            <a:gdLst>
              <a:gd name="connsiteX0" fmla="*/ 0 w 12188825"/>
              <a:gd name="connsiteY0" fmla="*/ 0 h 5545334"/>
              <a:gd name="connsiteX1" fmla="*/ 12188825 w 12188825"/>
              <a:gd name="connsiteY1" fmla="*/ 0 h 5545334"/>
              <a:gd name="connsiteX2" fmla="*/ 12188825 w 12188825"/>
              <a:gd name="connsiteY2" fmla="*/ 4181566 h 5545334"/>
              <a:gd name="connsiteX3" fmla="*/ 6105607 w 12188825"/>
              <a:gd name="connsiteY3" fmla="*/ 4449836 h 5545334"/>
              <a:gd name="connsiteX4" fmla="*/ 1 w 12188825"/>
              <a:gd name="connsiteY4" fmla="*/ 4179342 h 5545334"/>
              <a:gd name="connsiteX5" fmla="*/ 1 w 12188825"/>
              <a:gd name="connsiteY5" fmla="*/ 5545334 h 5545334"/>
              <a:gd name="connsiteX6" fmla="*/ 0 w 12188825"/>
              <a:gd name="connsiteY6" fmla="*/ 0 h 5545334"/>
              <a:gd name="connsiteX0" fmla="*/ 0 w 12188825"/>
              <a:gd name="connsiteY0" fmla="*/ 0 h 4449836"/>
              <a:gd name="connsiteX1" fmla="*/ 12188825 w 12188825"/>
              <a:gd name="connsiteY1" fmla="*/ 0 h 4449836"/>
              <a:gd name="connsiteX2" fmla="*/ 12188825 w 12188825"/>
              <a:gd name="connsiteY2" fmla="*/ 4181566 h 4449836"/>
              <a:gd name="connsiteX3" fmla="*/ 6105607 w 12188825"/>
              <a:gd name="connsiteY3" fmla="*/ 4449836 h 4449836"/>
              <a:gd name="connsiteX4" fmla="*/ 1 w 12188825"/>
              <a:gd name="connsiteY4" fmla="*/ 4179342 h 4449836"/>
              <a:gd name="connsiteX5" fmla="*/ 0 w 12188825"/>
              <a:gd name="connsiteY5" fmla="*/ 0 h 444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4449836">
                <a:moveTo>
                  <a:pt x="0" y="0"/>
                </a:moveTo>
                <a:lnTo>
                  <a:pt x="12188825" y="0"/>
                </a:lnTo>
                <a:lnTo>
                  <a:pt x="12188825" y="4181566"/>
                </a:lnTo>
                <a:cubicBezTo>
                  <a:pt x="10420785" y="4351787"/>
                  <a:pt x="8336850" y="4449836"/>
                  <a:pt x="6105607" y="4449836"/>
                </a:cubicBezTo>
                <a:cubicBezTo>
                  <a:pt x="3864934" y="4449836"/>
                  <a:pt x="1772815" y="4350957"/>
                  <a:pt x="1" y="4179342"/>
                </a:cubicBezTo>
                <a:cubicBezTo>
                  <a:pt x="1" y="2786228"/>
                  <a:pt x="0" y="1393114"/>
                  <a:pt x="0" y="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12"/>
          <p:cNvSpPr/>
          <p:nvPr/>
        </p:nvSpPr>
        <p:spPr>
          <a:xfrm flipV="1">
            <a:off x="1" y="4179342"/>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6"/>
          <p:cNvSpPr/>
          <p:nvPr/>
        </p:nvSpPr>
        <p:spPr>
          <a:xfrm flipV="1">
            <a:off x="0" y="4232668"/>
            <a:ext cx="12188825" cy="2625332"/>
          </a:xfrm>
          <a:custGeom>
            <a:avLst/>
            <a:gdLst/>
            <a:ahLst/>
            <a:cxnLst/>
            <a:rect l="l" t="t" r="r" b="b"/>
            <a:pathLst>
              <a:path w="12188825" h="2625332">
                <a:moveTo>
                  <a:pt x="12188819" y="2625332"/>
                </a:moveTo>
                <a:lnTo>
                  <a:pt x="12188819" y="1143000"/>
                </a:lnTo>
                <a:lnTo>
                  <a:pt x="12188819" y="1066800"/>
                </a:lnTo>
                <a:lnTo>
                  <a:pt x="12188825" y="1066800"/>
                </a:lnTo>
                <a:lnTo>
                  <a:pt x="12188825" y="0"/>
                </a:lnTo>
                <a:lnTo>
                  <a:pt x="1" y="0"/>
                </a:lnTo>
                <a:lnTo>
                  <a:pt x="1" y="762000"/>
                </a:lnTo>
                <a:lnTo>
                  <a:pt x="1" y="893566"/>
                </a:lnTo>
                <a:lnTo>
                  <a:pt x="0" y="893566"/>
                </a:lnTo>
                <a:lnTo>
                  <a:pt x="0" y="2417303"/>
                </a:lnTo>
                <a:cubicBezTo>
                  <a:pt x="1730673" y="2256633"/>
                  <a:pt x="3842817" y="2181652"/>
                  <a:pt x="6121030" y="2221419"/>
                </a:cubicBezTo>
                <a:cubicBezTo>
                  <a:pt x="8380478" y="2260858"/>
                  <a:pt x="10472741" y="2407392"/>
                  <a:pt x="12188819" y="2625332"/>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2413" y="1371600"/>
            <a:ext cx="9144000" cy="2743200"/>
          </a:xfrm>
        </p:spPr>
        <p:txBody>
          <a:bodyPr>
            <a:noAutofit/>
          </a:bodyPr>
          <a:lstStyle>
            <a:lvl1pPr>
              <a:lnSpc>
                <a:spcPct val="85000"/>
              </a:lnSpc>
              <a:defRPr sz="6600"/>
            </a:lvl1pPr>
          </a:lstStyle>
          <a:p>
            <a:r>
              <a:rPr lang="en-US" dirty="0"/>
              <a:t>Click to edit Master title style</a:t>
            </a:r>
            <a:endParaRPr dirty="0"/>
          </a:p>
        </p:txBody>
      </p:sp>
      <p:sp>
        <p:nvSpPr>
          <p:cNvPr id="3" name="Subtitle 2"/>
          <p:cNvSpPr>
            <a:spLocks noGrp="1"/>
          </p:cNvSpPr>
          <p:nvPr>
            <p:ph type="subTitle" idx="1"/>
          </p:nvPr>
        </p:nvSpPr>
        <p:spPr>
          <a:xfrm>
            <a:off x="1501775" y="4800600"/>
            <a:ext cx="7335837" cy="1371600"/>
          </a:xfrm>
        </p:spPr>
        <p:txBody>
          <a:bodyPr/>
          <a:lstStyle>
            <a:lvl1pPr marL="0" indent="0" algn="l">
              <a:spcBef>
                <a:spcPts val="0"/>
              </a:spcBef>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74110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24562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01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22336" r="523" b="7541"/>
          <a:stretch/>
        </p:blipFill>
        <p:spPr>
          <a:xfrm>
            <a:off x="1" y="-1984"/>
            <a:ext cx="12143084" cy="4392488"/>
          </a:xfrm>
          <a:prstGeom prst="rect">
            <a:avLst/>
          </a:prstGeom>
        </p:spPr>
      </p:pic>
      <p:sp>
        <p:nvSpPr>
          <p:cNvPr id="7" name="Rectangle 12"/>
          <p:cNvSpPr/>
          <p:nvPr/>
        </p:nvSpPr>
        <p:spPr>
          <a:xfrm flipH="1" flipV="1">
            <a:off x="0" y="2975260"/>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0" y="3028586"/>
            <a:ext cx="12188825" cy="3829414"/>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522413" y="3505200"/>
            <a:ext cx="9144000" cy="1908446"/>
          </a:xfr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
        <p:nvSpPr>
          <p:cNvPr id="3" name="Subtitle 2"/>
          <p:cNvSpPr>
            <a:spLocks noGrp="1"/>
          </p:cNvSpPr>
          <p:nvPr>
            <p:ph type="subTitle" idx="1"/>
          </p:nvPr>
        </p:nvSpPr>
        <p:spPr bwMode="white">
          <a:xfrm>
            <a:off x="1501775" y="5562600"/>
            <a:ext cx="7335837" cy="838200"/>
          </a:xfrm>
        </p:spPr>
        <p:txBody>
          <a:bodyPr/>
          <a:lstStyle>
            <a:lvl1pPr marL="0" indent="0" algn="l">
              <a:spcBef>
                <a:spcPts val="0"/>
              </a:spcBef>
              <a:buNone/>
              <a:defRPr>
                <a:solidFill>
                  <a:schemeClr val="tx2">
                    <a:lumMod val="75000"/>
                  </a:schemeClr>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23617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hoto">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7384"/>
            <a:ext cx="12188825" cy="6094412"/>
          </a:xfrm>
          <a:prstGeom prst="rect">
            <a:avLst/>
          </a:prstGeom>
        </p:spPr>
      </p:pic>
      <p:sp>
        <p:nvSpPr>
          <p:cNvPr id="7" name="Rectangle 12"/>
          <p:cNvSpPr/>
          <p:nvPr/>
        </p:nvSpPr>
        <p:spPr>
          <a:xfrm flipH="1" flipV="1">
            <a:off x="0" y="4055456"/>
            <a:ext cx="12188824" cy="704896"/>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1" y="4077072"/>
            <a:ext cx="12188825" cy="2780928"/>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053852" y="4544890"/>
            <a:ext cx="9144000" cy="1908446"/>
          </a:xfr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Tree>
    <p:extLst>
      <p:ext uri="{BB962C8B-B14F-4D97-AF65-F5344CB8AC3E}">
        <p14:creationId xmlns:p14="http://schemas.microsoft.com/office/powerpoint/2010/main" val="1147957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12"/>
          <p:cNvSpPr/>
          <p:nvPr/>
        </p:nvSpPr>
        <p:spPr>
          <a:xfrm flipH="1">
            <a:off x="2" y="789993"/>
            <a:ext cx="12188825" cy="5080598"/>
          </a:xfrm>
          <a:custGeom>
            <a:avLst/>
            <a:gdLst/>
            <a:ahLst/>
            <a:cxnLst/>
            <a:rect l="l" t="t" r="r" b="b"/>
            <a:pathLst>
              <a:path w="12188825" h="5080598">
                <a:moveTo>
                  <a:pt x="12188824" y="0"/>
                </a:moveTo>
                <a:cubicBezTo>
                  <a:pt x="10416010" y="171615"/>
                  <a:pt x="8323891" y="270494"/>
                  <a:pt x="6083218" y="270494"/>
                </a:cubicBezTo>
                <a:cubicBezTo>
                  <a:pt x="3851975" y="270494"/>
                  <a:pt x="1768040" y="172445"/>
                  <a:pt x="0" y="2224"/>
                </a:cubicBezTo>
                <a:lnTo>
                  <a:pt x="0" y="1496008"/>
                </a:lnTo>
                <a:lnTo>
                  <a:pt x="0" y="1785092"/>
                </a:lnTo>
                <a:lnTo>
                  <a:pt x="0" y="3295506"/>
                </a:lnTo>
                <a:lnTo>
                  <a:pt x="0" y="3553408"/>
                </a:lnTo>
                <a:lnTo>
                  <a:pt x="0" y="5080598"/>
                </a:lnTo>
                <a:cubicBezTo>
                  <a:pt x="1772814" y="4908983"/>
                  <a:pt x="3864933" y="4810104"/>
                  <a:pt x="6105606" y="4810104"/>
                </a:cubicBezTo>
                <a:cubicBezTo>
                  <a:pt x="8336849" y="4810104"/>
                  <a:pt x="10420784" y="4908153"/>
                  <a:pt x="12188824" y="5078374"/>
                </a:cubicBezTo>
                <a:lnTo>
                  <a:pt x="12188824" y="3553408"/>
                </a:lnTo>
                <a:lnTo>
                  <a:pt x="12188825" y="3553408"/>
                </a:lnTo>
                <a:lnTo>
                  <a:pt x="12188825" y="1496008"/>
                </a:lnTo>
                <a:lnTo>
                  <a:pt x="12188824" y="1496008"/>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Rectangle 12"/>
          <p:cNvSpPr/>
          <p:nvPr/>
        </p:nvSpPr>
        <p:spPr>
          <a:xfrm flipH="1">
            <a:off x="2" y="792217"/>
            <a:ext cx="12188825" cy="5078374"/>
          </a:xfrm>
          <a:custGeom>
            <a:avLst/>
            <a:gdLst/>
            <a:ahLst/>
            <a:cxnLst/>
            <a:rect l="l" t="t" r="r" b="b"/>
            <a:pathLst>
              <a:path w="12188825" h="5078374">
                <a:moveTo>
                  <a:pt x="0" y="0"/>
                </a:moveTo>
                <a:lnTo>
                  <a:pt x="0" y="1493784"/>
                </a:lnTo>
                <a:lnTo>
                  <a:pt x="0" y="1782868"/>
                </a:lnTo>
                <a:lnTo>
                  <a:pt x="0" y="3293282"/>
                </a:lnTo>
                <a:lnTo>
                  <a:pt x="0" y="3551184"/>
                </a:lnTo>
                <a:lnTo>
                  <a:pt x="0" y="5078374"/>
                </a:lnTo>
                <a:lnTo>
                  <a:pt x="2" y="5078374"/>
                </a:lnTo>
                <a:lnTo>
                  <a:pt x="2" y="4101849"/>
                </a:lnTo>
                <a:lnTo>
                  <a:pt x="8" y="4101849"/>
                </a:lnTo>
                <a:lnTo>
                  <a:pt x="8" y="4825486"/>
                </a:lnTo>
                <a:cubicBezTo>
                  <a:pt x="1730681" y="4664816"/>
                  <a:pt x="3842825" y="4589835"/>
                  <a:pt x="6121038" y="4629602"/>
                </a:cubicBezTo>
                <a:cubicBezTo>
                  <a:pt x="8380486" y="4669041"/>
                  <a:pt x="10472749" y="4815575"/>
                  <a:pt x="12188824" y="5033515"/>
                </a:cubicBezTo>
                <a:lnTo>
                  <a:pt x="12188824" y="3551184"/>
                </a:lnTo>
                <a:lnTo>
                  <a:pt x="12188825" y="3551184"/>
                </a:lnTo>
                <a:lnTo>
                  <a:pt x="12188825" y="1493784"/>
                </a:lnTo>
                <a:lnTo>
                  <a:pt x="12188824" y="1493784"/>
                </a:lnTo>
                <a:lnTo>
                  <a:pt x="12188824" y="254012"/>
                </a:lnTo>
                <a:cubicBezTo>
                  <a:pt x="10458154" y="414682"/>
                  <a:pt x="8346010" y="489663"/>
                  <a:pt x="6067797" y="449896"/>
                </a:cubicBezTo>
                <a:cubicBezTo>
                  <a:pt x="3808349" y="410457"/>
                  <a:pt x="1716086" y="263923"/>
                  <a:pt x="8" y="45983"/>
                </a:cubicBezTo>
                <a:lnTo>
                  <a:pt x="8" y="977649"/>
                </a:lnTo>
                <a:lnTo>
                  <a:pt x="2" y="977649"/>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1522413" y="1371600"/>
            <a:ext cx="9144000" cy="2743200"/>
          </a:xfrm>
        </p:spPr>
        <p:txBody>
          <a:bodyPr anchor="b">
            <a:normAutofit/>
          </a:bodyPr>
          <a:lstStyle>
            <a:lvl1pPr algn="l">
              <a:lnSpc>
                <a:spcPct val="85000"/>
              </a:lnSpc>
              <a:defRPr sz="60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4" y="4267201"/>
            <a:ext cx="7315198" cy="1066800"/>
          </a:xfrm>
        </p:spPr>
        <p:txBody>
          <a:bodyPr anchor="t">
            <a:normAutofit/>
          </a:bodyPr>
          <a:lstStyle>
            <a:lvl1pPr marL="0" indent="0">
              <a:spcBef>
                <a:spcPts val="60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57037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9862" y="1905000"/>
            <a:ext cx="4416552"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544186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91754"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8" name="Footer Placeholder 7"/>
          <p:cNvSpPr>
            <a:spLocks noGrp="1"/>
          </p:cNvSpPr>
          <p:nvPr>
            <p:ph type="ftr" sz="quarter" idx="11"/>
          </p:nvPr>
        </p:nvSpPr>
        <p:spPr>
          <a:xfrm>
            <a:off x="1525138" y="6518274"/>
            <a:ext cx="5864674" cy="320676"/>
          </a:xfrm>
          <a:prstGeom prst="rect">
            <a:avLst/>
          </a:prstGeom>
        </p:spPr>
        <p:txBody>
          <a:bodyPr/>
          <a:lstStyle/>
          <a:p>
            <a:endParaRPr/>
          </a:p>
        </p:txBody>
      </p:sp>
      <p:sp>
        <p:nvSpPr>
          <p:cNvPr id="9" name="Slide Number Placeholder 8"/>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26610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18338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3" name="Footer Placeholder 2"/>
          <p:cNvSpPr>
            <a:spLocks noGrp="1"/>
          </p:cNvSpPr>
          <p:nvPr>
            <p:ph type="ftr" sz="quarter" idx="11"/>
          </p:nvPr>
        </p:nvSpPr>
        <p:spPr bwMode="white">
          <a:xfrm>
            <a:off x="1525138" y="6518274"/>
            <a:ext cx="5864674" cy="320676"/>
          </a:xfrm>
          <a:prstGeom prst="rect">
            <a:avLst/>
          </a:prstGeom>
        </p:spPr>
        <p:txBody>
          <a:bodyPr/>
          <a:lstStyle/>
          <a:p>
            <a:endParaRPr/>
          </a:p>
        </p:txBody>
      </p:sp>
      <p:sp>
        <p:nvSpPr>
          <p:cNvPr id="4" name="Slide Number Placeholder 3"/>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87941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2" y="457200"/>
            <a:ext cx="3781439" cy="3276600"/>
          </a:xfrm>
        </p:spPr>
        <p:txBody>
          <a:bodyPr anchor="b">
            <a:noAutofit/>
          </a:bodyPr>
          <a:lstStyle>
            <a:lvl1pPr algn="l">
              <a:defRPr sz="40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608013" y="457200"/>
            <a:ext cx="6324599"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2"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899459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1" y="457200"/>
            <a:ext cx="3781439" cy="3276600"/>
          </a:xfrm>
        </p:spPr>
        <p:txBody>
          <a:bodyPr anchor="b">
            <a:noAutofit/>
          </a:bodyPr>
          <a:lstStyle>
            <a:lvl1pPr algn="l">
              <a:defRPr sz="40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3026" y="0"/>
            <a:ext cx="7469039" cy="6366494"/>
          </a:xfrm>
          <a:custGeom>
            <a:avLst/>
            <a:gdLst>
              <a:gd name="connsiteX0" fmla="*/ 0 w 7469039"/>
              <a:gd name="connsiteY0" fmla="*/ 0 h 6508480"/>
              <a:gd name="connsiteX1" fmla="*/ 7469039 w 7469039"/>
              <a:gd name="connsiteY1" fmla="*/ 0 h 6508480"/>
              <a:gd name="connsiteX2" fmla="*/ 7469039 w 7469039"/>
              <a:gd name="connsiteY2" fmla="*/ 6353183 h 6508480"/>
              <a:gd name="connsiteX3" fmla="*/ 6108633 w 7469039"/>
              <a:gd name="connsiteY3" fmla="*/ 6366494 h 6508480"/>
              <a:gd name="connsiteX4" fmla="*/ 3027 w 7469039"/>
              <a:gd name="connsiteY4" fmla="*/ 6096000 h 6508480"/>
              <a:gd name="connsiteX5" fmla="*/ 3027 w 7469039"/>
              <a:gd name="connsiteY5" fmla="*/ 6508480 h 6508480"/>
              <a:gd name="connsiteX6" fmla="*/ 0 w 7469039"/>
              <a:gd name="connsiteY6" fmla="*/ 0 h 6508480"/>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3027 w 7469039"/>
              <a:gd name="connsiteY4" fmla="*/ 6096000 h 6366494"/>
              <a:gd name="connsiteX5" fmla="*/ 0 w 7469039"/>
              <a:gd name="connsiteY5" fmla="*/ 0 h 6366494"/>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645 w 7469039"/>
              <a:gd name="connsiteY4" fmla="*/ 6096000 h 6366494"/>
              <a:gd name="connsiteX5" fmla="*/ 0 w 7469039"/>
              <a:gd name="connsiteY5" fmla="*/ 0 h 6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9039" h="6366494">
                <a:moveTo>
                  <a:pt x="0" y="0"/>
                </a:moveTo>
                <a:lnTo>
                  <a:pt x="7469039" y="0"/>
                </a:lnTo>
                <a:lnTo>
                  <a:pt x="7469039" y="6353183"/>
                </a:lnTo>
                <a:cubicBezTo>
                  <a:pt x="7022837" y="6362323"/>
                  <a:pt x="6568869" y="6366494"/>
                  <a:pt x="6108633" y="6366494"/>
                </a:cubicBezTo>
                <a:cubicBezTo>
                  <a:pt x="3867960" y="6366494"/>
                  <a:pt x="1773459" y="6267615"/>
                  <a:pt x="645" y="6096000"/>
                </a:cubicBezTo>
                <a:lnTo>
                  <a:pt x="0" y="0"/>
                </a:lnTo>
                <a:close/>
              </a:path>
            </a:pathLst>
          </a:custGeom>
          <a:noFill/>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1"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673497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6259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bwMode="black">
          <a:xfrm>
            <a:off x="9294812" y="274639"/>
            <a:ext cx="1371602" cy="5897561"/>
          </a:xfrm>
        </p:spPr>
        <p:txBody>
          <a:bodyPr vert="eaVert"/>
          <a:lstStyle>
            <a:lvl1pPr>
              <a:defRPr>
                <a:solidFill>
                  <a:schemeClr val="tx1"/>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3" y="274639"/>
            <a:ext cx="7619999" cy="5884321"/>
          </a:xfrm>
        </p:spPr>
        <p:txBody>
          <a:bodyPr vert="eaVert"/>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bwMode="white">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4185769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88825" cy="4449836"/>
          </a:xfrm>
          <a:custGeom>
            <a:avLst/>
            <a:gdLst>
              <a:gd name="connsiteX0" fmla="*/ 0 w 12188825"/>
              <a:gd name="connsiteY0" fmla="*/ 0 h 5545334"/>
              <a:gd name="connsiteX1" fmla="*/ 12188825 w 12188825"/>
              <a:gd name="connsiteY1" fmla="*/ 0 h 5545334"/>
              <a:gd name="connsiteX2" fmla="*/ 12188825 w 12188825"/>
              <a:gd name="connsiteY2" fmla="*/ 4181566 h 5545334"/>
              <a:gd name="connsiteX3" fmla="*/ 6105607 w 12188825"/>
              <a:gd name="connsiteY3" fmla="*/ 4449836 h 5545334"/>
              <a:gd name="connsiteX4" fmla="*/ 1 w 12188825"/>
              <a:gd name="connsiteY4" fmla="*/ 4179342 h 5545334"/>
              <a:gd name="connsiteX5" fmla="*/ 1 w 12188825"/>
              <a:gd name="connsiteY5" fmla="*/ 5545334 h 5545334"/>
              <a:gd name="connsiteX6" fmla="*/ 0 w 12188825"/>
              <a:gd name="connsiteY6" fmla="*/ 0 h 5545334"/>
              <a:gd name="connsiteX0" fmla="*/ 0 w 12188825"/>
              <a:gd name="connsiteY0" fmla="*/ 0 h 4449836"/>
              <a:gd name="connsiteX1" fmla="*/ 12188825 w 12188825"/>
              <a:gd name="connsiteY1" fmla="*/ 0 h 4449836"/>
              <a:gd name="connsiteX2" fmla="*/ 12188825 w 12188825"/>
              <a:gd name="connsiteY2" fmla="*/ 4181566 h 4449836"/>
              <a:gd name="connsiteX3" fmla="*/ 6105607 w 12188825"/>
              <a:gd name="connsiteY3" fmla="*/ 4449836 h 4449836"/>
              <a:gd name="connsiteX4" fmla="*/ 1 w 12188825"/>
              <a:gd name="connsiteY4" fmla="*/ 4179342 h 4449836"/>
              <a:gd name="connsiteX5" fmla="*/ 0 w 12188825"/>
              <a:gd name="connsiteY5" fmla="*/ 0 h 444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4449836">
                <a:moveTo>
                  <a:pt x="0" y="0"/>
                </a:moveTo>
                <a:lnTo>
                  <a:pt x="12188825" y="0"/>
                </a:lnTo>
                <a:lnTo>
                  <a:pt x="12188825" y="4181566"/>
                </a:lnTo>
                <a:cubicBezTo>
                  <a:pt x="10420785" y="4351787"/>
                  <a:pt x="8336850" y="4449836"/>
                  <a:pt x="6105607" y="4449836"/>
                </a:cubicBezTo>
                <a:cubicBezTo>
                  <a:pt x="3864934" y="4449836"/>
                  <a:pt x="1772815" y="4350957"/>
                  <a:pt x="1" y="4179342"/>
                </a:cubicBezTo>
                <a:cubicBezTo>
                  <a:pt x="1" y="2786228"/>
                  <a:pt x="0" y="1393114"/>
                  <a:pt x="0" y="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12"/>
          <p:cNvSpPr/>
          <p:nvPr/>
        </p:nvSpPr>
        <p:spPr>
          <a:xfrm flipV="1">
            <a:off x="1" y="4179342"/>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6"/>
          <p:cNvSpPr/>
          <p:nvPr/>
        </p:nvSpPr>
        <p:spPr>
          <a:xfrm flipV="1">
            <a:off x="0" y="4232668"/>
            <a:ext cx="12188825" cy="2625332"/>
          </a:xfrm>
          <a:custGeom>
            <a:avLst/>
            <a:gdLst/>
            <a:ahLst/>
            <a:cxnLst/>
            <a:rect l="l" t="t" r="r" b="b"/>
            <a:pathLst>
              <a:path w="12188825" h="2625332">
                <a:moveTo>
                  <a:pt x="12188819" y="2625332"/>
                </a:moveTo>
                <a:lnTo>
                  <a:pt x="12188819" y="1143000"/>
                </a:lnTo>
                <a:lnTo>
                  <a:pt x="12188819" y="1066800"/>
                </a:lnTo>
                <a:lnTo>
                  <a:pt x="12188825" y="1066800"/>
                </a:lnTo>
                <a:lnTo>
                  <a:pt x="12188825" y="0"/>
                </a:lnTo>
                <a:lnTo>
                  <a:pt x="1" y="0"/>
                </a:lnTo>
                <a:lnTo>
                  <a:pt x="1" y="762000"/>
                </a:lnTo>
                <a:lnTo>
                  <a:pt x="1" y="893566"/>
                </a:lnTo>
                <a:lnTo>
                  <a:pt x="0" y="893566"/>
                </a:lnTo>
                <a:lnTo>
                  <a:pt x="0" y="2417303"/>
                </a:lnTo>
                <a:cubicBezTo>
                  <a:pt x="1730673" y="2256633"/>
                  <a:pt x="3842817" y="2181652"/>
                  <a:pt x="6121030" y="2221419"/>
                </a:cubicBezTo>
                <a:cubicBezTo>
                  <a:pt x="8380478" y="2260858"/>
                  <a:pt x="10472741" y="2407392"/>
                  <a:pt x="12188819" y="2625332"/>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2413" y="1371600"/>
            <a:ext cx="9144000" cy="2743200"/>
          </a:xfrm>
          <a:prstGeom prst="rect">
            <a:avLst/>
          </a:prstGeom>
        </p:spPr>
        <p:txBody>
          <a:bodyPr>
            <a:noAutofit/>
          </a:bodyPr>
          <a:lstStyle>
            <a:lvl1pPr>
              <a:lnSpc>
                <a:spcPct val="85000"/>
              </a:lnSpc>
              <a:defRPr sz="6600"/>
            </a:lvl1pPr>
          </a:lstStyle>
          <a:p>
            <a:r>
              <a:rPr lang="en-US" dirty="0"/>
              <a:t>Click to edit Master title style</a:t>
            </a:r>
            <a:endParaRPr dirty="0"/>
          </a:p>
        </p:txBody>
      </p:sp>
      <p:sp>
        <p:nvSpPr>
          <p:cNvPr id="3" name="Subtitle 2"/>
          <p:cNvSpPr>
            <a:spLocks noGrp="1"/>
          </p:cNvSpPr>
          <p:nvPr>
            <p:ph type="subTitle" idx="1"/>
          </p:nvPr>
        </p:nvSpPr>
        <p:spPr>
          <a:xfrm>
            <a:off x="1501775" y="4800600"/>
            <a:ext cx="7335837" cy="1371600"/>
          </a:xfrm>
        </p:spPr>
        <p:txBody>
          <a:bodyPr/>
          <a:lstStyle>
            <a:lvl1pPr marL="0" indent="0" algn="l">
              <a:spcBef>
                <a:spcPts val="0"/>
              </a:spcBef>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07847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00232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01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22336" r="523" b="7541"/>
          <a:stretch/>
        </p:blipFill>
        <p:spPr>
          <a:xfrm>
            <a:off x="1" y="-1984"/>
            <a:ext cx="12143084" cy="4392488"/>
          </a:xfrm>
          <a:prstGeom prst="rect">
            <a:avLst/>
          </a:prstGeom>
        </p:spPr>
      </p:pic>
      <p:sp>
        <p:nvSpPr>
          <p:cNvPr id="7" name="Rectangle 12"/>
          <p:cNvSpPr/>
          <p:nvPr/>
        </p:nvSpPr>
        <p:spPr>
          <a:xfrm flipH="1" flipV="1">
            <a:off x="0" y="2975260"/>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0" y="3028586"/>
            <a:ext cx="12188825" cy="3829414"/>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522413" y="3505200"/>
            <a:ext cx="9144000" cy="1908446"/>
          </a:xfrm>
          <a:prstGeom prst="rect">
            <a:avLst/>
          </a:prstGeo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
        <p:nvSpPr>
          <p:cNvPr id="3" name="Subtitle 2"/>
          <p:cNvSpPr>
            <a:spLocks noGrp="1"/>
          </p:cNvSpPr>
          <p:nvPr>
            <p:ph type="subTitle" idx="1"/>
          </p:nvPr>
        </p:nvSpPr>
        <p:spPr bwMode="white">
          <a:xfrm>
            <a:off x="1501775" y="5562600"/>
            <a:ext cx="7335837" cy="838200"/>
          </a:xfrm>
        </p:spPr>
        <p:txBody>
          <a:bodyPr/>
          <a:lstStyle>
            <a:lvl1pPr marL="0" indent="0" algn="l">
              <a:spcBef>
                <a:spcPts val="0"/>
              </a:spcBef>
              <a:buNone/>
              <a:defRPr>
                <a:solidFill>
                  <a:schemeClr val="tx2">
                    <a:lumMod val="75000"/>
                  </a:schemeClr>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76278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hoto">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7384"/>
            <a:ext cx="12188825" cy="6094412"/>
          </a:xfrm>
          <a:prstGeom prst="rect">
            <a:avLst/>
          </a:prstGeom>
        </p:spPr>
      </p:pic>
      <p:sp>
        <p:nvSpPr>
          <p:cNvPr id="7" name="Rectangle 12"/>
          <p:cNvSpPr/>
          <p:nvPr/>
        </p:nvSpPr>
        <p:spPr>
          <a:xfrm flipH="1" flipV="1">
            <a:off x="0" y="4055456"/>
            <a:ext cx="12188824" cy="704896"/>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1" y="4077072"/>
            <a:ext cx="12188825" cy="2780928"/>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053852" y="4544890"/>
            <a:ext cx="9144000" cy="1908446"/>
          </a:xfrm>
          <a:prstGeom prst="rect">
            <a:avLst/>
          </a:prstGeo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Tree>
    <p:extLst>
      <p:ext uri="{BB962C8B-B14F-4D97-AF65-F5344CB8AC3E}">
        <p14:creationId xmlns:p14="http://schemas.microsoft.com/office/powerpoint/2010/main" val="285603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12"/>
          <p:cNvSpPr/>
          <p:nvPr/>
        </p:nvSpPr>
        <p:spPr>
          <a:xfrm flipH="1">
            <a:off x="2" y="789993"/>
            <a:ext cx="12188825" cy="5080598"/>
          </a:xfrm>
          <a:custGeom>
            <a:avLst/>
            <a:gdLst/>
            <a:ahLst/>
            <a:cxnLst/>
            <a:rect l="l" t="t" r="r" b="b"/>
            <a:pathLst>
              <a:path w="12188825" h="5080598">
                <a:moveTo>
                  <a:pt x="12188824" y="0"/>
                </a:moveTo>
                <a:cubicBezTo>
                  <a:pt x="10416010" y="171615"/>
                  <a:pt x="8323891" y="270494"/>
                  <a:pt x="6083218" y="270494"/>
                </a:cubicBezTo>
                <a:cubicBezTo>
                  <a:pt x="3851975" y="270494"/>
                  <a:pt x="1768040" y="172445"/>
                  <a:pt x="0" y="2224"/>
                </a:cubicBezTo>
                <a:lnTo>
                  <a:pt x="0" y="1496008"/>
                </a:lnTo>
                <a:lnTo>
                  <a:pt x="0" y="1785092"/>
                </a:lnTo>
                <a:lnTo>
                  <a:pt x="0" y="3295506"/>
                </a:lnTo>
                <a:lnTo>
                  <a:pt x="0" y="3553408"/>
                </a:lnTo>
                <a:lnTo>
                  <a:pt x="0" y="5080598"/>
                </a:lnTo>
                <a:cubicBezTo>
                  <a:pt x="1772814" y="4908983"/>
                  <a:pt x="3864933" y="4810104"/>
                  <a:pt x="6105606" y="4810104"/>
                </a:cubicBezTo>
                <a:cubicBezTo>
                  <a:pt x="8336849" y="4810104"/>
                  <a:pt x="10420784" y="4908153"/>
                  <a:pt x="12188824" y="5078374"/>
                </a:cubicBezTo>
                <a:lnTo>
                  <a:pt x="12188824" y="3553408"/>
                </a:lnTo>
                <a:lnTo>
                  <a:pt x="12188825" y="3553408"/>
                </a:lnTo>
                <a:lnTo>
                  <a:pt x="12188825" y="1496008"/>
                </a:lnTo>
                <a:lnTo>
                  <a:pt x="12188824" y="1496008"/>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Rectangle 12"/>
          <p:cNvSpPr/>
          <p:nvPr/>
        </p:nvSpPr>
        <p:spPr>
          <a:xfrm flipH="1">
            <a:off x="2" y="792217"/>
            <a:ext cx="12188825" cy="5078374"/>
          </a:xfrm>
          <a:custGeom>
            <a:avLst/>
            <a:gdLst/>
            <a:ahLst/>
            <a:cxnLst/>
            <a:rect l="l" t="t" r="r" b="b"/>
            <a:pathLst>
              <a:path w="12188825" h="5078374">
                <a:moveTo>
                  <a:pt x="0" y="0"/>
                </a:moveTo>
                <a:lnTo>
                  <a:pt x="0" y="1493784"/>
                </a:lnTo>
                <a:lnTo>
                  <a:pt x="0" y="1782868"/>
                </a:lnTo>
                <a:lnTo>
                  <a:pt x="0" y="3293282"/>
                </a:lnTo>
                <a:lnTo>
                  <a:pt x="0" y="3551184"/>
                </a:lnTo>
                <a:lnTo>
                  <a:pt x="0" y="5078374"/>
                </a:lnTo>
                <a:lnTo>
                  <a:pt x="2" y="5078374"/>
                </a:lnTo>
                <a:lnTo>
                  <a:pt x="2" y="4101849"/>
                </a:lnTo>
                <a:lnTo>
                  <a:pt x="8" y="4101849"/>
                </a:lnTo>
                <a:lnTo>
                  <a:pt x="8" y="4825486"/>
                </a:lnTo>
                <a:cubicBezTo>
                  <a:pt x="1730681" y="4664816"/>
                  <a:pt x="3842825" y="4589835"/>
                  <a:pt x="6121038" y="4629602"/>
                </a:cubicBezTo>
                <a:cubicBezTo>
                  <a:pt x="8380486" y="4669041"/>
                  <a:pt x="10472749" y="4815575"/>
                  <a:pt x="12188824" y="5033515"/>
                </a:cubicBezTo>
                <a:lnTo>
                  <a:pt x="12188824" y="3551184"/>
                </a:lnTo>
                <a:lnTo>
                  <a:pt x="12188825" y="3551184"/>
                </a:lnTo>
                <a:lnTo>
                  <a:pt x="12188825" y="1493784"/>
                </a:lnTo>
                <a:lnTo>
                  <a:pt x="12188824" y="1493784"/>
                </a:lnTo>
                <a:lnTo>
                  <a:pt x="12188824" y="254012"/>
                </a:lnTo>
                <a:cubicBezTo>
                  <a:pt x="10458154" y="414682"/>
                  <a:pt x="8346010" y="489663"/>
                  <a:pt x="6067797" y="449896"/>
                </a:cubicBezTo>
                <a:cubicBezTo>
                  <a:pt x="3808349" y="410457"/>
                  <a:pt x="1716086" y="263923"/>
                  <a:pt x="8" y="45983"/>
                </a:cubicBezTo>
                <a:lnTo>
                  <a:pt x="8" y="977649"/>
                </a:lnTo>
                <a:lnTo>
                  <a:pt x="2" y="977649"/>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1522413" y="1371600"/>
            <a:ext cx="9144000" cy="2743200"/>
          </a:xfrm>
          <a:prstGeom prst="rect">
            <a:avLst/>
          </a:prstGeom>
        </p:spPr>
        <p:txBody>
          <a:bodyPr anchor="b">
            <a:normAutofit/>
          </a:bodyPr>
          <a:lstStyle>
            <a:lvl1pPr algn="l">
              <a:lnSpc>
                <a:spcPct val="85000"/>
              </a:lnSpc>
              <a:defRPr sz="60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4" y="4267201"/>
            <a:ext cx="7315198" cy="1066800"/>
          </a:xfrm>
        </p:spPr>
        <p:txBody>
          <a:bodyPr anchor="t">
            <a:normAutofit/>
          </a:bodyPr>
          <a:lstStyle>
            <a:lvl1pPr marL="0" indent="0">
              <a:spcBef>
                <a:spcPts val="60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444764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9862" y="1905000"/>
            <a:ext cx="4416552"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44505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91754"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8" name="Footer Placeholder 7"/>
          <p:cNvSpPr>
            <a:spLocks noGrp="1"/>
          </p:cNvSpPr>
          <p:nvPr>
            <p:ph type="ftr" sz="quarter" idx="11"/>
          </p:nvPr>
        </p:nvSpPr>
        <p:spPr>
          <a:xfrm>
            <a:off x="1525138" y="6518274"/>
            <a:ext cx="5864674" cy="320676"/>
          </a:xfrm>
          <a:prstGeom prst="rect">
            <a:avLst/>
          </a:prstGeom>
        </p:spPr>
        <p:txBody>
          <a:bodyPr/>
          <a:lstStyle/>
          <a:p>
            <a:endParaRPr/>
          </a:p>
        </p:txBody>
      </p:sp>
      <p:sp>
        <p:nvSpPr>
          <p:cNvPr id="9" name="Slide Number Placeholder 8"/>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67962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Tree>
    <p:extLst>
      <p:ext uri="{BB962C8B-B14F-4D97-AF65-F5344CB8AC3E}">
        <p14:creationId xmlns:p14="http://schemas.microsoft.com/office/powerpoint/2010/main" val="184297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3" name="Footer Placeholder 2"/>
          <p:cNvSpPr>
            <a:spLocks noGrp="1"/>
          </p:cNvSpPr>
          <p:nvPr>
            <p:ph type="ftr" sz="quarter" idx="11"/>
          </p:nvPr>
        </p:nvSpPr>
        <p:spPr bwMode="white">
          <a:xfrm>
            <a:off x="1525138" y="6518274"/>
            <a:ext cx="5864674" cy="320676"/>
          </a:xfrm>
          <a:prstGeom prst="rect">
            <a:avLst/>
          </a:prstGeom>
        </p:spPr>
        <p:txBody>
          <a:bodyPr/>
          <a:lstStyle/>
          <a:p>
            <a:endParaRPr/>
          </a:p>
        </p:txBody>
      </p:sp>
      <p:sp>
        <p:nvSpPr>
          <p:cNvPr id="4" name="Slide Number Placeholder 3"/>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27461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2" y="457200"/>
            <a:ext cx="3781439" cy="3276600"/>
          </a:xfrm>
          <a:prstGeom prst="rect">
            <a:avLst/>
          </a:prstGeom>
        </p:spPr>
        <p:txBody>
          <a:bodyPr anchor="b">
            <a:noAutofit/>
          </a:bodyPr>
          <a:lstStyle>
            <a:lvl1pPr algn="l">
              <a:defRPr sz="40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608013" y="457200"/>
            <a:ext cx="6324599"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2"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40304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1" y="457200"/>
            <a:ext cx="3781439" cy="3276600"/>
          </a:xfrm>
          <a:prstGeom prst="rect">
            <a:avLst/>
          </a:prstGeom>
        </p:spPr>
        <p:txBody>
          <a:bodyPr anchor="b">
            <a:noAutofit/>
          </a:bodyPr>
          <a:lstStyle>
            <a:lvl1pPr algn="l">
              <a:defRPr sz="40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3026" y="0"/>
            <a:ext cx="7469039" cy="6366494"/>
          </a:xfrm>
          <a:custGeom>
            <a:avLst/>
            <a:gdLst>
              <a:gd name="connsiteX0" fmla="*/ 0 w 7469039"/>
              <a:gd name="connsiteY0" fmla="*/ 0 h 6508480"/>
              <a:gd name="connsiteX1" fmla="*/ 7469039 w 7469039"/>
              <a:gd name="connsiteY1" fmla="*/ 0 h 6508480"/>
              <a:gd name="connsiteX2" fmla="*/ 7469039 w 7469039"/>
              <a:gd name="connsiteY2" fmla="*/ 6353183 h 6508480"/>
              <a:gd name="connsiteX3" fmla="*/ 6108633 w 7469039"/>
              <a:gd name="connsiteY3" fmla="*/ 6366494 h 6508480"/>
              <a:gd name="connsiteX4" fmla="*/ 3027 w 7469039"/>
              <a:gd name="connsiteY4" fmla="*/ 6096000 h 6508480"/>
              <a:gd name="connsiteX5" fmla="*/ 3027 w 7469039"/>
              <a:gd name="connsiteY5" fmla="*/ 6508480 h 6508480"/>
              <a:gd name="connsiteX6" fmla="*/ 0 w 7469039"/>
              <a:gd name="connsiteY6" fmla="*/ 0 h 6508480"/>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3027 w 7469039"/>
              <a:gd name="connsiteY4" fmla="*/ 6096000 h 6366494"/>
              <a:gd name="connsiteX5" fmla="*/ 0 w 7469039"/>
              <a:gd name="connsiteY5" fmla="*/ 0 h 6366494"/>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645 w 7469039"/>
              <a:gd name="connsiteY4" fmla="*/ 6096000 h 6366494"/>
              <a:gd name="connsiteX5" fmla="*/ 0 w 7469039"/>
              <a:gd name="connsiteY5" fmla="*/ 0 h 6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9039" h="6366494">
                <a:moveTo>
                  <a:pt x="0" y="0"/>
                </a:moveTo>
                <a:lnTo>
                  <a:pt x="7469039" y="0"/>
                </a:lnTo>
                <a:lnTo>
                  <a:pt x="7469039" y="6353183"/>
                </a:lnTo>
                <a:cubicBezTo>
                  <a:pt x="7022837" y="6362323"/>
                  <a:pt x="6568869" y="6366494"/>
                  <a:pt x="6108633" y="6366494"/>
                </a:cubicBezTo>
                <a:cubicBezTo>
                  <a:pt x="3867960" y="6366494"/>
                  <a:pt x="1773459" y="6267615"/>
                  <a:pt x="645" y="6096000"/>
                </a:cubicBezTo>
                <a:lnTo>
                  <a:pt x="0" y="0"/>
                </a:lnTo>
                <a:close/>
              </a:path>
            </a:pathLst>
          </a:custGeom>
          <a:noFill/>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1"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8036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28737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bwMode="black">
          <a:xfrm>
            <a:off x="9294812" y="274639"/>
            <a:ext cx="1371602" cy="5897561"/>
          </a:xfrm>
          <a:prstGeom prst="rect">
            <a:avLst/>
          </a:prstGeom>
        </p:spPr>
        <p:txBody>
          <a:bodyPr vert="eaVert"/>
          <a:lstStyle>
            <a:lvl1pPr>
              <a:defRPr>
                <a:solidFill>
                  <a:schemeClr val="tx1"/>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3" y="274639"/>
            <a:ext cx="7619999" cy="5884321"/>
          </a:xfrm>
        </p:spPr>
        <p:txBody>
          <a:bodyPr vert="eaVert"/>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bwMode="white">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48722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969943" cy="11430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609441" y="1600201"/>
            <a:ext cx="10969943" cy="4525963"/>
          </a:xfrm>
        </p:spPr>
        <p:txBody>
          <a:bodyPr rtlCol="0">
            <a:normAutofit/>
          </a:bodyPr>
          <a:lstStyle/>
          <a:p>
            <a:pPr lvl="0"/>
            <a:endParaRPr lang="en-US" noProof="0"/>
          </a:p>
        </p:txBody>
      </p:sp>
      <p:sp>
        <p:nvSpPr>
          <p:cNvPr id="4" name="Date Placeholder 3"/>
          <p:cNvSpPr>
            <a:spLocks noGrp="1"/>
          </p:cNvSpPr>
          <p:nvPr>
            <p:ph type="dt" sz="half" idx="10"/>
          </p:nvPr>
        </p:nvSpPr>
        <p:spPr>
          <a:xfrm>
            <a:off x="609441" y="6356351"/>
            <a:ext cx="2844059" cy="365125"/>
          </a:xfrm>
          <a:prstGeom prst="rect">
            <a:avLst/>
          </a:prstGeo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lvl1pPr>
              <a:defRPr/>
            </a:lvl1pPr>
          </a:lstStyle>
          <a:p>
            <a:pPr>
              <a:defRPr/>
            </a:pPr>
            <a:fld id="{DA392293-0A36-4519-A827-986945D063A5}" type="slidenum">
              <a:rPr lang="en-US" altLang="en-US"/>
              <a:pPr>
                <a:defRPr/>
              </a:pPr>
              <a:t>‹#›</a:t>
            </a:fld>
            <a:endParaRPr lang="en-US" altLang="en-US"/>
          </a:p>
        </p:txBody>
      </p:sp>
    </p:spTree>
    <p:extLst>
      <p:ext uri="{BB962C8B-B14F-4D97-AF65-F5344CB8AC3E}">
        <p14:creationId xmlns:p14="http://schemas.microsoft.com/office/powerpoint/2010/main" val="179886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p:nvSpPr>
        <p:spPr>
          <a:xfrm>
            <a:off x="0" y="-1"/>
            <a:ext cx="12189873" cy="612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3" name="Rectangle 12"/>
          <p:cNvSpPr/>
          <p:nvPr/>
        </p:nvSpPr>
        <p:spPr>
          <a:xfrm>
            <a:off x="1" y="0"/>
            <a:ext cx="12188824" cy="54868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7" name="Rectangle 7"/>
          <p:cNvSpPr/>
          <p:nvPr/>
        </p:nvSpPr>
        <p:spPr bwMode="hidden">
          <a:xfrm>
            <a:off x="-10885" y="6300240"/>
            <a:ext cx="12204000" cy="52623"/>
          </a:xfrm>
          <a:prstGeom prst="rect">
            <a:avLst/>
          </a:pr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Placeholder 1"/>
          <p:cNvSpPr>
            <a:spLocks noGrp="1"/>
          </p:cNvSpPr>
          <p:nvPr>
            <p:ph type="title"/>
          </p:nvPr>
        </p:nvSpPr>
        <p:spPr bwMode="white">
          <a:xfrm>
            <a:off x="1053852" y="0"/>
            <a:ext cx="10081120" cy="548680"/>
          </a:xfrm>
          <a:prstGeom prst="rect">
            <a:avLst/>
          </a:prstGeom>
        </p:spPr>
        <p:txBody>
          <a:bodyPr vert="horz" lIns="91440" tIns="45720" rIns="9144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1053852" y="980728"/>
            <a:ext cx="10081120" cy="5620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Rectangle 12"/>
          <p:cNvSpPr/>
          <p:nvPr userDrawn="1"/>
        </p:nvSpPr>
        <p:spPr>
          <a:xfrm>
            <a:off x="4496" y="6352671"/>
            <a:ext cx="12188824" cy="504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Tree>
    <p:extLst>
      <p:ext uri="{BB962C8B-B14F-4D97-AF65-F5344CB8AC3E}">
        <p14:creationId xmlns:p14="http://schemas.microsoft.com/office/powerpoint/2010/main" val="4248769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000" kern="1200">
          <a:solidFill>
            <a:schemeClr val="tx1"/>
          </a:solidFill>
          <a:latin typeface="Calibri" panose="020F0502020204030204" pitchFamily="34" charset="0"/>
          <a:ea typeface="+mn-ea"/>
          <a:cs typeface="+mn-cs"/>
        </a:defRPr>
      </a:lvl1pPr>
      <a:lvl2pPr marL="502920" indent="-223838" algn="l" defTabSz="914400" rtl="0" eaLnBrk="1" latinLnBrk="0" hangingPunct="1">
        <a:lnSpc>
          <a:spcPct val="90000"/>
        </a:lnSpc>
        <a:spcBef>
          <a:spcPts val="1000"/>
        </a:spcBef>
        <a:buSzPct val="90000"/>
        <a:buFont typeface="Arial" pitchFamily="34" charset="0"/>
        <a:buChar char="–"/>
        <a:defRPr sz="1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16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8" userDrawn="1">
          <p15:clr>
            <a:srgbClr val="F26B43"/>
          </p15:clr>
        </p15:guide>
        <p15:guide id="2" pos="6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p:cNvSpPr/>
          <p:nvPr/>
        </p:nvSpPr>
        <p:spPr>
          <a:xfrm>
            <a:off x="0" y="-1"/>
            <a:ext cx="12189873" cy="332657"/>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3" name="Rectangle 12"/>
          <p:cNvSpPr/>
          <p:nvPr userDrawn="1"/>
        </p:nvSpPr>
        <p:spPr>
          <a:xfrm>
            <a:off x="1" y="0"/>
            <a:ext cx="12188824" cy="18864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7" name="Rectangle 7"/>
          <p:cNvSpPr/>
          <p:nvPr/>
        </p:nvSpPr>
        <p:spPr bwMode="hidden">
          <a:xfrm>
            <a:off x="-10885" y="6745558"/>
            <a:ext cx="12204000" cy="119744"/>
          </a:xfrm>
          <a:prstGeom prst="rect">
            <a:avLst/>
          </a:pr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3" name="Text Placeholder 2"/>
          <p:cNvSpPr>
            <a:spLocks noGrp="1"/>
          </p:cNvSpPr>
          <p:nvPr>
            <p:ph type="body" idx="1"/>
          </p:nvPr>
        </p:nvSpPr>
        <p:spPr>
          <a:xfrm>
            <a:off x="1053852" y="980728"/>
            <a:ext cx="10081120" cy="5620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284492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000" kern="1200">
          <a:solidFill>
            <a:schemeClr val="tx1"/>
          </a:solidFill>
          <a:latin typeface="Calibri" panose="020F0502020204030204" pitchFamily="34" charset="0"/>
          <a:ea typeface="+mn-ea"/>
          <a:cs typeface="+mn-cs"/>
        </a:defRPr>
      </a:lvl1pPr>
      <a:lvl2pPr marL="502920" indent="-223838" algn="l" defTabSz="914400" rtl="0" eaLnBrk="1" latinLnBrk="0" hangingPunct="1">
        <a:lnSpc>
          <a:spcPct val="90000"/>
        </a:lnSpc>
        <a:spcBef>
          <a:spcPts val="1000"/>
        </a:spcBef>
        <a:buSzPct val="90000"/>
        <a:buFont typeface="Arial" pitchFamily="34" charset="0"/>
        <a:buChar char="–"/>
        <a:defRPr sz="1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16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8">
          <p15:clr>
            <a:srgbClr val="F26B43"/>
          </p15:clr>
        </p15:guide>
        <p15:guide id="2" pos="6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Interaction_diagra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white">
          <a:xfrm>
            <a:off x="1054100" y="4521477"/>
            <a:ext cx="10283762" cy="1080120"/>
          </a:xfrm>
          <a:prstGeom prst="rect">
            <a:avLst/>
          </a:prstGeom>
          <a:ln>
            <a:noFill/>
          </a:ln>
        </p:spPr>
        <p:txBody>
          <a:bodyPr vert="horz" lIns="91440" tIns="45720" rIns="91440" bIns="45720" rtlCol="0" anchor="ctr">
            <a:noAutofit/>
          </a:bodyPr>
          <a:lstStyle>
            <a:lvl1pPr algn="l" defTabSz="914400" rtl="0" eaLnBrk="1" latinLnBrk="0" hangingPunct="1">
              <a:lnSpc>
                <a:spcPct val="85000"/>
              </a:lnSpc>
              <a:spcBef>
                <a:spcPct val="0"/>
              </a:spcBef>
              <a:buNone/>
              <a:defRPr sz="6600" kern="1200">
                <a:solidFill>
                  <a:sysClr val="windowText" lastClr="000000"/>
                </a:solidFill>
                <a:latin typeface="Calibri" panose="020F0502020204030204" pitchFamily="34" charset="0"/>
                <a:ea typeface="+mj-ea"/>
                <a:cs typeface="+mj-cs"/>
              </a:defRPr>
            </a:lvl1pPr>
          </a:lstStyle>
          <a:p>
            <a:r>
              <a:rPr lang="en-US" sz="2800" b="1">
                <a:solidFill>
                  <a:schemeClr val="bg1"/>
                </a:solidFill>
              </a:rPr>
              <a:t>SC/CZ</a:t>
            </a:r>
            <a:r>
              <a:rPr lang="en-US" sz="2800" b="1" dirty="0">
                <a:solidFill>
                  <a:schemeClr val="bg1"/>
                </a:solidFill>
              </a:rPr>
              <a:t>/CE2002 Object-Oriented Design &amp; Programming</a:t>
            </a:r>
            <a:br>
              <a:rPr lang="en-US" sz="2800" b="1" dirty="0">
                <a:solidFill>
                  <a:schemeClr val="bg1"/>
                </a:solidFill>
              </a:rPr>
            </a:br>
            <a:br>
              <a:rPr lang="en-US" sz="2800" b="1" dirty="0">
                <a:solidFill>
                  <a:schemeClr val="bg1"/>
                </a:solidFill>
              </a:rPr>
            </a:br>
            <a:r>
              <a:rPr lang="en-US" sz="4000" b="1" spc="50" dirty="0">
                <a:ln w="0"/>
                <a:solidFill>
                  <a:srgbClr val="FFFF00"/>
                </a:solidFill>
              </a:rPr>
              <a:t>Chapter 7: UML Model: Object Interactions - Sequence Diagram</a:t>
            </a:r>
            <a:br>
              <a:rPr lang="en-US" sz="2800" b="1" spc="50" dirty="0">
                <a:ln w="0"/>
                <a:solidFill>
                  <a:srgbClr val="FFFF00"/>
                </a:solidFill>
              </a:rPr>
            </a:br>
            <a:br>
              <a:rPr lang="en-US" sz="2800" b="1" spc="50" dirty="0">
                <a:ln w="0"/>
                <a:solidFill>
                  <a:srgbClr val="FFFF00"/>
                </a:solidFill>
              </a:rPr>
            </a:br>
            <a:endParaRPr lang="en-US" sz="2800" b="1" dirty="0">
              <a:solidFill>
                <a:srgbClr val="FFFF00"/>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73675" y="5579419"/>
            <a:ext cx="3232075" cy="1157083"/>
          </a:xfrm>
          <a:prstGeom prst="rect">
            <a:avLst/>
          </a:prstGeom>
        </p:spPr>
      </p:pic>
      <p:sp>
        <p:nvSpPr>
          <p:cNvPr id="6" name="Subtitle 2"/>
          <p:cNvSpPr txBox="1">
            <a:spLocks/>
          </p:cNvSpPr>
          <p:nvPr/>
        </p:nvSpPr>
        <p:spPr bwMode="white">
          <a:xfrm>
            <a:off x="1066987" y="5405874"/>
            <a:ext cx="8843849" cy="133549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SzPct val="100000"/>
              <a:buFont typeface="Arial" pitchFamily="34" charset="0"/>
              <a:buNone/>
              <a:defRPr sz="2000" kern="1200">
                <a:solidFill>
                  <a:schemeClr val="bg2"/>
                </a:solidFill>
                <a:latin typeface="+mn-lt"/>
                <a:ea typeface="+mn-ea"/>
                <a:cs typeface="+mn-cs"/>
              </a:defRPr>
            </a:lvl1pPr>
            <a:lvl2pPr marL="457200" indent="0" algn="ctr" defTabSz="914400" rtl="0" eaLnBrk="1" latinLnBrk="0" hangingPunct="1">
              <a:lnSpc>
                <a:spcPct val="90000"/>
              </a:lnSpc>
              <a:spcBef>
                <a:spcPts val="1000"/>
              </a:spcBef>
              <a:buSzPct val="90000"/>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800"/>
              </a:spcBef>
              <a:buSzPct val="100000"/>
              <a:buFont typeface="Arial" pitchFamily="34" charset="0"/>
              <a:buNone/>
              <a:defRPr sz="16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9pPr>
          </a:lstStyle>
          <a:p>
            <a:endParaRPr lang="en-GB" sz="2800" b="1" dirty="0">
              <a:solidFill>
                <a:schemeClr val="bg1"/>
              </a:solidFill>
              <a:latin typeface="Calibri" panose="020F0502020204030204" pitchFamily="34" charset="0"/>
            </a:endParaRPr>
          </a:p>
          <a:p>
            <a:r>
              <a:rPr lang="en-GB" sz="2400" b="1" dirty="0" err="1">
                <a:solidFill>
                  <a:schemeClr val="bg1"/>
                </a:solidFill>
                <a:latin typeface="Calibri" panose="020F0502020204030204" pitchFamily="34" charset="0"/>
              </a:rPr>
              <a:t>Dr.</a:t>
            </a:r>
            <a:r>
              <a:rPr lang="en-GB" sz="2400" b="1" dirty="0">
                <a:solidFill>
                  <a:schemeClr val="bg1"/>
                </a:solidFill>
                <a:latin typeface="Calibri" panose="020F0502020204030204" pitchFamily="34" charset="0"/>
              </a:rPr>
              <a:t> Li Fang</a:t>
            </a:r>
          </a:p>
          <a:p>
            <a:r>
              <a:rPr lang="en-US" sz="1800" dirty="0">
                <a:solidFill>
                  <a:schemeClr val="bg1"/>
                </a:solidFill>
                <a:latin typeface="Calibri" panose="020F0502020204030204" pitchFamily="34" charset="0"/>
              </a:rPr>
              <a:t>Senior Lecturer, </a:t>
            </a:r>
            <a:r>
              <a:rPr lang="en-SG" sz="1800" dirty="0">
                <a:solidFill>
                  <a:schemeClr val="bg1"/>
                </a:solidFill>
                <a:latin typeface="Calibri" panose="020F0502020204030204" pitchFamily="34" charset="0"/>
              </a:rPr>
              <a:t>College of Computing and Data Science</a:t>
            </a:r>
            <a:endParaRPr lang="en-US" sz="1800" dirty="0">
              <a:solidFill>
                <a:schemeClr val="bg1"/>
              </a:solidFill>
              <a:latin typeface="Calibri" panose="020F0502020204030204" pitchFamily="34" charset="0"/>
            </a:endParaRPr>
          </a:p>
          <a:p>
            <a:endParaRPr lang="en-GB" sz="180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349426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54099" y="0"/>
            <a:ext cx="10080625" cy="548680"/>
          </a:xfrm>
        </p:spPr>
        <p:txBody>
          <a:bodyPr anchor="ctr">
            <a:normAutofit/>
          </a:bodyPr>
          <a:lstStyle/>
          <a:p>
            <a:r>
              <a:rPr lang="en-GB" b="1" dirty="0"/>
              <a:t>Objectives</a:t>
            </a:r>
            <a:endParaRPr lang="en-US" b="1" dirty="0"/>
          </a:p>
        </p:txBody>
      </p:sp>
      <p:sp>
        <p:nvSpPr>
          <p:cNvPr id="14" name="Content Placeholder 13"/>
          <p:cNvSpPr>
            <a:spLocks noGrp="1"/>
          </p:cNvSpPr>
          <p:nvPr>
            <p:ph idx="1"/>
          </p:nvPr>
        </p:nvSpPr>
        <p:spPr>
          <a:xfrm>
            <a:off x="1053852" y="981075"/>
            <a:ext cx="9145016" cy="4896197"/>
          </a:xfrm>
        </p:spPr>
        <p:txBody>
          <a:bodyPr anchor="t">
            <a:normAutofit/>
          </a:bodyPr>
          <a:lstStyle/>
          <a:p>
            <a:pPr marL="0" indent="0">
              <a:buNone/>
            </a:pPr>
            <a:r>
              <a:rPr lang="en-US" sz="2800" dirty="0"/>
              <a:t>By the end of this chapter, you should be able to:</a:t>
            </a:r>
          </a:p>
          <a:p>
            <a:pPr marL="360000" indent="-360000">
              <a:lnSpc>
                <a:spcPct val="100000"/>
              </a:lnSpc>
              <a:spcBef>
                <a:spcPts val="0"/>
              </a:spcBef>
              <a:buFont typeface="Wingdings" panose="05000000000000000000" pitchFamily="2" charset="2"/>
              <a:buChar char="§"/>
            </a:pPr>
            <a:r>
              <a:rPr lang="en-US" altLang="zh-TW" sz="2800" dirty="0">
                <a:ea typeface="PMingLiU" panose="02020500000000000000" pitchFamily="18" charset="-120"/>
                <a:cs typeface="Arial" panose="020B0604020202020204" pitchFamily="34" charset="0"/>
              </a:rPr>
              <a:t>Describe the elements of a Sequence diagram</a:t>
            </a:r>
          </a:p>
          <a:p>
            <a:pPr marL="360000" indent="-360000">
              <a:lnSpc>
                <a:spcPct val="100000"/>
              </a:lnSpc>
              <a:spcBef>
                <a:spcPts val="0"/>
              </a:spcBef>
              <a:buFont typeface="Wingdings" panose="05000000000000000000" pitchFamily="2" charset="2"/>
              <a:buChar char="§"/>
            </a:pPr>
            <a:r>
              <a:rPr lang="en-US" altLang="zh-TW" sz="2800" dirty="0">
                <a:ea typeface="PMingLiU" panose="02020500000000000000" pitchFamily="18" charset="-120"/>
                <a:cs typeface="Arial" panose="020B0604020202020204" pitchFamily="34" charset="0"/>
              </a:rPr>
              <a:t>Describe interaction fragments</a:t>
            </a:r>
          </a:p>
          <a:p>
            <a:pPr marL="360000" indent="-360000">
              <a:lnSpc>
                <a:spcPct val="100000"/>
              </a:lnSpc>
              <a:spcBef>
                <a:spcPts val="0"/>
              </a:spcBef>
              <a:buFont typeface="Wingdings" panose="05000000000000000000" pitchFamily="2" charset="2"/>
              <a:buChar char="§"/>
            </a:pPr>
            <a:r>
              <a:rPr lang="en-US" altLang="zh-TW" sz="2800" dirty="0">
                <a:ea typeface="PMingLiU" panose="02020500000000000000" pitchFamily="18" charset="-120"/>
                <a:cs typeface="Arial" panose="020B0604020202020204" pitchFamily="34" charset="0"/>
              </a:rPr>
              <a:t>Demonstrate diagram to a code</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2564" y="2739990"/>
            <a:ext cx="4545817" cy="3149858"/>
          </a:xfrm>
          <a:prstGeom prst="rect">
            <a:avLst/>
          </a:prstGeom>
          <a:ln>
            <a:noFill/>
          </a:ln>
          <a:effectLst>
            <a:softEdge rad="112500"/>
          </a:effectLst>
        </p:spPr>
      </p:pic>
    </p:spTree>
    <p:extLst>
      <p:ext uri="{BB962C8B-B14F-4D97-AF65-F5344CB8AC3E}">
        <p14:creationId xmlns:p14="http://schemas.microsoft.com/office/powerpoint/2010/main" val="587262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TW" sz="4000" b="1" dirty="0">
                <a:solidFill>
                  <a:schemeClr val="bg1"/>
                </a:solidFill>
                <a:ea typeface="PMingLiU" panose="02020500000000000000" pitchFamily="18" charset="-120"/>
                <a:cs typeface="Times New Roman" panose="02020603050405020304" pitchFamily="18" charset="0"/>
              </a:rPr>
              <a:t>Topic 1: </a:t>
            </a:r>
            <a:r>
              <a:rPr lang="en-US" altLang="zh-TW" sz="4000" b="1" dirty="0">
                <a:solidFill>
                  <a:schemeClr val="bg1"/>
                </a:solidFill>
                <a:ea typeface="PMingLiU" panose="02020500000000000000" pitchFamily="18" charset="-120"/>
              </a:rPr>
              <a:t>Sequence Diagram Elements</a:t>
            </a:r>
            <a:endParaRPr lang="en-GB" sz="4000" dirty="0">
              <a:solidFill>
                <a:schemeClr val="bg1"/>
              </a:solidFill>
            </a:endParaRPr>
          </a:p>
        </p:txBody>
      </p:sp>
    </p:spTree>
    <p:extLst>
      <p:ext uri="{BB962C8B-B14F-4D97-AF65-F5344CB8AC3E}">
        <p14:creationId xmlns:p14="http://schemas.microsoft.com/office/powerpoint/2010/main" val="1936659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Title 1"/>
          <p:cNvSpPr>
            <a:spLocks noGrp="1"/>
          </p:cNvSpPr>
          <p:nvPr>
            <p:ph type="title"/>
          </p:nvPr>
        </p:nvSpPr>
        <p:spPr>
          <a:xfrm>
            <a:off x="1053852" y="0"/>
            <a:ext cx="10081120" cy="548680"/>
          </a:xfrm>
        </p:spPr>
        <p:txBody>
          <a:bodyPr>
            <a:normAutofit/>
          </a:bodyPr>
          <a:lstStyle/>
          <a:p>
            <a:r>
              <a:rPr lang="en-US" altLang="en-US" b="1" dirty="0"/>
              <a:t>UML Diagram Types</a:t>
            </a:r>
          </a:p>
        </p:txBody>
      </p:sp>
      <p:sp>
        <p:nvSpPr>
          <p:cNvPr id="4099" name="Content Placeholder 2"/>
          <p:cNvSpPr>
            <a:spLocks noGrp="1"/>
          </p:cNvSpPr>
          <p:nvPr>
            <p:ph idx="1"/>
          </p:nvPr>
        </p:nvSpPr>
        <p:spPr>
          <a:xfrm>
            <a:off x="1053852" y="981076"/>
            <a:ext cx="10081120" cy="3600052"/>
          </a:xfrm>
          <a:prstGeom prst="snip1Rect">
            <a:avLst/>
          </a:prstGeom>
          <a:solidFill>
            <a:schemeClr val="accent2">
              <a:lumMod val="20000"/>
              <a:lumOff val="80000"/>
            </a:schemeClr>
          </a:solidFill>
          <a:effectLst>
            <a:outerShdw blurRad="63500" sx="102000" sy="102000" algn="ctr" rotWithShape="0">
              <a:prstClr val="black">
                <a:alpha val="40000"/>
              </a:prstClr>
            </a:outerShdw>
          </a:effectLst>
        </p:spPr>
        <p:txBody>
          <a:bodyPr>
            <a:normAutofit/>
          </a:bodyPr>
          <a:lstStyle/>
          <a:p>
            <a:endParaRPr lang="en-US" altLang="en-US" sz="2400" dirty="0"/>
          </a:p>
          <a:p>
            <a:pPr marL="360000" indent="-360000">
              <a:lnSpc>
                <a:spcPct val="100000"/>
              </a:lnSpc>
              <a:spcBef>
                <a:spcPts val="0"/>
              </a:spcBef>
              <a:buFont typeface="Wingdings" panose="05000000000000000000" pitchFamily="2" charset="2"/>
              <a:buChar char="§"/>
            </a:pPr>
            <a:r>
              <a:rPr lang="en-US" altLang="en-US" sz="2400" dirty="0"/>
              <a:t>Sequence Diagram (</a:t>
            </a:r>
            <a:r>
              <a:rPr lang="en-US" altLang="en-US" sz="2400" dirty="0" err="1"/>
              <a:t>Behavioural</a:t>
            </a:r>
            <a:r>
              <a:rPr lang="en-US" altLang="en-US" sz="2400" dirty="0"/>
              <a:t>):</a:t>
            </a:r>
          </a:p>
          <a:p>
            <a:pPr marL="720000" lvl="1" indent="-360000">
              <a:lnSpc>
                <a:spcPct val="100000"/>
              </a:lnSpc>
              <a:spcBef>
                <a:spcPts val="0"/>
              </a:spcBef>
              <a:buFont typeface="Arial" panose="020B0604020202020204" pitchFamily="34" charset="0"/>
              <a:buChar char="•"/>
            </a:pPr>
            <a:r>
              <a:rPr lang="en-US" altLang="en-US" sz="2400" dirty="0"/>
              <a:t>A kind of </a:t>
            </a:r>
            <a:r>
              <a:rPr lang="en-US" altLang="en-US" sz="2400" dirty="0">
                <a:solidFill>
                  <a:schemeClr val="bg2">
                    <a:lumMod val="50000"/>
                  </a:schemeClr>
                </a:solidFill>
                <a:hlinkClick r:id="rId3" action="ppaction://hlinkfile" tooltip="Interaction diagram"/>
              </a:rPr>
              <a:t>interaction diagram</a:t>
            </a:r>
            <a:r>
              <a:rPr lang="en-US" altLang="en-US" sz="2400" dirty="0">
                <a:solidFill>
                  <a:schemeClr val="bg2">
                    <a:lumMod val="50000"/>
                  </a:schemeClr>
                </a:solidFill>
              </a:rPr>
              <a:t> </a:t>
            </a:r>
            <a:r>
              <a:rPr lang="en-US" altLang="en-US" sz="2400" dirty="0"/>
              <a:t>that shows how processes operate with one another, and in what order.</a:t>
            </a:r>
          </a:p>
          <a:p>
            <a:pPr marL="720000" lvl="1" indent="-360000">
              <a:lnSpc>
                <a:spcPct val="100000"/>
              </a:lnSpc>
              <a:spcBef>
                <a:spcPts val="0"/>
              </a:spcBef>
              <a:buFont typeface="Arial" panose="020B0604020202020204" pitchFamily="34" charset="0"/>
              <a:buChar char="•"/>
            </a:pPr>
            <a:r>
              <a:rPr lang="en-US" altLang="en-US" sz="2400" dirty="0"/>
              <a:t>Shows object interactions arranged in time sequence.</a:t>
            </a:r>
          </a:p>
          <a:p>
            <a:pPr marL="720000" lvl="1" indent="-360000">
              <a:lnSpc>
                <a:spcPct val="100000"/>
              </a:lnSpc>
              <a:spcBef>
                <a:spcPts val="0"/>
              </a:spcBef>
              <a:buFont typeface="Arial" panose="020B0604020202020204" pitchFamily="34" charset="0"/>
              <a:buChar char="•"/>
            </a:pPr>
            <a:r>
              <a:rPr lang="en-US" altLang="en-US" sz="2400" dirty="0"/>
              <a:t>Depicts the objects and classes involved in the scenario, and the sequence of messages exchanged between the objects needed to carry out the functionality of the scenario (e.g. use case).</a:t>
            </a:r>
          </a:p>
        </p:txBody>
      </p:sp>
      <p:sp>
        <p:nvSpPr>
          <p:cNvPr id="2" name="Isosceles Triangle 1"/>
          <p:cNvSpPr/>
          <p:nvPr/>
        </p:nvSpPr>
        <p:spPr>
          <a:xfrm rot="13410719">
            <a:off x="10344744" y="1249353"/>
            <a:ext cx="844831" cy="252000"/>
          </a:xfrm>
          <a:prstGeom prst="triangle">
            <a:avLst/>
          </a:prstGeom>
          <a:solidFill>
            <a:schemeClr val="bg1">
              <a:lumMod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74400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54099" y="12700"/>
            <a:ext cx="10080625" cy="525376"/>
          </a:xfrm>
        </p:spPr>
        <p:txBody>
          <a:bodyPr>
            <a:normAutofit fontScale="90000"/>
          </a:bodyPr>
          <a:lstStyle/>
          <a:p>
            <a:pPr eaLnBrk="1" hangingPunct="1"/>
            <a:r>
              <a:rPr lang="en-US" altLang="en-US" sz="3600" b="1" dirty="0"/>
              <a:t>Sequence Diagram</a:t>
            </a:r>
          </a:p>
        </p:txBody>
      </p:sp>
      <p:sp>
        <p:nvSpPr>
          <p:cNvPr id="5123" name="Rectangle 4"/>
          <p:cNvSpPr>
            <a:spLocks noChangeArrowheads="1"/>
          </p:cNvSpPr>
          <p:nvPr/>
        </p:nvSpPr>
        <p:spPr bwMode="auto">
          <a:xfrm>
            <a:off x="2120900" y="908720"/>
            <a:ext cx="8352000" cy="5257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5124" name="Text Box 6"/>
          <p:cNvSpPr txBox="1">
            <a:spLocks noChangeArrowheads="1"/>
          </p:cNvSpPr>
          <p:nvPr/>
        </p:nvSpPr>
        <p:spPr bwMode="auto">
          <a:xfrm>
            <a:off x="2122488" y="915070"/>
            <a:ext cx="232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err="1"/>
              <a:t>sd</a:t>
            </a:r>
            <a:r>
              <a:rPr lang="en-US" altLang="en-US" sz="2400" b="1" dirty="0"/>
              <a:t> </a:t>
            </a:r>
            <a:r>
              <a:rPr lang="en-US" altLang="en-US" sz="2400" b="1" dirty="0" err="1"/>
              <a:t>ButtonPress</a:t>
            </a:r>
            <a:endParaRPr lang="en-US" altLang="en-US" sz="2400" b="1" dirty="0"/>
          </a:p>
        </p:txBody>
      </p:sp>
      <p:sp>
        <p:nvSpPr>
          <p:cNvPr id="5125" name="Line 7"/>
          <p:cNvSpPr>
            <a:spLocks noChangeShapeType="1"/>
          </p:cNvSpPr>
          <p:nvPr/>
        </p:nvSpPr>
        <p:spPr bwMode="auto">
          <a:xfrm>
            <a:off x="2125662" y="1367508"/>
            <a:ext cx="1995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26" name="Line 8"/>
          <p:cNvSpPr>
            <a:spLocks noChangeShapeType="1"/>
          </p:cNvSpPr>
          <p:nvPr/>
        </p:nvSpPr>
        <p:spPr bwMode="auto">
          <a:xfrm flipH="1">
            <a:off x="4230687" y="915070"/>
            <a:ext cx="0" cy="3429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27" name="Line 10"/>
          <p:cNvSpPr>
            <a:spLocks noChangeShapeType="1"/>
          </p:cNvSpPr>
          <p:nvPr/>
        </p:nvSpPr>
        <p:spPr bwMode="auto">
          <a:xfrm flipV="1">
            <a:off x="4111625" y="1241016"/>
            <a:ext cx="119062" cy="119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5128" name="Group 100"/>
          <p:cNvGrpSpPr>
            <a:grpSpLocks/>
          </p:cNvGrpSpPr>
          <p:nvPr/>
        </p:nvGrpSpPr>
        <p:grpSpPr bwMode="auto">
          <a:xfrm>
            <a:off x="2767013" y="1573884"/>
            <a:ext cx="949325" cy="4052887"/>
            <a:chOff x="764" y="1117"/>
            <a:chExt cx="598" cy="2553"/>
          </a:xfrm>
        </p:grpSpPr>
        <p:sp>
          <p:nvSpPr>
            <p:cNvPr id="5192" name="Line 99"/>
            <p:cNvSpPr>
              <a:spLocks noChangeShapeType="1"/>
            </p:cNvSpPr>
            <p:nvPr/>
          </p:nvSpPr>
          <p:spPr bwMode="auto">
            <a:xfrm>
              <a:off x="1074" y="1816"/>
              <a:ext cx="0" cy="185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93" name="Text Box 36"/>
            <p:cNvSpPr txBox="1">
              <a:spLocks noChangeArrowheads="1"/>
            </p:cNvSpPr>
            <p:nvPr/>
          </p:nvSpPr>
          <p:spPr bwMode="auto">
            <a:xfrm>
              <a:off x="764" y="161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a:t>
              </a:r>
            </a:p>
          </p:txBody>
        </p:sp>
        <p:grpSp>
          <p:nvGrpSpPr>
            <p:cNvPr id="5194" name="Group 26"/>
            <p:cNvGrpSpPr>
              <a:grpSpLocks/>
            </p:cNvGrpSpPr>
            <p:nvPr/>
          </p:nvGrpSpPr>
          <p:grpSpPr bwMode="auto">
            <a:xfrm>
              <a:off x="963" y="1117"/>
              <a:ext cx="210" cy="434"/>
              <a:chOff x="1236" y="1703"/>
              <a:chExt cx="210" cy="434"/>
            </a:xfrm>
          </p:grpSpPr>
          <p:sp>
            <p:nvSpPr>
              <p:cNvPr id="5195" name="Oval 27"/>
              <p:cNvSpPr>
                <a:spLocks noChangeArrowheads="1"/>
              </p:cNvSpPr>
              <p:nvPr/>
            </p:nvSpPr>
            <p:spPr bwMode="auto">
              <a:xfrm>
                <a:off x="1271" y="1703"/>
                <a:ext cx="135" cy="13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5196" name="Line 28"/>
              <p:cNvSpPr>
                <a:spLocks noChangeShapeType="1"/>
              </p:cNvSpPr>
              <p:nvPr/>
            </p:nvSpPr>
            <p:spPr bwMode="auto">
              <a:xfrm>
                <a:off x="1270" y="1914"/>
                <a:ext cx="1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97" name="Line 29"/>
              <p:cNvSpPr>
                <a:spLocks noChangeShapeType="1"/>
              </p:cNvSpPr>
              <p:nvPr/>
            </p:nvSpPr>
            <p:spPr bwMode="auto">
              <a:xfrm>
                <a:off x="1341" y="1838"/>
                <a:ext cx="0" cy="2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5198" name="Group 30"/>
              <p:cNvGrpSpPr>
                <a:grpSpLocks/>
              </p:cNvGrpSpPr>
              <p:nvPr/>
            </p:nvGrpSpPr>
            <p:grpSpPr bwMode="auto">
              <a:xfrm>
                <a:off x="1236" y="2026"/>
                <a:ext cx="210" cy="111"/>
                <a:chOff x="1236" y="2137"/>
                <a:chExt cx="210" cy="111"/>
              </a:xfrm>
            </p:grpSpPr>
            <p:sp>
              <p:nvSpPr>
                <p:cNvPr id="5199" name="Line 31"/>
                <p:cNvSpPr>
                  <a:spLocks noChangeShapeType="1"/>
                </p:cNvSpPr>
                <p:nvPr/>
              </p:nvSpPr>
              <p:spPr bwMode="auto">
                <a:xfrm flipH="1">
                  <a:off x="1236" y="2137"/>
                  <a:ext cx="105" cy="111"/>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GB">
                    <a:latin typeface="Calibri" panose="020F0502020204030204" pitchFamily="34" charset="0"/>
                  </a:endParaRPr>
                </a:p>
              </p:txBody>
            </p:sp>
            <p:sp>
              <p:nvSpPr>
                <p:cNvPr id="5200" name="Line 32"/>
                <p:cNvSpPr>
                  <a:spLocks noChangeShapeType="1"/>
                </p:cNvSpPr>
                <p:nvPr/>
              </p:nvSpPr>
              <p:spPr bwMode="auto">
                <a:xfrm>
                  <a:off x="1341" y="2137"/>
                  <a:ext cx="105" cy="111"/>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GB">
                    <a:latin typeface="Calibri" panose="020F0502020204030204" pitchFamily="34" charset="0"/>
                  </a:endParaRPr>
                </a:p>
              </p:txBody>
            </p:sp>
          </p:grpSp>
        </p:grpSp>
      </p:grpSp>
      <p:grpSp>
        <p:nvGrpSpPr>
          <p:cNvPr id="5" name="Group 80"/>
          <p:cNvGrpSpPr>
            <a:grpSpLocks/>
          </p:cNvGrpSpPr>
          <p:nvPr/>
        </p:nvGrpSpPr>
        <p:grpSpPr bwMode="auto">
          <a:xfrm>
            <a:off x="3297237" y="2812133"/>
            <a:ext cx="1593850" cy="2143125"/>
            <a:chOff x="1108" y="1897"/>
            <a:chExt cx="1004" cy="1350"/>
          </a:xfrm>
        </p:grpSpPr>
        <p:sp>
          <p:nvSpPr>
            <p:cNvPr id="5189" name="Line 52"/>
            <p:cNvSpPr>
              <a:spLocks noChangeShapeType="1"/>
            </p:cNvSpPr>
            <p:nvPr/>
          </p:nvSpPr>
          <p:spPr bwMode="auto">
            <a:xfrm>
              <a:off x="1108" y="2148"/>
              <a:ext cx="952"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90" name="Text Box 53"/>
            <p:cNvSpPr txBox="1">
              <a:spLocks noChangeArrowheads="1"/>
            </p:cNvSpPr>
            <p:nvPr/>
          </p:nvSpPr>
          <p:spPr bwMode="auto">
            <a:xfrm>
              <a:off x="1300" y="1897"/>
              <a:ext cx="5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press</a:t>
              </a:r>
            </a:p>
          </p:txBody>
        </p:sp>
        <p:sp>
          <p:nvSpPr>
            <p:cNvPr id="5191" name="Rectangle 59"/>
            <p:cNvSpPr>
              <a:spLocks noChangeArrowheads="1"/>
            </p:cNvSpPr>
            <p:nvPr/>
          </p:nvSpPr>
          <p:spPr bwMode="auto">
            <a:xfrm>
              <a:off x="2056" y="2105"/>
              <a:ext cx="56" cy="114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6" name="Group 81"/>
          <p:cNvGrpSpPr>
            <a:grpSpLocks/>
          </p:cNvGrpSpPr>
          <p:nvPr/>
        </p:nvGrpSpPr>
        <p:grpSpPr bwMode="auto">
          <a:xfrm>
            <a:off x="4822826" y="2915321"/>
            <a:ext cx="2871787" cy="1897063"/>
            <a:chOff x="2079" y="1962"/>
            <a:chExt cx="1809" cy="1195"/>
          </a:xfrm>
        </p:grpSpPr>
        <p:sp>
          <p:nvSpPr>
            <p:cNvPr id="5186" name="Text Box 62"/>
            <p:cNvSpPr txBox="1">
              <a:spLocks noChangeArrowheads="1"/>
            </p:cNvSpPr>
            <p:nvPr/>
          </p:nvSpPr>
          <p:spPr bwMode="auto">
            <a:xfrm>
              <a:off x="2079" y="1962"/>
              <a:ext cx="18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err="1"/>
                <a:t>actionPerformed</a:t>
              </a:r>
              <a:r>
                <a:rPr lang="en-US" altLang="en-US" sz="2000" dirty="0"/>
                <a:t>(event)</a:t>
              </a:r>
            </a:p>
          </p:txBody>
        </p:sp>
        <p:sp>
          <p:nvSpPr>
            <p:cNvPr id="5187" name="Line 60"/>
            <p:cNvSpPr>
              <a:spLocks noChangeShapeType="1"/>
            </p:cNvSpPr>
            <p:nvPr/>
          </p:nvSpPr>
          <p:spPr bwMode="auto">
            <a:xfrm>
              <a:off x="2127" y="2249"/>
              <a:ext cx="165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88" name="Rectangle 61"/>
            <p:cNvSpPr>
              <a:spLocks noChangeArrowheads="1"/>
            </p:cNvSpPr>
            <p:nvPr/>
          </p:nvSpPr>
          <p:spPr bwMode="auto">
            <a:xfrm>
              <a:off x="3789" y="2201"/>
              <a:ext cx="67" cy="956"/>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7" name="Group 82"/>
          <p:cNvGrpSpPr>
            <a:grpSpLocks/>
          </p:cNvGrpSpPr>
          <p:nvPr/>
        </p:nvGrpSpPr>
        <p:grpSpPr bwMode="auto">
          <a:xfrm>
            <a:off x="7642225" y="3083596"/>
            <a:ext cx="1543050" cy="1508125"/>
            <a:chOff x="3855" y="2068"/>
            <a:chExt cx="972" cy="950"/>
          </a:xfrm>
        </p:grpSpPr>
        <p:sp>
          <p:nvSpPr>
            <p:cNvPr id="5183" name="Line 63"/>
            <p:cNvSpPr>
              <a:spLocks noChangeShapeType="1"/>
            </p:cNvSpPr>
            <p:nvPr/>
          </p:nvSpPr>
          <p:spPr bwMode="auto">
            <a:xfrm>
              <a:off x="3855" y="2359"/>
              <a:ext cx="89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84" name="Rectangle 64"/>
            <p:cNvSpPr>
              <a:spLocks noChangeArrowheads="1"/>
            </p:cNvSpPr>
            <p:nvPr/>
          </p:nvSpPr>
          <p:spPr bwMode="auto">
            <a:xfrm>
              <a:off x="4760" y="2308"/>
              <a:ext cx="67" cy="710"/>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5185" name="Text Box 65"/>
            <p:cNvSpPr txBox="1">
              <a:spLocks noChangeArrowheads="1"/>
            </p:cNvSpPr>
            <p:nvPr/>
          </p:nvSpPr>
          <p:spPr bwMode="auto">
            <a:xfrm>
              <a:off x="3988" y="2068"/>
              <a:ext cx="6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toggle</a:t>
              </a:r>
            </a:p>
          </p:txBody>
        </p:sp>
      </p:grpSp>
      <p:grpSp>
        <p:nvGrpSpPr>
          <p:cNvPr id="8" name="Group 85"/>
          <p:cNvGrpSpPr>
            <a:grpSpLocks/>
          </p:cNvGrpSpPr>
          <p:nvPr/>
        </p:nvGrpSpPr>
        <p:grpSpPr bwMode="auto">
          <a:xfrm>
            <a:off x="9199562" y="4134520"/>
            <a:ext cx="304800" cy="266700"/>
            <a:chOff x="4836" y="2730"/>
            <a:chExt cx="192" cy="168"/>
          </a:xfrm>
        </p:grpSpPr>
        <p:sp>
          <p:nvSpPr>
            <p:cNvPr id="5180" name="Line 70"/>
            <p:cNvSpPr>
              <a:spLocks noChangeShapeType="1"/>
            </p:cNvSpPr>
            <p:nvPr/>
          </p:nvSpPr>
          <p:spPr bwMode="auto">
            <a:xfrm flipH="1" flipV="1">
              <a:off x="4875" y="2736"/>
              <a:ext cx="153" cy="3"/>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81" name="Line 71"/>
            <p:cNvSpPr>
              <a:spLocks noChangeShapeType="1"/>
            </p:cNvSpPr>
            <p:nvPr/>
          </p:nvSpPr>
          <p:spPr bwMode="auto">
            <a:xfrm>
              <a:off x="5022" y="2730"/>
              <a:ext cx="0" cy="16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5182" name="Line 72"/>
            <p:cNvSpPr>
              <a:spLocks noChangeShapeType="1"/>
            </p:cNvSpPr>
            <p:nvPr/>
          </p:nvSpPr>
          <p:spPr bwMode="auto">
            <a:xfrm>
              <a:off x="4836" y="2898"/>
              <a:ext cx="189" cy="0"/>
            </a:xfrm>
            <a:prstGeom prst="line">
              <a:avLst/>
            </a:prstGeom>
            <a:noFill/>
            <a:ln w="25400">
              <a:solidFill>
                <a:schemeClr val="tx1"/>
              </a:solidFill>
              <a:prstDash val="dash"/>
              <a:round/>
              <a:headEnd type="arrow" w="lg" len="lg"/>
              <a:tailEnd type="non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713" name="Line 73"/>
          <p:cNvSpPr>
            <a:spLocks noChangeShapeType="1"/>
          </p:cNvSpPr>
          <p:nvPr/>
        </p:nvSpPr>
        <p:spPr bwMode="auto">
          <a:xfrm flipH="1">
            <a:off x="7642226" y="4515520"/>
            <a:ext cx="1423987"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2714" name="Line 74"/>
          <p:cNvSpPr>
            <a:spLocks noChangeShapeType="1"/>
          </p:cNvSpPr>
          <p:nvPr/>
        </p:nvSpPr>
        <p:spPr bwMode="auto">
          <a:xfrm flipH="1">
            <a:off x="4889501" y="4672683"/>
            <a:ext cx="2638425"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9" name="Group 88"/>
          <p:cNvGrpSpPr>
            <a:grpSpLocks/>
          </p:cNvGrpSpPr>
          <p:nvPr/>
        </p:nvGrpSpPr>
        <p:grpSpPr bwMode="auto">
          <a:xfrm>
            <a:off x="9144001" y="3282033"/>
            <a:ext cx="1208087" cy="957262"/>
            <a:chOff x="4801" y="2193"/>
            <a:chExt cx="761" cy="603"/>
          </a:xfrm>
        </p:grpSpPr>
        <p:grpSp>
          <p:nvGrpSpPr>
            <p:cNvPr id="5173" name="Group 84"/>
            <p:cNvGrpSpPr>
              <a:grpSpLocks/>
            </p:cNvGrpSpPr>
            <p:nvPr/>
          </p:nvGrpSpPr>
          <p:grpSpPr bwMode="auto">
            <a:xfrm>
              <a:off x="4801" y="2424"/>
              <a:ext cx="221" cy="372"/>
              <a:chOff x="4801" y="2427"/>
              <a:chExt cx="221" cy="372"/>
            </a:xfrm>
          </p:grpSpPr>
          <p:sp>
            <p:nvSpPr>
              <p:cNvPr id="5175" name="Line 67"/>
              <p:cNvSpPr>
                <a:spLocks noChangeShapeType="1"/>
              </p:cNvSpPr>
              <p:nvPr/>
            </p:nvSpPr>
            <p:spPr bwMode="auto">
              <a:xfrm>
                <a:off x="4827" y="2436"/>
                <a:ext cx="1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5176" name="Group 83"/>
              <p:cNvGrpSpPr>
                <a:grpSpLocks/>
              </p:cNvGrpSpPr>
              <p:nvPr/>
            </p:nvGrpSpPr>
            <p:grpSpPr bwMode="auto">
              <a:xfrm>
                <a:off x="4801" y="2427"/>
                <a:ext cx="215" cy="372"/>
                <a:chOff x="4801" y="2427"/>
                <a:chExt cx="215" cy="372"/>
              </a:xfrm>
            </p:grpSpPr>
            <p:sp>
              <p:nvSpPr>
                <p:cNvPr id="5178" name="Rectangle 66"/>
                <p:cNvSpPr>
                  <a:spLocks noChangeArrowheads="1"/>
                </p:cNvSpPr>
                <p:nvPr/>
              </p:nvSpPr>
              <p:spPr bwMode="auto">
                <a:xfrm>
                  <a:off x="4801" y="2548"/>
                  <a:ext cx="67" cy="251"/>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5179" name="Line 68"/>
                <p:cNvSpPr>
                  <a:spLocks noChangeShapeType="1"/>
                </p:cNvSpPr>
                <p:nvPr/>
              </p:nvSpPr>
              <p:spPr bwMode="auto">
                <a:xfrm>
                  <a:off x="5016" y="2427"/>
                  <a:ext cx="0" cy="16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5177" name="Line 69"/>
              <p:cNvSpPr>
                <a:spLocks noChangeShapeType="1"/>
              </p:cNvSpPr>
              <p:nvPr/>
            </p:nvSpPr>
            <p:spPr bwMode="auto">
              <a:xfrm flipH="1" flipV="1">
                <a:off x="4869" y="2586"/>
                <a:ext cx="153" cy="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5174" name="Text Box 86"/>
            <p:cNvSpPr txBox="1">
              <a:spLocks noChangeArrowheads="1"/>
            </p:cNvSpPr>
            <p:nvPr/>
          </p:nvSpPr>
          <p:spPr bwMode="auto">
            <a:xfrm>
              <a:off x="4848" y="2193"/>
              <a:ext cx="7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t>getState()</a:t>
              </a:r>
            </a:p>
          </p:txBody>
        </p:sp>
      </p:grpSp>
      <p:grpSp>
        <p:nvGrpSpPr>
          <p:cNvPr id="5136" name="Group 98"/>
          <p:cNvGrpSpPr>
            <a:grpSpLocks/>
          </p:cNvGrpSpPr>
          <p:nvPr/>
        </p:nvGrpSpPr>
        <p:grpSpPr bwMode="auto">
          <a:xfrm>
            <a:off x="8555037" y="2300959"/>
            <a:ext cx="1290638" cy="3313113"/>
            <a:chOff x="4430" y="1575"/>
            <a:chExt cx="813" cy="2087"/>
          </a:xfrm>
        </p:grpSpPr>
        <p:sp>
          <p:nvSpPr>
            <p:cNvPr id="5171" name="Text Box 92"/>
            <p:cNvSpPr txBox="1">
              <a:spLocks noChangeArrowheads="1"/>
            </p:cNvSpPr>
            <p:nvPr/>
          </p:nvSpPr>
          <p:spPr bwMode="auto">
            <a:xfrm>
              <a:off x="4430" y="1575"/>
              <a:ext cx="813" cy="27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a:t>:Light</a:t>
              </a:r>
            </a:p>
          </p:txBody>
        </p:sp>
        <p:sp>
          <p:nvSpPr>
            <p:cNvPr id="5172" name="Line 93"/>
            <p:cNvSpPr>
              <a:spLocks noChangeShapeType="1"/>
            </p:cNvSpPr>
            <p:nvPr/>
          </p:nvSpPr>
          <p:spPr bwMode="auto">
            <a:xfrm>
              <a:off x="4813" y="1856"/>
              <a:ext cx="0" cy="180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5137" name="Group 101"/>
          <p:cNvGrpSpPr>
            <a:grpSpLocks/>
          </p:cNvGrpSpPr>
          <p:nvPr/>
        </p:nvGrpSpPr>
        <p:grpSpPr bwMode="auto">
          <a:xfrm>
            <a:off x="6418263" y="2335883"/>
            <a:ext cx="2049463" cy="3271838"/>
            <a:chOff x="3084" y="1597"/>
            <a:chExt cx="1291" cy="2061"/>
          </a:xfrm>
        </p:grpSpPr>
        <p:sp>
          <p:nvSpPr>
            <p:cNvPr id="5169" name="Text Box 91"/>
            <p:cNvSpPr txBox="1">
              <a:spLocks noChangeArrowheads="1"/>
            </p:cNvSpPr>
            <p:nvPr/>
          </p:nvSpPr>
          <p:spPr bwMode="auto">
            <a:xfrm>
              <a:off x="3084" y="1597"/>
              <a:ext cx="1291" cy="25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t>:ButtonListener</a:t>
              </a:r>
            </a:p>
          </p:txBody>
        </p:sp>
        <p:sp>
          <p:nvSpPr>
            <p:cNvPr id="5170" name="Line 94"/>
            <p:cNvSpPr>
              <a:spLocks noChangeShapeType="1"/>
            </p:cNvSpPr>
            <p:nvPr/>
          </p:nvSpPr>
          <p:spPr bwMode="auto">
            <a:xfrm>
              <a:off x="3829" y="1852"/>
              <a:ext cx="0" cy="180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5138" name="Group 96"/>
          <p:cNvGrpSpPr>
            <a:grpSpLocks/>
          </p:cNvGrpSpPr>
          <p:nvPr/>
        </p:nvGrpSpPr>
        <p:grpSpPr bwMode="auto">
          <a:xfrm>
            <a:off x="4189412" y="2283496"/>
            <a:ext cx="1373188" cy="3324225"/>
            <a:chOff x="1680" y="1564"/>
            <a:chExt cx="865" cy="2094"/>
          </a:xfrm>
        </p:grpSpPr>
        <p:sp>
          <p:nvSpPr>
            <p:cNvPr id="5167" name="Text Box 90"/>
            <p:cNvSpPr txBox="1">
              <a:spLocks noChangeArrowheads="1"/>
            </p:cNvSpPr>
            <p:nvPr/>
          </p:nvSpPr>
          <p:spPr bwMode="auto">
            <a:xfrm>
              <a:off x="1680" y="1564"/>
              <a:ext cx="865" cy="27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a:t>    :Button</a:t>
              </a:r>
            </a:p>
          </p:txBody>
        </p:sp>
        <p:sp>
          <p:nvSpPr>
            <p:cNvPr id="5168" name="Line 95"/>
            <p:cNvSpPr>
              <a:spLocks noChangeShapeType="1"/>
            </p:cNvSpPr>
            <p:nvPr/>
          </p:nvSpPr>
          <p:spPr bwMode="auto">
            <a:xfrm>
              <a:off x="2099" y="1852"/>
              <a:ext cx="0" cy="180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5" name="Group 56"/>
          <p:cNvGrpSpPr>
            <a:grpSpLocks/>
          </p:cNvGrpSpPr>
          <p:nvPr/>
        </p:nvGrpSpPr>
        <p:grpSpPr bwMode="auto">
          <a:xfrm>
            <a:off x="4114800" y="1383383"/>
            <a:ext cx="2349500" cy="1543050"/>
            <a:chOff x="2098105" y="1386745"/>
            <a:chExt cx="1687245" cy="1019639"/>
          </a:xfrm>
        </p:grpSpPr>
        <p:cxnSp>
          <p:nvCxnSpPr>
            <p:cNvPr id="58" name="Straight Arrow Connector 57"/>
            <p:cNvCxnSpPr>
              <a:stCxn id="5166" idx="1"/>
            </p:cNvCxnSpPr>
            <p:nvPr/>
          </p:nvCxnSpPr>
          <p:spPr>
            <a:xfrm flipH="1">
              <a:off x="2098105" y="1508430"/>
              <a:ext cx="934825" cy="897954"/>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5166" name="TextBox 58"/>
            <p:cNvSpPr txBox="1">
              <a:spLocks noChangeArrowheads="1"/>
            </p:cNvSpPr>
            <p:nvPr/>
          </p:nvSpPr>
          <p:spPr bwMode="auto">
            <a:xfrm>
              <a:off x="3033213" y="1386745"/>
              <a:ext cx="752137" cy="244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rPr>
                <a:t>Message</a:t>
              </a:r>
            </a:p>
          </p:txBody>
        </p:sp>
      </p:grpSp>
      <p:grpSp>
        <p:nvGrpSpPr>
          <p:cNvPr id="16" name="Group 59"/>
          <p:cNvGrpSpPr>
            <a:grpSpLocks/>
          </p:cNvGrpSpPr>
          <p:nvPr/>
        </p:nvGrpSpPr>
        <p:grpSpPr bwMode="auto">
          <a:xfrm>
            <a:off x="3079751" y="3336008"/>
            <a:ext cx="1584325" cy="2190750"/>
            <a:chOff x="3835021" y="-43218"/>
            <a:chExt cx="1583126" cy="2190802"/>
          </a:xfrm>
        </p:grpSpPr>
        <p:cxnSp>
          <p:nvCxnSpPr>
            <p:cNvPr id="61" name="Straight Arrow Connector 60"/>
            <p:cNvCxnSpPr/>
            <p:nvPr/>
          </p:nvCxnSpPr>
          <p:spPr>
            <a:xfrm flipV="1">
              <a:off x="4134831" y="-43218"/>
              <a:ext cx="1199242" cy="15446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64" name="TextBox 61"/>
            <p:cNvSpPr txBox="1">
              <a:spLocks noChangeArrowheads="1"/>
            </p:cNvSpPr>
            <p:nvPr/>
          </p:nvSpPr>
          <p:spPr bwMode="auto">
            <a:xfrm>
              <a:off x="3835021" y="1501253"/>
              <a:ext cx="15831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Asynchronous</a:t>
              </a:r>
            </a:p>
            <a:p>
              <a:pPr eaLnBrk="1" hangingPunct="1">
                <a:spcBef>
                  <a:spcPct val="0"/>
                </a:spcBef>
                <a:buFontTx/>
                <a:buNone/>
              </a:pPr>
              <a:r>
                <a:rPr lang="en-US" altLang="en-US" sz="1800" b="1" dirty="0">
                  <a:solidFill>
                    <a:srgbClr val="C00000"/>
                  </a:solidFill>
                </a:rPr>
                <a:t>message</a:t>
              </a:r>
            </a:p>
          </p:txBody>
        </p:sp>
      </p:grpSp>
      <p:grpSp>
        <p:nvGrpSpPr>
          <p:cNvPr id="17" name="Group 64"/>
          <p:cNvGrpSpPr>
            <a:grpSpLocks/>
          </p:cNvGrpSpPr>
          <p:nvPr/>
        </p:nvGrpSpPr>
        <p:grpSpPr bwMode="auto">
          <a:xfrm>
            <a:off x="5962650" y="3474120"/>
            <a:ext cx="1498600" cy="2190750"/>
            <a:chOff x="3835021" y="-43218"/>
            <a:chExt cx="1498980" cy="2190802"/>
          </a:xfrm>
        </p:grpSpPr>
        <p:cxnSp>
          <p:nvCxnSpPr>
            <p:cNvPr id="66" name="Straight Arrow Connector 65"/>
            <p:cNvCxnSpPr/>
            <p:nvPr/>
          </p:nvCxnSpPr>
          <p:spPr>
            <a:xfrm flipV="1">
              <a:off x="4135134" y="-43218"/>
              <a:ext cx="1198867" cy="15446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62" name="TextBox 66"/>
            <p:cNvSpPr txBox="1">
              <a:spLocks noChangeArrowheads="1"/>
            </p:cNvSpPr>
            <p:nvPr/>
          </p:nvSpPr>
          <p:spPr bwMode="auto">
            <a:xfrm>
              <a:off x="3835021" y="1501253"/>
              <a:ext cx="14516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rPr>
                <a:t>Synchronous</a:t>
              </a:r>
            </a:p>
            <a:p>
              <a:pPr eaLnBrk="1" hangingPunct="1">
                <a:spcBef>
                  <a:spcPct val="0"/>
                </a:spcBef>
                <a:buFontTx/>
                <a:buNone/>
              </a:pPr>
              <a:r>
                <a:rPr lang="en-US" altLang="en-US" sz="1800" b="1">
                  <a:solidFill>
                    <a:srgbClr val="C00000"/>
                  </a:solidFill>
                </a:rPr>
                <a:t>message</a:t>
              </a:r>
            </a:p>
          </p:txBody>
        </p:sp>
      </p:grpSp>
      <p:grpSp>
        <p:nvGrpSpPr>
          <p:cNvPr id="18" name="Group 68"/>
          <p:cNvGrpSpPr>
            <a:grpSpLocks/>
          </p:cNvGrpSpPr>
          <p:nvPr/>
        </p:nvGrpSpPr>
        <p:grpSpPr bwMode="auto">
          <a:xfrm>
            <a:off x="7635874" y="1264321"/>
            <a:ext cx="1763987" cy="1717675"/>
            <a:chOff x="3232245" y="1296537"/>
            <a:chExt cx="1764223" cy="1717344"/>
          </a:xfrm>
        </p:grpSpPr>
        <p:cxnSp>
          <p:nvCxnSpPr>
            <p:cNvPr id="70" name="Straight Arrow Connector 69"/>
            <p:cNvCxnSpPr/>
            <p:nvPr/>
          </p:nvCxnSpPr>
          <p:spPr>
            <a:xfrm flipH="1">
              <a:off x="3232245" y="1501286"/>
              <a:ext cx="903408" cy="151259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60" name="TextBox 70"/>
            <p:cNvSpPr txBox="1">
              <a:spLocks noChangeArrowheads="1"/>
            </p:cNvSpPr>
            <p:nvPr/>
          </p:nvSpPr>
          <p:spPr bwMode="auto">
            <a:xfrm>
              <a:off x="4121624" y="1296537"/>
              <a:ext cx="874844" cy="369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rPr>
                <a:t>Lifeline</a:t>
              </a:r>
            </a:p>
          </p:txBody>
        </p:sp>
      </p:grpSp>
      <p:grpSp>
        <p:nvGrpSpPr>
          <p:cNvPr id="19" name="Group 74"/>
          <p:cNvGrpSpPr>
            <a:grpSpLocks/>
          </p:cNvGrpSpPr>
          <p:nvPr/>
        </p:nvGrpSpPr>
        <p:grpSpPr bwMode="auto">
          <a:xfrm>
            <a:off x="3460750" y="1015083"/>
            <a:ext cx="2011071" cy="1187450"/>
            <a:chOff x="1937982" y="1214651"/>
            <a:chExt cx="2011473" cy="1187355"/>
          </a:xfrm>
        </p:grpSpPr>
        <p:grpSp>
          <p:nvGrpSpPr>
            <p:cNvPr id="5155" name="Group 55"/>
            <p:cNvGrpSpPr>
              <a:grpSpLocks/>
            </p:cNvGrpSpPr>
            <p:nvPr/>
          </p:nvGrpSpPr>
          <p:grpSpPr bwMode="auto">
            <a:xfrm>
              <a:off x="1937982" y="1214651"/>
              <a:ext cx="2011473" cy="831784"/>
              <a:chOff x="3152633" y="1296537"/>
              <a:chExt cx="2011473" cy="831784"/>
            </a:xfrm>
          </p:grpSpPr>
          <p:cxnSp>
            <p:nvCxnSpPr>
              <p:cNvPr id="54" name="Straight Arrow Connector 53"/>
              <p:cNvCxnSpPr/>
              <p:nvPr/>
            </p:nvCxnSpPr>
            <p:spPr>
              <a:xfrm flipH="1">
                <a:off x="3152633" y="1501308"/>
                <a:ext cx="982859" cy="62701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58" name="TextBox 54"/>
              <p:cNvSpPr txBox="1">
                <a:spLocks noChangeArrowheads="1"/>
              </p:cNvSpPr>
              <p:nvPr/>
            </p:nvSpPr>
            <p:spPr bwMode="auto">
              <a:xfrm>
                <a:off x="4121624" y="1296537"/>
                <a:ext cx="1042482" cy="36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rPr>
                  <a:t>Classifier</a:t>
                </a:r>
              </a:p>
            </p:txBody>
          </p:sp>
        </p:grpSp>
        <p:cxnSp>
          <p:nvCxnSpPr>
            <p:cNvPr id="73" name="Straight Arrow Connector 72"/>
            <p:cNvCxnSpPr/>
            <p:nvPr/>
          </p:nvCxnSpPr>
          <p:spPr>
            <a:xfrm>
              <a:off x="3073271" y="1571809"/>
              <a:ext cx="106384" cy="83019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76"/>
          <p:cNvGrpSpPr>
            <a:grpSpLocks/>
          </p:cNvGrpSpPr>
          <p:nvPr/>
        </p:nvGrpSpPr>
        <p:grpSpPr bwMode="auto">
          <a:xfrm>
            <a:off x="3860800" y="4467895"/>
            <a:ext cx="2646362" cy="1766888"/>
            <a:chOff x="4326341" y="-43218"/>
            <a:chExt cx="2646622" cy="1767722"/>
          </a:xfrm>
        </p:grpSpPr>
        <p:cxnSp>
          <p:nvCxnSpPr>
            <p:cNvPr id="78" name="Straight Arrow Connector 77"/>
            <p:cNvCxnSpPr/>
            <p:nvPr/>
          </p:nvCxnSpPr>
          <p:spPr>
            <a:xfrm flipV="1">
              <a:off x="4745482" y="-43218"/>
              <a:ext cx="589020" cy="11467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54" name="TextBox 78"/>
            <p:cNvSpPr txBox="1">
              <a:spLocks noChangeArrowheads="1"/>
            </p:cNvSpPr>
            <p:nvPr/>
          </p:nvSpPr>
          <p:spPr bwMode="auto">
            <a:xfrm>
              <a:off x="4326341" y="1078173"/>
              <a:ext cx="26466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rPr>
                <a:t>Activation/</a:t>
              </a:r>
            </a:p>
            <a:p>
              <a:pPr eaLnBrk="1" hangingPunct="1">
                <a:spcBef>
                  <a:spcPct val="0"/>
                </a:spcBef>
                <a:buFontTx/>
                <a:buNone/>
              </a:pPr>
              <a:r>
                <a:rPr lang="en-US" altLang="en-US" sz="1800" b="1">
                  <a:solidFill>
                    <a:srgbClr val="C00000"/>
                  </a:solidFill>
                </a:rPr>
                <a:t>Method invocation boxes</a:t>
              </a:r>
            </a:p>
          </p:txBody>
        </p:sp>
      </p:grpSp>
      <p:grpSp>
        <p:nvGrpSpPr>
          <p:cNvPr id="22" name="Group 80"/>
          <p:cNvGrpSpPr>
            <a:grpSpLocks/>
          </p:cNvGrpSpPr>
          <p:nvPr/>
        </p:nvGrpSpPr>
        <p:grpSpPr bwMode="auto">
          <a:xfrm>
            <a:off x="7397751" y="4497734"/>
            <a:ext cx="1773237" cy="1667570"/>
            <a:chOff x="4026090" y="-13379"/>
            <a:chExt cx="1773434" cy="1667583"/>
          </a:xfrm>
        </p:grpSpPr>
        <p:cxnSp>
          <p:nvCxnSpPr>
            <p:cNvPr id="82" name="Straight Arrow Connector 81"/>
            <p:cNvCxnSpPr/>
            <p:nvPr/>
          </p:nvCxnSpPr>
          <p:spPr>
            <a:xfrm flipV="1">
              <a:off x="4810402" y="-13379"/>
              <a:ext cx="523933" cy="137954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52" name="TextBox 82"/>
            <p:cNvSpPr txBox="1">
              <a:spLocks noChangeArrowheads="1"/>
            </p:cNvSpPr>
            <p:nvPr/>
          </p:nvSpPr>
          <p:spPr bwMode="auto">
            <a:xfrm>
              <a:off x="4026090" y="1284872"/>
              <a:ext cx="17734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Return message</a:t>
              </a:r>
            </a:p>
          </p:txBody>
        </p:sp>
      </p:grpSp>
      <p:sp>
        <p:nvSpPr>
          <p:cNvPr id="76" name="TextBox 75"/>
          <p:cNvSpPr txBox="1">
            <a:spLocks noChangeArrowheads="1"/>
          </p:cNvSpPr>
          <p:nvPr/>
        </p:nvSpPr>
        <p:spPr bwMode="auto">
          <a:xfrm>
            <a:off x="4129088" y="2324770"/>
            <a:ext cx="512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t>btn</a:t>
            </a:r>
          </a:p>
        </p:txBody>
      </p:sp>
      <p:sp>
        <p:nvSpPr>
          <p:cNvPr id="77" name="Down Arrow 76"/>
          <p:cNvSpPr/>
          <p:nvPr/>
        </p:nvSpPr>
        <p:spPr>
          <a:xfrm>
            <a:off x="1522412" y="1724695"/>
            <a:ext cx="484188" cy="4394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anose="020F0502020204030204" pitchFamily="34" charset="0"/>
            </a:endParaRPr>
          </a:p>
        </p:txBody>
      </p:sp>
      <p:grpSp>
        <p:nvGrpSpPr>
          <p:cNvPr id="23" name="Group 80"/>
          <p:cNvGrpSpPr>
            <a:grpSpLocks/>
          </p:cNvGrpSpPr>
          <p:nvPr/>
        </p:nvGrpSpPr>
        <p:grpSpPr bwMode="auto">
          <a:xfrm>
            <a:off x="9145636" y="3840834"/>
            <a:ext cx="1413272" cy="1519422"/>
            <a:chOff x="5239121" y="-413701"/>
            <a:chExt cx="1413818" cy="1520196"/>
          </a:xfrm>
        </p:grpSpPr>
        <p:cxnSp>
          <p:nvCxnSpPr>
            <p:cNvPr id="80" name="Straight Arrow Connector 79"/>
            <p:cNvCxnSpPr/>
            <p:nvPr/>
          </p:nvCxnSpPr>
          <p:spPr>
            <a:xfrm flipH="1" flipV="1">
              <a:off x="5640866" y="-413701"/>
              <a:ext cx="341444" cy="11324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50" name="TextBox 82"/>
            <p:cNvSpPr txBox="1">
              <a:spLocks noChangeArrowheads="1"/>
            </p:cNvSpPr>
            <p:nvPr/>
          </p:nvSpPr>
          <p:spPr bwMode="auto">
            <a:xfrm>
              <a:off x="5239121" y="736975"/>
              <a:ext cx="1413818" cy="36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Self message</a:t>
              </a:r>
            </a:p>
          </p:txBody>
        </p:sp>
      </p:grpSp>
      <p:sp>
        <p:nvSpPr>
          <p:cNvPr id="81" name="Freeform 80"/>
          <p:cNvSpPr>
            <a:spLocks noChangeAspect="1"/>
          </p:cNvSpPr>
          <p:nvPr/>
        </p:nvSpPr>
        <p:spPr>
          <a:xfrm>
            <a:off x="9767357" y="3645024"/>
            <a:ext cx="650274" cy="324000"/>
          </a:xfrm>
          <a:custGeom>
            <a:avLst/>
            <a:gdLst>
              <a:gd name="connsiteX0" fmla="*/ 0 w 1078523"/>
              <a:gd name="connsiteY0" fmla="*/ 293077 h 537378"/>
              <a:gd name="connsiteX1" fmla="*/ 386862 w 1078523"/>
              <a:gd name="connsiteY1" fmla="*/ 527539 h 537378"/>
              <a:gd name="connsiteX2" fmla="*/ 1078523 w 1078523"/>
              <a:gd name="connsiteY2" fmla="*/ 0 h 537378"/>
            </a:gdLst>
            <a:ahLst/>
            <a:cxnLst>
              <a:cxn ang="0">
                <a:pos x="connsiteX0" y="connsiteY0"/>
              </a:cxn>
              <a:cxn ang="0">
                <a:pos x="connsiteX1" y="connsiteY1"/>
              </a:cxn>
              <a:cxn ang="0">
                <a:pos x="connsiteX2" y="connsiteY2"/>
              </a:cxn>
            </a:cxnLst>
            <a:rect l="l" t="t" r="r" b="b"/>
            <a:pathLst>
              <a:path w="1078523" h="537378">
                <a:moveTo>
                  <a:pt x="0" y="293077"/>
                </a:moveTo>
                <a:cubicBezTo>
                  <a:pt x="103554" y="434731"/>
                  <a:pt x="207108" y="576385"/>
                  <a:pt x="386862" y="527539"/>
                </a:cubicBezTo>
                <a:cubicBezTo>
                  <a:pt x="566616" y="478693"/>
                  <a:pt x="822569" y="239346"/>
                  <a:pt x="1078523" y="0"/>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Calibri" panose="020F0502020204030204" pitchFamily="34" charset="0"/>
            </a:endParaRPr>
          </a:p>
        </p:txBody>
      </p:sp>
    </p:spTree>
    <p:custDataLst>
      <p:tags r:id="rId1"/>
    </p:custDataLst>
    <p:extLst>
      <p:ext uri="{BB962C8B-B14F-4D97-AF65-F5344CB8AC3E}">
        <p14:creationId xmlns:p14="http://schemas.microsoft.com/office/powerpoint/2010/main" val="25103475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271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2714"/>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7"/>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3" grpId="0" animBg="1"/>
      <p:bldP spid="112714" grpId="0" animBg="1"/>
      <p:bldP spid="76" grpId="0"/>
      <p:bldP spid="77" grpId="0" animBg="1"/>
      <p:bldP spid="8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54099" y="0"/>
            <a:ext cx="11134725" cy="548680"/>
          </a:xfrm>
        </p:spPr>
        <p:txBody>
          <a:bodyPr>
            <a:normAutofit/>
          </a:bodyPr>
          <a:lstStyle/>
          <a:p>
            <a:pPr eaLnBrk="1" hangingPunct="1"/>
            <a:r>
              <a:rPr lang="en-US" altLang="en-US" b="1" dirty="0"/>
              <a:t>Sequence Diagram</a:t>
            </a:r>
          </a:p>
        </p:txBody>
      </p:sp>
      <p:sp>
        <p:nvSpPr>
          <p:cNvPr id="6147" name="Rectangle 4"/>
          <p:cNvSpPr>
            <a:spLocks noChangeArrowheads="1"/>
          </p:cNvSpPr>
          <p:nvPr/>
        </p:nvSpPr>
        <p:spPr bwMode="auto">
          <a:xfrm>
            <a:off x="1991544" y="944439"/>
            <a:ext cx="8229600" cy="5257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148" name="Text Box 6"/>
          <p:cNvSpPr txBox="1">
            <a:spLocks noChangeArrowheads="1"/>
          </p:cNvSpPr>
          <p:nvPr/>
        </p:nvSpPr>
        <p:spPr bwMode="auto">
          <a:xfrm>
            <a:off x="1991544" y="987078"/>
            <a:ext cx="232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err="1"/>
              <a:t>sd</a:t>
            </a:r>
            <a:r>
              <a:rPr lang="en-US" altLang="en-US" sz="2400" b="1" dirty="0"/>
              <a:t> </a:t>
            </a:r>
            <a:r>
              <a:rPr lang="en-US" altLang="en-US" sz="2400" b="1" dirty="0" err="1"/>
              <a:t>ButtonPress</a:t>
            </a:r>
            <a:endParaRPr lang="en-US" altLang="en-US" sz="2400" b="1" dirty="0"/>
          </a:p>
        </p:txBody>
      </p:sp>
      <p:sp>
        <p:nvSpPr>
          <p:cNvPr id="6149" name="Line 7"/>
          <p:cNvSpPr>
            <a:spLocks noChangeShapeType="1"/>
          </p:cNvSpPr>
          <p:nvPr/>
        </p:nvSpPr>
        <p:spPr bwMode="auto">
          <a:xfrm>
            <a:off x="1994718" y="1439516"/>
            <a:ext cx="1995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50" name="Line 8"/>
          <p:cNvSpPr>
            <a:spLocks noChangeShapeType="1"/>
          </p:cNvSpPr>
          <p:nvPr/>
        </p:nvSpPr>
        <p:spPr bwMode="auto">
          <a:xfrm flipH="1">
            <a:off x="4099743" y="987078"/>
            <a:ext cx="0" cy="3429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51" name="Line 10"/>
          <p:cNvSpPr>
            <a:spLocks noChangeShapeType="1"/>
          </p:cNvSpPr>
          <p:nvPr/>
        </p:nvSpPr>
        <p:spPr bwMode="auto">
          <a:xfrm flipV="1">
            <a:off x="3980681" y="1325216"/>
            <a:ext cx="119062" cy="119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6152" name="Group 100"/>
          <p:cNvGrpSpPr>
            <a:grpSpLocks/>
          </p:cNvGrpSpPr>
          <p:nvPr/>
        </p:nvGrpSpPr>
        <p:grpSpPr bwMode="auto">
          <a:xfrm>
            <a:off x="2636069" y="1645892"/>
            <a:ext cx="949325" cy="4052887"/>
            <a:chOff x="764" y="1117"/>
            <a:chExt cx="598" cy="2553"/>
          </a:xfrm>
        </p:grpSpPr>
        <p:sp>
          <p:nvSpPr>
            <p:cNvPr id="6202" name="Line 99"/>
            <p:cNvSpPr>
              <a:spLocks noChangeShapeType="1"/>
            </p:cNvSpPr>
            <p:nvPr/>
          </p:nvSpPr>
          <p:spPr bwMode="auto">
            <a:xfrm>
              <a:off x="1074" y="1816"/>
              <a:ext cx="0" cy="185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203" name="Text Box 36"/>
            <p:cNvSpPr txBox="1">
              <a:spLocks noChangeArrowheads="1"/>
            </p:cNvSpPr>
            <p:nvPr/>
          </p:nvSpPr>
          <p:spPr bwMode="auto">
            <a:xfrm>
              <a:off x="764" y="161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a:t>
              </a:r>
            </a:p>
          </p:txBody>
        </p:sp>
        <p:grpSp>
          <p:nvGrpSpPr>
            <p:cNvPr id="6204" name="Group 26"/>
            <p:cNvGrpSpPr>
              <a:grpSpLocks/>
            </p:cNvGrpSpPr>
            <p:nvPr/>
          </p:nvGrpSpPr>
          <p:grpSpPr bwMode="auto">
            <a:xfrm>
              <a:off x="963" y="1117"/>
              <a:ext cx="210" cy="457"/>
              <a:chOff x="1236" y="1703"/>
              <a:chExt cx="210" cy="457"/>
            </a:xfrm>
          </p:grpSpPr>
          <p:sp>
            <p:nvSpPr>
              <p:cNvPr id="6205" name="Oval 27"/>
              <p:cNvSpPr>
                <a:spLocks noChangeArrowheads="1"/>
              </p:cNvSpPr>
              <p:nvPr/>
            </p:nvSpPr>
            <p:spPr bwMode="auto">
              <a:xfrm>
                <a:off x="1271" y="1703"/>
                <a:ext cx="135" cy="13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206" name="Line 28"/>
              <p:cNvSpPr>
                <a:spLocks noChangeShapeType="1"/>
              </p:cNvSpPr>
              <p:nvPr/>
            </p:nvSpPr>
            <p:spPr bwMode="auto">
              <a:xfrm>
                <a:off x="1270" y="1914"/>
                <a:ext cx="1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207" name="Line 29"/>
              <p:cNvSpPr>
                <a:spLocks noChangeShapeType="1"/>
              </p:cNvSpPr>
              <p:nvPr/>
            </p:nvSpPr>
            <p:spPr bwMode="auto">
              <a:xfrm>
                <a:off x="1341" y="1838"/>
                <a:ext cx="0" cy="2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6208" name="Group 30"/>
              <p:cNvGrpSpPr>
                <a:grpSpLocks/>
              </p:cNvGrpSpPr>
              <p:nvPr/>
            </p:nvGrpSpPr>
            <p:grpSpPr bwMode="auto">
              <a:xfrm>
                <a:off x="1236" y="2049"/>
                <a:ext cx="210" cy="111"/>
                <a:chOff x="1236" y="2160"/>
                <a:chExt cx="210" cy="111"/>
              </a:xfrm>
            </p:grpSpPr>
            <p:sp>
              <p:nvSpPr>
                <p:cNvPr id="6209" name="Line 31"/>
                <p:cNvSpPr>
                  <a:spLocks noChangeShapeType="1"/>
                </p:cNvSpPr>
                <p:nvPr/>
              </p:nvSpPr>
              <p:spPr bwMode="auto">
                <a:xfrm flipH="1">
                  <a:off x="1236" y="2160"/>
                  <a:ext cx="105" cy="1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210" name="Line 32"/>
                <p:cNvSpPr>
                  <a:spLocks noChangeShapeType="1"/>
                </p:cNvSpPr>
                <p:nvPr/>
              </p:nvSpPr>
              <p:spPr bwMode="auto">
                <a:xfrm>
                  <a:off x="1341" y="2160"/>
                  <a:ext cx="105" cy="1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grpSp>
      <p:grpSp>
        <p:nvGrpSpPr>
          <p:cNvPr id="5" name="Group 76"/>
          <p:cNvGrpSpPr>
            <a:grpSpLocks/>
          </p:cNvGrpSpPr>
          <p:nvPr/>
        </p:nvGrpSpPr>
        <p:grpSpPr bwMode="auto">
          <a:xfrm>
            <a:off x="4250557" y="1801466"/>
            <a:ext cx="949325" cy="3821112"/>
            <a:chOff x="1801" y="1215"/>
            <a:chExt cx="598" cy="2407"/>
          </a:xfrm>
        </p:grpSpPr>
        <p:grpSp>
          <p:nvGrpSpPr>
            <p:cNvPr id="6196" name="Group 37"/>
            <p:cNvGrpSpPr>
              <a:grpSpLocks/>
            </p:cNvGrpSpPr>
            <p:nvPr/>
          </p:nvGrpSpPr>
          <p:grpSpPr bwMode="auto">
            <a:xfrm>
              <a:off x="1887" y="1215"/>
              <a:ext cx="435" cy="288"/>
              <a:chOff x="3213" y="2544"/>
              <a:chExt cx="435" cy="288"/>
            </a:xfrm>
          </p:grpSpPr>
          <p:sp>
            <p:nvSpPr>
              <p:cNvPr id="6199" name="Oval 38"/>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200" name="Line 39"/>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201" name="Line 40"/>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6197" name="Text Box 41"/>
            <p:cNvSpPr txBox="1">
              <a:spLocks noChangeArrowheads="1"/>
            </p:cNvSpPr>
            <p:nvPr/>
          </p:nvSpPr>
          <p:spPr bwMode="auto">
            <a:xfrm>
              <a:off x="1801" y="1618"/>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:Button</a:t>
              </a:r>
            </a:p>
          </p:txBody>
        </p:sp>
        <p:sp>
          <p:nvSpPr>
            <p:cNvPr id="6198" name="Line 49"/>
            <p:cNvSpPr>
              <a:spLocks noChangeShapeType="1"/>
            </p:cNvSpPr>
            <p:nvPr/>
          </p:nvSpPr>
          <p:spPr bwMode="auto">
            <a:xfrm>
              <a:off x="2094" y="1861"/>
              <a:ext cx="0" cy="176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7" name="Group 77"/>
          <p:cNvGrpSpPr>
            <a:grpSpLocks/>
          </p:cNvGrpSpPr>
          <p:nvPr/>
        </p:nvGrpSpPr>
        <p:grpSpPr bwMode="auto">
          <a:xfrm>
            <a:off x="6615931" y="1741142"/>
            <a:ext cx="1739900" cy="3875087"/>
            <a:chOff x="3291" y="1177"/>
            <a:chExt cx="1096" cy="2441"/>
          </a:xfrm>
        </p:grpSpPr>
        <p:grpSp>
          <p:nvGrpSpPr>
            <p:cNvPr id="6190" name="Group 42"/>
            <p:cNvGrpSpPr>
              <a:grpSpLocks/>
            </p:cNvGrpSpPr>
            <p:nvPr/>
          </p:nvGrpSpPr>
          <p:grpSpPr bwMode="auto">
            <a:xfrm>
              <a:off x="3704" y="1177"/>
              <a:ext cx="288" cy="342"/>
              <a:chOff x="2736" y="2826"/>
              <a:chExt cx="288" cy="342"/>
            </a:xfrm>
          </p:grpSpPr>
          <p:sp>
            <p:nvSpPr>
              <p:cNvPr id="6193" name="Oval 43"/>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194" name="Line 44"/>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95" name="Line 45"/>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6191" name="Text Box 46"/>
            <p:cNvSpPr txBox="1">
              <a:spLocks noChangeArrowheads="1"/>
            </p:cNvSpPr>
            <p:nvPr/>
          </p:nvSpPr>
          <p:spPr bwMode="auto">
            <a:xfrm>
              <a:off x="3291" y="1619"/>
              <a:ext cx="10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:ButtonListener</a:t>
              </a:r>
            </a:p>
          </p:txBody>
        </p:sp>
        <p:sp>
          <p:nvSpPr>
            <p:cNvPr id="6192" name="Line 50"/>
            <p:cNvSpPr>
              <a:spLocks noChangeShapeType="1"/>
            </p:cNvSpPr>
            <p:nvPr/>
          </p:nvSpPr>
          <p:spPr bwMode="auto">
            <a:xfrm flipH="1">
              <a:off x="3826" y="1868"/>
              <a:ext cx="1" cy="1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9" name="Group 78"/>
          <p:cNvGrpSpPr>
            <a:grpSpLocks/>
          </p:cNvGrpSpPr>
          <p:nvPr/>
        </p:nvGrpSpPr>
        <p:grpSpPr bwMode="auto">
          <a:xfrm>
            <a:off x="8590782" y="1823692"/>
            <a:ext cx="949325" cy="3794125"/>
            <a:chOff x="4535" y="1229"/>
            <a:chExt cx="598" cy="2390"/>
          </a:xfrm>
        </p:grpSpPr>
        <p:grpSp>
          <p:nvGrpSpPr>
            <p:cNvPr id="6184" name="Group 21"/>
            <p:cNvGrpSpPr>
              <a:grpSpLocks/>
            </p:cNvGrpSpPr>
            <p:nvPr/>
          </p:nvGrpSpPr>
          <p:grpSpPr bwMode="auto">
            <a:xfrm>
              <a:off x="4596" y="1229"/>
              <a:ext cx="435" cy="288"/>
              <a:chOff x="3213" y="2544"/>
              <a:chExt cx="435" cy="288"/>
            </a:xfrm>
          </p:grpSpPr>
          <p:sp>
            <p:nvSpPr>
              <p:cNvPr id="6187" name="Oval 22"/>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188" name="Line 23"/>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89" name="Line 24"/>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6185" name="Text Box 47"/>
            <p:cNvSpPr txBox="1">
              <a:spLocks noChangeArrowheads="1"/>
            </p:cNvSpPr>
            <p:nvPr/>
          </p:nvSpPr>
          <p:spPr bwMode="auto">
            <a:xfrm>
              <a:off x="4535" y="1618"/>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:Light</a:t>
              </a:r>
            </a:p>
          </p:txBody>
        </p:sp>
        <p:sp>
          <p:nvSpPr>
            <p:cNvPr id="6186" name="Line 51"/>
            <p:cNvSpPr>
              <a:spLocks noChangeShapeType="1"/>
            </p:cNvSpPr>
            <p:nvPr/>
          </p:nvSpPr>
          <p:spPr bwMode="auto">
            <a:xfrm>
              <a:off x="4804" y="1869"/>
              <a:ext cx="11" cy="1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1" name="Group 80"/>
          <p:cNvGrpSpPr>
            <a:grpSpLocks/>
          </p:cNvGrpSpPr>
          <p:nvPr/>
        </p:nvGrpSpPr>
        <p:grpSpPr bwMode="auto">
          <a:xfrm>
            <a:off x="3166293" y="2844454"/>
            <a:ext cx="1593850" cy="2182813"/>
            <a:chOff x="1108" y="1872"/>
            <a:chExt cx="1004" cy="1375"/>
          </a:xfrm>
        </p:grpSpPr>
        <p:sp>
          <p:nvSpPr>
            <p:cNvPr id="6181" name="Line 52"/>
            <p:cNvSpPr>
              <a:spLocks noChangeShapeType="1"/>
            </p:cNvSpPr>
            <p:nvPr/>
          </p:nvSpPr>
          <p:spPr bwMode="auto">
            <a:xfrm>
              <a:off x="1108" y="2148"/>
              <a:ext cx="952"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82" name="Text Box 53"/>
            <p:cNvSpPr txBox="1">
              <a:spLocks noChangeArrowheads="1"/>
            </p:cNvSpPr>
            <p:nvPr/>
          </p:nvSpPr>
          <p:spPr bwMode="auto">
            <a:xfrm>
              <a:off x="1300" y="1872"/>
              <a:ext cx="5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press</a:t>
              </a:r>
            </a:p>
          </p:txBody>
        </p:sp>
        <p:sp>
          <p:nvSpPr>
            <p:cNvPr id="6183" name="Rectangle 59"/>
            <p:cNvSpPr>
              <a:spLocks noChangeArrowheads="1"/>
            </p:cNvSpPr>
            <p:nvPr/>
          </p:nvSpPr>
          <p:spPr bwMode="auto">
            <a:xfrm>
              <a:off x="2056" y="2105"/>
              <a:ext cx="56" cy="114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2" name="Group 81"/>
          <p:cNvGrpSpPr>
            <a:grpSpLocks/>
          </p:cNvGrpSpPr>
          <p:nvPr/>
        </p:nvGrpSpPr>
        <p:grpSpPr bwMode="auto">
          <a:xfrm>
            <a:off x="4691882" y="2987329"/>
            <a:ext cx="2871787" cy="1897063"/>
            <a:chOff x="2079" y="1962"/>
            <a:chExt cx="1809" cy="1195"/>
          </a:xfrm>
        </p:grpSpPr>
        <p:sp>
          <p:nvSpPr>
            <p:cNvPr id="6178" name="Text Box 62"/>
            <p:cNvSpPr txBox="1">
              <a:spLocks noChangeArrowheads="1"/>
            </p:cNvSpPr>
            <p:nvPr/>
          </p:nvSpPr>
          <p:spPr bwMode="auto">
            <a:xfrm>
              <a:off x="2079" y="1962"/>
              <a:ext cx="18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err="1"/>
                <a:t>actionPerformed</a:t>
              </a:r>
              <a:r>
                <a:rPr lang="en-US" altLang="en-US" sz="2000" dirty="0"/>
                <a:t>(event)</a:t>
              </a:r>
            </a:p>
          </p:txBody>
        </p:sp>
        <p:sp>
          <p:nvSpPr>
            <p:cNvPr id="6179" name="Line 60"/>
            <p:cNvSpPr>
              <a:spLocks noChangeShapeType="1"/>
            </p:cNvSpPr>
            <p:nvPr/>
          </p:nvSpPr>
          <p:spPr bwMode="auto">
            <a:xfrm>
              <a:off x="2127" y="2249"/>
              <a:ext cx="1656"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80" name="Rectangle 61"/>
            <p:cNvSpPr>
              <a:spLocks noChangeArrowheads="1"/>
            </p:cNvSpPr>
            <p:nvPr/>
          </p:nvSpPr>
          <p:spPr bwMode="auto">
            <a:xfrm>
              <a:off x="3789" y="2201"/>
              <a:ext cx="67" cy="956"/>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 name="Group 82"/>
          <p:cNvGrpSpPr>
            <a:grpSpLocks/>
          </p:cNvGrpSpPr>
          <p:nvPr/>
        </p:nvGrpSpPr>
        <p:grpSpPr bwMode="auto">
          <a:xfrm>
            <a:off x="7511281" y="3155604"/>
            <a:ext cx="1543050" cy="1508125"/>
            <a:chOff x="3855" y="2068"/>
            <a:chExt cx="972" cy="950"/>
          </a:xfrm>
        </p:grpSpPr>
        <p:sp>
          <p:nvSpPr>
            <p:cNvPr id="6175" name="Line 63"/>
            <p:cNvSpPr>
              <a:spLocks noChangeShapeType="1"/>
            </p:cNvSpPr>
            <p:nvPr/>
          </p:nvSpPr>
          <p:spPr bwMode="auto">
            <a:xfrm>
              <a:off x="3855" y="2359"/>
              <a:ext cx="89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76" name="Rectangle 64"/>
            <p:cNvSpPr>
              <a:spLocks noChangeArrowheads="1"/>
            </p:cNvSpPr>
            <p:nvPr/>
          </p:nvSpPr>
          <p:spPr bwMode="auto">
            <a:xfrm>
              <a:off x="4760" y="2308"/>
              <a:ext cx="67" cy="710"/>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177" name="Text Box 65"/>
            <p:cNvSpPr txBox="1">
              <a:spLocks noChangeArrowheads="1"/>
            </p:cNvSpPr>
            <p:nvPr/>
          </p:nvSpPr>
          <p:spPr bwMode="auto">
            <a:xfrm>
              <a:off x="3988" y="2068"/>
              <a:ext cx="6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toggle</a:t>
              </a:r>
            </a:p>
          </p:txBody>
        </p:sp>
      </p:grpSp>
      <p:grpSp>
        <p:nvGrpSpPr>
          <p:cNvPr id="14" name="Group 85"/>
          <p:cNvGrpSpPr>
            <a:grpSpLocks/>
          </p:cNvGrpSpPr>
          <p:nvPr/>
        </p:nvGrpSpPr>
        <p:grpSpPr bwMode="auto">
          <a:xfrm>
            <a:off x="9068618" y="4206528"/>
            <a:ext cx="304800" cy="266700"/>
            <a:chOff x="4836" y="2730"/>
            <a:chExt cx="192" cy="168"/>
          </a:xfrm>
        </p:grpSpPr>
        <p:sp>
          <p:nvSpPr>
            <p:cNvPr id="6172" name="Line 70"/>
            <p:cNvSpPr>
              <a:spLocks noChangeShapeType="1"/>
            </p:cNvSpPr>
            <p:nvPr/>
          </p:nvSpPr>
          <p:spPr bwMode="auto">
            <a:xfrm flipH="1" flipV="1">
              <a:off x="4875" y="2736"/>
              <a:ext cx="153" cy="3"/>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73" name="Line 71"/>
            <p:cNvSpPr>
              <a:spLocks noChangeShapeType="1"/>
            </p:cNvSpPr>
            <p:nvPr/>
          </p:nvSpPr>
          <p:spPr bwMode="auto">
            <a:xfrm>
              <a:off x="5022" y="2730"/>
              <a:ext cx="0" cy="16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6174" name="Line 72"/>
            <p:cNvSpPr>
              <a:spLocks noChangeShapeType="1"/>
            </p:cNvSpPr>
            <p:nvPr/>
          </p:nvSpPr>
          <p:spPr bwMode="auto">
            <a:xfrm>
              <a:off x="4836" y="2898"/>
              <a:ext cx="189" cy="0"/>
            </a:xfrm>
            <a:prstGeom prst="line">
              <a:avLst/>
            </a:prstGeom>
            <a:noFill/>
            <a:ln w="25400">
              <a:solidFill>
                <a:schemeClr val="tx1"/>
              </a:solidFill>
              <a:prstDash val="dash"/>
              <a:round/>
              <a:headEnd type="arrow" w="lg" len="lg"/>
              <a:tailEnd type="non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713" name="Line 73"/>
          <p:cNvSpPr>
            <a:spLocks noChangeShapeType="1"/>
          </p:cNvSpPr>
          <p:nvPr/>
        </p:nvSpPr>
        <p:spPr bwMode="auto">
          <a:xfrm flipH="1">
            <a:off x="7511282" y="4587528"/>
            <a:ext cx="1423987"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2714" name="Line 74"/>
          <p:cNvSpPr>
            <a:spLocks noChangeShapeType="1"/>
          </p:cNvSpPr>
          <p:nvPr/>
        </p:nvSpPr>
        <p:spPr bwMode="auto">
          <a:xfrm flipH="1">
            <a:off x="4758557" y="4744691"/>
            <a:ext cx="2638425"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5" name="Group 88"/>
          <p:cNvGrpSpPr>
            <a:grpSpLocks/>
          </p:cNvGrpSpPr>
          <p:nvPr/>
        </p:nvGrpSpPr>
        <p:grpSpPr bwMode="auto">
          <a:xfrm>
            <a:off x="9013057" y="3354041"/>
            <a:ext cx="1208087" cy="957262"/>
            <a:chOff x="4801" y="2193"/>
            <a:chExt cx="761" cy="603"/>
          </a:xfrm>
        </p:grpSpPr>
        <p:grpSp>
          <p:nvGrpSpPr>
            <p:cNvPr id="6165" name="Group 84"/>
            <p:cNvGrpSpPr>
              <a:grpSpLocks/>
            </p:cNvGrpSpPr>
            <p:nvPr/>
          </p:nvGrpSpPr>
          <p:grpSpPr bwMode="auto">
            <a:xfrm>
              <a:off x="4801" y="2424"/>
              <a:ext cx="221" cy="372"/>
              <a:chOff x="4801" y="2427"/>
              <a:chExt cx="221" cy="372"/>
            </a:xfrm>
          </p:grpSpPr>
          <p:sp>
            <p:nvSpPr>
              <p:cNvPr id="6167" name="Line 67"/>
              <p:cNvSpPr>
                <a:spLocks noChangeShapeType="1"/>
              </p:cNvSpPr>
              <p:nvPr/>
            </p:nvSpPr>
            <p:spPr bwMode="auto">
              <a:xfrm>
                <a:off x="4827" y="2436"/>
                <a:ext cx="1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6168" name="Group 83"/>
              <p:cNvGrpSpPr>
                <a:grpSpLocks/>
              </p:cNvGrpSpPr>
              <p:nvPr/>
            </p:nvGrpSpPr>
            <p:grpSpPr bwMode="auto">
              <a:xfrm>
                <a:off x="4801" y="2427"/>
                <a:ext cx="215" cy="372"/>
                <a:chOff x="4801" y="2427"/>
                <a:chExt cx="215" cy="372"/>
              </a:xfrm>
            </p:grpSpPr>
            <p:sp>
              <p:nvSpPr>
                <p:cNvPr id="6170" name="Rectangle 66"/>
                <p:cNvSpPr>
                  <a:spLocks noChangeArrowheads="1"/>
                </p:cNvSpPr>
                <p:nvPr/>
              </p:nvSpPr>
              <p:spPr bwMode="auto">
                <a:xfrm>
                  <a:off x="4801" y="2548"/>
                  <a:ext cx="67" cy="251"/>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6171" name="Line 68"/>
                <p:cNvSpPr>
                  <a:spLocks noChangeShapeType="1"/>
                </p:cNvSpPr>
                <p:nvPr/>
              </p:nvSpPr>
              <p:spPr bwMode="auto">
                <a:xfrm>
                  <a:off x="5016" y="2427"/>
                  <a:ext cx="0" cy="16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6169" name="Line 69"/>
              <p:cNvSpPr>
                <a:spLocks noChangeShapeType="1"/>
              </p:cNvSpPr>
              <p:nvPr/>
            </p:nvSpPr>
            <p:spPr bwMode="auto">
              <a:xfrm flipH="1" flipV="1">
                <a:off x="4869" y="2586"/>
                <a:ext cx="153" cy="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6166" name="Text Box 86"/>
            <p:cNvSpPr txBox="1">
              <a:spLocks noChangeArrowheads="1"/>
            </p:cNvSpPr>
            <p:nvPr/>
          </p:nvSpPr>
          <p:spPr bwMode="auto">
            <a:xfrm>
              <a:off x="4848" y="2193"/>
              <a:ext cx="7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t>getState()</a:t>
              </a:r>
            </a:p>
          </p:txBody>
        </p:sp>
      </p:grpSp>
      <p:sp>
        <p:nvSpPr>
          <p:cNvPr id="74" name="TextBox 73"/>
          <p:cNvSpPr txBox="1">
            <a:spLocks noChangeArrowheads="1"/>
          </p:cNvSpPr>
          <p:nvPr/>
        </p:nvSpPr>
        <p:spPr bwMode="auto">
          <a:xfrm>
            <a:off x="8758708" y="4473688"/>
            <a:ext cx="2166937" cy="1754188"/>
          </a:xfrm>
          <a:prstGeom prst="rect">
            <a:avLst/>
          </a:prstGeom>
          <a:solidFill>
            <a:srgbClr val="92D050"/>
          </a:solidFill>
          <a:ln>
            <a:noFill/>
          </a:ln>
          <a:effectLst>
            <a:outerShdw blurRad="50800" dist="38100" dir="8100000" algn="tr"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solidFill>
                  <a:srgbClr val="002060"/>
                </a:solidFill>
              </a:rPr>
              <a:t>toggle ()  </a:t>
            </a:r>
            <a:r>
              <a:rPr lang="en-US" altLang="en-US" sz="1800" dirty="0">
                <a:solidFill>
                  <a:srgbClr val="FF0000"/>
                </a:solidFill>
              </a:rPr>
              <a:t>{</a:t>
            </a:r>
          </a:p>
          <a:p>
            <a:pPr eaLnBrk="1" hangingPunct="1">
              <a:spcBef>
                <a:spcPct val="0"/>
              </a:spcBef>
              <a:buFontTx/>
              <a:buNone/>
            </a:pPr>
            <a:r>
              <a:rPr lang="en-US" altLang="en-US" sz="1800" dirty="0">
                <a:solidFill>
                  <a:srgbClr val="002060"/>
                </a:solidFill>
              </a:rPr>
              <a:t>                 ……</a:t>
            </a:r>
          </a:p>
          <a:p>
            <a:pPr eaLnBrk="1" hangingPunct="1">
              <a:spcBef>
                <a:spcPct val="0"/>
              </a:spcBef>
              <a:buFontTx/>
              <a:buNone/>
            </a:pPr>
            <a:r>
              <a:rPr lang="en-US" altLang="en-US" sz="1800" dirty="0">
                <a:solidFill>
                  <a:srgbClr val="002060"/>
                </a:solidFill>
              </a:rPr>
              <a:t>                 </a:t>
            </a:r>
            <a:r>
              <a:rPr lang="en-US" altLang="en-US" sz="1800" dirty="0" err="1">
                <a:solidFill>
                  <a:srgbClr val="002060"/>
                </a:solidFill>
              </a:rPr>
              <a:t>getState</a:t>
            </a:r>
            <a:r>
              <a:rPr lang="en-US" altLang="en-US" sz="1800" dirty="0">
                <a:solidFill>
                  <a:srgbClr val="002060"/>
                </a:solidFill>
              </a:rPr>
              <a:t>() ..</a:t>
            </a:r>
          </a:p>
          <a:p>
            <a:pPr eaLnBrk="1" hangingPunct="1">
              <a:spcBef>
                <a:spcPct val="0"/>
              </a:spcBef>
              <a:buFontTx/>
              <a:buNone/>
            </a:pPr>
            <a:r>
              <a:rPr lang="en-US" altLang="en-US" sz="1800" dirty="0">
                <a:solidFill>
                  <a:srgbClr val="002060"/>
                </a:solidFill>
              </a:rPr>
              <a:t>	…..</a:t>
            </a:r>
          </a:p>
          <a:p>
            <a:pPr eaLnBrk="1" hangingPunct="1">
              <a:spcBef>
                <a:spcPct val="0"/>
              </a:spcBef>
              <a:buFontTx/>
              <a:buNone/>
            </a:pPr>
            <a:r>
              <a:rPr lang="en-US" altLang="en-US" sz="1800" dirty="0">
                <a:solidFill>
                  <a:srgbClr val="002060"/>
                </a:solidFill>
              </a:rPr>
              <a:t>	return …;</a:t>
            </a:r>
          </a:p>
          <a:p>
            <a:pPr eaLnBrk="1" hangingPunct="1">
              <a:spcBef>
                <a:spcPct val="0"/>
              </a:spcBef>
              <a:buFontTx/>
              <a:buNone/>
            </a:pPr>
            <a:r>
              <a:rPr lang="en-US" altLang="en-US" sz="1800" dirty="0">
                <a:solidFill>
                  <a:srgbClr val="002060"/>
                </a:solidFill>
              </a:rPr>
              <a:t>               </a:t>
            </a:r>
            <a:r>
              <a:rPr lang="en-US" altLang="en-US" sz="1800" dirty="0">
                <a:solidFill>
                  <a:srgbClr val="FF0000"/>
                </a:solidFill>
              </a:rPr>
              <a:t> } </a:t>
            </a:r>
          </a:p>
        </p:txBody>
      </p:sp>
      <p:grpSp>
        <p:nvGrpSpPr>
          <p:cNvPr id="8" name="Group 7"/>
          <p:cNvGrpSpPr/>
          <p:nvPr/>
        </p:nvGrpSpPr>
        <p:grpSpPr>
          <a:xfrm>
            <a:off x="1625601" y="3165352"/>
            <a:ext cx="3081337" cy="3036887"/>
            <a:chOff x="1625601" y="3165352"/>
            <a:chExt cx="3081337" cy="3036887"/>
          </a:xfrm>
        </p:grpSpPr>
        <p:grpSp>
          <p:nvGrpSpPr>
            <p:cNvPr id="4" name="Group 3"/>
            <p:cNvGrpSpPr/>
            <p:nvPr/>
          </p:nvGrpSpPr>
          <p:grpSpPr>
            <a:xfrm>
              <a:off x="1625601" y="3165352"/>
              <a:ext cx="3081337" cy="3036887"/>
              <a:chOff x="1625601" y="3165352"/>
              <a:chExt cx="3081337" cy="3036887"/>
            </a:xfrm>
          </p:grpSpPr>
          <p:pic>
            <p:nvPicPr>
              <p:cNvPr id="6213" name="Picture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601" y="3165352"/>
                <a:ext cx="3081337" cy="3036887"/>
              </a:xfrm>
              <a:prstGeom prst="rect">
                <a:avLst/>
              </a:prstGeom>
              <a:noFill/>
              <a:ln w="5715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a:xfrm>
                <a:off x="2832497" y="3560316"/>
                <a:ext cx="1245691" cy="376237"/>
              </a:xfrm>
              <a:prstGeom prst="rect">
                <a:avLst/>
              </a:prstGeom>
              <a:solidFill>
                <a:schemeClr val="bg1">
                  <a:lumMod val="8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rPr>
                  <a:t>Self Message</a:t>
                </a:r>
                <a:endParaRPr lang="en-GB" sz="1400" dirty="0">
                  <a:solidFill>
                    <a:schemeClr val="tx1"/>
                  </a:solidFill>
                  <a:latin typeface="Calibri" panose="020F0502020204030204" pitchFamily="34" charset="0"/>
                </a:endParaRPr>
              </a:p>
            </p:txBody>
          </p:sp>
          <p:sp>
            <p:nvSpPr>
              <p:cNvPr id="69" name="Rectangle 68"/>
              <p:cNvSpPr/>
              <p:nvPr/>
            </p:nvSpPr>
            <p:spPr>
              <a:xfrm>
                <a:off x="2832497" y="4687044"/>
                <a:ext cx="1804639" cy="378000"/>
              </a:xfrm>
              <a:prstGeom prst="rect">
                <a:avLst/>
              </a:prstGeom>
              <a:solidFill>
                <a:schemeClr val="bg1">
                  <a:lumMod val="8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rPr>
                  <a:t>Recursive Message</a:t>
                </a:r>
                <a:endParaRPr lang="en-GB" sz="1400" dirty="0">
                  <a:solidFill>
                    <a:schemeClr val="tx1"/>
                  </a:solidFill>
                  <a:latin typeface="Calibri" panose="020F0502020204030204" pitchFamily="34" charset="0"/>
                </a:endParaRPr>
              </a:p>
            </p:txBody>
          </p:sp>
        </p:grpSp>
        <p:sp>
          <p:nvSpPr>
            <p:cNvPr id="6" name="Isosceles Triangle 5"/>
            <p:cNvSpPr/>
            <p:nvPr/>
          </p:nvSpPr>
          <p:spPr>
            <a:xfrm rot="16200000">
              <a:off x="1959280" y="3845164"/>
              <a:ext cx="144000" cy="25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Isosceles Triangle 71"/>
            <p:cNvSpPr/>
            <p:nvPr/>
          </p:nvSpPr>
          <p:spPr>
            <a:xfrm rot="16200000">
              <a:off x="1984680" y="5043900"/>
              <a:ext cx="144000" cy="25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ustDataLst>
      <p:tags r:id="rId1"/>
    </p:custDataLst>
    <p:extLst>
      <p:ext uri="{BB962C8B-B14F-4D97-AF65-F5344CB8AC3E}">
        <p14:creationId xmlns:p14="http://schemas.microsoft.com/office/powerpoint/2010/main" val="583369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271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2714"/>
                                        </p:tgtEl>
                                        <p:attrNameLst>
                                          <p:attrName>style.visibility</p:attrName>
                                        </p:attrNameLst>
                                      </p:cBhvr>
                                      <p:to>
                                        <p:strVal val="visible"/>
                                      </p:to>
                                    </p:set>
                                  </p:childTnLst>
                                </p:cTn>
                              </p:par>
                              <p:par>
                                <p:cTn id="47" presetID="3" presetClass="exit" presetSubtype="10" fill="hold" grpId="1" nodeType="withEffect">
                                  <p:stCondLst>
                                    <p:cond delay="0"/>
                                  </p:stCondLst>
                                  <p:childTnLst>
                                    <p:animEffect transition="out" filter="blinds(horizontal)">
                                      <p:cBhvr>
                                        <p:cTn id="48" dur="500"/>
                                        <p:tgtEl>
                                          <p:spTgt spid="74"/>
                                        </p:tgtEl>
                                      </p:cBhvr>
                                    </p:animEffect>
                                    <p:set>
                                      <p:cBhvr>
                                        <p:cTn id="49" dur="1" fill="hold">
                                          <p:stCondLst>
                                            <p:cond delay="499"/>
                                          </p:stCondLst>
                                        </p:cTn>
                                        <p:tgtEl>
                                          <p:spTgt spid="7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3" grpId="0" animBg="1"/>
      <p:bldP spid="112714" grpId="0" animBg="1"/>
      <p:bldP spid="74" grpId="0" animBg="1"/>
      <p:bldP spid="7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54100" y="-13252"/>
            <a:ext cx="11134725" cy="564116"/>
          </a:xfrm>
        </p:spPr>
        <p:txBody>
          <a:bodyPr>
            <a:normAutofit/>
          </a:bodyPr>
          <a:lstStyle/>
          <a:p>
            <a:pPr eaLnBrk="1" hangingPunct="1"/>
            <a:r>
              <a:rPr lang="en-US" altLang="en-US" b="1" dirty="0"/>
              <a:t>Creating and Deleting Participants</a:t>
            </a:r>
          </a:p>
        </p:txBody>
      </p:sp>
      <p:grpSp>
        <p:nvGrpSpPr>
          <p:cNvPr id="7171" name="Group 93"/>
          <p:cNvGrpSpPr>
            <a:grpSpLocks/>
          </p:cNvGrpSpPr>
          <p:nvPr/>
        </p:nvGrpSpPr>
        <p:grpSpPr bwMode="auto">
          <a:xfrm>
            <a:off x="2349996" y="908720"/>
            <a:ext cx="7323137" cy="5257800"/>
            <a:chOff x="537" y="768"/>
            <a:chExt cx="4613" cy="3312"/>
          </a:xfrm>
        </p:grpSpPr>
        <p:sp>
          <p:nvSpPr>
            <p:cNvPr id="7184" name="Text Box 44"/>
            <p:cNvSpPr txBox="1">
              <a:spLocks noChangeArrowheads="1"/>
            </p:cNvSpPr>
            <p:nvPr/>
          </p:nvSpPr>
          <p:spPr bwMode="auto">
            <a:xfrm>
              <a:off x="1085" y="1862"/>
              <a:ext cx="7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submit</a:t>
              </a:r>
            </a:p>
          </p:txBody>
        </p:sp>
        <p:sp>
          <p:nvSpPr>
            <p:cNvPr id="7185" name="Rectangle 5"/>
            <p:cNvSpPr>
              <a:spLocks noChangeArrowheads="1"/>
            </p:cNvSpPr>
            <p:nvPr/>
          </p:nvSpPr>
          <p:spPr bwMode="auto">
            <a:xfrm>
              <a:off x="543" y="768"/>
              <a:ext cx="4607" cy="331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186" name="Text Box 6"/>
            <p:cNvSpPr txBox="1">
              <a:spLocks noChangeArrowheads="1"/>
            </p:cNvSpPr>
            <p:nvPr/>
          </p:nvSpPr>
          <p:spPr bwMode="auto">
            <a:xfrm>
              <a:off x="537" y="772"/>
              <a:ext cx="18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err="1"/>
                <a:t>sd</a:t>
              </a:r>
              <a:r>
                <a:rPr lang="en-US" altLang="en-US" sz="2400" b="1" dirty="0"/>
                <a:t> </a:t>
              </a:r>
              <a:r>
                <a:rPr lang="en-US" altLang="en-US" sz="2400" b="1" dirty="0" err="1"/>
                <a:t>UpdateUserInfo</a:t>
              </a:r>
              <a:endParaRPr lang="en-US" altLang="en-US" sz="2400" b="1" dirty="0"/>
            </a:p>
          </p:txBody>
        </p:sp>
        <p:sp>
          <p:nvSpPr>
            <p:cNvPr id="7187" name="Line 7"/>
            <p:cNvSpPr>
              <a:spLocks noChangeShapeType="1"/>
            </p:cNvSpPr>
            <p:nvPr/>
          </p:nvSpPr>
          <p:spPr bwMode="auto">
            <a:xfrm>
              <a:off x="539" y="1057"/>
              <a:ext cx="15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188" name="Line 8"/>
            <p:cNvSpPr>
              <a:spLocks noChangeShapeType="1"/>
            </p:cNvSpPr>
            <p:nvPr/>
          </p:nvSpPr>
          <p:spPr bwMode="auto">
            <a:xfrm flipH="1">
              <a:off x="2212" y="772"/>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189" name="Line 9"/>
            <p:cNvSpPr>
              <a:spLocks noChangeShapeType="1"/>
            </p:cNvSpPr>
            <p:nvPr/>
          </p:nvSpPr>
          <p:spPr bwMode="auto">
            <a:xfrm flipV="1">
              <a:off x="2137" y="985"/>
              <a:ext cx="75"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190" name="Group 89"/>
            <p:cNvGrpSpPr>
              <a:grpSpLocks/>
            </p:cNvGrpSpPr>
            <p:nvPr/>
          </p:nvGrpSpPr>
          <p:grpSpPr bwMode="auto">
            <a:xfrm>
              <a:off x="708" y="1177"/>
              <a:ext cx="598" cy="2736"/>
              <a:chOff x="708" y="1177"/>
              <a:chExt cx="598" cy="2736"/>
            </a:xfrm>
          </p:grpSpPr>
          <p:sp>
            <p:nvSpPr>
              <p:cNvPr id="7232" name="Line 11"/>
              <p:cNvSpPr>
                <a:spLocks noChangeShapeType="1"/>
              </p:cNvSpPr>
              <p:nvPr/>
            </p:nvSpPr>
            <p:spPr bwMode="auto">
              <a:xfrm>
                <a:off x="982" y="1926"/>
                <a:ext cx="10" cy="1987"/>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33" name="Text Box 12"/>
              <p:cNvSpPr txBox="1">
                <a:spLocks noChangeArrowheads="1"/>
              </p:cNvSpPr>
              <p:nvPr/>
            </p:nvSpPr>
            <p:spPr bwMode="auto">
              <a:xfrm>
                <a:off x="708" y="161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a:t>
                </a:r>
              </a:p>
            </p:txBody>
          </p:sp>
          <p:grpSp>
            <p:nvGrpSpPr>
              <p:cNvPr id="7234" name="Group 13"/>
              <p:cNvGrpSpPr>
                <a:grpSpLocks/>
              </p:cNvGrpSpPr>
              <p:nvPr/>
            </p:nvGrpSpPr>
            <p:grpSpPr bwMode="auto">
              <a:xfrm>
                <a:off x="877" y="1177"/>
                <a:ext cx="210" cy="449"/>
                <a:chOff x="1236" y="1703"/>
                <a:chExt cx="210" cy="449"/>
              </a:xfrm>
            </p:grpSpPr>
            <p:sp>
              <p:nvSpPr>
                <p:cNvPr id="7235" name="Oval 14"/>
                <p:cNvSpPr>
                  <a:spLocks noChangeArrowheads="1"/>
                </p:cNvSpPr>
                <p:nvPr/>
              </p:nvSpPr>
              <p:spPr bwMode="auto">
                <a:xfrm>
                  <a:off x="1271" y="1703"/>
                  <a:ext cx="135" cy="13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236" name="Line 15"/>
                <p:cNvSpPr>
                  <a:spLocks noChangeShapeType="1"/>
                </p:cNvSpPr>
                <p:nvPr/>
              </p:nvSpPr>
              <p:spPr bwMode="auto">
                <a:xfrm>
                  <a:off x="1270" y="1914"/>
                  <a:ext cx="1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37" name="Line 16"/>
                <p:cNvSpPr>
                  <a:spLocks noChangeShapeType="1"/>
                </p:cNvSpPr>
                <p:nvPr/>
              </p:nvSpPr>
              <p:spPr bwMode="auto">
                <a:xfrm>
                  <a:off x="1341" y="1838"/>
                  <a:ext cx="0" cy="2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238" name="Group 17"/>
                <p:cNvGrpSpPr>
                  <a:grpSpLocks/>
                </p:cNvGrpSpPr>
                <p:nvPr/>
              </p:nvGrpSpPr>
              <p:grpSpPr bwMode="auto">
                <a:xfrm>
                  <a:off x="1236" y="2041"/>
                  <a:ext cx="210" cy="111"/>
                  <a:chOff x="1236" y="2152"/>
                  <a:chExt cx="210" cy="111"/>
                </a:xfrm>
              </p:grpSpPr>
              <p:sp>
                <p:nvSpPr>
                  <p:cNvPr id="7239" name="Line 18"/>
                  <p:cNvSpPr>
                    <a:spLocks noChangeShapeType="1"/>
                  </p:cNvSpPr>
                  <p:nvPr/>
                </p:nvSpPr>
                <p:spPr bwMode="auto">
                  <a:xfrm flipH="1">
                    <a:off x="1236" y="2152"/>
                    <a:ext cx="105" cy="111"/>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GB">
                      <a:latin typeface="Calibri" panose="020F0502020204030204" pitchFamily="34" charset="0"/>
                    </a:endParaRPr>
                  </a:p>
                </p:txBody>
              </p:sp>
              <p:sp>
                <p:nvSpPr>
                  <p:cNvPr id="7240" name="Line 19"/>
                  <p:cNvSpPr>
                    <a:spLocks noChangeShapeType="1"/>
                  </p:cNvSpPr>
                  <p:nvPr/>
                </p:nvSpPr>
                <p:spPr bwMode="auto">
                  <a:xfrm>
                    <a:off x="1341" y="2152"/>
                    <a:ext cx="105" cy="111"/>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GB">
                      <a:latin typeface="Calibri" panose="020F0502020204030204" pitchFamily="34" charset="0"/>
                    </a:endParaRPr>
                  </a:p>
                </p:txBody>
              </p:sp>
            </p:grpSp>
          </p:grpSp>
        </p:grpSp>
        <p:grpSp>
          <p:nvGrpSpPr>
            <p:cNvPr id="7191" name="Group 90"/>
            <p:cNvGrpSpPr>
              <a:grpSpLocks/>
            </p:cNvGrpSpPr>
            <p:nvPr/>
          </p:nvGrpSpPr>
          <p:grpSpPr bwMode="auto">
            <a:xfrm>
              <a:off x="1386" y="1355"/>
              <a:ext cx="1039" cy="2581"/>
              <a:chOff x="1386" y="1355"/>
              <a:chExt cx="1039" cy="2581"/>
            </a:xfrm>
          </p:grpSpPr>
          <p:grpSp>
            <p:nvGrpSpPr>
              <p:cNvPr id="7225" name="Group 73"/>
              <p:cNvGrpSpPr>
                <a:grpSpLocks/>
              </p:cNvGrpSpPr>
              <p:nvPr/>
            </p:nvGrpSpPr>
            <p:grpSpPr bwMode="auto">
              <a:xfrm>
                <a:off x="1386" y="1355"/>
                <a:ext cx="1039" cy="534"/>
                <a:chOff x="1286" y="1295"/>
                <a:chExt cx="1039" cy="534"/>
              </a:xfrm>
            </p:grpSpPr>
            <p:grpSp>
              <p:nvGrpSpPr>
                <p:cNvPr id="7227" name="Group 21"/>
                <p:cNvGrpSpPr>
                  <a:grpSpLocks/>
                </p:cNvGrpSpPr>
                <p:nvPr/>
              </p:nvGrpSpPr>
              <p:grpSpPr bwMode="auto">
                <a:xfrm>
                  <a:off x="1552" y="1295"/>
                  <a:ext cx="435" cy="288"/>
                  <a:chOff x="3213" y="2544"/>
                  <a:chExt cx="435" cy="288"/>
                </a:xfrm>
              </p:grpSpPr>
              <p:sp>
                <p:nvSpPr>
                  <p:cNvPr id="7229" name="Oval 22"/>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230" name="Line 23"/>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31" name="Line 24"/>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7228" name="Text Box 25"/>
                <p:cNvSpPr txBox="1">
                  <a:spLocks noChangeArrowheads="1"/>
                </p:cNvSpPr>
                <p:nvPr/>
              </p:nvSpPr>
              <p:spPr bwMode="auto">
                <a:xfrm>
                  <a:off x="1286" y="1598"/>
                  <a:ext cx="10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:UserInfoForm</a:t>
                  </a:r>
                </a:p>
              </p:txBody>
            </p:sp>
          </p:grpSp>
          <p:sp>
            <p:nvSpPr>
              <p:cNvPr id="7226" name="Line 26"/>
              <p:cNvSpPr>
                <a:spLocks noChangeShapeType="1"/>
              </p:cNvSpPr>
              <p:nvPr/>
            </p:nvSpPr>
            <p:spPr bwMode="auto">
              <a:xfrm flipH="1">
                <a:off x="1849" y="1901"/>
                <a:ext cx="10" cy="203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7192" name="Group 91"/>
            <p:cNvGrpSpPr>
              <a:grpSpLocks/>
            </p:cNvGrpSpPr>
            <p:nvPr/>
          </p:nvGrpSpPr>
          <p:grpSpPr bwMode="auto">
            <a:xfrm>
              <a:off x="2846" y="1297"/>
              <a:ext cx="1096" cy="2604"/>
              <a:chOff x="2846" y="1297"/>
              <a:chExt cx="1096" cy="2604"/>
            </a:xfrm>
          </p:grpSpPr>
          <p:grpSp>
            <p:nvGrpSpPr>
              <p:cNvPr id="7219" name="Group 28"/>
              <p:cNvGrpSpPr>
                <a:grpSpLocks/>
              </p:cNvGrpSpPr>
              <p:nvPr/>
            </p:nvGrpSpPr>
            <p:grpSpPr bwMode="auto">
              <a:xfrm>
                <a:off x="3259" y="1297"/>
                <a:ext cx="288" cy="342"/>
                <a:chOff x="2736" y="2826"/>
                <a:chExt cx="288" cy="342"/>
              </a:xfrm>
            </p:grpSpPr>
            <p:sp>
              <p:nvSpPr>
                <p:cNvPr id="7222" name="Oval 29"/>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223" name="Line 30"/>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24" name="Line 31"/>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7220" name="Text Box 32"/>
              <p:cNvSpPr txBox="1">
                <a:spLocks noChangeArrowheads="1"/>
              </p:cNvSpPr>
              <p:nvPr/>
            </p:nvSpPr>
            <p:spPr bwMode="auto">
              <a:xfrm>
                <a:off x="2846" y="1649"/>
                <a:ext cx="10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:UserMgr</a:t>
                </a:r>
              </a:p>
            </p:txBody>
          </p:sp>
          <p:sp>
            <p:nvSpPr>
              <p:cNvPr id="7221" name="Line 33"/>
              <p:cNvSpPr>
                <a:spLocks noChangeShapeType="1"/>
              </p:cNvSpPr>
              <p:nvPr/>
            </p:nvSpPr>
            <p:spPr bwMode="auto">
              <a:xfrm>
                <a:off x="3402" y="1918"/>
                <a:ext cx="9" cy="198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7193" name="Line 43"/>
            <p:cNvSpPr>
              <a:spLocks noChangeShapeType="1"/>
            </p:cNvSpPr>
            <p:nvPr/>
          </p:nvSpPr>
          <p:spPr bwMode="auto">
            <a:xfrm>
              <a:off x="981" y="2108"/>
              <a:ext cx="833" cy="1"/>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194" name="Rectangle 45"/>
            <p:cNvSpPr>
              <a:spLocks noChangeArrowheads="1"/>
            </p:cNvSpPr>
            <p:nvPr/>
          </p:nvSpPr>
          <p:spPr bwMode="auto">
            <a:xfrm>
              <a:off x="1823" y="2055"/>
              <a:ext cx="85" cy="159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195" name="Text Box 47"/>
            <p:cNvSpPr txBox="1">
              <a:spLocks noChangeArrowheads="1"/>
            </p:cNvSpPr>
            <p:nvPr/>
          </p:nvSpPr>
          <p:spPr bwMode="auto">
            <a:xfrm>
              <a:off x="1984" y="1952"/>
              <a:ext cx="18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err="1"/>
                <a:t>updateUserInfo</a:t>
              </a:r>
              <a:endParaRPr lang="en-US" altLang="en-US" sz="2000" dirty="0"/>
            </a:p>
          </p:txBody>
        </p:sp>
        <p:sp>
          <p:nvSpPr>
            <p:cNvPr id="7196" name="Line 48"/>
            <p:cNvSpPr>
              <a:spLocks noChangeShapeType="1"/>
            </p:cNvSpPr>
            <p:nvPr/>
          </p:nvSpPr>
          <p:spPr bwMode="auto">
            <a:xfrm>
              <a:off x="1912" y="2209"/>
              <a:ext cx="1452" cy="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197" name="Rectangle 49"/>
            <p:cNvSpPr>
              <a:spLocks noChangeArrowheads="1"/>
            </p:cNvSpPr>
            <p:nvPr/>
          </p:nvSpPr>
          <p:spPr bwMode="auto">
            <a:xfrm>
              <a:off x="3374" y="2161"/>
              <a:ext cx="66" cy="1299"/>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198" name="Line 59"/>
            <p:cNvSpPr>
              <a:spLocks noChangeShapeType="1"/>
            </p:cNvSpPr>
            <p:nvPr/>
          </p:nvSpPr>
          <p:spPr bwMode="auto">
            <a:xfrm flipH="1">
              <a:off x="1909" y="3370"/>
              <a:ext cx="1447"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199" name="Group 92"/>
            <p:cNvGrpSpPr>
              <a:grpSpLocks/>
            </p:cNvGrpSpPr>
            <p:nvPr/>
          </p:nvGrpSpPr>
          <p:grpSpPr bwMode="auto">
            <a:xfrm>
              <a:off x="4310" y="2101"/>
              <a:ext cx="745" cy="1395"/>
              <a:chOff x="4310" y="2101"/>
              <a:chExt cx="745" cy="1395"/>
            </a:xfrm>
          </p:grpSpPr>
          <p:sp>
            <p:nvSpPr>
              <p:cNvPr id="7213" name="Line 40"/>
              <p:cNvSpPr>
                <a:spLocks noChangeShapeType="1"/>
              </p:cNvSpPr>
              <p:nvPr/>
            </p:nvSpPr>
            <p:spPr bwMode="auto">
              <a:xfrm>
                <a:off x="4650" y="2614"/>
                <a:ext cx="12" cy="88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214" name="Group 76"/>
              <p:cNvGrpSpPr>
                <a:grpSpLocks/>
              </p:cNvGrpSpPr>
              <p:nvPr/>
            </p:nvGrpSpPr>
            <p:grpSpPr bwMode="auto">
              <a:xfrm>
                <a:off x="4310" y="2101"/>
                <a:ext cx="745" cy="538"/>
                <a:chOff x="4110" y="1841"/>
                <a:chExt cx="745" cy="538"/>
              </a:xfrm>
            </p:grpSpPr>
            <p:sp>
              <p:nvSpPr>
                <p:cNvPr id="7215" name="Text Box 39"/>
                <p:cNvSpPr txBox="1">
                  <a:spLocks noChangeArrowheads="1"/>
                </p:cNvSpPr>
                <p:nvPr/>
              </p:nvSpPr>
              <p:spPr bwMode="auto">
                <a:xfrm>
                  <a:off x="4110" y="2148"/>
                  <a:ext cx="7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:UserInfo</a:t>
                  </a:r>
                </a:p>
              </p:txBody>
            </p:sp>
            <p:grpSp>
              <p:nvGrpSpPr>
                <p:cNvPr id="7216" name="Group 69"/>
                <p:cNvGrpSpPr>
                  <a:grpSpLocks/>
                </p:cNvGrpSpPr>
                <p:nvPr/>
              </p:nvGrpSpPr>
              <p:grpSpPr bwMode="auto">
                <a:xfrm>
                  <a:off x="4243" y="1841"/>
                  <a:ext cx="432" cy="297"/>
                  <a:chOff x="2037" y="2880"/>
                  <a:chExt cx="432" cy="297"/>
                </a:xfrm>
              </p:grpSpPr>
              <p:sp>
                <p:nvSpPr>
                  <p:cNvPr id="7217" name="Oval 70"/>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218" name="Line 71"/>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grpSp>
        <p:sp>
          <p:nvSpPr>
            <p:cNvPr id="7200" name="Line 75"/>
            <p:cNvSpPr>
              <a:spLocks noChangeShapeType="1"/>
            </p:cNvSpPr>
            <p:nvPr/>
          </p:nvSpPr>
          <p:spPr bwMode="auto">
            <a:xfrm>
              <a:off x="3446" y="2322"/>
              <a:ext cx="1006" cy="0"/>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201" name="Group 79"/>
            <p:cNvGrpSpPr>
              <a:grpSpLocks/>
            </p:cNvGrpSpPr>
            <p:nvPr/>
          </p:nvGrpSpPr>
          <p:grpSpPr bwMode="auto">
            <a:xfrm>
              <a:off x="3440" y="2593"/>
              <a:ext cx="1189" cy="276"/>
              <a:chOff x="3230" y="2533"/>
              <a:chExt cx="1189" cy="276"/>
            </a:xfrm>
          </p:grpSpPr>
          <p:sp>
            <p:nvSpPr>
              <p:cNvPr id="7211" name="Text Box 77"/>
              <p:cNvSpPr txBox="1">
                <a:spLocks noChangeArrowheads="1"/>
              </p:cNvSpPr>
              <p:nvPr/>
            </p:nvSpPr>
            <p:spPr bwMode="auto">
              <a:xfrm>
                <a:off x="3452" y="2533"/>
                <a:ext cx="6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validate</a:t>
                </a:r>
              </a:p>
            </p:txBody>
          </p:sp>
          <p:sp>
            <p:nvSpPr>
              <p:cNvPr id="7212" name="Line 78"/>
              <p:cNvSpPr>
                <a:spLocks noChangeShapeType="1"/>
              </p:cNvSpPr>
              <p:nvPr/>
            </p:nvSpPr>
            <p:spPr bwMode="auto">
              <a:xfrm>
                <a:off x="3230" y="2800"/>
                <a:ext cx="1189" cy="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7202" name="Rectangle 80"/>
            <p:cNvSpPr>
              <a:spLocks noChangeArrowheads="1"/>
            </p:cNvSpPr>
            <p:nvPr/>
          </p:nvSpPr>
          <p:spPr bwMode="auto">
            <a:xfrm>
              <a:off x="4631" y="3144"/>
              <a:ext cx="67" cy="23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7203" name="Group 81"/>
            <p:cNvGrpSpPr>
              <a:grpSpLocks/>
            </p:cNvGrpSpPr>
            <p:nvPr/>
          </p:nvGrpSpPr>
          <p:grpSpPr bwMode="auto">
            <a:xfrm>
              <a:off x="3446" y="2949"/>
              <a:ext cx="1189" cy="276"/>
              <a:chOff x="3230" y="2533"/>
              <a:chExt cx="1189" cy="276"/>
            </a:xfrm>
          </p:grpSpPr>
          <p:sp>
            <p:nvSpPr>
              <p:cNvPr id="7209" name="Text Box 82"/>
              <p:cNvSpPr txBox="1">
                <a:spLocks noChangeArrowheads="1"/>
              </p:cNvSpPr>
              <p:nvPr/>
            </p:nvSpPr>
            <p:spPr bwMode="auto">
              <a:xfrm>
                <a:off x="3452" y="2533"/>
                <a:ext cx="6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update</a:t>
                </a:r>
              </a:p>
            </p:txBody>
          </p:sp>
          <p:sp>
            <p:nvSpPr>
              <p:cNvPr id="7210" name="Line 83"/>
              <p:cNvSpPr>
                <a:spLocks noChangeShapeType="1"/>
              </p:cNvSpPr>
              <p:nvPr/>
            </p:nvSpPr>
            <p:spPr bwMode="auto">
              <a:xfrm>
                <a:off x="3230" y="2800"/>
                <a:ext cx="1189" cy="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7204" name="Line 85"/>
            <p:cNvSpPr>
              <a:spLocks noChangeShapeType="1"/>
            </p:cNvSpPr>
            <p:nvPr/>
          </p:nvSpPr>
          <p:spPr bwMode="auto">
            <a:xfrm>
              <a:off x="4545" y="3438"/>
              <a:ext cx="234" cy="14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05" name="Line 86"/>
            <p:cNvSpPr>
              <a:spLocks noChangeShapeType="1"/>
            </p:cNvSpPr>
            <p:nvPr/>
          </p:nvSpPr>
          <p:spPr bwMode="auto">
            <a:xfrm flipH="1">
              <a:off x="4551" y="3444"/>
              <a:ext cx="234" cy="14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06" name="Rectangle 87"/>
            <p:cNvSpPr>
              <a:spLocks noChangeArrowheads="1"/>
            </p:cNvSpPr>
            <p:nvPr/>
          </p:nvSpPr>
          <p:spPr bwMode="auto">
            <a:xfrm>
              <a:off x="959" y="2001"/>
              <a:ext cx="75" cy="1776"/>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207" name="Line 88"/>
            <p:cNvSpPr>
              <a:spLocks noChangeShapeType="1"/>
            </p:cNvSpPr>
            <p:nvPr/>
          </p:nvSpPr>
          <p:spPr bwMode="auto">
            <a:xfrm flipH="1">
              <a:off x="1019" y="3554"/>
              <a:ext cx="803" cy="0"/>
            </a:xfrm>
            <a:prstGeom prst="line">
              <a:avLst/>
            </a:prstGeom>
            <a:noFill/>
            <a:ln w="25400">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7208" name="Rectangle 52"/>
            <p:cNvSpPr>
              <a:spLocks noChangeArrowheads="1"/>
            </p:cNvSpPr>
            <p:nvPr/>
          </p:nvSpPr>
          <p:spPr bwMode="auto">
            <a:xfrm>
              <a:off x="4635" y="2788"/>
              <a:ext cx="67" cy="23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6" name="Group 71"/>
          <p:cNvGrpSpPr>
            <a:grpSpLocks/>
          </p:cNvGrpSpPr>
          <p:nvPr/>
        </p:nvGrpSpPr>
        <p:grpSpPr bwMode="auto">
          <a:xfrm>
            <a:off x="7737967" y="1477045"/>
            <a:ext cx="1979450" cy="1778000"/>
            <a:chOff x="6303455" y="1596788"/>
            <a:chExt cx="1980069" cy="1777977"/>
          </a:xfrm>
        </p:grpSpPr>
        <p:grpSp>
          <p:nvGrpSpPr>
            <p:cNvPr id="7180" name="Group 60"/>
            <p:cNvGrpSpPr>
              <a:grpSpLocks/>
            </p:cNvGrpSpPr>
            <p:nvPr/>
          </p:nvGrpSpPr>
          <p:grpSpPr bwMode="auto">
            <a:xfrm>
              <a:off x="6303455" y="1596788"/>
              <a:ext cx="1980069" cy="1777977"/>
              <a:chOff x="3312319" y="1296537"/>
              <a:chExt cx="1423189" cy="1175201"/>
            </a:xfrm>
          </p:grpSpPr>
          <p:cxnSp>
            <p:nvCxnSpPr>
              <p:cNvPr id="62" name="Straight Arrow Connector 61"/>
              <p:cNvCxnSpPr/>
              <p:nvPr/>
            </p:nvCxnSpPr>
            <p:spPr>
              <a:xfrm flipH="1">
                <a:off x="3312319" y="1501148"/>
                <a:ext cx="822937" cy="97059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183" name="TextBox 62"/>
              <p:cNvSpPr txBox="1">
                <a:spLocks noChangeArrowheads="1"/>
              </p:cNvSpPr>
              <p:nvPr/>
            </p:nvSpPr>
            <p:spPr bwMode="auto">
              <a:xfrm>
                <a:off x="3528487" y="1296537"/>
                <a:ext cx="1207021" cy="244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Object Creation</a:t>
                </a:r>
              </a:p>
            </p:txBody>
          </p:sp>
        </p:grpSp>
        <p:cxnSp>
          <p:nvCxnSpPr>
            <p:cNvPr id="64" name="Straight Arrow Connector 63"/>
            <p:cNvCxnSpPr/>
            <p:nvPr/>
          </p:nvCxnSpPr>
          <p:spPr>
            <a:xfrm flipH="1">
              <a:off x="7424580" y="1965083"/>
              <a:ext cx="53992" cy="109218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8" name="Group 67"/>
          <p:cNvGrpSpPr>
            <a:grpSpLocks/>
          </p:cNvGrpSpPr>
          <p:nvPr/>
        </p:nvGrpSpPr>
        <p:grpSpPr bwMode="auto">
          <a:xfrm>
            <a:off x="6848443" y="5202910"/>
            <a:ext cx="1982274" cy="930629"/>
            <a:chOff x="3780655" y="1105596"/>
            <a:chExt cx="1424368" cy="615713"/>
          </a:xfrm>
        </p:grpSpPr>
        <p:cxnSp>
          <p:nvCxnSpPr>
            <p:cNvPr id="69" name="Straight Arrow Connector 68"/>
            <p:cNvCxnSpPr/>
            <p:nvPr/>
          </p:nvCxnSpPr>
          <p:spPr>
            <a:xfrm flipV="1">
              <a:off x="4135793" y="1105596"/>
              <a:ext cx="951346" cy="3959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179" name="TextBox 69"/>
            <p:cNvSpPr txBox="1">
              <a:spLocks noChangeArrowheads="1"/>
            </p:cNvSpPr>
            <p:nvPr/>
          </p:nvSpPr>
          <p:spPr bwMode="auto">
            <a:xfrm>
              <a:off x="3780655" y="1476955"/>
              <a:ext cx="1424368" cy="24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Object Destruction</a:t>
              </a:r>
            </a:p>
          </p:txBody>
        </p:sp>
      </p:grpSp>
      <p:sp>
        <p:nvSpPr>
          <p:cNvPr id="70" name="Text Box 77"/>
          <p:cNvSpPr txBox="1">
            <a:spLocks noChangeArrowheads="1"/>
          </p:cNvSpPr>
          <p:nvPr/>
        </p:nvSpPr>
        <p:spPr bwMode="auto">
          <a:xfrm>
            <a:off x="7107732" y="2989934"/>
            <a:ext cx="1042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new</a:t>
            </a:r>
          </a:p>
        </p:txBody>
      </p:sp>
      <p:grpSp>
        <p:nvGrpSpPr>
          <p:cNvPr id="8" name="Group 7"/>
          <p:cNvGrpSpPr/>
          <p:nvPr/>
        </p:nvGrpSpPr>
        <p:grpSpPr>
          <a:xfrm>
            <a:off x="8188841" y="2915808"/>
            <a:ext cx="1963717" cy="1616837"/>
            <a:chOff x="8188841" y="2915808"/>
            <a:chExt cx="1963717" cy="1616837"/>
          </a:xfrm>
        </p:grpSpPr>
        <p:grpSp>
          <p:nvGrpSpPr>
            <p:cNvPr id="5" name="Group 4"/>
            <p:cNvGrpSpPr/>
            <p:nvPr/>
          </p:nvGrpSpPr>
          <p:grpSpPr>
            <a:xfrm>
              <a:off x="8188841" y="2937546"/>
              <a:ext cx="1963717" cy="1008066"/>
              <a:chOff x="8188841" y="3077072"/>
              <a:chExt cx="1963717" cy="868537"/>
            </a:xfrm>
          </p:grpSpPr>
          <p:grpSp>
            <p:nvGrpSpPr>
              <p:cNvPr id="4" name="Group 3"/>
              <p:cNvGrpSpPr>
                <a:grpSpLocks/>
              </p:cNvGrpSpPr>
              <p:nvPr/>
            </p:nvGrpSpPr>
            <p:grpSpPr bwMode="auto">
              <a:xfrm>
                <a:off x="8531721" y="3077072"/>
                <a:ext cx="1620837" cy="868537"/>
                <a:chOff x="7098503" y="3196794"/>
                <a:chExt cx="1620046" cy="869189"/>
              </a:xfrm>
            </p:grpSpPr>
            <p:sp>
              <p:nvSpPr>
                <p:cNvPr id="3" name="Rectangle 2"/>
                <p:cNvSpPr/>
                <p:nvPr/>
              </p:nvSpPr>
              <p:spPr>
                <a:xfrm>
                  <a:off x="7098503" y="3196794"/>
                  <a:ext cx="1264620" cy="869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latin typeface="Calibri" panose="020F0502020204030204" pitchFamily="34" charset="0"/>
                  </a:endParaRPr>
                </a:p>
              </p:txBody>
            </p:sp>
            <p:sp>
              <p:nvSpPr>
                <p:cNvPr id="7177" name="Text Box 92"/>
                <p:cNvSpPr txBox="1">
                  <a:spLocks noChangeArrowheads="1"/>
                </p:cNvSpPr>
                <p:nvPr/>
              </p:nvSpPr>
              <p:spPr bwMode="auto">
                <a:xfrm>
                  <a:off x="7146924" y="3274423"/>
                  <a:ext cx="1571625" cy="430887"/>
                </a:xfrm>
                <a:prstGeom prst="rect">
                  <a:avLst/>
                </a:prstGeom>
                <a:solidFill>
                  <a:schemeClr val="bg1"/>
                </a:solidFill>
                <a:ln w="25400">
                  <a:solidFill>
                    <a:schemeClr val="tx1"/>
                  </a:solidFill>
                  <a:miter lim="800000"/>
                  <a:headEnd/>
                  <a:tailEnd/>
                </a:ln>
              </p:spPr>
              <p:txBody>
                <a:bodyPr anchor="ct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dirty="0"/>
                    <a:t>:</a:t>
                  </a:r>
                  <a:r>
                    <a:rPr lang="en-US" altLang="en-US" sz="2200" b="1" dirty="0" err="1"/>
                    <a:t>UserInfo</a:t>
                  </a:r>
                  <a:endParaRPr lang="en-US" altLang="en-US" sz="2200" b="1" dirty="0"/>
                </a:p>
              </p:txBody>
            </p:sp>
          </p:grpSp>
          <p:sp>
            <p:nvSpPr>
              <p:cNvPr id="2" name="Rectangle 1"/>
              <p:cNvSpPr/>
              <p:nvPr/>
            </p:nvSpPr>
            <p:spPr>
              <a:xfrm>
                <a:off x="8188841" y="3533513"/>
                <a:ext cx="360040" cy="393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7" name="Straight Connector 6"/>
            <p:cNvCxnSpPr/>
            <p:nvPr/>
          </p:nvCxnSpPr>
          <p:spPr>
            <a:xfrm flipV="1">
              <a:off x="9673133" y="3524578"/>
              <a:ext cx="0" cy="1008067"/>
            </a:xfrm>
            <a:prstGeom prst="line">
              <a:avLst/>
            </a:prstGeom>
          </p:spPr>
          <p:style>
            <a:lnRef idx="3">
              <a:schemeClr val="dk1"/>
            </a:lnRef>
            <a:fillRef idx="0">
              <a:schemeClr val="dk1"/>
            </a:fillRef>
            <a:effectRef idx="2">
              <a:schemeClr val="dk1"/>
            </a:effectRef>
            <a:fontRef idx="minor">
              <a:schemeClr val="tx1"/>
            </a:fontRef>
          </p:style>
        </p:cxnSp>
        <p:cxnSp>
          <p:nvCxnSpPr>
            <p:cNvPr id="77" name="Straight Connector 76"/>
            <p:cNvCxnSpPr/>
            <p:nvPr/>
          </p:nvCxnSpPr>
          <p:spPr>
            <a:xfrm flipV="1">
              <a:off x="9670098" y="2915808"/>
              <a:ext cx="0" cy="10800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6298924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54099" y="0"/>
            <a:ext cx="10080625" cy="533401"/>
          </a:xfrm>
        </p:spPr>
        <p:txBody>
          <a:bodyPr/>
          <a:lstStyle/>
          <a:p>
            <a:pPr eaLnBrk="1" hangingPunct="1"/>
            <a:r>
              <a:rPr lang="en-US" altLang="en-US" b="1" dirty="0"/>
              <a:t>Message Specification</a:t>
            </a:r>
          </a:p>
        </p:txBody>
      </p:sp>
      <p:grpSp>
        <p:nvGrpSpPr>
          <p:cNvPr id="8195" name="Group 9"/>
          <p:cNvGrpSpPr>
            <a:grpSpLocks/>
          </p:cNvGrpSpPr>
          <p:nvPr/>
        </p:nvGrpSpPr>
        <p:grpSpPr bwMode="auto">
          <a:xfrm>
            <a:off x="2768600" y="5013177"/>
            <a:ext cx="7440612" cy="1073150"/>
            <a:chOff x="1179" y="1790"/>
            <a:chExt cx="3417" cy="676"/>
          </a:xfrm>
        </p:grpSpPr>
        <p:sp>
          <p:nvSpPr>
            <p:cNvPr id="8227" name="Text Box 7"/>
            <p:cNvSpPr txBox="1">
              <a:spLocks noChangeArrowheads="1"/>
            </p:cNvSpPr>
            <p:nvPr/>
          </p:nvSpPr>
          <p:spPr bwMode="auto">
            <a:xfrm>
              <a:off x="1180" y="1790"/>
              <a:ext cx="3416" cy="27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200" b="1" dirty="0"/>
                <a:t>Order</a:t>
              </a:r>
            </a:p>
          </p:txBody>
        </p:sp>
        <p:sp>
          <p:nvSpPr>
            <p:cNvPr id="8228" name="Text Box 8"/>
            <p:cNvSpPr txBox="1">
              <a:spLocks noChangeArrowheads="1"/>
            </p:cNvSpPr>
            <p:nvPr/>
          </p:nvSpPr>
          <p:spPr bwMode="auto">
            <a:xfrm>
              <a:off x="1179" y="2062"/>
              <a:ext cx="3415" cy="4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2200" dirty="0"/>
                <a:t>dispatch(in </a:t>
              </a:r>
              <a:r>
                <a:rPr lang="en-US" altLang="en-US" sz="2200" dirty="0" err="1"/>
                <a:t>dateDispatched</a:t>
              </a:r>
              <a:r>
                <a:rPr lang="en-US" altLang="en-US" sz="2200" dirty="0"/>
                <a:t>: Date): Boolean</a:t>
              </a:r>
            </a:p>
            <a:p>
              <a:pPr eaLnBrk="1" hangingPunct="1">
                <a:lnSpc>
                  <a:spcPct val="80000"/>
                </a:lnSpc>
                <a:spcBef>
                  <a:spcPct val="0"/>
                </a:spcBef>
                <a:buFontTx/>
                <a:buNone/>
              </a:pPr>
              <a:r>
                <a:rPr lang="en-US" altLang="en-US" sz="2200" dirty="0" err="1"/>
                <a:t>verifyTransactions</a:t>
              </a:r>
              <a:r>
                <a:rPr lang="en-US" altLang="en-US" sz="2200" dirty="0"/>
                <a:t>(</a:t>
              </a:r>
              <a:r>
                <a:rPr lang="en-US" altLang="en-US" sz="2200" dirty="0" err="1"/>
                <a:t>inout</a:t>
              </a:r>
              <a:r>
                <a:rPr lang="en-US" altLang="en-US" sz="2200" dirty="0"/>
                <a:t> records: List&lt;Transaction&gt;)</a:t>
              </a:r>
            </a:p>
          </p:txBody>
        </p:sp>
      </p:grpSp>
      <p:grpSp>
        <p:nvGrpSpPr>
          <p:cNvPr id="3" name="Group 38"/>
          <p:cNvGrpSpPr>
            <a:grpSpLocks/>
          </p:cNvGrpSpPr>
          <p:nvPr/>
        </p:nvGrpSpPr>
        <p:grpSpPr bwMode="auto">
          <a:xfrm>
            <a:off x="8034337" y="914500"/>
            <a:ext cx="838200" cy="3852862"/>
            <a:chOff x="4102" y="695"/>
            <a:chExt cx="528" cy="2427"/>
          </a:xfrm>
        </p:grpSpPr>
        <p:grpSp>
          <p:nvGrpSpPr>
            <p:cNvPr id="8222" name="Group 15"/>
            <p:cNvGrpSpPr>
              <a:grpSpLocks/>
            </p:cNvGrpSpPr>
            <p:nvPr/>
          </p:nvGrpSpPr>
          <p:grpSpPr bwMode="auto">
            <a:xfrm>
              <a:off x="4115" y="695"/>
              <a:ext cx="432" cy="297"/>
              <a:chOff x="2037" y="2880"/>
              <a:chExt cx="432" cy="297"/>
            </a:xfrm>
          </p:grpSpPr>
          <p:sp>
            <p:nvSpPr>
              <p:cNvPr id="8225" name="Oval 1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226" name="Line 1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8223" name="Text Box 18"/>
            <p:cNvSpPr txBox="1">
              <a:spLocks noChangeArrowheads="1"/>
            </p:cNvSpPr>
            <p:nvPr/>
          </p:nvSpPr>
          <p:spPr bwMode="auto">
            <a:xfrm>
              <a:off x="4102" y="98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:Order</a:t>
              </a:r>
            </a:p>
          </p:txBody>
        </p:sp>
        <p:sp>
          <p:nvSpPr>
            <p:cNvPr id="8224" name="Line 19"/>
            <p:cNvSpPr>
              <a:spLocks noChangeShapeType="1"/>
            </p:cNvSpPr>
            <p:nvPr/>
          </p:nvSpPr>
          <p:spPr bwMode="auto">
            <a:xfrm>
              <a:off x="4327" y="1278"/>
              <a:ext cx="1" cy="184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5" name="Group 37"/>
          <p:cNvGrpSpPr>
            <a:grpSpLocks/>
          </p:cNvGrpSpPr>
          <p:nvPr/>
        </p:nvGrpSpPr>
        <p:grpSpPr bwMode="auto">
          <a:xfrm>
            <a:off x="3009900" y="836712"/>
            <a:ext cx="2019300" cy="3913188"/>
            <a:chOff x="937" y="646"/>
            <a:chExt cx="1272" cy="2465"/>
          </a:xfrm>
        </p:grpSpPr>
        <p:grpSp>
          <p:nvGrpSpPr>
            <p:cNvPr id="8216" name="Group 10"/>
            <p:cNvGrpSpPr>
              <a:grpSpLocks/>
            </p:cNvGrpSpPr>
            <p:nvPr/>
          </p:nvGrpSpPr>
          <p:grpSpPr bwMode="auto">
            <a:xfrm>
              <a:off x="1340" y="646"/>
              <a:ext cx="288" cy="342"/>
              <a:chOff x="2736" y="2826"/>
              <a:chExt cx="288" cy="342"/>
            </a:xfrm>
          </p:grpSpPr>
          <p:sp>
            <p:nvSpPr>
              <p:cNvPr id="8219" name="Oval 11"/>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220" name="Line 12"/>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8221" name="Line 13"/>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8217" name="Text Box 14"/>
            <p:cNvSpPr txBox="1">
              <a:spLocks noChangeArrowheads="1"/>
            </p:cNvSpPr>
            <p:nvPr/>
          </p:nvSpPr>
          <p:spPr bwMode="auto">
            <a:xfrm>
              <a:off x="937" y="968"/>
              <a:ext cx="1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dirty="0"/>
                <a:t>:</a:t>
              </a:r>
              <a:r>
                <a:rPr lang="en-US" altLang="en-US" sz="1800" b="1" dirty="0" err="1"/>
                <a:t>DispatchManager</a:t>
              </a:r>
              <a:endParaRPr lang="en-US" altLang="en-US" sz="1800" b="1" dirty="0"/>
            </a:p>
          </p:txBody>
        </p:sp>
        <p:sp>
          <p:nvSpPr>
            <p:cNvPr id="8218" name="Line 20"/>
            <p:cNvSpPr>
              <a:spLocks noChangeShapeType="1"/>
            </p:cNvSpPr>
            <p:nvPr/>
          </p:nvSpPr>
          <p:spPr bwMode="auto">
            <a:xfrm>
              <a:off x="1484" y="1267"/>
              <a:ext cx="1" cy="184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7" name="Group 41"/>
          <p:cNvGrpSpPr>
            <a:grpSpLocks/>
          </p:cNvGrpSpPr>
          <p:nvPr/>
        </p:nvGrpSpPr>
        <p:grpSpPr bwMode="auto">
          <a:xfrm>
            <a:off x="3911601" y="3248126"/>
            <a:ext cx="4854575" cy="1004887"/>
            <a:chOff x="1505" y="2165"/>
            <a:chExt cx="3058" cy="633"/>
          </a:xfrm>
        </p:grpSpPr>
        <p:sp>
          <p:nvSpPr>
            <p:cNvPr id="8213" name="Text Box 22"/>
            <p:cNvSpPr txBox="1">
              <a:spLocks noChangeArrowheads="1"/>
            </p:cNvSpPr>
            <p:nvPr/>
          </p:nvSpPr>
          <p:spPr bwMode="auto">
            <a:xfrm>
              <a:off x="1505" y="2165"/>
              <a:ext cx="30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err="1"/>
                <a:t>verifyTransactions</a:t>
              </a:r>
              <a:r>
                <a:rPr lang="en-US" altLang="en-US" sz="2000" dirty="0"/>
                <a:t>(</a:t>
              </a:r>
              <a:r>
                <a:rPr lang="en-US" altLang="en-US" sz="2000" dirty="0" err="1"/>
                <a:t>myRecords</a:t>
              </a:r>
              <a:r>
                <a:rPr lang="en-US" altLang="en-US" sz="2000" dirty="0"/>
                <a:t>=records)</a:t>
              </a:r>
            </a:p>
          </p:txBody>
        </p:sp>
        <p:sp>
          <p:nvSpPr>
            <p:cNvPr id="8214" name="Line 23"/>
            <p:cNvSpPr>
              <a:spLocks noChangeShapeType="1"/>
            </p:cNvSpPr>
            <p:nvPr/>
          </p:nvSpPr>
          <p:spPr bwMode="auto">
            <a:xfrm>
              <a:off x="1521" y="2457"/>
              <a:ext cx="276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8215" name="Rectangle 24"/>
            <p:cNvSpPr>
              <a:spLocks noChangeArrowheads="1"/>
            </p:cNvSpPr>
            <p:nvPr/>
          </p:nvSpPr>
          <p:spPr bwMode="auto">
            <a:xfrm>
              <a:off x="4277" y="2369"/>
              <a:ext cx="107" cy="429"/>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129049" name="Rectangle 25"/>
          <p:cNvSpPr>
            <a:spLocks noChangeArrowheads="1"/>
          </p:cNvSpPr>
          <p:nvPr/>
        </p:nvSpPr>
        <p:spPr bwMode="auto">
          <a:xfrm>
            <a:off x="3784600" y="1913037"/>
            <a:ext cx="165100" cy="908050"/>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8" name="Group 39"/>
          <p:cNvGrpSpPr>
            <a:grpSpLocks/>
          </p:cNvGrpSpPr>
          <p:nvPr/>
        </p:nvGrpSpPr>
        <p:grpSpPr bwMode="auto">
          <a:xfrm>
            <a:off x="3930650" y="1765400"/>
            <a:ext cx="4813300" cy="957262"/>
            <a:chOff x="1517" y="1231"/>
            <a:chExt cx="3032" cy="603"/>
          </a:xfrm>
        </p:grpSpPr>
        <p:sp>
          <p:nvSpPr>
            <p:cNvPr id="8210" name="Text Box 26"/>
            <p:cNvSpPr txBox="1">
              <a:spLocks noChangeArrowheads="1"/>
            </p:cNvSpPr>
            <p:nvPr/>
          </p:nvSpPr>
          <p:spPr bwMode="auto">
            <a:xfrm>
              <a:off x="2105" y="1231"/>
              <a:ext cx="24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a:t>result=dispatch(today)</a:t>
              </a:r>
            </a:p>
          </p:txBody>
        </p:sp>
        <p:sp>
          <p:nvSpPr>
            <p:cNvPr id="8211" name="Line 27"/>
            <p:cNvSpPr>
              <a:spLocks noChangeShapeType="1"/>
            </p:cNvSpPr>
            <p:nvPr/>
          </p:nvSpPr>
          <p:spPr bwMode="auto">
            <a:xfrm>
              <a:off x="1517" y="1493"/>
              <a:ext cx="276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8212" name="Rectangle 28"/>
            <p:cNvSpPr>
              <a:spLocks noChangeArrowheads="1"/>
            </p:cNvSpPr>
            <p:nvPr/>
          </p:nvSpPr>
          <p:spPr bwMode="auto">
            <a:xfrm>
              <a:off x="4273" y="1405"/>
              <a:ext cx="107" cy="429"/>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9" name="Group 40"/>
          <p:cNvGrpSpPr>
            <a:grpSpLocks/>
          </p:cNvGrpSpPr>
          <p:nvPr/>
        </p:nvGrpSpPr>
        <p:grpSpPr bwMode="auto">
          <a:xfrm>
            <a:off x="1647825" y="1933675"/>
            <a:ext cx="3763962" cy="1604962"/>
            <a:chOff x="79" y="1337"/>
            <a:chExt cx="2371" cy="1011"/>
          </a:xfrm>
        </p:grpSpPr>
        <p:sp>
          <p:nvSpPr>
            <p:cNvPr id="8207" name="AutoShape 30"/>
            <p:cNvSpPr>
              <a:spLocks noChangeArrowheads="1"/>
            </p:cNvSpPr>
            <p:nvPr/>
          </p:nvSpPr>
          <p:spPr bwMode="auto">
            <a:xfrm rot="10800000" flipH="1">
              <a:off x="79" y="1337"/>
              <a:ext cx="1286" cy="1011"/>
            </a:xfrm>
            <a:prstGeom prst="foldedCorner">
              <a:avLst>
                <a:gd name="adj" fmla="val 125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208" name="Text Box 31"/>
            <p:cNvSpPr txBox="1">
              <a:spLocks noChangeArrowheads="1"/>
            </p:cNvSpPr>
            <p:nvPr/>
          </p:nvSpPr>
          <p:spPr bwMode="auto">
            <a:xfrm>
              <a:off x="92" y="1426"/>
              <a:ext cx="1224"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1800" dirty="0">
                  <a:solidFill>
                    <a:srgbClr val="000000"/>
                  </a:solidFill>
                </a:rPr>
                <a:t>argument today passed into </a:t>
              </a:r>
              <a:r>
                <a:rPr lang="en-US" altLang="en-US" sz="1800" dirty="0">
                  <a:solidFill>
                    <a:srgbClr val="FF0000"/>
                  </a:solidFill>
                </a:rPr>
                <a:t>operation</a:t>
              </a:r>
              <a:r>
                <a:rPr lang="en-US" altLang="en-US" sz="1800" dirty="0">
                  <a:solidFill>
                    <a:srgbClr val="000000"/>
                  </a:solidFill>
                </a:rPr>
                <a:t> dispatch, variable result assigned return value </a:t>
              </a:r>
            </a:p>
          </p:txBody>
        </p:sp>
        <p:sp>
          <p:nvSpPr>
            <p:cNvPr id="8209" name="Line 33"/>
            <p:cNvSpPr>
              <a:spLocks noChangeShapeType="1"/>
            </p:cNvSpPr>
            <p:nvPr/>
          </p:nvSpPr>
          <p:spPr bwMode="auto">
            <a:xfrm flipV="1">
              <a:off x="1357" y="1484"/>
              <a:ext cx="1093" cy="22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0" name="Group 42"/>
          <p:cNvGrpSpPr>
            <a:grpSpLocks/>
          </p:cNvGrpSpPr>
          <p:nvPr/>
        </p:nvGrpSpPr>
        <p:grpSpPr bwMode="auto">
          <a:xfrm>
            <a:off x="7053262" y="2006701"/>
            <a:ext cx="3397250" cy="1703387"/>
            <a:chOff x="3464" y="1374"/>
            <a:chExt cx="2140" cy="1073"/>
          </a:xfrm>
        </p:grpSpPr>
        <p:sp>
          <p:nvSpPr>
            <p:cNvPr id="8204" name="AutoShape 34"/>
            <p:cNvSpPr>
              <a:spLocks noChangeArrowheads="1"/>
            </p:cNvSpPr>
            <p:nvPr/>
          </p:nvSpPr>
          <p:spPr bwMode="auto">
            <a:xfrm rot="10800000" flipH="1">
              <a:off x="4474" y="1374"/>
              <a:ext cx="1130" cy="992"/>
            </a:xfrm>
            <a:prstGeom prst="foldedCorner">
              <a:avLst>
                <a:gd name="adj" fmla="val 125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205" name="Text Box 35"/>
            <p:cNvSpPr txBox="1">
              <a:spLocks noChangeArrowheads="1"/>
            </p:cNvSpPr>
            <p:nvPr/>
          </p:nvSpPr>
          <p:spPr bwMode="auto">
            <a:xfrm>
              <a:off x="4483" y="1475"/>
              <a:ext cx="1121"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1800" dirty="0">
                  <a:solidFill>
                    <a:srgbClr val="000000"/>
                  </a:solidFill>
                </a:rPr>
                <a:t>local variable </a:t>
              </a:r>
              <a:r>
                <a:rPr lang="en-US" altLang="en-US" sz="1800" dirty="0" err="1">
                  <a:solidFill>
                    <a:srgbClr val="000000"/>
                  </a:solidFill>
                </a:rPr>
                <a:t>myRecords</a:t>
              </a:r>
              <a:r>
                <a:rPr lang="en-US" altLang="en-US" sz="1800" dirty="0">
                  <a:solidFill>
                    <a:srgbClr val="000000"/>
                  </a:solidFill>
                </a:rPr>
                <a:t> assigned the value of </a:t>
              </a:r>
              <a:r>
                <a:rPr lang="en-US" altLang="en-US" sz="1800" dirty="0" err="1">
                  <a:solidFill>
                    <a:srgbClr val="000000"/>
                  </a:solidFill>
                </a:rPr>
                <a:t>inout</a:t>
              </a:r>
              <a:r>
                <a:rPr lang="en-US" altLang="en-US" sz="1800" dirty="0">
                  <a:solidFill>
                    <a:srgbClr val="000000"/>
                  </a:solidFill>
                </a:rPr>
                <a:t> parameter records  </a:t>
              </a:r>
            </a:p>
          </p:txBody>
        </p:sp>
        <p:sp>
          <p:nvSpPr>
            <p:cNvPr id="8206" name="Line 36"/>
            <p:cNvSpPr>
              <a:spLocks noChangeShapeType="1"/>
            </p:cNvSpPr>
            <p:nvPr/>
          </p:nvSpPr>
          <p:spPr bwMode="auto">
            <a:xfrm flipV="1">
              <a:off x="3464" y="1931"/>
              <a:ext cx="1015" cy="516"/>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36" name="Rectangle 25"/>
          <p:cNvSpPr>
            <a:spLocks noChangeArrowheads="1"/>
          </p:cNvSpPr>
          <p:nvPr/>
        </p:nvSpPr>
        <p:spPr bwMode="auto">
          <a:xfrm>
            <a:off x="3787775" y="3479900"/>
            <a:ext cx="165100" cy="90646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Tree>
    <p:extLst>
      <p:ext uri="{BB962C8B-B14F-4D97-AF65-F5344CB8AC3E}">
        <p14:creationId xmlns:p14="http://schemas.microsoft.com/office/powerpoint/2010/main" val="3746562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90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9"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TW" sz="4000" b="1" dirty="0">
                <a:solidFill>
                  <a:schemeClr val="bg1"/>
                </a:solidFill>
                <a:ea typeface="PMingLiU" panose="02020500000000000000" pitchFamily="18" charset="-120"/>
                <a:cs typeface="Times New Roman" panose="02020603050405020304" pitchFamily="18" charset="0"/>
              </a:rPr>
              <a:t>Topic 2: </a:t>
            </a:r>
            <a:r>
              <a:rPr lang="en-US" altLang="zh-TW" sz="4000" b="1" dirty="0">
                <a:solidFill>
                  <a:schemeClr val="bg1"/>
                </a:solidFill>
                <a:ea typeface="PMingLiU" panose="02020500000000000000" pitchFamily="18" charset="-120"/>
              </a:rPr>
              <a:t>Interaction Fragments</a:t>
            </a:r>
            <a:endParaRPr lang="en-GB" sz="4000" dirty="0">
              <a:solidFill>
                <a:schemeClr val="bg1"/>
              </a:solidFill>
            </a:endParaRPr>
          </a:p>
        </p:txBody>
      </p:sp>
    </p:spTree>
    <p:extLst>
      <p:ext uri="{BB962C8B-B14F-4D97-AF65-F5344CB8AC3E}">
        <p14:creationId xmlns:p14="http://schemas.microsoft.com/office/powerpoint/2010/main" val="1305725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54099" y="-4762"/>
            <a:ext cx="10080625" cy="499624"/>
          </a:xfrm>
        </p:spPr>
        <p:txBody>
          <a:bodyPr>
            <a:normAutofit fontScale="90000"/>
          </a:bodyPr>
          <a:lstStyle/>
          <a:p>
            <a:pPr eaLnBrk="1" hangingPunct="1"/>
            <a:r>
              <a:rPr lang="en-US" altLang="en-US" b="1" dirty="0"/>
              <a:t>Interaction Fragments</a:t>
            </a:r>
          </a:p>
        </p:txBody>
      </p:sp>
      <p:sp>
        <p:nvSpPr>
          <p:cNvPr id="9219" name="Rectangle 4"/>
          <p:cNvSpPr>
            <a:spLocks noChangeArrowheads="1"/>
          </p:cNvSpPr>
          <p:nvPr/>
        </p:nvSpPr>
        <p:spPr bwMode="auto">
          <a:xfrm>
            <a:off x="2120900" y="980728"/>
            <a:ext cx="8088312" cy="5257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9220" name="Group 10"/>
          <p:cNvGrpSpPr>
            <a:grpSpLocks/>
          </p:cNvGrpSpPr>
          <p:nvPr/>
        </p:nvGrpSpPr>
        <p:grpSpPr bwMode="auto">
          <a:xfrm>
            <a:off x="2122488" y="987078"/>
            <a:ext cx="2320925" cy="457200"/>
            <a:chOff x="378" y="702"/>
            <a:chExt cx="1462" cy="288"/>
          </a:xfrm>
        </p:grpSpPr>
        <p:sp>
          <p:nvSpPr>
            <p:cNvPr id="9264" name="Text Box 5"/>
            <p:cNvSpPr txBox="1">
              <a:spLocks noChangeArrowheads="1"/>
            </p:cNvSpPr>
            <p:nvPr/>
          </p:nvSpPr>
          <p:spPr bwMode="auto">
            <a:xfrm>
              <a:off x="378" y="702"/>
              <a:ext cx="14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err="1"/>
                <a:t>sd</a:t>
              </a:r>
              <a:r>
                <a:rPr lang="en-US" altLang="en-US" sz="2400" b="1" dirty="0"/>
                <a:t> </a:t>
              </a:r>
              <a:r>
                <a:rPr lang="en-US" altLang="en-US" sz="2400" b="1" dirty="0" err="1"/>
                <a:t>UserAccess</a:t>
              </a:r>
              <a:endParaRPr lang="en-US" altLang="en-US" sz="2400" b="1" dirty="0"/>
            </a:p>
          </p:txBody>
        </p:sp>
        <p:sp>
          <p:nvSpPr>
            <p:cNvPr id="9265" name="Line 7"/>
            <p:cNvSpPr>
              <a:spLocks noChangeShapeType="1"/>
            </p:cNvSpPr>
            <p:nvPr/>
          </p:nvSpPr>
          <p:spPr bwMode="auto">
            <a:xfrm>
              <a:off x="380" y="987"/>
              <a:ext cx="125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66" name="Line 8"/>
            <p:cNvSpPr>
              <a:spLocks noChangeShapeType="1"/>
            </p:cNvSpPr>
            <p:nvPr/>
          </p:nvSpPr>
          <p:spPr bwMode="auto">
            <a:xfrm flipH="1">
              <a:off x="1706" y="702"/>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67" name="Line 9"/>
            <p:cNvSpPr>
              <a:spLocks noChangeShapeType="1"/>
            </p:cNvSpPr>
            <p:nvPr/>
          </p:nvSpPr>
          <p:spPr bwMode="auto">
            <a:xfrm flipV="1">
              <a:off x="1631" y="915"/>
              <a:ext cx="75"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9221" name="Text Box 11"/>
          <p:cNvSpPr txBox="1">
            <a:spLocks noChangeArrowheads="1"/>
          </p:cNvSpPr>
          <p:nvPr/>
        </p:nvSpPr>
        <p:spPr bwMode="auto">
          <a:xfrm>
            <a:off x="4017962" y="1596342"/>
            <a:ext cx="1073150" cy="4308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a:t>:User</a:t>
            </a:r>
          </a:p>
        </p:txBody>
      </p:sp>
      <p:sp>
        <p:nvSpPr>
          <p:cNvPr id="9222" name="Line 13"/>
          <p:cNvSpPr>
            <a:spLocks noChangeShapeType="1"/>
          </p:cNvSpPr>
          <p:nvPr/>
        </p:nvSpPr>
        <p:spPr bwMode="auto">
          <a:xfrm>
            <a:off x="4557712" y="2039591"/>
            <a:ext cx="0" cy="355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23" name="Text Box 14"/>
          <p:cNvSpPr txBox="1">
            <a:spLocks noChangeArrowheads="1"/>
          </p:cNvSpPr>
          <p:nvPr/>
        </p:nvSpPr>
        <p:spPr bwMode="auto">
          <a:xfrm>
            <a:off x="6788150" y="1582054"/>
            <a:ext cx="2222500" cy="4308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dirty="0"/>
              <a:t>:Access Control</a:t>
            </a:r>
          </a:p>
        </p:txBody>
      </p:sp>
      <p:grpSp>
        <p:nvGrpSpPr>
          <p:cNvPr id="9224" name="Group 24"/>
          <p:cNvGrpSpPr>
            <a:grpSpLocks/>
          </p:cNvGrpSpPr>
          <p:nvPr/>
        </p:nvGrpSpPr>
        <p:grpSpPr bwMode="auto">
          <a:xfrm>
            <a:off x="3413126" y="2392016"/>
            <a:ext cx="5419725" cy="792162"/>
            <a:chOff x="1191" y="1587"/>
            <a:chExt cx="3414" cy="499"/>
          </a:xfrm>
        </p:grpSpPr>
        <p:grpSp>
          <p:nvGrpSpPr>
            <p:cNvPr id="9257" name="Group 22"/>
            <p:cNvGrpSpPr>
              <a:grpSpLocks/>
            </p:cNvGrpSpPr>
            <p:nvPr/>
          </p:nvGrpSpPr>
          <p:grpSpPr bwMode="auto">
            <a:xfrm>
              <a:off x="1191" y="1587"/>
              <a:ext cx="3414" cy="499"/>
              <a:chOff x="1002" y="1569"/>
              <a:chExt cx="3730" cy="499"/>
            </a:xfrm>
          </p:grpSpPr>
          <p:sp>
            <p:nvSpPr>
              <p:cNvPr id="9259" name="Rectangle 16"/>
              <p:cNvSpPr>
                <a:spLocks noChangeArrowheads="1"/>
              </p:cNvSpPr>
              <p:nvPr/>
            </p:nvSpPr>
            <p:spPr bwMode="auto">
              <a:xfrm>
                <a:off x="1002" y="1571"/>
                <a:ext cx="3730" cy="49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9260" name="Text Box 18"/>
              <p:cNvSpPr txBox="1">
                <a:spLocks noChangeArrowheads="1"/>
              </p:cNvSpPr>
              <p:nvPr/>
            </p:nvSpPr>
            <p:spPr bwMode="auto">
              <a:xfrm>
                <a:off x="1003" y="1569"/>
                <a:ext cx="4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ref</a:t>
                </a:r>
              </a:p>
            </p:txBody>
          </p:sp>
          <p:sp>
            <p:nvSpPr>
              <p:cNvPr id="9261" name="Line 19"/>
              <p:cNvSpPr>
                <a:spLocks noChangeShapeType="1"/>
              </p:cNvSpPr>
              <p:nvPr/>
            </p:nvSpPr>
            <p:spPr bwMode="auto">
              <a:xfrm>
                <a:off x="1004" y="1854"/>
                <a:ext cx="2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62" name="Line 20"/>
              <p:cNvSpPr>
                <a:spLocks noChangeShapeType="1"/>
              </p:cNvSpPr>
              <p:nvPr/>
            </p:nvSpPr>
            <p:spPr bwMode="auto">
              <a:xfrm flipH="1">
                <a:off x="1369" y="1569"/>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63" name="Line 21"/>
              <p:cNvSpPr>
                <a:spLocks noChangeShapeType="1"/>
              </p:cNvSpPr>
              <p:nvPr/>
            </p:nvSpPr>
            <p:spPr bwMode="auto">
              <a:xfrm flipV="1">
                <a:off x="1300" y="1782"/>
                <a:ext cx="69"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9258" name="Text Box 23"/>
            <p:cNvSpPr txBox="1">
              <a:spLocks noChangeArrowheads="1"/>
            </p:cNvSpPr>
            <p:nvPr/>
          </p:nvSpPr>
          <p:spPr bwMode="auto">
            <a:xfrm>
              <a:off x="1781" y="1684"/>
              <a:ext cx="26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a:t>EstablishAccess(“Illegal PIN”)</a:t>
              </a:r>
            </a:p>
          </p:txBody>
        </p:sp>
      </p:grpSp>
      <p:grpSp>
        <p:nvGrpSpPr>
          <p:cNvPr id="9225" name="Group 27"/>
          <p:cNvGrpSpPr>
            <a:grpSpLocks/>
          </p:cNvGrpSpPr>
          <p:nvPr/>
        </p:nvGrpSpPr>
        <p:grpSpPr bwMode="auto">
          <a:xfrm>
            <a:off x="4560887" y="3295304"/>
            <a:ext cx="3348038" cy="366713"/>
            <a:chOff x="1914" y="2129"/>
            <a:chExt cx="2109" cy="231"/>
          </a:xfrm>
        </p:grpSpPr>
        <p:sp>
          <p:nvSpPr>
            <p:cNvPr id="9255" name="Line 25"/>
            <p:cNvSpPr>
              <a:spLocks noChangeShapeType="1"/>
            </p:cNvSpPr>
            <p:nvPr/>
          </p:nvSpPr>
          <p:spPr bwMode="auto">
            <a:xfrm flipH="1">
              <a:off x="1914" y="2350"/>
              <a:ext cx="2109"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56" name="Text Box 26"/>
            <p:cNvSpPr txBox="1">
              <a:spLocks noChangeArrowheads="1"/>
            </p:cNvSpPr>
            <p:nvPr/>
          </p:nvSpPr>
          <p:spPr bwMode="auto">
            <a:xfrm>
              <a:off x="2508" y="2129"/>
              <a:ext cx="7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a:t>CardOut</a:t>
              </a:r>
            </a:p>
          </p:txBody>
        </p:sp>
      </p:grpSp>
      <p:grpSp>
        <p:nvGrpSpPr>
          <p:cNvPr id="9226" name="Group 36"/>
          <p:cNvGrpSpPr>
            <a:grpSpLocks/>
          </p:cNvGrpSpPr>
          <p:nvPr/>
        </p:nvGrpSpPr>
        <p:grpSpPr bwMode="auto">
          <a:xfrm>
            <a:off x="3867151" y="4854229"/>
            <a:ext cx="4535487" cy="792163"/>
            <a:chOff x="1324" y="2733"/>
            <a:chExt cx="2857" cy="499"/>
          </a:xfrm>
        </p:grpSpPr>
        <p:sp>
          <p:nvSpPr>
            <p:cNvPr id="9249" name="Rectangle 30"/>
            <p:cNvSpPr>
              <a:spLocks noChangeArrowheads="1"/>
            </p:cNvSpPr>
            <p:nvPr/>
          </p:nvSpPr>
          <p:spPr bwMode="auto">
            <a:xfrm>
              <a:off x="1324" y="2735"/>
              <a:ext cx="2857" cy="49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9250" name="Text Box 31"/>
            <p:cNvSpPr txBox="1">
              <a:spLocks noChangeArrowheads="1"/>
            </p:cNvSpPr>
            <p:nvPr/>
          </p:nvSpPr>
          <p:spPr bwMode="auto">
            <a:xfrm>
              <a:off x="1325" y="2733"/>
              <a:ext cx="3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ref</a:t>
              </a:r>
            </a:p>
          </p:txBody>
        </p:sp>
        <p:sp>
          <p:nvSpPr>
            <p:cNvPr id="9251" name="Line 32"/>
            <p:cNvSpPr>
              <a:spLocks noChangeShapeType="1"/>
            </p:cNvSpPr>
            <p:nvPr/>
          </p:nvSpPr>
          <p:spPr bwMode="auto">
            <a:xfrm>
              <a:off x="1326" y="3018"/>
              <a:ext cx="27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52" name="Line 33"/>
            <p:cNvSpPr>
              <a:spLocks noChangeShapeType="1"/>
            </p:cNvSpPr>
            <p:nvPr/>
          </p:nvSpPr>
          <p:spPr bwMode="auto">
            <a:xfrm flipH="1">
              <a:off x="1660" y="2733"/>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53" name="Line 34"/>
            <p:cNvSpPr>
              <a:spLocks noChangeShapeType="1"/>
            </p:cNvSpPr>
            <p:nvPr/>
          </p:nvSpPr>
          <p:spPr bwMode="auto">
            <a:xfrm flipV="1">
              <a:off x="1597" y="2946"/>
              <a:ext cx="63"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54" name="Text Box 35"/>
            <p:cNvSpPr txBox="1">
              <a:spLocks noChangeArrowheads="1"/>
            </p:cNvSpPr>
            <p:nvPr/>
          </p:nvSpPr>
          <p:spPr bwMode="auto">
            <a:xfrm>
              <a:off x="2247" y="2767"/>
              <a:ext cx="10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dirty="0" err="1"/>
                <a:t>OpenDoor</a:t>
              </a:r>
              <a:endParaRPr lang="en-US" altLang="en-US" sz="2400" dirty="0"/>
            </a:p>
          </p:txBody>
        </p:sp>
      </p:grpSp>
      <p:sp>
        <p:nvSpPr>
          <p:cNvPr id="9227" name="Rectangle 39"/>
          <p:cNvSpPr>
            <a:spLocks noChangeArrowheads="1"/>
          </p:cNvSpPr>
          <p:nvPr/>
        </p:nvSpPr>
        <p:spPr bwMode="auto">
          <a:xfrm>
            <a:off x="3074987" y="4006503"/>
            <a:ext cx="6186488" cy="18351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9228" name="Text Box 40"/>
          <p:cNvSpPr txBox="1">
            <a:spLocks noChangeArrowheads="1"/>
          </p:cNvSpPr>
          <p:nvPr/>
        </p:nvSpPr>
        <p:spPr bwMode="auto">
          <a:xfrm>
            <a:off x="3019426" y="3960466"/>
            <a:ext cx="733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opt</a:t>
            </a:r>
          </a:p>
        </p:txBody>
      </p:sp>
      <p:sp>
        <p:nvSpPr>
          <p:cNvPr id="9229" name="Line 41"/>
          <p:cNvSpPr>
            <a:spLocks noChangeShapeType="1"/>
          </p:cNvSpPr>
          <p:nvPr/>
        </p:nvSpPr>
        <p:spPr bwMode="auto">
          <a:xfrm>
            <a:off x="3092451" y="4441478"/>
            <a:ext cx="4333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0" name="Line 42"/>
          <p:cNvSpPr>
            <a:spLocks noChangeShapeType="1"/>
          </p:cNvSpPr>
          <p:nvPr/>
        </p:nvSpPr>
        <p:spPr bwMode="auto">
          <a:xfrm flipH="1">
            <a:off x="3622675" y="3989041"/>
            <a:ext cx="0" cy="3429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1" name="Line 43"/>
          <p:cNvSpPr>
            <a:spLocks noChangeShapeType="1"/>
          </p:cNvSpPr>
          <p:nvPr/>
        </p:nvSpPr>
        <p:spPr bwMode="auto">
          <a:xfrm flipV="1">
            <a:off x="3522663" y="4327178"/>
            <a:ext cx="100013" cy="11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2" name="Text Box 47"/>
          <p:cNvSpPr txBox="1">
            <a:spLocks noChangeArrowheads="1"/>
          </p:cNvSpPr>
          <p:nvPr/>
        </p:nvSpPr>
        <p:spPr bwMode="auto">
          <a:xfrm>
            <a:off x="3573462" y="3941416"/>
            <a:ext cx="291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a:t>[</a:t>
            </a:r>
            <a:r>
              <a:rPr lang="en-US" altLang="en-US" sz="2400" b="1" dirty="0" err="1"/>
              <a:t>isAuthenticated</a:t>
            </a:r>
            <a:r>
              <a:rPr lang="en-US" altLang="en-US" sz="2400" b="1" dirty="0"/>
              <a:t>]</a:t>
            </a:r>
          </a:p>
        </p:txBody>
      </p:sp>
      <p:sp>
        <p:nvSpPr>
          <p:cNvPr id="9233" name="Line 48"/>
          <p:cNvSpPr>
            <a:spLocks noChangeShapeType="1"/>
          </p:cNvSpPr>
          <p:nvPr/>
        </p:nvSpPr>
        <p:spPr bwMode="auto">
          <a:xfrm flipH="1">
            <a:off x="4546600" y="4620866"/>
            <a:ext cx="3346450"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4" name="Text Box 49"/>
          <p:cNvSpPr txBox="1">
            <a:spLocks noChangeArrowheads="1"/>
          </p:cNvSpPr>
          <p:nvPr/>
        </p:nvSpPr>
        <p:spPr bwMode="auto">
          <a:xfrm>
            <a:off x="5878388" y="4260504"/>
            <a:ext cx="29194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dirty="0" err="1"/>
              <a:t>Msg</a:t>
            </a:r>
            <a:r>
              <a:rPr lang="en-US" altLang="en-US" sz="1800" dirty="0"/>
              <a:t>(“Please Enter”)</a:t>
            </a:r>
          </a:p>
        </p:txBody>
      </p:sp>
      <p:sp>
        <p:nvSpPr>
          <p:cNvPr id="9235" name="Line 50"/>
          <p:cNvSpPr>
            <a:spLocks noChangeShapeType="1"/>
          </p:cNvSpPr>
          <p:nvPr/>
        </p:nvSpPr>
        <p:spPr bwMode="auto">
          <a:xfrm flipH="1">
            <a:off x="4549775" y="3181003"/>
            <a:ext cx="4762" cy="166528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6" name="Line 51"/>
          <p:cNvSpPr>
            <a:spLocks noChangeShapeType="1"/>
          </p:cNvSpPr>
          <p:nvPr/>
        </p:nvSpPr>
        <p:spPr bwMode="auto">
          <a:xfrm>
            <a:off x="4554537" y="5647979"/>
            <a:ext cx="0" cy="58896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7" name="Line 52"/>
          <p:cNvSpPr>
            <a:spLocks noChangeShapeType="1"/>
          </p:cNvSpPr>
          <p:nvPr/>
        </p:nvSpPr>
        <p:spPr bwMode="auto">
          <a:xfrm>
            <a:off x="7896225" y="2058641"/>
            <a:ext cx="0" cy="355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8" name="Line 53"/>
          <p:cNvSpPr>
            <a:spLocks noChangeShapeType="1"/>
          </p:cNvSpPr>
          <p:nvPr/>
        </p:nvSpPr>
        <p:spPr bwMode="auto">
          <a:xfrm flipH="1">
            <a:off x="7897813" y="3177828"/>
            <a:ext cx="4763" cy="166528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9239" name="Line 54"/>
          <p:cNvSpPr>
            <a:spLocks noChangeShapeType="1"/>
          </p:cNvSpPr>
          <p:nvPr/>
        </p:nvSpPr>
        <p:spPr bwMode="auto">
          <a:xfrm>
            <a:off x="7902575" y="5647979"/>
            <a:ext cx="0" cy="58896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 name="Group 42"/>
          <p:cNvGrpSpPr>
            <a:grpSpLocks/>
          </p:cNvGrpSpPr>
          <p:nvPr/>
        </p:nvGrpSpPr>
        <p:grpSpPr bwMode="auto">
          <a:xfrm>
            <a:off x="2074862" y="3230216"/>
            <a:ext cx="3651250" cy="819150"/>
            <a:chOff x="6856228" y="1596790"/>
            <a:chExt cx="3650737" cy="818865"/>
          </a:xfrm>
        </p:grpSpPr>
        <p:grpSp>
          <p:nvGrpSpPr>
            <p:cNvPr id="9245" name="Group 60"/>
            <p:cNvGrpSpPr>
              <a:grpSpLocks/>
            </p:cNvGrpSpPr>
            <p:nvPr/>
          </p:nvGrpSpPr>
          <p:grpSpPr bwMode="auto">
            <a:xfrm>
              <a:off x="6856228" y="1596790"/>
              <a:ext cx="1603149" cy="818865"/>
              <a:chOff x="3709625" y="1296520"/>
              <a:chExt cx="1152274" cy="541245"/>
            </a:xfrm>
          </p:grpSpPr>
          <p:cxnSp>
            <p:nvCxnSpPr>
              <p:cNvPr id="46" name="Straight Arrow Connector 45"/>
              <p:cNvCxnSpPr/>
              <p:nvPr/>
            </p:nvCxnSpPr>
            <p:spPr>
              <a:xfrm>
                <a:off x="4135168" y="1501060"/>
                <a:ext cx="726731" cy="33670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248" name="TextBox 46"/>
              <p:cNvSpPr txBox="1">
                <a:spLocks noChangeArrowheads="1"/>
              </p:cNvSpPr>
              <p:nvPr/>
            </p:nvSpPr>
            <p:spPr bwMode="auto">
              <a:xfrm>
                <a:off x="3709625" y="1296520"/>
                <a:ext cx="834561" cy="244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 guard</a:t>
                </a:r>
              </a:p>
            </p:txBody>
          </p:sp>
        </p:grpSp>
        <p:cxnSp>
          <p:nvCxnSpPr>
            <p:cNvPr id="45" name="Straight Arrow Connector 44"/>
            <p:cNvCxnSpPr/>
            <p:nvPr/>
          </p:nvCxnSpPr>
          <p:spPr>
            <a:xfrm>
              <a:off x="7448282" y="1884374"/>
              <a:ext cx="3058683" cy="53128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42"/>
          <p:cNvGrpSpPr>
            <a:grpSpLocks/>
          </p:cNvGrpSpPr>
          <p:nvPr/>
        </p:nvGrpSpPr>
        <p:grpSpPr bwMode="auto">
          <a:xfrm>
            <a:off x="2105256" y="4335116"/>
            <a:ext cx="1055688" cy="945710"/>
            <a:chOff x="7239513" y="1062226"/>
            <a:chExt cx="1055563" cy="944258"/>
          </a:xfrm>
        </p:grpSpPr>
        <p:sp>
          <p:nvSpPr>
            <p:cNvPr id="9243" name="TextBox 46"/>
            <p:cNvSpPr txBox="1">
              <a:spLocks noChangeArrowheads="1"/>
            </p:cNvSpPr>
            <p:nvPr/>
          </p:nvSpPr>
          <p:spPr bwMode="auto">
            <a:xfrm>
              <a:off x="7239513" y="1637719"/>
              <a:ext cx="676708" cy="36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C00000"/>
                  </a:solidFill>
                </a:rPr>
                <a:t>if [ ]  </a:t>
              </a:r>
            </a:p>
          </p:txBody>
        </p:sp>
        <p:cxnSp>
          <p:nvCxnSpPr>
            <p:cNvPr id="50" name="Straight Arrow Connector 49"/>
            <p:cNvCxnSpPr>
              <a:stCxn id="9243" idx="0"/>
            </p:cNvCxnSpPr>
            <p:nvPr/>
          </p:nvCxnSpPr>
          <p:spPr>
            <a:xfrm flipV="1">
              <a:off x="7577867" y="1062226"/>
              <a:ext cx="717209" cy="57549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2575132" y="2204864"/>
            <a:ext cx="4680520" cy="1517396"/>
            <a:chOff x="11711036" y="4006503"/>
            <a:chExt cx="4680520" cy="1517396"/>
          </a:xfrm>
        </p:grpSpPr>
        <p:sp>
          <p:nvSpPr>
            <p:cNvPr id="4" name="Rectangle 3"/>
            <p:cNvSpPr/>
            <p:nvPr/>
          </p:nvSpPr>
          <p:spPr>
            <a:xfrm>
              <a:off x="11711036" y="4006503"/>
              <a:ext cx="4680520" cy="151072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nip Single Corner Rectangle 4"/>
            <p:cNvSpPr/>
            <p:nvPr/>
          </p:nvSpPr>
          <p:spPr>
            <a:xfrm flipV="1">
              <a:off x="11711036" y="4006503"/>
              <a:ext cx="1872208" cy="254001"/>
            </a:xfrm>
            <a:prstGeom prst="snip1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50000"/>
                  </a:schemeClr>
                </a:solidFill>
              </a:endParaRPr>
            </a:p>
          </p:txBody>
        </p:sp>
        <p:sp>
          <p:nvSpPr>
            <p:cNvPr id="6" name="TextBox 5"/>
            <p:cNvSpPr txBox="1"/>
            <p:nvPr/>
          </p:nvSpPr>
          <p:spPr>
            <a:xfrm>
              <a:off x="12071076" y="4441478"/>
              <a:ext cx="720080" cy="276999"/>
            </a:xfrm>
            <a:prstGeom prst="rect">
              <a:avLst/>
            </a:prstGeom>
            <a:solidFill>
              <a:schemeClr val="bg1"/>
            </a:solidFill>
            <a:ln>
              <a:solidFill>
                <a:schemeClr val="tx1"/>
              </a:solidFill>
            </a:ln>
          </p:spPr>
          <p:txBody>
            <a:bodyPr wrap="square" rtlCol="0">
              <a:spAutoFit/>
            </a:bodyPr>
            <a:lstStyle/>
            <a:p>
              <a:r>
                <a:rPr lang="en-US" sz="1200" b="1" dirty="0">
                  <a:latin typeface="Calibri" panose="020F0502020204030204" pitchFamily="34" charset="0"/>
                </a:rPr>
                <a:t>:User</a:t>
              </a:r>
              <a:endParaRPr lang="en-GB" sz="1200" b="1" dirty="0">
                <a:latin typeface="Calibri" panose="020F0502020204030204" pitchFamily="34" charset="0"/>
              </a:endParaRPr>
            </a:p>
          </p:txBody>
        </p:sp>
        <p:cxnSp>
          <p:nvCxnSpPr>
            <p:cNvPr id="10" name="Straight Connector 9"/>
            <p:cNvCxnSpPr>
              <a:stCxn id="6" idx="2"/>
            </p:cNvCxnSpPr>
            <p:nvPr/>
          </p:nvCxnSpPr>
          <p:spPr>
            <a:xfrm>
              <a:off x="12431116" y="4718477"/>
              <a:ext cx="0" cy="798755"/>
            </a:xfrm>
            <a:prstGeom prst="line">
              <a:avLst/>
            </a:prstGeom>
            <a:ln>
              <a:prstDash val="sysDash"/>
            </a:ln>
          </p:spPr>
          <p:style>
            <a:lnRef idx="3">
              <a:schemeClr val="dk1"/>
            </a:lnRef>
            <a:fillRef idx="0">
              <a:schemeClr val="dk1"/>
            </a:fillRef>
            <a:effectRef idx="2">
              <a:schemeClr val="dk1"/>
            </a:effectRef>
            <a:fontRef idx="minor">
              <a:schemeClr val="tx1"/>
            </a:fontRef>
          </p:style>
        </p:cxnSp>
        <p:sp>
          <p:nvSpPr>
            <p:cNvPr id="59" name="TextBox 58"/>
            <p:cNvSpPr txBox="1"/>
            <p:nvPr/>
          </p:nvSpPr>
          <p:spPr>
            <a:xfrm>
              <a:off x="14058959" y="4441478"/>
              <a:ext cx="1180470" cy="276999"/>
            </a:xfrm>
            <a:prstGeom prst="rect">
              <a:avLst/>
            </a:prstGeom>
            <a:solidFill>
              <a:schemeClr val="bg1"/>
            </a:solidFill>
            <a:ln>
              <a:solidFill>
                <a:schemeClr val="tx1"/>
              </a:solidFill>
            </a:ln>
          </p:spPr>
          <p:txBody>
            <a:bodyPr wrap="square" rtlCol="0">
              <a:spAutoFit/>
            </a:bodyPr>
            <a:lstStyle/>
            <a:p>
              <a:r>
                <a:rPr lang="en-US" sz="1200" b="1" dirty="0">
                  <a:latin typeface="Calibri" panose="020F0502020204030204" pitchFamily="34" charset="0"/>
                </a:rPr>
                <a:t>:Access Control</a:t>
              </a:r>
              <a:endParaRPr lang="en-GB" sz="1200" b="1" dirty="0">
                <a:latin typeface="Calibri" panose="020F0502020204030204" pitchFamily="34" charset="0"/>
              </a:endParaRPr>
            </a:p>
          </p:txBody>
        </p:sp>
        <p:cxnSp>
          <p:nvCxnSpPr>
            <p:cNvPr id="60" name="Straight Connector 59"/>
            <p:cNvCxnSpPr/>
            <p:nvPr/>
          </p:nvCxnSpPr>
          <p:spPr>
            <a:xfrm>
              <a:off x="14650664" y="4725144"/>
              <a:ext cx="0" cy="798755"/>
            </a:xfrm>
            <a:prstGeom prst="line">
              <a:avLst/>
            </a:prstGeom>
            <a:ln>
              <a:prstDash val="sysDash"/>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a:off x="12431116" y="4908204"/>
              <a:ext cx="221954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p:cNvCxnSpPr/>
            <p:nvPr/>
          </p:nvCxnSpPr>
          <p:spPr>
            <a:xfrm flipH="1">
              <a:off x="12418416" y="5174904"/>
              <a:ext cx="2219548" cy="0"/>
            </a:xfrm>
            <a:prstGeom prst="straightConnector1">
              <a:avLst/>
            </a:prstGeom>
            <a:ln>
              <a:prstDash val="sysDash"/>
              <a:tailEnd type="triangle"/>
            </a:ln>
          </p:spPr>
          <p:style>
            <a:lnRef idx="3">
              <a:schemeClr val="dk1"/>
            </a:lnRef>
            <a:fillRef idx="0">
              <a:schemeClr val="dk1"/>
            </a:fillRef>
            <a:effectRef idx="2">
              <a:schemeClr val="dk1"/>
            </a:effectRef>
            <a:fontRef idx="minor">
              <a:schemeClr val="tx1"/>
            </a:fontRef>
          </p:style>
        </p:cxnSp>
        <p:sp>
          <p:nvSpPr>
            <p:cNvPr id="13" name="TextBox 12"/>
            <p:cNvSpPr txBox="1"/>
            <p:nvPr/>
          </p:nvSpPr>
          <p:spPr>
            <a:xfrm>
              <a:off x="11711036" y="4006503"/>
              <a:ext cx="1728192" cy="246221"/>
            </a:xfrm>
            <a:prstGeom prst="rect">
              <a:avLst/>
            </a:prstGeom>
            <a:noFill/>
          </p:spPr>
          <p:txBody>
            <a:bodyPr wrap="square" rtlCol="0">
              <a:spAutoFit/>
            </a:bodyPr>
            <a:lstStyle/>
            <a:p>
              <a:r>
                <a:rPr lang="en-US" sz="1000" dirty="0" err="1">
                  <a:latin typeface="Calibri" panose="020F0502020204030204" pitchFamily="34" charset="0"/>
                </a:rPr>
                <a:t>Sd</a:t>
              </a:r>
              <a:r>
                <a:rPr lang="en-US" sz="1000" dirty="0">
                  <a:latin typeface="Calibri" panose="020F0502020204030204" pitchFamily="34" charset="0"/>
                </a:rPr>
                <a:t> </a:t>
              </a:r>
              <a:r>
                <a:rPr lang="en-US" sz="1000" dirty="0" err="1">
                  <a:latin typeface="Calibri" panose="020F0502020204030204" pitchFamily="34" charset="0"/>
                </a:rPr>
                <a:t>EstablishAccess</a:t>
              </a:r>
              <a:endParaRPr lang="en-GB" sz="1000" dirty="0">
                <a:latin typeface="Calibri" panose="020F0502020204030204" pitchFamily="34" charset="0"/>
              </a:endParaRPr>
            </a:p>
          </p:txBody>
        </p:sp>
        <p:sp>
          <p:nvSpPr>
            <p:cNvPr id="65" name="TextBox 64"/>
            <p:cNvSpPr txBox="1"/>
            <p:nvPr/>
          </p:nvSpPr>
          <p:spPr>
            <a:xfrm>
              <a:off x="13151196" y="4908204"/>
              <a:ext cx="648072" cy="246221"/>
            </a:xfrm>
            <a:prstGeom prst="rect">
              <a:avLst/>
            </a:prstGeom>
            <a:noFill/>
          </p:spPr>
          <p:txBody>
            <a:bodyPr wrap="square" rtlCol="0">
              <a:spAutoFit/>
            </a:bodyPr>
            <a:lstStyle/>
            <a:p>
              <a:r>
                <a:rPr lang="en-US" sz="1000" dirty="0">
                  <a:latin typeface="Calibri" panose="020F0502020204030204" pitchFamily="34" charset="0"/>
                </a:rPr>
                <a:t>result</a:t>
              </a:r>
              <a:endParaRPr lang="en-GB" sz="1000" dirty="0">
                <a:latin typeface="Calibri" panose="020F0502020204030204" pitchFamily="34" charset="0"/>
              </a:endParaRPr>
            </a:p>
          </p:txBody>
        </p:sp>
        <p:sp>
          <p:nvSpPr>
            <p:cNvPr id="66" name="TextBox 65"/>
            <p:cNvSpPr txBox="1"/>
            <p:nvPr/>
          </p:nvSpPr>
          <p:spPr>
            <a:xfrm>
              <a:off x="13021890" y="4658738"/>
              <a:ext cx="1107578" cy="246221"/>
            </a:xfrm>
            <a:prstGeom prst="rect">
              <a:avLst/>
            </a:prstGeom>
            <a:noFill/>
          </p:spPr>
          <p:txBody>
            <a:bodyPr wrap="square" rtlCol="0">
              <a:spAutoFit/>
            </a:bodyPr>
            <a:lstStyle/>
            <a:p>
              <a:r>
                <a:rPr lang="en-US" sz="1000" dirty="0" err="1">
                  <a:latin typeface="Calibri" panose="020F0502020204030204" pitchFamily="34" charset="0"/>
                </a:rPr>
                <a:t>verifyPin</a:t>
              </a:r>
              <a:r>
                <a:rPr lang="en-US" sz="1000" dirty="0">
                  <a:latin typeface="Calibri" panose="020F0502020204030204" pitchFamily="34" charset="0"/>
                </a:rPr>
                <a:t>(pin)</a:t>
              </a:r>
              <a:endParaRPr lang="en-GB" sz="1000" dirty="0">
                <a:latin typeface="Calibri" panose="020F0502020204030204" pitchFamily="34" charset="0"/>
              </a:endParaRPr>
            </a:p>
          </p:txBody>
        </p:sp>
      </p:grpSp>
    </p:spTree>
    <p:custDataLst>
      <p:tags r:id="rId1"/>
    </p:custDataLst>
    <p:extLst>
      <p:ext uri="{BB962C8B-B14F-4D97-AF65-F5344CB8AC3E}">
        <p14:creationId xmlns:p14="http://schemas.microsoft.com/office/powerpoint/2010/main" val="3208829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nodeType="clickEffect">
                                  <p:stCondLst>
                                    <p:cond delay="0"/>
                                  </p:stCondLst>
                                  <p:childTnLst>
                                    <p:animMotion origin="layout" path="M -0.09547 0.0081 L -0.71425 0.00208 " pathEditMode="relative" rAng="0" ptsTypes="AA">
                                      <p:cBhvr>
                                        <p:cTn id="6" dur="2000" fill="hold"/>
                                        <p:tgtEl>
                                          <p:spTgt spid="14"/>
                                        </p:tgtEl>
                                        <p:attrNameLst>
                                          <p:attrName>ppt_x</p:attrName>
                                          <p:attrName>ppt_y</p:attrName>
                                        </p:attrNameLst>
                                      </p:cBhvr>
                                      <p:rCtr x="-30946" y="-301"/>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4"/>
                                        </p:tgtEl>
                                      </p:cBhvr>
                                    </p:animEffect>
                                    <p:set>
                                      <p:cBhvr>
                                        <p:cTn id="11" dur="1" fill="hold">
                                          <p:stCondLst>
                                            <p:cond delay="499"/>
                                          </p:stCondLst>
                                        </p:cTn>
                                        <p:tgtEl>
                                          <p:spTgt spid="14"/>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54099" y="0"/>
            <a:ext cx="11134725" cy="533488"/>
          </a:xfrm>
        </p:spPr>
        <p:txBody>
          <a:bodyPr>
            <a:normAutofit/>
          </a:bodyPr>
          <a:lstStyle/>
          <a:p>
            <a:pPr eaLnBrk="1" hangingPunct="1"/>
            <a:r>
              <a:rPr lang="en-US" altLang="en-US" b="1" dirty="0"/>
              <a:t>Interaction Fragments</a:t>
            </a:r>
          </a:p>
        </p:txBody>
      </p:sp>
      <p:grpSp>
        <p:nvGrpSpPr>
          <p:cNvPr id="2" name="Group 1"/>
          <p:cNvGrpSpPr/>
          <p:nvPr/>
        </p:nvGrpSpPr>
        <p:grpSpPr>
          <a:xfrm>
            <a:off x="3335337" y="2249488"/>
            <a:ext cx="5518150" cy="2359025"/>
            <a:chOff x="2105025" y="1089026"/>
            <a:chExt cx="5518150" cy="2359025"/>
          </a:xfrm>
        </p:grpSpPr>
        <p:sp>
          <p:nvSpPr>
            <p:cNvPr id="10243" name="Rectangle 4"/>
            <p:cNvSpPr>
              <a:spLocks noChangeArrowheads="1"/>
            </p:cNvSpPr>
            <p:nvPr/>
          </p:nvSpPr>
          <p:spPr bwMode="auto">
            <a:xfrm>
              <a:off x="2105025" y="1089026"/>
              <a:ext cx="5518150" cy="23590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0244" name="Group 10"/>
            <p:cNvGrpSpPr>
              <a:grpSpLocks/>
            </p:cNvGrpSpPr>
            <p:nvPr/>
          </p:nvGrpSpPr>
          <p:grpSpPr bwMode="auto">
            <a:xfrm>
              <a:off x="2122488" y="1114426"/>
              <a:ext cx="2320925" cy="461963"/>
              <a:chOff x="378" y="702"/>
              <a:chExt cx="1462" cy="291"/>
            </a:xfrm>
          </p:grpSpPr>
          <p:sp>
            <p:nvSpPr>
              <p:cNvPr id="10256" name="Text Box 5"/>
              <p:cNvSpPr txBox="1">
                <a:spLocks noChangeArrowheads="1"/>
              </p:cNvSpPr>
              <p:nvPr/>
            </p:nvSpPr>
            <p:spPr bwMode="auto">
              <a:xfrm>
                <a:off x="378" y="702"/>
                <a:ext cx="1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sd </a:t>
                </a:r>
                <a:r>
                  <a:rPr lang="en-US" altLang="en-US" sz="2000"/>
                  <a:t>EstablishAcces</a:t>
                </a:r>
                <a:r>
                  <a:rPr lang="en-US" altLang="en-US" sz="2400"/>
                  <a:t>s</a:t>
                </a:r>
              </a:p>
            </p:txBody>
          </p:sp>
          <p:sp>
            <p:nvSpPr>
              <p:cNvPr id="10257" name="Line 7"/>
              <p:cNvSpPr>
                <a:spLocks noChangeShapeType="1"/>
              </p:cNvSpPr>
              <p:nvPr/>
            </p:nvSpPr>
            <p:spPr bwMode="auto">
              <a:xfrm>
                <a:off x="380" y="987"/>
                <a:ext cx="125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8" name="Line 8"/>
              <p:cNvSpPr>
                <a:spLocks noChangeShapeType="1"/>
              </p:cNvSpPr>
              <p:nvPr/>
            </p:nvSpPr>
            <p:spPr bwMode="auto">
              <a:xfrm flipH="1">
                <a:off x="1706" y="702"/>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9" name="Line 9"/>
              <p:cNvSpPr>
                <a:spLocks noChangeShapeType="1"/>
              </p:cNvSpPr>
              <p:nvPr/>
            </p:nvSpPr>
            <p:spPr bwMode="auto">
              <a:xfrm flipV="1">
                <a:off x="1631" y="915"/>
                <a:ext cx="75"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0245" name="Text Box 11"/>
            <p:cNvSpPr txBox="1">
              <a:spLocks noChangeArrowheads="1"/>
            </p:cNvSpPr>
            <p:nvPr/>
          </p:nvSpPr>
          <p:spPr bwMode="auto">
            <a:xfrm>
              <a:off x="2462212" y="1723689"/>
              <a:ext cx="1073150" cy="4308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a:t>:User</a:t>
              </a:r>
            </a:p>
          </p:txBody>
        </p:sp>
        <p:sp>
          <p:nvSpPr>
            <p:cNvPr id="10246" name="Line 13"/>
            <p:cNvSpPr>
              <a:spLocks noChangeShapeType="1"/>
            </p:cNvSpPr>
            <p:nvPr/>
          </p:nvSpPr>
          <p:spPr bwMode="auto">
            <a:xfrm>
              <a:off x="3001962" y="2166938"/>
              <a:ext cx="0" cy="355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47" name="Text Box 14"/>
            <p:cNvSpPr txBox="1">
              <a:spLocks noChangeArrowheads="1"/>
            </p:cNvSpPr>
            <p:nvPr/>
          </p:nvSpPr>
          <p:spPr bwMode="auto">
            <a:xfrm>
              <a:off x="5232400" y="1709401"/>
              <a:ext cx="2222500" cy="4308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b="1"/>
                <a:t>:Access Control</a:t>
              </a:r>
            </a:p>
          </p:txBody>
        </p:sp>
        <p:grpSp>
          <p:nvGrpSpPr>
            <p:cNvPr id="10248" name="Group 27"/>
            <p:cNvGrpSpPr>
              <a:grpSpLocks/>
            </p:cNvGrpSpPr>
            <p:nvPr/>
          </p:nvGrpSpPr>
          <p:grpSpPr bwMode="auto">
            <a:xfrm>
              <a:off x="3005137" y="2568576"/>
              <a:ext cx="3348038" cy="366713"/>
              <a:chOff x="1914" y="2129"/>
              <a:chExt cx="2109" cy="231"/>
            </a:xfrm>
          </p:grpSpPr>
          <p:sp>
            <p:nvSpPr>
              <p:cNvPr id="10254" name="Line 25"/>
              <p:cNvSpPr>
                <a:spLocks noChangeShapeType="1"/>
              </p:cNvSpPr>
              <p:nvPr/>
            </p:nvSpPr>
            <p:spPr bwMode="auto">
              <a:xfrm flipH="1">
                <a:off x="1914" y="2350"/>
                <a:ext cx="2109" cy="0"/>
              </a:xfrm>
              <a:prstGeom prst="line">
                <a:avLst/>
              </a:prstGeom>
              <a:noFill/>
              <a:ln w="25400">
                <a:solidFill>
                  <a:schemeClr val="tx1"/>
                </a:solidFill>
                <a:prstDash val="sys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5" name="Text Box 26"/>
              <p:cNvSpPr txBox="1">
                <a:spLocks noChangeArrowheads="1"/>
              </p:cNvSpPr>
              <p:nvPr/>
            </p:nvSpPr>
            <p:spPr bwMode="auto">
              <a:xfrm>
                <a:off x="2508" y="2129"/>
                <a:ext cx="7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a:t>result</a:t>
                </a:r>
              </a:p>
            </p:txBody>
          </p:sp>
        </p:grpSp>
        <p:sp>
          <p:nvSpPr>
            <p:cNvPr id="10249" name="Line 50"/>
            <p:cNvSpPr>
              <a:spLocks noChangeShapeType="1"/>
            </p:cNvSpPr>
            <p:nvPr/>
          </p:nvSpPr>
          <p:spPr bwMode="auto">
            <a:xfrm>
              <a:off x="2998787" y="2454275"/>
              <a:ext cx="6350" cy="83185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0" name="Line 52"/>
            <p:cNvSpPr>
              <a:spLocks noChangeShapeType="1"/>
            </p:cNvSpPr>
            <p:nvPr/>
          </p:nvSpPr>
          <p:spPr bwMode="auto">
            <a:xfrm>
              <a:off x="6340475" y="2185988"/>
              <a:ext cx="0" cy="355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1" name="Line 53"/>
            <p:cNvSpPr>
              <a:spLocks noChangeShapeType="1"/>
            </p:cNvSpPr>
            <p:nvPr/>
          </p:nvSpPr>
          <p:spPr bwMode="auto">
            <a:xfrm>
              <a:off x="6346825" y="2451101"/>
              <a:ext cx="6350" cy="83502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2" name="Line 25"/>
            <p:cNvSpPr>
              <a:spLocks noChangeShapeType="1"/>
            </p:cNvSpPr>
            <p:nvPr/>
          </p:nvSpPr>
          <p:spPr bwMode="auto">
            <a:xfrm rot="10800000" flipH="1">
              <a:off x="2994026" y="2466975"/>
              <a:ext cx="334803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0253" name="Text Box 26"/>
            <p:cNvSpPr txBox="1">
              <a:spLocks noChangeArrowheads="1"/>
            </p:cNvSpPr>
            <p:nvPr/>
          </p:nvSpPr>
          <p:spPr bwMode="auto">
            <a:xfrm>
              <a:off x="3640138" y="2084388"/>
              <a:ext cx="14589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a:t>verifyPin(pin)</a:t>
              </a:r>
            </a:p>
          </p:txBody>
        </p:sp>
      </p:grpSp>
    </p:spTree>
    <p:custDataLst>
      <p:tags r:id="rId1"/>
    </p:custDataLst>
    <p:extLst>
      <p:ext uri="{BB962C8B-B14F-4D97-AF65-F5344CB8AC3E}">
        <p14:creationId xmlns:p14="http://schemas.microsoft.com/office/powerpoint/2010/main" val="3483761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54100" y="0"/>
            <a:ext cx="11134725" cy="534989"/>
          </a:xfrm>
        </p:spPr>
        <p:txBody>
          <a:bodyPr/>
          <a:lstStyle/>
          <a:p>
            <a:pPr eaLnBrk="1" hangingPunct="1"/>
            <a:r>
              <a:rPr lang="en-US" altLang="en-US" b="1" dirty="0"/>
              <a:t>Interaction Fragments</a:t>
            </a:r>
          </a:p>
        </p:txBody>
      </p:sp>
      <p:sp>
        <p:nvSpPr>
          <p:cNvPr id="11267" name="Rectangle 4"/>
          <p:cNvSpPr>
            <a:spLocks noChangeArrowheads="1"/>
          </p:cNvSpPr>
          <p:nvPr/>
        </p:nvSpPr>
        <p:spPr bwMode="auto">
          <a:xfrm>
            <a:off x="2120900" y="646088"/>
            <a:ext cx="8088312" cy="561662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1268" name="Group 12"/>
          <p:cNvGrpSpPr>
            <a:grpSpLocks/>
          </p:cNvGrpSpPr>
          <p:nvPr/>
        </p:nvGrpSpPr>
        <p:grpSpPr bwMode="auto">
          <a:xfrm>
            <a:off x="2074862" y="652438"/>
            <a:ext cx="4700588" cy="457200"/>
            <a:chOff x="348" y="702"/>
            <a:chExt cx="2818" cy="288"/>
          </a:xfrm>
        </p:grpSpPr>
        <p:sp>
          <p:nvSpPr>
            <p:cNvPr id="11342" name="Text Box 6"/>
            <p:cNvSpPr txBox="1">
              <a:spLocks noChangeArrowheads="1"/>
            </p:cNvSpPr>
            <p:nvPr/>
          </p:nvSpPr>
          <p:spPr bwMode="auto">
            <a:xfrm>
              <a:off x="348" y="702"/>
              <a:ext cx="28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sd </a:t>
              </a:r>
              <a:r>
                <a:rPr lang="en-US" altLang="en-US" sz="2400" b="1">
                  <a:solidFill>
                    <a:srgbClr val="00B050"/>
                  </a:solidFill>
                </a:rPr>
                <a:t>printCurrentRecords( f : File )</a:t>
              </a:r>
            </a:p>
          </p:txBody>
        </p:sp>
        <p:grpSp>
          <p:nvGrpSpPr>
            <p:cNvPr id="11343" name="Group 11"/>
            <p:cNvGrpSpPr>
              <a:grpSpLocks/>
            </p:cNvGrpSpPr>
            <p:nvPr/>
          </p:nvGrpSpPr>
          <p:grpSpPr bwMode="auto">
            <a:xfrm>
              <a:off x="376" y="702"/>
              <a:ext cx="2790" cy="288"/>
              <a:chOff x="376" y="702"/>
              <a:chExt cx="2790" cy="288"/>
            </a:xfrm>
          </p:grpSpPr>
          <p:sp>
            <p:nvSpPr>
              <p:cNvPr id="11344" name="Line 7"/>
              <p:cNvSpPr>
                <a:spLocks noChangeShapeType="1"/>
              </p:cNvSpPr>
              <p:nvPr/>
            </p:nvSpPr>
            <p:spPr bwMode="auto">
              <a:xfrm>
                <a:off x="376" y="986"/>
                <a:ext cx="2721"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45" name="Line 8"/>
              <p:cNvSpPr>
                <a:spLocks noChangeShapeType="1"/>
              </p:cNvSpPr>
              <p:nvPr/>
            </p:nvSpPr>
            <p:spPr bwMode="auto">
              <a:xfrm flipH="1">
                <a:off x="3166" y="702"/>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46" name="Line 9"/>
              <p:cNvSpPr>
                <a:spLocks noChangeShapeType="1"/>
              </p:cNvSpPr>
              <p:nvPr/>
            </p:nvSpPr>
            <p:spPr bwMode="auto">
              <a:xfrm flipV="1">
                <a:off x="3091" y="915"/>
                <a:ext cx="75"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grpSp>
        <p:nvGrpSpPr>
          <p:cNvPr id="11269" name="Group 14"/>
          <p:cNvGrpSpPr>
            <a:grpSpLocks/>
          </p:cNvGrpSpPr>
          <p:nvPr/>
        </p:nvGrpSpPr>
        <p:grpSpPr bwMode="auto">
          <a:xfrm>
            <a:off x="3497262" y="1252514"/>
            <a:ext cx="457200" cy="542925"/>
            <a:chOff x="2736" y="2826"/>
            <a:chExt cx="288" cy="342"/>
          </a:xfrm>
        </p:grpSpPr>
        <p:sp>
          <p:nvSpPr>
            <p:cNvPr id="11339" name="Oval 15"/>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340" name="Line 16"/>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41" name="Line 17"/>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70" name="Text Box 18"/>
          <p:cNvSpPr txBox="1">
            <a:spLocks noChangeArrowheads="1"/>
          </p:cNvSpPr>
          <p:nvPr/>
        </p:nvSpPr>
        <p:spPr bwMode="auto">
          <a:xfrm>
            <a:off x="2857500" y="1763689"/>
            <a:ext cx="173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:PrintManager</a:t>
            </a:r>
          </a:p>
        </p:txBody>
      </p:sp>
      <p:sp>
        <p:nvSpPr>
          <p:cNvPr id="11271" name="Line 19"/>
          <p:cNvSpPr>
            <a:spLocks noChangeShapeType="1"/>
          </p:cNvSpPr>
          <p:nvPr/>
        </p:nvSpPr>
        <p:spPr bwMode="auto">
          <a:xfrm flipH="1">
            <a:off x="3673476" y="2174851"/>
            <a:ext cx="3175" cy="391001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1272" name="Group 22"/>
          <p:cNvGrpSpPr>
            <a:grpSpLocks/>
          </p:cNvGrpSpPr>
          <p:nvPr/>
        </p:nvGrpSpPr>
        <p:grpSpPr bwMode="auto">
          <a:xfrm>
            <a:off x="5775325" y="1330302"/>
            <a:ext cx="685800" cy="471487"/>
            <a:chOff x="2037" y="2880"/>
            <a:chExt cx="432" cy="297"/>
          </a:xfrm>
        </p:grpSpPr>
        <p:sp>
          <p:nvSpPr>
            <p:cNvPr id="11337" name="Oval 23"/>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338" name="Line 24"/>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73" name="Text Box 25"/>
          <p:cNvSpPr txBox="1">
            <a:spLocks noChangeArrowheads="1"/>
          </p:cNvSpPr>
          <p:nvPr/>
        </p:nvSpPr>
        <p:spPr bwMode="auto">
          <a:xfrm>
            <a:off x="5754687" y="1789089"/>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f:File</a:t>
            </a:r>
          </a:p>
        </p:txBody>
      </p:sp>
      <p:sp>
        <p:nvSpPr>
          <p:cNvPr id="11274" name="Line 26"/>
          <p:cNvSpPr>
            <a:spLocks noChangeShapeType="1"/>
          </p:cNvSpPr>
          <p:nvPr/>
        </p:nvSpPr>
        <p:spPr bwMode="auto">
          <a:xfrm>
            <a:off x="6130926" y="2193901"/>
            <a:ext cx="1587" cy="390366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1275" name="Group 28"/>
          <p:cNvGrpSpPr>
            <a:grpSpLocks/>
          </p:cNvGrpSpPr>
          <p:nvPr/>
        </p:nvGrpSpPr>
        <p:grpSpPr bwMode="auto">
          <a:xfrm>
            <a:off x="8897938" y="1362051"/>
            <a:ext cx="690563" cy="457200"/>
            <a:chOff x="3213" y="2544"/>
            <a:chExt cx="435" cy="288"/>
          </a:xfrm>
        </p:grpSpPr>
        <p:sp>
          <p:nvSpPr>
            <p:cNvPr id="11334" name="Oval 29"/>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335" name="Line 30"/>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36" name="Line 31"/>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76" name="Text Box 32"/>
          <p:cNvSpPr txBox="1">
            <a:spLocks noChangeArrowheads="1"/>
          </p:cNvSpPr>
          <p:nvPr/>
        </p:nvSpPr>
        <p:spPr bwMode="auto">
          <a:xfrm>
            <a:off x="8401050" y="1804964"/>
            <a:ext cx="184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:PrinterInterface</a:t>
            </a:r>
          </a:p>
        </p:txBody>
      </p:sp>
      <p:sp>
        <p:nvSpPr>
          <p:cNvPr id="11277" name="Line 33"/>
          <p:cNvSpPr>
            <a:spLocks noChangeShapeType="1"/>
          </p:cNvSpPr>
          <p:nvPr/>
        </p:nvSpPr>
        <p:spPr bwMode="auto">
          <a:xfrm>
            <a:off x="9291638" y="2155801"/>
            <a:ext cx="17463" cy="39243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7" name="Group 82"/>
          <p:cNvGrpSpPr>
            <a:grpSpLocks/>
          </p:cNvGrpSpPr>
          <p:nvPr/>
        </p:nvGrpSpPr>
        <p:grpSpPr bwMode="auto">
          <a:xfrm>
            <a:off x="3735388" y="2055789"/>
            <a:ext cx="2460625" cy="657225"/>
            <a:chOff x="1394" y="1476"/>
            <a:chExt cx="1550" cy="414"/>
          </a:xfrm>
        </p:grpSpPr>
        <p:sp>
          <p:nvSpPr>
            <p:cNvPr id="11331" name="Text Box 35"/>
            <p:cNvSpPr txBox="1">
              <a:spLocks noChangeArrowheads="1"/>
            </p:cNvSpPr>
            <p:nvPr/>
          </p:nvSpPr>
          <p:spPr bwMode="auto">
            <a:xfrm>
              <a:off x="1914" y="1476"/>
              <a:ext cx="55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open()</a:t>
              </a:r>
            </a:p>
          </p:txBody>
        </p:sp>
        <p:sp>
          <p:nvSpPr>
            <p:cNvPr id="11332" name="Line 36"/>
            <p:cNvSpPr>
              <a:spLocks noChangeShapeType="1"/>
            </p:cNvSpPr>
            <p:nvPr/>
          </p:nvSpPr>
          <p:spPr bwMode="auto">
            <a:xfrm flipV="1">
              <a:off x="1394" y="1713"/>
              <a:ext cx="1441"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33" name="Rectangle 37"/>
            <p:cNvSpPr>
              <a:spLocks noChangeArrowheads="1"/>
            </p:cNvSpPr>
            <p:nvPr/>
          </p:nvSpPr>
          <p:spPr bwMode="auto">
            <a:xfrm>
              <a:off x="2847" y="1656"/>
              <a:ext cx="97" cy="234"/>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11279" name="Rectangle 38"/>
          <p:cNvSpPr>
            <a:spLocks noChangeArrowheads="1"/>
          </p:cNvSpPr>
          <p:nvPr/>
        </p:nvSpPr>
        <p:spPr bwMode="auto">
          <a:xfrm>
            <a:off x="3605213" y="2182788"/>
            <a:ext cx="161925" cy="4013200"/>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8" name="Group 84"/>
          <p:cNvGrpSpPr>
            <a:grpSpLocks/>
          </p:cNvGrpSpPr>
          <p:nvPr/>
        </p:nvGrpSpPr>
        <p:grpSpPr bwMode="auto">
          <a:xfrm>
            <a:off x="3760788" y="3049563"/>
            <a:ext cx="2460625" cy="641350"/>
            <a:chOff x="1410" y="2102"/>
            <a:chExt cx="1550" cy="404"/>
          </a:xfrm>
        </p:grpSpPr>
        <p:sp>
          <p:nvSpPr>
            <p:cNvPr id="11328" name="Line 39"/>
            <p:cNvSpPr>
              <a:spLocks noChangeShapeType="1"/>
            </p:cNvSpPr>
            <p:nvPr/>
          </p:nvSpPr>
          <p:spPr bwMode="auto">
            <a:xfrm flipV="1">
              <a:off x="1410" y="2329"/>
              <a:ext cx="1441"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29" name="Rectangle 40"/>
            <p:cNvSpPr>
              <a:spLocks noChangeArrowheads="1"/>
            </p:cNvSpPr>
            <p:nvPr/>
          </p:nvSpPr>
          <p:spPr bwMode="auto">
            <a:xfrm>
              <a:off x="2863" y="2272"/>
              <a:ext cx="97" cy="234"/>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330" name="Text Box 41"/>
            <p:cNvSpPr txBox="1">
              <a:spLocks noChangeArrowheads="1"/>
            </p:cNvSpPr>
            <p:nvPr/>
          </p:nvSpPr>
          <p:spPr bwMode="auto">
            <a:xfrm>
              <a:off x="1456" y="2102"/>
              <a:ext cx="12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rec=readRecord()</a:t>
              </a:r>
            </a:p>
          </p:txBody>
        </p:sp>
      </p:grpSp>
      <p:sp>
        <p:nvSpPr>
          <p:cNvPr id="11281" name="Rectangle 47"/>
          <p:cNvSpPr>
            <a:spLocks noChangeArrowheads="1"/>
          </p:cNvSpPr>
          <p:nvPr/>
        </p:nvSpPr>
        <p:spPr bwMode="auto">
          <a:xfrm>
            <a:off x="2368551" y="2789214"/>
            <a:ext cx="7432675" cy="287496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1282" name="Group 48"/>
          <p:cNvGrpSpPr>
            <a:grpSpLocks/>
          </p:cNvGrpSpPr>
          <p:nvPr/>
        </p:nvGrpSpPr>
        <p:grpSpPr bwMode="auto">
          <a:xfrm>
            <a:off x="2357437" y="2786038"/>
            <a:ext cx="825500" cy="457200"/>
            <a:chOff x="2540" y="1939"/>
            <a:chExt cx="506" cy="297"/>
          </a:xfrm>
        </p:grpSpPr>
        <p:sp>
          <p:nvSpPr>
            <p:cNvPr id="11324" name="Text Box 49"/>
            <p:cNvSpPr txBox="1">
              <a:spLocks noChangeArrowheads="1"/>
            </p:cNvSpPr>
            <p:nvPr/>
          </p:nvSpPr>
          <p:spPr bwMode="auto">
            <a:xfrm>
              <a:off x="2540" y="1939"/>
              <a:ext cx="50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loop</a:t>
              </a:r>
            </a:p>
          </p:txBody>
        </p:sp>
        <p:sp>
          <p:nvSpPr>
            <p:cNvPr id="11325" name="Line 50"/>
            <p:cNvSpPr>
              <a:spLocks noChangeShapeType="1"/>
            </p:cNvSpPr>
            <p:nvPr/>
          </p:nvSpPr>
          <p:spPr bwMode="auto">
            <a:xfrm>
              <a:off x="2561" y="2224"/>
              <a:ext cx="3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26" name="Line 51"/>
            <p:cNvSpPr>
              <a:spLocks noChangeShapeType="1"/>
            </p:cNvSpPr>
            <p:nvPr/>
          </p:nvSpPr>
          <p:spPr bwMode="auto">
            <a:xfrm flipH="1">
              <a:off x="2992" y="1939"/>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27" name="Line 52"/>
            <p:cNvSpPr>
              <a:spLocks noChangeShapeType="1"/>
            </p:cNvSpPr>
            <p:nvPr/>
          </p:nvSpPr>
          <p:spPr bwMode="auto">
            <a:xfrm flipV="1">
              <a:off x="2929" y="2152"/>
              <a:ext cx="63"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283" name="Text Box 53"/>
          <p:cNvSpPr txBox="1">
            <a:spLocks noChangeArrowheads="1"/>
          </p:cNvSpPr>
          <p:nvPr/>
        </p:nvSpPr>
        <p:spPr bwMode="auto">
          <a:xfrm>
            <a:off x="3044825" y="2714602"/>
            <a:ext cx="19097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[not end of file]</a:t>
            </a:r>
          </a:p>
        </p:txBody>
      </p:sp>
      <p:grpSp>
        <p:nvGrpSpPr>
          <p:cNvPr id="10" name="Group 86"/>
          <p:cNvGrpSpPr>
            <a:grpSpLocks/>
          </p:cNvGrpSpPr>
          <p:nvPr/>
        </p:nvGrpSpPr>
        <p:grpSpPr bwMode="auto">
          <a:xfrm>
            <a:off x="3751262" y="3832201"/>
            <a:ext cx="5645150" cy="671512"/>
            <a:chOff x="1404" y="2595"/>
            <a:chExt cx="3556" cy="423"/>
          </a:xfrm>
        </p:grpSpPr>
        <p:sp>
          <p:nvSpPr>
            <p:cNvPr id="11321" name="Text Box 66"/>
            <p:cNvSpPr txBox="1">
              <a:spLocks noChangeArrowheads="1"/>
            </p:cNvSpPr>
            <p:nvPr/>
          </p:nvSpPr>
          <p:spPr bwMode="auto">
            <a:xfrm>
              <a:off x="3717" y="2595"/>
              <a:ext cx="8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print(rec)</a:t>
              </a:r>
            </a:p>
          </p:txBody>
        </p:sp>
        <p:sp>
          <p:nvSpPr>
            <p:cNvPr id="11322" name="Line 67"/>
            <p:cNvSpPr>
              <a:spLocks noChangeShapeType="1"/>
            </p:cNvSpPr>
            <p:nvPr/>
          </p:nvSpPr>
          <p:spPr bwMode="auto">
            <a:xfrm flipV="1">
              <a:off x="1404" y="2825"/>
              <a:ext cx="3452"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23" name="Rectangle 68"/>
            <p:cNvSpPr>
              <a:spLocks noChangeArrowheads="1"/>
            </p:cNvSpPr>
            <p:nvPr/>
          </p:nvSpPr>
          <p:spPr bwMode="auto">
            <a:xfrm>
              <a:off x="4874" y="2745"/>
              <a:ext cx="86" cy="273"/>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1" name="Group 87"/>
          <p:cNvGrpSpPr>
            <a:grpSpLocks/>
          </p:cNvGrpSpPr>
          <p:nvPr/>
        </p:nvGrpSpPr>
        <p:grpSpPr bwMode="auto">
          <a:xfrm>
            <a:off x="2486026" y="3751238"/>
            <a:ext cx="7235825" cy="1670050"/>
            <a:chOff x="607" y="2544"/>
            <a:chExt cx="4558" cy="1052"/>
          </a:xfrm>
        </p:grpSpPr>
        <p:grpSp>
          <p:nvGrpSpPr>
            <p:cNvPr id="11311" name="Group 85"/>
            <p:cNvGrpSpPr>
              <a:grpSpLocks/>
            </p:cNvGrpSpPr>
            <p:nvPr/>
          </p:nvGrpSpPr>
          <p:grpSpPr bwMode="auto">
            <a:xfrm>
              <a:off x="607" y="2544"/>
              <a:ext cx="4557" cy="1052"/>
              <a:chOff x="607" y="2544"/>
              <a:chExt cx="4557" cy="1052"/>
            </a:xfrm>
          </p:grpSpPr>
          <p:sp>
            <p:nvSpPr>
              <p:cNvPr id="11314" name="Rectangle 57"/>
              <p:cNvSpPr>
                <a:spLocks noChangeArrowheads="1"/>
              </p:cNvSpPr>
              <p:nvPr/>
            </p:nvSpPr>
            <p:spPr bwMode="auto">
              <a:xfrm>
                <a:off x="626" y="2580"/>
                <a:ext cx="4538" cy="10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1315" name="Group 58"/>
              <p:cNvGrpSpPr>
                <a:grpSpLocks/>
              </p:cNvGrpSpPr>
              <p:nvPr/>
            </p:nvGrpSpPr>
            <p:grpSpPr bwMode="auto">
              <a:xfrm>
                <a:off x="607" y="2578"/>
                <a:ext cx="506" cy="288"/>
                <a:chOff x="2540" y="1939"/>
                <a:chExt cx="506" cy="288"/>
              </a:xfrm>
            </p:grpSpPr>
            <p:sp>
              <p:nvSpPr>
                <p:cNvPr id="11317" name="Text Box 59"/>
                <p:cNvSpPr txBox="1">
                  <a:spLocks noChangeArrowheads="1"/>
                </p:cNvSpPr>
                <p:nvPr/>
              </p:nvSpPr>
              <p:spPr bwMode="auto">
                <a:xfrm>
                  <a:off x="2540" y="1939"/>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alt</a:t>
                  </a:r>
                </a:p>
              </p:txBody>
            </p:sp>
            <p:sp>
              <p:nvSpPr>
                <p:cNvPr id="11318" name="Line 60"/>
                <p:cNvSpPr>
                  <a:spLocks noChangeShapeType="1"/>
                </p:cNvSpPr>
                <p:nvPr/>
              </p:nvSpPr>
              <p:spPr bwMode="auto">
                <a:xfrm>
                  <a:off x="2561" y="2224"/>
                  <a:ext cx="3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19" name="Line 61"/>
                <p:cNvSpPr>
                  <a:spLocks noChangeShapeType="1"/>
                </p:cNvSpPr>
                <p:nvPr/>
              </p:nvSpPr>
              <p:spPr bwMode="auto">
                <a:xfrm flipH="1">
                  <a:off x="2992" y="1939"/>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20" name="Line 62"/>
                <p:cNvSpPr>
                  <a:spLocks noChangeShapeType="1"/>
                </p:cNvSpPr>
                <p:nvPr/>
              </p:nvSpPr>
              <p:spPr bwMode="auto">
                <a:xfrm flipV="1">
                  <a:off x="2929" y="2152"/>
                  <a:ext cx="63"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316" name="Text Box 63"/>
              <p:cNvSpPr txBox="1">
                <a:spLocks noChangeArrowheads="1"/>
              </p:cNvSpPr>
              <p:nvPr/>
            </p:nvSpPr>
            <p:spPr bwMode="auto">
              <a:xfrm>
                <a:off x="1015" y="2544"/>
                <a:ext cx="1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[rec==valid]</a:t>
                </a:r>
              </a:p>
            </p:txBody>
          </p:sp>
        </p:grpSp>
        <p:sp>
          <p:nvSpPr>
            <p:cNvPr id="11312" name="Text Box 69"/>
            <p:cNvSpPr txBox="1">
              <a:spLocks noChangeArrowheads="1"/>
            </p:cNvSpPr>
            <p:nvPr/>
          </p:nvSpPr>
          <p:spPr bwMode="auto">
            <a:xfrm>
              <a:off x="891" y="3060"/>
              <a:ext cx="1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[else]</a:t>
              </a:r>
            </a:p>
          </p:txBody>
        </p:sp>
        <p:sp>
          <p:nvSpPr>
            <p:cNvPr id="11313" name="Line 70"/>
            <p:cNvSpPr>
              <a:spLocks noChangeShapeType="1"/>
            </p:cNvSpPr>
            <p:nvPr/>
          </p:nvSpPr>
          <p:spPr bwMode="auto">
            <a:xfrm rot="-5400000">
              <a:off x="2893" y="809"/>
              <a:ext cx="11" cy="4532"/>
            </a:xfrm>
            <a:prstGeom prst="line">
              <a:avLst/>
            </a:prstGeom>
            <a:noFill/>
            <a:ln w="317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4" name="Group 88"/>
          <p:cNvGrpSpPr>
            <a:grpSpLocks/>
          </p:cNvGrpSpPr>
          <p:nvPr/>
        </p:nvGrpSpPr>
        <p:grpSpPr bwMode="auto">
          <a:xfrm>
            <a:off x="3705225" y="4659288"/>
            <a:ext cx="2025650" cy="674688"/>
            <a:chOff x="1375" y="3116"/>
            <a:chExt cx="1276" cy="425"/>
          </a:xfrm>
        </p:grpSpPr>
        <p:grpSp>
          <p:nvGrpSpPr>
            <p:cNvPr id="11304" name="Group 72"/>
            <p:cNvGrpSpPr>
              <a:grpSpLocks/>
            </p:cNvGrpSpPr>
            <p:nvPr/>
          </p:nvGrpSpPr>
          <p:grpSpPr bwMode="auto">
            <a:xfrm>
              <a:off x="1375" y="3169"/>
              <a:ext cx="221" cy="372"/>
              <a:chOff x="4801" y="2427"/>
              <a:chExt cx="221" cy="372"/>
            </a:xfrm>
          </p:grpSpPr>
          <p:sp>
            <p:nvSpPr>
              <p:cNvPr id="11306" name="Line 73"/>
              <p:cNvSpPr>
                <a:spLocks noChangeShapeType="1"/>
              </p:cNvSpPr>
              <p:nvPr/>
            </p:nvSpPr>
            <p:spPr bwMode="auto">
              <a:xfrm>
                <a:off x="4827" y="2436"/>
                <a:ext cx="1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1307" name="Group 74"/>
              <p:cNvGrpSpPr>
                <a:grpSpLocks/>
              </p:cNvGrpSpPr>
              <p:nvPr/>
            </p:nvGrpSpPr>
            <p:grpSpPr bwMode="auto">
              <a:xfrm>
                <a:off x="4801" y="2427"/>
                <a:ext cx="215" cy="372"/>
                <a:chOff x="4801" y="2427"/>
                <a:chExt cx="215" cy="372"/>
              </a:xfrm>
            </p:grpSpPr>
            <p:sp>
              <p:nvSpPr>
                <p:cNvPr id="11309" name="Rectangle 75"/>
                <p:cNvSpPr>
                  <a:spLocks noChangeArrowheads="1"/>
                </p:cNvSpPr>
                <p:nvPr/>
              </p:nvSpPr>
              <p:spPr bwMode="auto">
                <a:xfrm>
                  <a:off x="4801" y="2548"/>
                  <a:ext cx="67" cy="251"/>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310" name="Line 76"/>
                <p:cNvSpPr>
                  <a:spLocks noChangeShapeType="1"/>
                </p:cNvSpPr>
                <p:nvPr/>
              </p:nvSpPr>
              <p:spPr bwMode="auto">
                <a:xfrm>
                  <a:off x="5016" y="2427"/>
                  <a:ext cx="0" cy="16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308" name="Line 77"/>
              <p:cNvSpPr>
                <a:spLocks noChangeShapeType="1"/>
              </p:cNvSpPr>
              <p:nvPr/>
            </p:nvSpPr>
            <p:spPr bwMode="auto">
              <a:xfrm flipH="1" flipV="1">
                <a:off x="4869" y="2586"/>
                <a:ext cx="153" cy="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1305" name="Text Box 78"/>
            <p:cNvSpPr txBox="1">
              <a:spLocks noChangeArrowheads="1"/>
            </p:cNvSpPr>
            <p:nvPr/>
          </p:nvSpPr>
          <p:spPr bwMode="auto">
            <a:xfrm>
              <a:off x="1576" y="3116"/>
              <a:ext cx="10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t>log(rec)</a:t>
              </a:r>
            </a:p>
          </p:txBody>
        </p:sp>
      </p:grpSp>
      <p:grpSp>
        <p:nvGrpSpPr>
          <p:cNvPr id="17" name="Group 69"/>
          <p:cNvGrpSpPr>
            <a:grpSpLocks/>
          </p:cNvGrpSpPr>
          <p:nvPr/>
        </p:nvGrpSpPr>
        <p:grpSpPr bwMode="auto">
          <a:xfrm>
            <a:off x="3744912" y="5600677"/>
            <a:ext cx="2465388" cy="528637"/>
            <a:chOff x="2222500" y="5888038"/>
            <a:chExt cx="2465388" cy="528637"/>
          </a:xfrm>
        </p:grpSpPr>
        <p:sp>
          <p:nvSpPr>
            <p:cNvPr id="11300" name="Text Box 79"/>
            <p:cNvSpPr txBox="1">
              <a:spLocks noChangeArrowheads="1"/>
            </p:cNvSpPr>
            <p:nvPr/>
          </p:nvSpPr>
          <p:spPr bwMode="auto">
            <a:xfrm>
              <a:off x="3048000" y="5888038"/>
              <a:ext cx="887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close()</a:t>
              </a:r>
            </a:p>
          </p:txBody>
        </p:sp>
        <p:grpSp>
          <p:nvGrpSpPr>
            <p:cNvPr id="11301" name="Group 68"/>
            <p:cNvGrpSpPr>
              <a:grpSpLocks/>
            </p:cNvGrpSpPr>
            <p:nvPr/>
          </p:nvGrpSpPr>
          <p:grpSpPr bwMode="auto">
            <a:xfrm>
              <a:off x="2222500" y="6142038"/>
              <a:ext cx="2465388" cy="274637"/>
              <a:chOff x="2222500" y="6142038"/>
              <a:chExt cx="2465388" cy="274637"/>
            </a:xfrm>
          </p:grpSpPr>
          <p:sp>
            <p:nvSpPr>
              <p:cNvPr id="11302" name="Line 80"/>
              <p:cNvSpPr>
                <a:spLocks noChangeShapeType="1"/>
              </p:cNvSpPr>
              <p:nvPr/>
            </p:nvSpPr>
            <p:spPr bwMode="auto">
              <a:xfrm flipV="1">
                <a:off x="2222500" y="6232525"/>
                <a:ext cx="2287588"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1303" name="Rectangle 81"/>
              <p:cNvSpPr>
                <a:spLocks noChangeArrowheads="1"/>
              </p:cNvSpPr>
              <p:nvPr/>
            </p:nvSpPr>
            <p:spPr bwMode="auto">
              <a:xfrm>
                <a:off x="4529138" y="6142038"/>
                <a:ext cx="158750" cy="274637"/>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grpSp>
        <p:nvGrpSpPr>
          <p:cNvPr id="3" name="Group 2"/>
          <p:cNvGrpSpPr>
            <a:grpSpLocks/>
          </p:cNvGrpSpPr>
          <p:nvPr/>
        </p:nvGrpSpPr>
        <p:grpSpPr bwMode="auto">
          <a:xfrm>
            <a:off x="1425574" y="2008163"/>
            <a:ext cx="2701926" cy="476250"/>
            <a:chOff x="-96555" y="2296128"/>
            <a:chExt cx="2702332" cy="475474"/>
          </a:xfrm>
        </p:grpSpPr>
        <p:grpSp>
          <p:nvGrpSpPr>
            <p:cNvPr id="11296" name="Group 82"/>
            <p:cNvGrpSpPr>
              <a:grpSpLocks/>
            </p:cNvGrpSpPr>
            <p:nvPr/>
          </p:nvGrpSpPr>
          <p:grpSpPr bwMode="auto">
            <a:xfrm>
              <a:off x="-96555" y="2296128"/>
              <a:ext cx="2702332" cy="382605"/>
              <a:chOff x="1112" y="1511"/>
              <a:chExt cx="1580" cy="207"/>
            </a:xfrm>
          </p:grpSpPr>
          <p:sp>
            <p:nvSpPr>
              <p:cNvPr id="11298" name="Text Box 35"/>
              <p:cNvSpPr txBox="1">
                <a:spLocks noChangeArrowheads="1"/>
              </p:cNvSpPr>
              <p:nvPr/>
            </p:nvSpPr>
            <p:spPr bwMode="auto">
              <a:xfrm>
                <a:off x="1112" y="1511"/>
                <a:ext cx="158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600" b="1">
                    <a:solidFill>
                      <a:srgbClr val="00B050"/>
                    </a:solidFill>
                  </a:rPr>
                  <a:t>printCurrentRecords( f )</a:t>
                </a:r>
              </a:p>
            </p:txBody>
          </p:sp>
          <p:sp>
            <p:nvSpPr>
              <p:cNvPr id="11299" name="Line 36"/>
              <p:cNvSpPr>
                <a:spLocks noChangeShapeType="1"/>
              </p:cNvSpPr>
              <p:nvPr/>
            </p:nvSpPr>
            <p:spPr bwMode="auto">
              <a:xfrm flipV="1">
                <a:off x="1749" y="1708"/>
                <a:ext cx="648" cy="1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2" name="Oval 1"/>
            <p:cNvSpPr/>
            <p:nvPr/>
          </p:nvSpPr>
          <p:spPr>
            <a:xfrm>
              <a:off x="829097" y="2586168"/>
              <a:ext cx="166713" cy="185434"/>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latin typeface="Calibri" panose="020F0502020204030204" pitchFamily="34" charset="0"/>
              </a:endParaRPr>
            </a:p>
          </p:txBody>
        </p:sp>
      </p:grpSp>
      <p:grpSp>
        <p:nvGrpSpPr>
          <p:cNvPr id="78" name="Group 42"/>
          <p:cNvGrpSpPr>
            <a:grpSpLocks/>
          </p:cNvGrpSpPr>
          <p:nvPr/>
        </p:nvGrpSpPr>
        <p:grpSpPr bwMode="auto">
          <a:xfrm>
            <a:off x="3152775" y="4189389"/>
            <a:ext cx="4737100" cy="1166813"/>
            <a:chOff x="2672" y="1317"/>
            <a:chExt cx="2984" cy="735"/>
          </a:xfrm>
        </p:grpSpPr>
        <p:sp>
          <p:nvSpPr>
            <p:cNvPr id="79" name="AutoShape 34"/>
            <p:cNvSpPr>
              <a:spLocks noChangeArrowheads="1"/>
            </p:cNvSpPr>
            <p:nvPr/>
          </p:nvSpPr>
          <p:spPr bwMode="auto">
            <a:xfrm rot="10800000" flipH="1">
              <a:off x="4420" y="1612"/>
              <a:ext cx="974" cy="440"/>
            </a:xfrm>
            <a:prstGeom prst="foldedCorner">
              <a:avLst>
                <a:gd name="adj" fmla="val 12500"/>
              </a:avLst>
            </a:prstGeom>
            <a:solidFill>
              <a:schemeClr val="tx2">
                <a:lumMod val="20000"/>
                <a:lumOff val="80000"/>
              </a:schemeClr>
            </a:solidFill>
            <a:ln w="9525">
              <a:solidFill>
                <a:srgbClr val="000000"/>
              </a:solidFill>
              <a:round/>
              <a:headEnd/>
              <a:tailEnd/>
            </a:ln>
          </p:spPr>
          <p:txBody>
            <a:bodyPr wrap="none"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endParaRPr lang="en-US" altLang="en-US" sz="1800"/>
            </a:p>
          </p:txBody>
        </p:sp>
        <p:sp>
          <p:nvSpPr>
            <p:cNvPr id="11294" name="Text Box 35"/>
            <p:cNvSpPr txBox="1">
              <a:spLocks noChangeArrowheads="1"/>
            </p:cNvSpPr>
            <p:nvPr/>
          </p:nvSpPr>
          <p:spPr bwMode="auto">
            <a:xfrm>
              <a:off x="4399" y="1618"/>
              <a:ext cx="1257"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1800" b="1">
                  <a:solidFill>
                    <a:srgbClr val="000000"/>
                  </a:solidFill>
                </a:rPr>
                <a:t>if-else-[else]..</a:t>
              </a:r>
            </a:p>
            <a:p>
              <a:pPr eaLnBrk="1" hangingPunct="1">
                <a:lnSpc>
                  <a:spcPct val="80000"/>
                </a:lnSpc>
                <a:spcBef>
                  <a:spcPct val="0"/>
                </a:spcBef>
                <a:buFontTx/>
                <a:buNone/>
              </a:pPr>
              <a:r>
                <a:rPr lang="en-US" altLang="en-US" sz="1800" b="1">
                  <a:solidFill>
                    <a:srgbClr val="000000"/>
                  </a:solidFill>
                </a:rPr>
                <a:t>Or switch</a:t>
              </a:r>
            </a:p>
          </p:txBody>
        </p:sp>
        <p:sp>
          <p:nvSpPr>
            <p:cNvPr id="11295" name="Line 36"/>
            <p:cNvSpPr>
              <a:spLocks noChangeShapeType="1"/>
            </p:cNvSpPr>
            <p:nvPr/>
          </p:nvSpPr>
          <p:spPr bwMode="auto">
            <a:xfrm>
              <a:off x="2672" y="1317"/>
              <a:ext cx="1797" cy="47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5" name="Group 4"/>
          <p:cNvGrpSpPr>
            <a:grpSpLocks/>
          </p:cNvGrpSpPr>
          <p:nvPr/>
        </p:nvGrpSpPr>
        <p:grpSpPr bwMode="auto">
          <a:xfrm>
            <a:off x="7970837" y="1031851"/>
            <a:ext cx="2095500" cy="2114550"/>
            <a:chOff x="6448404" y="1319091"/>
            <a:chExt cx="2095500" cy="2114550"/>
          </a:xfrm>
        </p:grpSpPr>
        <p:pic>
          <p:nvPicPr>
            <p:cNvPr id="11291" name="Picture 77" descr="Break enclosing loop if y&gt;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404" y="1319091"/>
              <a:ext cx="2095500" cy="2114550"/>
            </a:xfrm>
            <a:prstGeom prst="rect">
              <a:avLst/>
            </a:prstGeom>
            <a:solidFill>
              <a:schemeClr val="bg1"/>
            </a:solidFill>
            <a:ln w="57150">
              <a:solidFill>
                <a:srgbClr val="FF0000"/>
              </a:solidFill>
              <a:miter lim="800000"/>
              <a:headEnd/>
              <a:tailEnd/>
            </a:ln>
          </p:spPr>
        </p:pic>
        <p:sp>
          <p:nvSpPr>
            <p:cNvPr id="4" name="Rectangle 3"/>
            <p:cNvSpPr/>
            <p:nvPr/>
          </p:nvSpPr>
          <p:spPr>
            <a:xfrm>
              <a:off x="6911954" y="1550866"/>
              <a:ext cx="263525" cy="15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latin typeface="Calibri" panose="020F0502020204030204" pitchFamily="34" charset="0"/>
              </a:endParaRPr>
            </a:p>
          </p:txBody>
        </p:sp>
      </p:grpSp>
      <p:cxnSp>
        <p:nvCxnSpPr>
          <p:cNvPr id="12" name="Straight Arrow Connector 11"/>
          <p:cNvCxnSpPr/>
          <p:nvPr/>
        </p:nvCxnSpPr>
        <p:spPr>
          <a:xfrm flipV="1">
            <a:off x="1798704" y="2457151"/>
            <a:ext cx="432048" cy="3603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p:cNvSpPr txBox="1"/>
          <p:nvPr/>
        </p:nvSpPr>
        <p:spPr>
          <a:xfrm>
            <a:off x="438021" y="2743039"/>
            <a:ext cx="1702991" cy="369332"/>
          </a:xfrm>
          <a:prstGeom prst="rect">
            <a:avLst/>
          </a:prstGeom>
          <a:noFill/>
        </p:spPr>
        <p:txBody>
          <a:bodyPr wrap="square" rtlCol="0">
            <a:spAutoFit/>
          </a:bodyPr>
          <a:lstStyle/>
          <a:p>
            <a:r>
              <a:rPr lang="en-US" b="1" dirty="0">
                <a:latin typeface="Calibri" panose="020F0502020204030204" pitchFamily="34" charset="0"/>
              </a:rPr>
              <a:t>Found Message</a:t>
            </a:r>
            <a:endParaRPr lang="en-GB" b="1" dirty="0">
              <a:latin typeface="Calibri" panose="020F0502020204030204" pitchFamily="34" charset="0"/>
            </a:endParaRPr>
          </a:p>
        </p:txBody>
      </p:sp>
    </p:spTree>
    <p:extLst>
      <p:ext uri="{BB962C8B-B14F-4D97-AF65-F5344CB8AC3E}">
        <p14:creationId xmlns:p14="http://schemas.microsoft.com/office/powerpoint/2010/main" val="1617617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9"/>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9"/>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anim calcmode="lin" valueType="num">
                                      <p:cBhvr additive="base">
                                        <p:cTn id="27" dur="500" fill="hold"/>
                                        <p:tgtEl>
                                          <p:spTgt spid="78"/>
                                        </p:tgtEl>
                                        <p:attrNameLst>
                                          <p:attrName>ppt_x</p:attrName>
                                        </p:attrNameLst>
                                      </p:cBhvr>
                                      <p:tavLst>
                                        <p:tav tm="0">
                                          <p:val>
                                            <p:strVal val="#ppt_x"/>
                                          </p:val>
                                        </p:tav>
                                        <p:tav tm="100000">
                                          <p:val>
                                            <p:strVal val="#ppt_x"/>
                                          </p:val>
                                        </p:tav>
                                      </p:tavLst>
                                    </p:anim>
                                    <p:anim calcmode="lin" valueType="num">
                                      <p:cBhvr additive="base">
                                        <p:cTn id="2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1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1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17"/>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1054099" y="6352"/>
            <a:ext cx="11134725" cy="536573"/>
          </a:xfrm>
          <a:noFill/>
        </p:spPr>
        <p:txBody>
          <a:bodyPr/>
          <a:lstStyle/>
          <a:p>
            <a:pPr eaLnBrk="1" hangingPunct="1"/>
            <a:r>
              <a:rPr lang="en-US" altLang="en-US" b="1" dirty="0"/>
              <a:t>Enacting </a:t>
            </a:r>
            <a:r>
              <a:rPr lang="en-US" altLang="en-US" b="1" dirty="0">
                <a:solidFill>
                  <a:schemeClr val="accent3"/>
                </a:solidFill>
              </a:rPr>
              <a:t>Use Case </a:t>
            </a:r>
            <a:r>
              <a:rPr lang="en-US" altLang="en-US" b="1" dirty="0"/>
              <a:t>Description Flow</a:t>
            </a:r>
          </a:p>
        </p:txBody>
      </p:sp>
      <p:grpSp>
        <p:nvGrpSpPr>
          <p:cNvPr id="12291" name="Group 98"/>
          <p:cNvGrpSpPr>
            <a:grpSpLocks/>
          </p:cNvGrpSpPr>
          <p:nvPr/>
        </p:nvGrpSpPr>
        <p:grpSpPr bwMode="auto">
          <a:xfrm>
            <a:off x="1798638" y="764704"/>
            <a:ext cx="949325" cy="5384800"/>
            <a:chOff x="174" y="586"/>
            <a:chExt cx="598" cy="3392"/>
          </a:xfrm>
        </p:grpSpPr>
        <p:sp>
          <p:nvSpPr>
            <p:cNvPr id="12368" name="Line 6"/>
            <p:cNvSpPr>
              <a:spLocks noChangeShapeType="1"/>
            </p:cNvSpPr>
            <p:nvPr/>
          </p:nvSpPr>
          <p:spPr bwMode="auto">
            <a:xfrm>
              <a:off x="484" y="1285"/>
              <a:ext cx="0" cy="269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69" name="Text Box 7"/>
            <p:cNvSpPr txBox="1">
              <a:spLocks noChangeArrowheads="1"/>
            </p:cNvSpPr>
            <p:nvPr/>
          </p:nvSpPr>
          <p:spPr bwMode="auto">
            <a:xfrm>
              <a:off x="174" y="1088"/>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:User</a:t>
              </a:r>
            </a:p>
          </p:txBody>
        </p:sp>
        <p:grpSp>
          <p:nvGrpSpPr>
            <p:cNvPr id="12370" name="Group 8"/>
            <p:cNvGrpSpPr>
              <a:grpSpLocks/>
            </p:cNvGrpSpPr>
            <p:nvPr/>
          </p:nvGrpSpPr>
          <p:grpSpPr bwMode="auto">
            <a:xfrm>
              <a:off x="373" y="586"/>
              <a:ext cx="210" cy="457"/>
              <a:chOff x="1236" y="1703"/>
              <a:chExt cx="210" cy="457"/>
            </a:xfrm>
          </p:grpSpPr>
          <p:sp>
            <p:nvSpPr>
              <p:cNvPr id="12371" name="Oval 9"/>
              <p:cNvSpPr>
                <a:spLocks noChangeArrowheads="1"/>
              </p:cNvSpPr>
              <p:nvPr/>
            </p:nvSpPr>
            <p:spPr bwMode="auto">
              <a:xfrm>
                <a:off x="1271" y="1703"/>
                <a:ext cx="135" cy="13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72" name="Line 10"/>
              <p:cNvSpPr>
                <a:spLocks noChangeShapeType="1"/>
              </p:cNvSpPr>
              <p:nvPr/>
            </p:nvSpPr>
            <p:spPr bwMode="auto">
              <a:xfrm>
                <a:off x="1270" y="1914"/>
                <a:ext cx="1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73" name="Line 11"/>
              <p:cNvSpPr>
                <a:spLocks noChangeShapeType="1"/>
              </p:cNvSpPr>
              <p:nvPr/>
            </p:nvSpPr>
            <p:spPr bwMode="auto">
              <a:xfrm>
                <a:off x="1341" y="1838"/>
                <a:ext cx="0" cy="2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2374" name="Group 12"/>
              <p:cNvGrpSpPr>
                <a:grpSpLocks/>
              </p:cNvGrpSpPr>
              <p:nvPr/>
            </p:nvGrpSpPr>
            <p:grpSpPr bwMode="auto">
              <a:xfrm>
                <a:off x="1236" y="2049"/>
                <a:ext cx="210" cy="111"/>
                <a:chOff x="1236" y="2160"/>
                <a:chExt cx="210" cy="111"/>
              </a:xfrm>
            </p:grpSpPr>
            <p:sp>
              <p:nvSpPr>
                <p:cNvPr id="12375" name="Line 13"/>
                <p:cNvSpPr>
                  <a:spLocks noChangeShapeType="1"/>
                </p:cNvSpPr>
                <p:nvPr/>
              </p:nvSpPr>
              <p:spPr bwMode="auto">
                <a:xfrm flipH="1">
                  <a:off x="1236" y="2160"/>
                  <a:ext cx="105" cy="1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76" name="Line 14"/>
                <p:cNvSpPr>
                  <a:spLocks noChangeShapeType="1"/>
                </p:cNvSpPr>
                <p:nvPr/>
              </p:nvSpPr>
              <p:spPr bwMode="auto">
                <a:xfrm>
                  <a:off x="1341" y="2160"/>
                  <a:ext cx="105" cy="1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grpSp>
      <p:grpSp>
        <p:nvGrpSpPr>
          <p:cNvPr id="12292" name="Group 99"/>
          <p:cNvGrpSpPr>
            <a:grpSpLocks/>
          </p:cNvGrpSpPr>
          <p:nvPr/>
        </p:nvGrpSpPr>
        <p:grpSpPr bwMode="auto">
          <a:xfrm>
            <a:off x="2638425" y="952030"/>
            <a:ext cx="1960562" cy="5248275"/>
            <a:chOff x="703" y="704"/>
            <a:chExt cx="1235" cy="3306"/>
          </a:xfrm>
        </p:grpSpPr>
        <p:grpSp>
          <p:nvGrpSpPr>
            <p:cNvPr id="12362" name="Group 16"/>
            <p:cNvGrpSpPr>
              <a:grpSpLocks/>
            </p:cNvGrpSpPr>
            <p:nvPr/>
          </p:nvGrpSpPr>
          <p:grpSpPr bwMode="auto">
            <a:xfrm>
              <a:off x="1067" y="704"/>
              <a:ext cx="435" cy="288"/>
              <a:chOff x="3213" y="2544"/>
              <a:chExt cx="435" cy="288"/>
            </a:xfrm>
          </p:grpSpPr>
          <p:sp>
            <p:nvSpPr>
              <p:cNvPr id="12365" name="Oval 17"/>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66" name="Line 18"/>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67" name="Line 19"/>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63" name="Text Box 20"/>
            <p:cNvSpPr txBox="1">
              <a:spLocks noChangeArrowheads="1"/>
            </p:cNvSpPr>
            <p:nvPr/>
          </p:nvSpPr>
          <p:spPr bwMode="auto">
            <a:xfrm>
              <a:off x="703" y="957"/>
              <a:ext cx="12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dirty="0"/>
                <a:t>:</a:t>
              </a:r>
              <a:r>
                <a:rPr lang="en-US" altLang="en-US" sz="1800" b="1" dirty="0" err="1"/>
                <a:t>FingerprintReaderInterface</a:t>
              </a:r>
              <a:endParaRPr lang="en-US" altLang="en-US" sz="1800" b="1" dirty="0"/>
            </a:p>
          </p:txBody>
        </p:sp>
        <p:sp>
          <p:nvSpPr>
            <p:cNvPr id="12364" name="Line 21"/>
            <p:cNvSpPr>
              <a:spLocks noChangeShapeType="1"/>
            </p:cNvSpPr>
            <p:nvPr/>
          </p:nvSpPr>
          <p:spPr bwMode="auto">
            <a:xfrm flipH="1">
              <a:off x="1325" y="1332"/>
              <a:ext cx="1" cy="267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2293" name="Group 100"/>
          <p:cNvGrpSpPr>
            <a:grpSpLocks/>
          </p:cNvGrpSpPr>
          <p:nvPr/>
        </p:nvGrpSpPr>
        <p:grpSpPr bwMode="auto">
          <a:xfrm>
            <a:off x="4349750" y="891704"/>
            <a:ext cx="1739900" cy="5348288"/>
            <a:chOff x="1781" y="666"/>
            <a:chExt cx="1096" cy="3369"/>
          </a:xfrm>
        </p:grpSpPr>
        <p:grpSp>
          <p:nvGrpSpPr>
            <p:cNvPr id="12356" name="Group 23"/>
            <p:cNvGrpSpPr>
              <a:grpSpLocks/>
            </p:cNvGrpSpPr>
            <p:nvPr/>
          </p:nvGrpSpPr>
          <p:grpSpPr bwMode="auto">
            <a:xfrm>
              <a:off x="2194" y="666"/>
              <a:ext cx="288" cy="342"/>
              <a:chOff x="2736" y="2826"/>
              <a:chExt cx="288" cy="342"/>
            </a:xfrm>
          </p:grpSpPr>
          <p:sp>
            <p:nvSpPr>
              <p:cNvPr id="12359" name="Oval 24"/>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60" name="Line 25"/>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61" name="Line 26"/>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57" name="Text Box 27"/>
            <p:cNvSpPr txBox="1">
              <a:spLocks noChangeArrowheads="1"/>
            </p:cNvSpPr>
            <p:nvPr/>
          </p:nvSpPr>
          <p:spPr bwMode="auto">
            <a:xfrm>
              <a:off x="1781" y="1108"/>
              <a:ext cx="10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:FASMgr</a:t>
              </a:r>
            </a:p>
          </p:txBody>
        </p:sp>
        <p:sp>
          <p:nvSpPr>
            <p:cNvPr id="12358" name="Line 28"/>
            <p:cNvSpPr>
              <a:spLocks noChangeShapeType="1"/>
            </p:cNvSpPr>
            <p:nvPr/>
          </p:nvSpPr>
          <p:spPr bwMode="auto">
            <a:xfrm flipH="1">
              <a:off x="2316" y="1357"/>
              <a:ext cx="1" cy="267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2294" name="Group 103"/>
          <p:cNvGrpSpPr>
            <a:grpSpLocks/>
          </p:cNvGrpSpPr>
          <p:nvPr/>
        </p:nvGrpSpPr>
        <p:grpSpPr bwMode="auto">
          <a:xfrm>
            <a:off x="9118601" y="894880"/>
            <a:ext cx="1230312" cy="5408613"/>
            <a:chOff x="4785" y="668"/>
            <a:chExt cx="775" cy="3407"/>
          </a:xfrm>
        </p:grpSpPr>
        <p:grpSp>
          <p:nvGrpSpPr>
            <p:cNvPr id="12350" name="Group 30"/>
            <p:cNvGrpSpPr>
              <a:grpSpLocks/>
            </p:cNvGrpSpPr>
            <p:nvPr/>
          </p:nvGrpSpPr>
          <p:grpSpPr bwMode="auto">
            <a:xfrm>
              <a:off x="4926" y="668"/>
              <a:ext cx="435" cy="288"/>
              <a:chOff x="3213" y="2544"/>
              <a:chExt cx="435" cy="288"/>
            </a:xfrm>
          </p:grpSpPr>
          <p:sp>
            <p:nvSpPr>
              <p:cNvPr id="12353" name="Oval 31"/>
              <p:cNvSpPr>
                <a:spLocks noChangeArrowheads="1"/>
              </p:cNvSpPr>
              <p:nvPr/>
            </p:nvSpPr>
            <p:spPr bwMode="auto">
              <a:xfrm>
                <a:off x="3360" y="2544"/>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54" name="Line 32"/>
              <p:cNvSpPr>
                <a:spLocks noChangeShapeType="1"/>
              </p:cNvSpPr>
              <p:nvPr/>
            </p:nvSpPr>
            <p:spPr bwMode="auto">
              <a:xfrm>
                <a:off x="3213" y="2589"/>
                <a:ext cx="0" cy="2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55" name="Line 33"/>
              <p:cNvSpPr>
                <a:spLocks noChangeShapeType="1"/>
              </p:cNvSpPr>
              <p:nvPr/>
            </p:nvSpPr>
            <p:spPr bwMode="auto">
              <a:xfrm rot="-5400000">
                <a:off x="3291" y="2616"/>
                <a:ext cx="0" cy="1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51" name="Text Box 34"/>
            <p:cNvSpPr txBox="1">
              <a:spLocks noChangeArrowheads="1"/>
            </p:cNvSpPr>
            <p:nvPr/>
          </p:nvSpPr>
          <p:spPr bwMode="auto">
            <a:xfrm>
              <a:off x="4785" y="967"/>
              <a:ext cx="77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dirty="0"/>
                <a:t>:</a:t>
              </a:r>
              <a:r>
                <a:rPr lang="en-US" altLang="en-US" sz="1800" b="1" dirty="0" err="1"/>
                <a:t>EntryGateInterface</a:t>
              </a:r>
              <a:endParaRPr lang="en-US" altLang="en-US" sz="1800" b="1" dirty="0"/>
            </a:p>
          </p:txBody>
        </p:sp>
        <p:sp>
          <p:nvSpPr>
            <p:cNvPr id="12352" name="Line 35"/>
            <p:cNvSpPr>
              <a:spLocks noChangeShapeType="1"/>
            </p:cNvSpPr>
            <p:nvPr/>
          </p:nvSpPr>
          <p:spPr bwMode="auto">
            <a:xfrm>
              <a:off x="5144" y="1358"/>
              <a:ext cx="11" cy="271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2295" name="Group 101"/>
          <p:cNvGrpSpPr>
            <a:grpSpLocks/>
          </p:cNvGrpSpPr>
          <p:nvPr/>
        </p:nvGrpSpPr>
        <p:grpSpPr bwMode="auto">
          <a:xfrm>
            <a:off x="5999161" y="840904"/>
            <a:ext cx="1387475" cy="5411788"/>
            <a:chOff x="2820" y="634"/>
            <a:chExt cx="874" cy="3409"/>
          </a:xfrm>
        </p:grpSpPr>
        <p:grpSp>
          <p:nvGrpSpPr>
            <p:cNvPr id="12344" name="Group 38"/>
            <p:cNvGrpSpPr>
              <a:grpSpLocks/>
            </p:cNvGrpSpPr>
            <p:nvPr/>
          </p:nvGrpSpPr>
          <p:grpSpPr bwMode="auto">
            <a:xfrm>
              <a:off x="3143" y="634"/>
              <a:ext cx="288" cy="342"/>
              <a:chOff x="2736" y="2826"/>
              <a:chExt cx="288" cy="342"/>
            </a:xfrm>
          </p:grpSpPr>
          <p:sp>
            <p:nvSpPr>
              <p:cNvPr id="12347" name="Oval 39"/>
              <p:cNvSpPr>
                <a:spLocks noChangeArrowheads="1"/>
              </p:cNvSpPr>
              <p:nvPr/>
            </p:nvSpPr>
            <p:spPr bwMode="auto">
              <a:xfrm>
                <a:off x="2736"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48" name="Line 40"/>
              <p:cNvSpPr>
                <a:spLocks noChangeShapeType="1"/>
              </p:cNvSpPr>
              <p:nvPr/>
            </p:nvSpPr>
            <p:spPr bwMode="auto">
              <a:xfrm flipV="1">
                <a:off x="2853" y="2826"/>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49" name="Line 41"/>
              <p:cNvSpPr>
                <a:spLocks noChangeShapeType="1"/>
              </p:cNvSpPr>
              <p:nvPr/>
            </p:nvSpPr>
            <p:spPr bwMode="auto">
              <a:xfrm>
                <a:off x="2853" y="2883"/>
                <a:ext cx="57"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45" name="Text Box 42"/>
            <p:cNvSpPr txBox="1">
              <a:spLocks noChangeArrowheads="1"/>
            </p:cNvSpPr>
            <p:nvPr/>
          </p:nvSpPr>
          <p:spPr bwMode="auto">
            <a:xfrm>
              <a:off x="2820" y="946"/>
              <a:ext cx="87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dirty="0"/>
                <a:t>:</a:t>
              </a:r>
              <a:r>
                <a:rPr lang="en-US" altLang="en-US" sz="1800" b="1" dirty="0" err="1"/>
                <a:t>FingerprintMgr</a:t>
              </a:r>
              <a:endParaRPr lang="en-US" altLang="en-US" sz="1800" b="1" dirty="0"/>
            </a:p>
          </p:txBody>
        </p:sp>
        <p:sp>
          <p:nvSpPr>
            <p:cNvPr id="12346" name="Line 43"/>
            <p:cNvSpPr>
              <a:spLocks noChangeShapeType="1"/>
            </p:cNvSpPr>
            <p:nvPr/>
          </p:nvSpPr>
          <p:spPr bwMode="auto">
            <a:xfrm flipH="1">
              <a:off x="3305" y="1365"/>
              <a:ext cx="1" cy="267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2296" name="Group 102"/>
          <p:cNvGrpSpPr>
            <a:grpSpLocks/>
          </p:cNvGrpSpPr>
          <p:nvPr/>
        </p:nvGrpSpPr>
        <p:grpSpPr bwMode="auto">
          <a:xfrm>
            <a:off x="7845426" y="913929"/>
            <a:ext cx="941387" cy="5321300"/>
            <a:chOff x="3983" y="680"/>
            <a:chExt cx="593" cy="3352"/>
          </a:xfrm>
        </p:grpSpPr>
        <p:grpSp>
          <p:nvGrpSpPr>
            <p:cNvPr id="12338" name="Group 51"/>
            <p:cNvGrpSpPr>
              <a:grpSpLocks/>
            </p:cNvGrpSpPr>
            <p:nvPr/>
          </p:nvGrpSpPr>
          <p:grpSpPr bwMode="auto">
            <a:xfrm>
              <a:off x="3983" y="680"/>
              <a:ext cx="593" cy="673"/>
              <a:chOff x="4063" y="610"/>
              <a:chExt cx="593" cy="673"/>
            </a:xfrm>
          </p:grpSpPr>
          <p:grpSp>
            <p:nvGrpSpPr>
              <p:cNvPr id="12340" name="Group 45"/>
              <p:cNvGrpSpPr>
                <a:grpSpLocks/>
              </p:cNvGrpSpPr>
              <p:nvPr/>
            </p:nvGrpSpPr>
            <p:grpSpPr bwMode="auto">
              <a:xfrm>
                <a:off x="4116" y="610"/>
                <a:ext cx="432" cy="297"/>
                <a:chOff x="2037" y="2880"/>
                <a:chExt cx="432" cy="297"/>
              </a:xfrm>
            </p:grpSpPr>
            <p:sp>
              <p:nvSpPr>
                <p:cNvPr id="12342" name="Oval 4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43" name="Line 4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41" name="Text Box 50"/>
              <p:cNvSpPr txBox="1">
                <a:spLocks noChangeArrowheads="1"/>
              </p:cNvSpPr>
              <p:nvPr/>
            </p:nvSpPr>
            <p:spPr bwMode="auto">
              <a:xfrm>
                <a:off x="4063" y="879"/>
                <a:ext cx="59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dirty="0"/>
                  <a:t>:Fingerprint</a:t>
                </a:r>
              </a:p>
            </p:txBody>
          </p:sp>
        </p:grpSp>
        <p:sp>
          <p:nvSpPr>
            <p:cNvPr id="12339" name="Line 52"/>
            <p:cNvSpPr>
              <a:spLocks noChangeShapeType="1"/>
            </p:cNvSpPr>
            <p:nvPr/>
          </p:nvSpPr>
          <p:spPr bwMode="auto">
            <a:xfrm>
              <a:off x="4290" y="1374"/>
              <a:ext cx="1" cy="265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16" name="Group 105"/>
          <p:cNvGrpSpPr>
            <a:grpSpLocks/>
          </p:cNvGrpSpPr>
          <p:nvPr/>
        </p:nvGrpSpPr>
        <p:grpSpPr bwMode="auto">
          <a:xfrm>
            <a:off x="2281238" y="1917230"/>
            <a:ext cx="1433513" cy="3946525"/>
            <a:chOff x="478" y="1312"/>
            <a:chExt cx="903" cy="2486"/>
          </a:xfrm>
        </p:grpSpPr>
        <p:grpSp>
          <p:nvGrpSpPr>
            <p:cNvPr id="12334" name="Group 104"/>
            <p:cNvGrpSpPr>
              <a:grpSpLocks/>
            </p:cNvGrpSpPr>
            <p:nvPr/>
          </p:nvGrpSpPr>
          <p:grpSpPr bwMode="auto">
            <a:xfrm>
              <a:off x="478" y="1312"/>
              <a:ext cx="814" cy="250"/>
              <a:chOff x="478" y="1312"/>
              <a:chExt cx="814" cy="250"/>
            </a:xfrm>
          </p:grpSpPr>
          <p:sp>
            <p:nvSpPr>
              <p:cNvPr id="12336" name="Line 54"/>
              <p:cNvSpPr>
                <a:spLocks noChangeShapeType="1"/>
              </p:cNvSpPr>
              <p:nvPr/>
            </p:nvSpPr>
            <p:spPr bwMode="auto">
              <a:xfrm>
                <a:off x="478" y="1528"/>
                <a:ext cx="814"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37" name="Text Box 55"/>
              <p:cNvSpPr txBox="1">
                <a:spLocks noChangeArrowheads="1"/>
              </p:cNvSpPr>
              <p:nvPr/>
            </p:nvSpPr>
            <p:spPr bwMode="auto">
              <a:xfrm>
                <a:off x="670" y="1312"/>
                <a:ext cx="5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press</a:t>
                </a:r>
              </a:p>
            </p:txBody>
          </p:sp>
        </p:grpSp>
        <p:sp>
          <p:nvSpPr>
            <p:cNvPr id="12335" name="Rectangle 56"/>
            <p:cNvSpPr>
              <a:spLocks noChangeArrowheads="1"/>
            </p:cNvSpPr>
            <p:nvPr/>
          </p:nvSpPr>
          <p:spPr bwMode="auto">
            <a:xfrm>
              <a:off x="1287" y="1485"/>
              <a:ext cx="94" cy="2313"/>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8" name="Group 106"/>
          <p:cNvGrpSpPr>
            <a:grpSpLocks/>
          </p:cNvGrpSpPr>
          <p:nvPr/>
        </p:nvGrpSpPr>
        <p:grpSpPr bwMode="auto">
          <a:xfrm>
            <a:off x="3656012" y="2129954"/>
            <a:ext cx="2871788" cy="3741738"/>
            <a:chOff x="1344" y="1446"/>
            <a:chExt cx="1809" cy="2357"/>
          </a:xfrm>
        </p:grpSpPr>
        <p:sp>
          <p:nvSpPr>
            <p:cNvPr id="12331" name="Text Box 58"/>
            <p:cNvSpPr txBox="1">
              <a:spLocks noChangeArrowheads="1"/>
            </p:cNvSpPr>
            <p:nvPr/>
          </p:nvSpPr>
          <p:spPr bwMode="auto">
            <a:xfrm>
              <a:off x="1344" y="1446"/>
              <a:ext cx="1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dirty="0" err="1"/>
                <a:t>rcvInput</a:t>
              </a:r>
              <a:r>
                <a:rPr lang="en-US" altLang="en-US" sz="2000" dirty="0"/>
                <a:t>(</a:t>
              </a:r>
              <a:r>
                <a:rPr lang="en-US" altLang="en-US" sz="2000" dirty="0" err="1"/>
                <a:t>img</a:t>
              </a:r>
              <a:r>
                <a:rPr lang="en-US" altLang="en-US" sz="2000" dirty="0"/>
                <a:t>)</a:t>
              </a:r>
            </a:p>
          </p:txBody>
        </p:sp>
        <p:sp>
          <p:nvSpPr>
            <p:cNvPr id="12332" name="Line 59"/>
            <p:cNvSpPr>
              <a:spLocks noChangeShapeType="1"/>
            </p:cNvSpPr>
            <p:nvPr/>
          </p:nvSpPr>
          <p:spPr bwMode="auto">
            <a:xfrm flipV="1">
              <a:off x="1385" y="1713"/>
              <a:ext cx="894"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33" name="Rectangle 60"/>
            <p:cNvSpPr>
              <a:spLocks noChangeArrowheads="1"/>
            </p:cNvSpPr>
            <p:nvPr/>
          </p:nvSpPr>
          <p:spPr bwMode="auto">
            <a:xfrm>
              <a:off x="2287" y="1656"/>
              <a:ext cx="107" cy="2147"/>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9" name="Group 107"/>
          <p:cNvGrpSpPr>
            <a:grpSpLocks/>
          </p:cNvGrpSpPr>
          <p:nvPr/>
        </p:nvGrpSpPr>
        <p:grpSpPr bwMode="auto">
          <a:xfrm>
            <a:off x="5316537" y="2266479"/>
            <a:ext cx="2871788" cy="1989138"/>
            <a:chOff x="2380" y="1532"/>
            <a:chExt cx="1809" cy="1253"/>
          </a:xfrm>
        </p:grpSpPr>
        <p:sp>
          <p:nvSpPr>
            <p:cNvPr id="12328" name="Text Box 61"/>
            <p:cNvSpPr txBox="1">
              <a:spLocks noChangeArrowheads="1"/>
            </p:cNvSpPr>
            <p:nvPr/>
          </p:nvSpPr>
          <p:spPr bwMode="auto">
            <a:xfrm>
              <a:off x="2380" y="1532"/>
              <a:ext cx="1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result=validate(img)</a:t>
              </a:r>
            </a:p>
          </p:txBody>
        </p:sp>
        <p:sp>
          <p:nvSpPr>
            <p:cNvPr id="12329" name="Line 62"/>
            <p:cNvSpPr>
              <a:spLocks noChangeShapeType="1"/>
            </p:cNvSpPr>
            <p:nvPr/>
          </p:nvSpPr>
          <p:spPr bwMode="auto">
            <a:xfrm flipV="1">
              <a:off x="2380" y="1819"/>
              <a:ext cx="88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30" name="Rectangle 63"/>
            <p:cNvSpPr>
              <a:spLocks noChangeArrowheads="1"/>
            </p:cNvSpPr>
            <p:nvPr/>
          </p:nvSpPr>
          <p:spPr bwMode="auto">
            <a:xfrm>
              <a:off x="3273" y="1771"/>
              <a:ext cx="67" cy="1014"/>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134219" name="Line 75"/>
          <p:cNvSpPr>
            <a:spLocks noChangeShapeType="1"/>
          </p:cNvSpPr>
          <p:nvPr/>
        </p:nvSpPr>
        <p:spPr bwMode="auto">
          <a:xfrm flipH="1">
            <a:off x="5303837" y="4174654"/>
            <a:ext cx="1411288" cy="0"/>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20" name="Group 113"/>
          <p:cNvGrpSpPr>
            <a:grpSpLocks/>
          </p:cNvGrpSpPr>
          <p:nvPr/>
        </p:nvGrpSpPr>
        <p:grpSpPr bwMode="auto">
          <a:xfrm>
            <a:off x="4364038" y="4474692"/>
            <a:ext cx="5853113" cy="1009650"/>
            <a:chOff x="1790" y="2923"/>
            <a:chExt cx="3687" cy="636"/>
          </a:xfrm>
        </p:grpSpPr>
        <p:grpSp>
          <p:nvGrpSpPr>
            <p:cNvPr id="12314" name="Group 110"/>
            <p:cNvGrpSpPr>
              <a:grpSpLocks/>
            </p:cNvGrpSpPr>
            <p:nvPr/>
          </p:nvGrpSpPr>
          <p:grpSpPr bwMode="auto">
            <a:xfrm>
              <a:off x="1790" y="2923"/>
              <a:ext cx="3687" cy="636"/>
              <a:chOff x="1790" y="2923"/>
              <a:chExt cx="3687" cy="636"/>
            </a:xfrm>
          </p:grpSpPr>
          <p:grpSp>
            <p:nvGrpSpPr>
              <p:cNvPr id="12320" name="Group 109"/>
              <p:cNvGrpSpPr>
                <a:grpSpLocks/>
              </p:cNvGrpSpPr>
              <p:nvPr/>
            </p:nvGrpSpPr>
            <p:grpSpPr bwMode="auto">
              <a:xfrm>
                <a:off x="1790" y="2923"/>
                <a:ext cx="3687" cy="636"/>
                <a:chOff x="1790" y="2923"/>
                <a:chExt cx="3687" cy="636"/>
              </a:xfrm>
            </p:grpSpPr>
            <p:sp>
              <p:nvSpPr>
                <p:cNvPr id="12322" name="Rectangle 79"/>
                <p:cNvSpPr>
                  <a:spLocks noChangeArrowheads="1"/>
                </p:cNvSpPr>
                <p:nvPr/>
              </p:nvSpPr>
              <p:spPr bwMode="auto">
                <a:xfrm>
                  <a:off x="1818" y="2925"/>
                  <a:ext cx="3659" cy="63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2323" name="Group 80"/>
                <p:cNvGrpSpPr>
                  <a:grpSpLocks/>
                </p:cNvGrpSpPr>
                <p:nvPr/>
              </p:nvGrpSpPr>
              <p:grpSpPr bwMode="auto">
                <a:xfrm>
                  <a:off x="1790" y="2923"/>
                  <a:ext cx="506" cy="288"/>
                  <a:chOff x="2540" y="1939"/>
                  <a:chExt cx="506" cy="288"/>
                </a:xfrm>
              </p:grpSpPr>
              <p:sp>
                <p:nvSpPr>
                  <p:cNvPr id="12324" name="Text Box 81"/>
                  <p:cNvSpPr txBox="1">
                    <a:spLocks noChangeArrowheads="1"/>
                  </p:cNvSpPr>
                  <p:nvPr/>
                </p:nvSpPr>
                <p:spPr bwMode="auto">
                  <a:xfrm>
                    <a:off x="2540" y="1939"/>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opt</a:t>
                    </a:r>
                  </a:p>
                </p:txBody>
              </p:sp>
              <p:sp>
                <p:nvSpPr>
                  <p:cNvPr id="12325" name="Line 82"/>
                  <p:cNvSpPr>
                    <a:spLocks noChangeShapeType="1"/>
                  </p:cNvSpPr>
                  <p:nvPr/>
                </p:nvSpPr>
                <p:spPr bwMode="auto">
                  <a:xfrm>
                    <a:off x="2561" y="2224"/>
                    <a:ext cx="3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26" name="Line 83"/>
                  <p:cNvSpPr>
                    <a:spLocks noChangeShapeType="1"/>
                  </p:cNvSpPr>
                  <p:nvPr/>
                </p:nvSpPr>
                <p:spPr bwMode="auto">
                  <a:xfrm flipH="1">
                    <a:off x="2992" y="1939"/>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27" name="Line 84"/>
                  <p:cNvSpPr>
                    <a:spLocks noChangeShapeType="1"/>
                  </p:cNvSpPr>
                  <p:nvPr/>
                </p:nvSpPr>
                <p:spPr bwMode="auto">
                  <a:xfrm flipV="1">
                    <a:off x="2929" y="2152"/>
                    <a:ext cx="63"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sp>
            <p:nvSpPr>
              <p:cNvPr id="12321" name="Text Box 85"/>
              <p:cNvSpPr txBox="1">
                <a:spLocks noChangeArrowheads="1"/>
              </p:cNvSpPr>
              <p:nvPr/>
            </p:nvSpPr>
            <p:spPr bwMode="auto">
              <a:xfrm>
                <a:off x="2339" y="2929"/>
                <a:ext cx="18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[result==true]</a:t>
                </a:r>
              </a:p>
            </p:txBody>
          </p:sp>
        </p:grpSp>
        <p:grpSp>
          <p:nvGrpSpPr>
            <p:cNvPr id="12315" name="Group 112"/>
            <p:cNvGrpSpPr>
              <a:grpSpLocks/>
            </p:cNvGrpSpPr>
            <p:nvPr/>
          </p:nvGrpSpPr>
          <p:grpSpPr bwMode="auto">
            <a:xfrm>
              <a:off x="2399" y="3031"/>
              <a:ext cx="2804" cy="432"/>
              <a:chOff x="2399" y="3031"/>
              <a:chExt cx="2804" cy="432"/>
            </a:xfrm>
          </p:grpSpPr>
          <p:grpSp>
            <p:nvGrpSpPr>
              <p:cNvPr id="12316" name="Group 111"/>
              <p:cNvGrpSpPr>
                <a:grpSpLocks/>
              </p:cNvGrpSpPr>
              <p:nvPr/>
            </p:nvGrpSpPr>
            <p:grpSpPr bwMode="auto">
              <a:xfrm>
                <a:off x="2399" y="3031"/>
                <a:ext cx="2700" cy="250"/>
                <a:chOff x="2399" y="3031"/>
                <a:chExt cx="2700" cy="250"/>
              </a:xfrm>
            </p:grpSpPr>
            <p:sp>
              <p:nvSpPr>
                <p:cNvPr id="12318" name="Text Box 86"/>
                <p:cNvSpPr txBox="1">
                  <a:spLocks noChangeArrowheads="1"/>
                </p:cNvSpPr>
                <p:nvPr/>
              </p:nvSpPr>
              <p:spPr bwMode="auto">
                <a:xfrm>
                  <a:off x="4400" y="3031"/>
                  <a:ext cx="6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unlock()</a:t>
                  </a:r>
                </a:p>
              </p:txBody>
            </p:sp>
            <p:sp>
              <p:nvSpPr>
                <p:cNvPr id="12319" name="Line 87"/>
                <p:cNvSpPr>
                  <a:spLocks noChangeShapeType="1"/>
                </p:cNvSpPr>
                <p:nvPr/>
              </p:nvSpPr>
              <p:spPr bwMode="auto">
                <a:xfrm flipV="1">
                  <a:off x="2399" y="3270"/>
                  <a:ext cx="270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17" name="Rectangle 88"/>
              <p:cNvSpPr>
                <a:spLocks noChangeArrowheads="1"/>
              </p:cNvSpPr>
              <p:nvPr/>
            </p:nvSpPr>
            <p:spPr bwMode="auto">
              <a:xfrm>
                <a:off x="5117" y="3190"/>
                <a:ext cx="86" cy="273"/>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sp>
        <p:nvSpPr>
          <p:cNvPr id="134241" name="Line 97"/>
          <p:cNvSpPr>
            <a:spLocks noChangeShapeType="1"/>
          </p:cNvSpPr>
          <p:nvPr/>
        </p:nvSpPr>
        <p:spPr bwMode="auto">
          <a:xfrm flipH="1">
            <a:off x="3721101" y="5690717"/>
            <a:ext cx="1411287" cy="0"/>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26" name="Group 87"/>
          <p:cNvGrpSpPr>
            <a:grpSpLocks/>
          </p:cNvGrpSpPr>
          <p:nvPr/>
        </p:nvGrpSpPr>
        <p:grpSpPr bwMode="auto">
          <a:xfrm>
            <a:off x="5570538" y="2863380"/>
            <a:ext cx="4068763" cy="1196975"/>
            <a:chOff x="4048125" y="3028950"/>
            <a:chExt cx="4068763" cy="1196975"/>
          </a:xfrm>
        </p:grpSpPr>
        <p:sp>
          <p:nvSpPr>
            <p:cNvPr id="12304" name="Text Box 66"/>
            <p:cNvSpPr txBox="1">
              <a:spLocks noChangeArrowheads="1"/>
            </p:cNvSpPr>
            <p:nvPr/>
          </p:nvSpPr>
          <p:spPr bwMode="auto">
            <a:xfrm>
              <a:off x="5245100" y="3359150"/>
              <a:ext cx="287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err="1"/>
                <a:t>findMatch</a:t>
              </a:r>
              <a:r>
                <a:rPr lang="en-US" altLang="en-US" sz="1900" dirty="0"/>
                <a:t>(</a:t>
              </a:r>
              <a:r>
                <a:rPr lang="en-US" altLang="en-US" sz="1900" dirty="0" err="1"/>
                <a:t>img</a:t>
              </a:r>
              <a:r>
                <a:rPr lang="en-US" altLang="en-US" sz="1900" dirty="0"/>
                <a:t>)</a:t>
              </a:r>
            </a:p>
          </p:txBody>
        </p:sp>
        <p:sp>
          <p:nvSpPr>
            <p:cNvPr id="12305" name="Line 64"/>
            <p:cNvSpPr>
              <a:spLocks noChangeShapeType="1"/>
            </p:cNvSpPr>
            <p:nvPr/>
          </p:nvSpPr>
          <p:spPr bwMode="auto">
            <a:xfrm flipV="1">
              <a:off x="5313363" y="3770313"/>
              <a:ext cx="145097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06" name="Rectangle 65"/>
            <p:cNvSpPr>
              <a:spLocks noChangeArrowheads="1"/>
            </p:cNvSpPr>
            <p:nvPr/>
          </p:nvSpPr>
          <p:spPr bwMode="auto">
            <a:xfrm>
              <a:off x="6745288" y="3725863"/>
              <a:ext cx="153987" cy="430212"/>
            </a:xfrm>
            <a:prstGeom prst="rect">
              <a:avLst/>
            </a:prstGeom>
            <a:solidFill>
              <a:schemeClr val="accent1"/>
            </a:solidFill>
            <a:ln w="2540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2307" name="Rectangle 69"/>
            <p:cNvSpPr>
              <a:spLocks noChangeArrowheads="1"/>
            </p:cNvSpPr>
            <p:nvPr/>
          </p:nvSpPr>
          <p:spPr bwMode="auto">
            <a:xfrm>
              <a:off x="4065588" y="3081338"/>
              <a:ext cx="3902075" cy="11445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nvGrpSpPr>
            <p:cNvPr id="12308" name="Group 76"/>
            <p:cNvGrpSpPr>
              <a:grpSpLocks/>
            </p:cNvGrpSpPr>
            <p:nvPr/>
          </p:nvGrpSpPr>
          <p:grpSpPr bwMode="auto">
            <a:xfrm>
              <a:off x="4048125" y="3078163"/>
              <a:ext cx="803275" cy="457200"/>
              <a:chOff x="2540" y="1939"/>
              <a:chExt cx="506" cy="288"/>
            </a:xfrm>
          </p:grpSpPr>
          <p:sp>
            <p:nvSpPr>
              <p:cNvPr id="12310" name="Text Box 70"/>
              <p:cNvSpPr txBox="1">
                <a:spLocks noChangeArrowheads="1"/>
              </p:cNvSpPr>
              <p:nvPr/>
            </p:nvSpPr>
            <p:spPr bwMode="auto">
              <a:xfrm>
                <a:off x="2540" y="1939"/>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a:t>loop</a:t>
                </a:r>
              </a:p>
            </p:txBody>
          </p:sp>
          <p:sp>
            <p:nvSpPr>
              <p:cNvPr id="12311" name="Line 71"/>
              <p:cNvSpPr>
                <a:spLocks noChangeShapeType="1"/>
              </p:cNvSpPr>
              <p:nvPr/>
            </p:nvSpPr>
            <p:spPr bwMode="auto">
              <a:xfrm>
                <a:off x="2561" y="2224"/>
                <a:ext cx="3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12" name="Line 72"/>
              <p:cNvSpPr>
                <a:spLocks noChangeShapeType="1"/>
              </p:cNvSpPr>
              <p:nvPr/>
            </p:nvSpPr>
            <p:spPr bwMode="auto">
              <a:xfrm flipH="1">
                <a:off x="2992" y="1939"/>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2313" name="Line 73"/>
              <p:cNvSpPr>
                <a:spLocks noChangeShapeType="1"/>
              </p:cNvSpPr>
              <p:nvPr/>
            </p:nvSpPr>
            <p:spPr bwMode="auto">
              <a:xfrm flipV="1">
                <a:off x="2929" y="2152"/>
                <a:ext cx="63"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2309" name="Text Box 114"/>
            <p:cNvSpPr txBox="1">
              <a:spLocks noChangeArrowheads="1"/>
            </p:cNvSpPr>
            <p:nvPr/>
          </p:nvSpPr>
          <p:spPr bwMode="auto">
            <a:xfrm>
              <a:off x="4682107" y="3028950"/>
              <a:ext cx="3408363"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[not last record and not found]</a:t>
              </a:r>
            </a:p>
          </p:txBody>
        </p:sp>
      </p:grpSp>
    </p:spTree>
    <p:extLst>
      <p:ext uri="{BB962C8B-B14F-4D97-AF65-F5344CB8AC3E}">
        <p14:creationId xmlns:p14="http://schemas.microsoft.com/office/powerpoint/2010/main" val="4059584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421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4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19" grpId="0" animBg="1"/>
      <p:bldP spid="1342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TW" sz="4000" b="1" dirty="0">
                <a:solidFill>
                  <a:schemeClr val="bg1"/>
                </a:solidFill>
                <a:ea typeface="PMingLiU" panose="02020500000000000000" pitchFamily="18" charset="-120"/>
                <a:cs typeface="Times New Roman" panose="02020603050405020304" pitchFamily="18" charset="0"/>
              </a:rPr>
              <a:t>Topic 3: </a:t>
            </a:r>
            <a:r>
              <a:rPr lang="en-US" altLang="zh-TW" sz="4000" b="1" dirty="0">
                <a:solidFill>
                  <a:schemeClr val="bg1"/>
                </a:solidFill>
                <a:ea typeface="PMingLiU" panose="02020500000000000000" pitchFamily="18" charset="-120"/>
              </a:rPr>
              <a:t>Diagram to Code</a:t>
            </a:r>
            <a:endParaRPr lang="en-GB" sz="4000" dirty="0">
              <a:solidFill>
                <a:schemeClr val="bg1"/>
              </a:solidFill>
            </a:endParaRPr>
          </a:p>
        </p:txBody>
      </p:sp>
    </p:spTree>
    <p:extLst>
      <p:ext uri="{BB962C8B-B14F-4D97-AF65-F5344CB8AC3E}">
        <p14:creationId xmlns:p14="http://schemas.microsoft.com/office/powerpoint/2010/main" val="2679524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Line 52"/>
          <p:cNvSpPr>
            <a:spLocks noChangeShapeType="1"/>
          </p:cNvSpPr>
          <p:nvPr/>
        </p:nvSpPr>
        <p:spPr bwMode="auto">
          <a:xfrm flipH="1">
            <a:off x="3787733" y="2025625"/>
            <a:ext cx="25442" cy="421962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3315" name="Group 81"/>
          <p:cNvGrpSpPr>
            <a:grpSpLocks/>
          </p:cNvGrpSpPr>
          <p:nvPr/>
        </p:nvGrpSpPr>
        <p:grpSpPr bwMode="auto">
          <a:xfrm>
            <a:off x="2470150" y="2009750"/>
            <a:ext cx="1879600" cy="4160838"/>
            <a:chOff x="1612901" y="2193925"/>
            <a:chExt cx="1879600" cy="4160838"/>
          </a:xfrm>
        </p:grpSpPr>
        <p:sp>
          <p:nvSpPr>
            <p:cNvPr id="13402" name="Rectangle 40"/>
            <p:cNvSpPr>
              <a:spLocks noChangeArrowheads="1"/>
            </p:cNvSpPr>
            <p:nvPr/>
          </p:nvSpPr>
          <p:spPr bwMode="auto">
            <a:xfrm>
              <a:off x="2862263" y="2544763"/>
              <a:ext cx="201612" cy="3810000"/>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403" name="Text Box 43"/>
            <p:cNvSpPr txBox="1">
              <a:spLocks noChangeArrowheads="1"/>
            </p:cNvSpPr>
            <p:nvPr/>
          </p:nvSpPr>
          <p:spPr bwMode="auto">
            <a:xfrm>
              <a:off x="1612901" y="2193925"/>
              <a:ext cx="1879600" cy="32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1800"/>
                </a:lnSpc>
                <a:spcBef>
                  <a:spcPct val="0"/>
                </a:spcBef>
                <a:buNone/>
              </a:pPr>
              <a:r>
                <a:rPr lang="en-US" altLang="en-US" sz="1900" dirty="0" err="1"/>
                <a:t>calculatePrice</a:t>
              </a:r>
              <a:r>
                <a:rPr lang="en-US" altLang="en-US" sz="1900" dirty="0"/>
                <a:t> ()</a:t>
              </a:r>
            </a:p>
          </p:txBody>
        </p:sp>
        <p:sp>
          <p:nvSpPr>
            <p:cNvPr id="13404" name="Line 42"/>
            <p:cNvSpPr>
              <a:spLocks noChangeShapeType="1"/>
            </p:cNvSpPr>
            <p:nvPr/>
          </p:nvSpPr>
          <p:spPr bwMode="auto">
            <a:xfrm>
              <a:off x="1812925" y="2712111"/>
              <a:ext cx="1067053"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405" name="Flowchart: Connector 155"/>
            <p:cNvSpPr>
              <a:spLocks noChangeArrowheads="1"/>
            </p:cNvSpPr>
            <p:nvPr/>
          </p:nvSpPr>
          <p:spPr bwMode="auto">
            <a:xfrm>
              <a:off x="1722438" y="2606675"/>
              <a:ext cx="166687" cy="166688"/>
            </a:xfrm>
            <a:prstGeom prst="flowChartConnector">
              <a:avLst/>
            </a:prstGeom>
            <a:solidFill>
              <a:schemeClr val="accent1"/>
            </a:solidFill>
            <a:ln w="9525" algn="ctr">
              <a:solidFill>
                <a:schemeClr val="tx1"/>
              </a:solidFill>
              <a:round/>
              <a:headEnd/>
              <a:tailEnd/>
            </a:ln>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13316" name="Rectangle 2"/>
          <p:cNvSpPr>
            <a:spLocks noGrp="1" noChangeArrowheads="1"/>
          </p:cNvSpPr>
          <p:nvPr>
            <p:ph type="title"/>
          </p:nvPr>
        </p:nvSpPr>
        <p:spPr>
          <a:xfrm>
            <a:off x="1054101" y="1589"/>
            <a:ext cx="11134724" cy="544512"/>
          </a:xfrm>
        </p:spPr>
        <p:txBody>
          <a:bodyPr/>
          <a:lstStyle/>
          <a:p>
            <a:pPr eaLnBrk="1" hangingPunct="1"/>
            <a:r>
              <a:rPr lang="en-US" altLang="en-US" b="1" dirty="0"/>
              <a:t>Sequence Diagram – </a:t>
            </a:r>
            <a:r>
              <a:rPr lang="en-US" altLang="en-US" b="1" dirty="0" err="1"/>
              <a:t>CalculatePrice</a:t>
            </a:r>
            <a:endParaRPr lang="en-US" altLang="en-US" b="1" dirty="0"/>
          </a:p>
        </p:txBody>
      </p:sp>
      <p:sp>
        <p:nvSpPr>
          <p:cNvPr id="13317" name="Rectangle 4"/>
          <p:cNvSpPr>
            <a:spLocks noChangeArrowheads="1"/>
          </p:cNvSpPr>
          <p:nvPr/>
        </p:nvSpPr>
        <p:spPr bwMode="auto">
          <a:xfrm>
            <a:off x="2466976" y="654027"/>
            <a:ext cx="7407275" cy="558328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318" name="Text Box 5"/>
          <p:cNvSpPr txBox="1">
            <a:spLocks noChangeArrowheads="1"/>
          </p:cNvSpPr>
          <p:nvPr/>
        </p:nvSpPr>
        <p:spPr bwMode="auto">
          <a:xfrm>
            <a:off x="2457450" y="660376"/>
            <a:ext cx="251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t>sd CalculatePrice</a:t>
            </a:r>
          </a:p>
        </p:txBody>
      </p:sp>
      <p:sp>
        <p:nvSpPr>
          <p:cNvPr id="13319" name="Line 6"/>
          <p:cNvSpPr>
            <a:spLocks noChangeShapeType="1"/>
          </p:cNvSpPr>
          <p:nvPr/>
        </p:nvSpPr>
        <p:spPr bwMode="auto">
          <a:xfrm flipV="1">
            <a:off x="2470151" y="1157263"/>
            <a:ext cx="2212975"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20" name="Line 7"/>
          <p:cNvSpPr>
            <a:spLocks noChangeShapeType="1"/>
          </p:cNvSpPr>
          <p:nvPr/>
        </p:nvSpPr>
        <p:spPr bwMode="auto">
          <a:xfrm flipH="1">
            <a:off x="4805362" y="646088"/>
            <a:ext cx="0" cy="3794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21" name="Line 8"/>
          <p:cNvSpPr>
            <a:spLocks noChangeShapeType="1"/>
          </p:cNvSpPr>
          <p:nvPr/>
        </p:nvSpPr>
        <p:spPr bwMode="auto">
          <a:xfrm flipV="1">
            <a:off x="4678362" y="1020738"/>
            <a:ext cx="127000" cy="139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3322" name="Group 51"/>
          <p:cNvGrpSpPr>
            <a:grpSpLocks/>
          </p:cNvGrpSpPr>
          <p:nvPr/>
        </p:nvGrpSpPr>
        <p:grpSpPr bwMode="auto">
          <a:xfrm>
            <a:off x="3370262" y="1260451"/>
            <a:ext cx="979488" cy="796925"/>
            <a:chOff x="4063" y="610"/>
            <a:chExt cx="617" cy="502"/>
          </a:xfrm>
        </p:grpSpPr>
        <p:grpSp>
          <p:nvGrpSpPr>
            <p:cNvPr id="13398" name="Group 45"/>
            <p:cNvGrpSpPr>
              <a:grpSpLocks/>
            </p:cNvGrpSpPr>
            <p:nvPr/>
          </p:nvGrpSpPr>
          <p:grpSpPr bwMode="auto">
            <a:xfrm>
              <a:off x="4116" y="610"/>
              <a:ext cx="432" cy="297"/>
              <a:chOff x="2037" y="2880"/>
              <a:chExt cx="432" cy="297"/>
            </a:xfrm>
          </p:grpSpPr>
          <p:sp>
            <p:nvSpPr>
              <p:cNvPr id="13400" name="Oval 4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401" name="Line 4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99" name="Text Box 50"/>
            <p:cNvSpPr txBox="1">
              <a:spLocks noChangeArrowheads="1"/>
            </p:cNvSpPr>
            <p:nvPr/>
          </p:nvSpPr>
          <p:spPr bwMode="auto">
            <a:xfrm>
              <a:off x="4063" y="879"/>
              <a:ext cx="61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:Order</a:t>
              </a:r>
            </a:p>
          </p:txBody>
        </p:sp>
      </p:grpSp>
      <p:grpSp>
        <p:nvGrpSpPr>
          <p:cNvPr id="13323" name="Group 85"/>
          <p:cNvGrpSpPr>
            <a:grpSpLocks/>
          </p:cNvGrpSpPr>
          <p:nvPr/>
        </p:nvGrpSpPr>
        <p:grpSpPr bwMode="auto">
          <a:xfrm>
            <a:off x="5153025" y="1260451"/>
            <a:ext cx="1465262" cy="796925"/>
            <a:chOff x="3808410" y="1628140"/>
            <a:chExt cx="1465261" cy="796926"/>
          </a:xfrm>
        </p:grpSpPr>
        <p:grpSp>
          <p:nvGrpSpPr>
            <p:cNvPr id="13394" name="Group 45"/>
            <p:cNvGrpSpPr>
              <a:grpSpLocks/>
            </p:cNvGrpSpPr>
            <p:nvPr/>
          </p:nvGrpSpPr>
          <p:grpSpPr bwMode="auto">
            <a:xfrm>
              <a:off x="4182107" y="1628140"/>
              <a:ext cx="685799" cy="471488"/>
              <a:chOff x="2037" y="2880"/>
              <a:chExt cx="432" cy="297"/>
            </a:xfrm>
          </p:grpSpPr>
          <p:sp>
            <p:nvSpPr>
              <p:cNvPr id="13396" name="Oval 4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397" name="Line 4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95" name="Text Box 50"/>
            <p:cNvSpPr txBox="1">
              <a:spLocks noChangeArrowheads="1"/>
            </p:cNvSpPr>
            <p:nvPr/>
          </p:nvSpPr>
          <p:spPr bwMode="auto">
            <a:xfrm>
              <a:off x="3808410" y="2055178"/>
              <a:ext cx="1465261"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ol:OrderLine</a:t>
              </a:r>
            </a:p>
          </p:txBody>
        </p:sp>
      </p:grpSp>
      <p:grpSp>
        <p:nvGrpSpPr>
          <p:cNvPr id="13324" name="Group 91"/>
          <p:cNvGrpSpPr>
            <a:grpSpLocks/>
          </p:cNvGrpSpPr>
          <p:nvPr/>
        </p:nvGrpSpPr>
        <p:grpSpPr bwMode="auto">
          <a:xfrm>
            <a:off x="6997701" y="1260451"/>
            <a:ext cx="1552575" cy="796925"/>
            <a:chOff x="5500053" y="1612900"/>
            <a:chExt cx="1553309" cy="796113"/>
          </a:xfrm>
        </p:grpSpPr>
        <p:grpSp>
          <p:nvGrpSpPr>
            <p:cNvPr id="13390" name="Group 45"/>
            <p:cNvGrpSpPr>
              <a:grpSpLocks/>
            </p:cNvGrpSpPr>
            <p:nvPr/>
          </p:nvGrpSpPr>
          <p:grpSpPr bwMode="auto">
            <a:xfrm>
              <a:off x="5721350" y="1612900"/>
              <a:ext cx="685800" cy="471488"/>
              <a:chOff x="2037" y="2880"/>
              <a:chExt cx="432" cy="297"/>
            </a:xfrm>
          </p:grpSpPr>
          <p:sp>
            <p:nvSpPr>
              <p:cNvPr id="13392" name="Oval 4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393" name="Line 4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91" name="Text Box 50"/>
            <p:cNvSpPr txBox="1">
              <a:spLocks noChangeArrowheads="1"/>
            </p:cNvSpPr>
            <p:nvPr/>
          </p:nvSpPr>
          <p:spPr bwMode="auto">
            <a:xfrm>
              <a:off x="5500053" y="2039938"/>
              <a:ext cx="1553309" cy="36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p:Product</a:t>
              </a:r>
            </a:p>
          </p:txBody>
        </p:sp>
      </p:grpSp>
      <p:grpSp>
        <p:nvGrpSpPr>
          <p:cNvPr id="13325" name="Group 97"/>
          <p:cNvGrpSpPr>
            <a:grpSpLocks/>
          </p:cNvGrpSpPr>
          <p:nvPr/>
        </p:nvGrpSpPr>
        <p:grpSpPr bwMode="auto">
          <a:xfrm>
            <a:off x="8612188" y="1260451"/>
            <a:ext cx="1419225" cy="796925"/>
            <a:chOff x="6825933" y="1704340"/>
            <a:chExt cx="1418907" cy="796370"/>
          </a:xfrm>
        </p:grpSpPr>
        <p:grpSp>
          <p:nvGrpSpPr>
            <p:cNvPr id="13386" name="Group 45"/>
            <p:cNvGrpSpPr>
              <a:grpSpLocks/>
            </p:cNvGrpSpPr>
            <p:nvPr/>
          </p:nvGrpSpPr>
          <p:grpSpPr bwMode="auto">
            <a:xfrm>
              <a:off x="7138672" y="1704340"/>
              <a:ext cx="685800" cy="471488"/>
              <a:chOff x="2037" y="2880"/>
              <a:chExt cx="432" cy="297"/>
            </a:xfrm>
          </p:grpSpPr>
          <p:sp>
            <p:nvSpPr>
              <p:cNvPr id="13388" name="Oval 46"/>
              <p:cNvSpPr>
                <a:spLocks noChangeArrowheads="1"/>
              </p:cNvSpPr>
              <p:nvPr/>
            </p:nvSpPr>
            <p:spPr bwMode="auto">
              <a:xfrm>
                <a:off x="2112" y="2880"/>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389" name="Line 47"/>
              <p:cNvSpPr>
                <a:spLocks noChangeShapeType="1"/>
              </p:cNvSpPr>
              <p:nvPr/>
            </p:nvSpPr>
            <p:spPr bwMode="auto">
              <a:xfrm>
                <a:off x="2037" y="3177"/>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87" name="Text Box 50"/>
            <p:cNvSpPr txBox="1">
              <a:spLocks noChangeArrowheads="1"/>
            </p:cNvSpPr>
            <p:nvPr/>
          </p:nvSpPr>
          <p:spPr bwMode="auto">
            <a:xfrm>
              <a:off x="6825933" y="2131378"/>
              <a:ext cx="14189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c:Customer</a:t>
              </a:r>
            </a:p>
          </p:txBody>
        </p:sp>
      </p:grpSp>
      <p:sp>
        <p:nvSpPr>
          <p:cNvPr id="13326" name="Line 52"/>
          <p:cNvSpPr>
            <a:spLocks noChangeShapeType="1"/>
          </p:cNvSpPr>
          <p:nvPr/>
        </p:nvSpPr>
        <p:spPr bwMode="auto">
          <a:xfrm>
            <a:off x="5886449" y="2025625"/>
            <a:ext cx="6781" cy="421962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27" name="Line 52"/>
          <p:cNvSpPr>
            <a:spLocks noChangeShapeType="1"/>
          </p:cNvSpPr>
          <p:nvPr/>
        </p:nvSpPr>
        <p:spPr bwMode="auto">
          <a:xfrm>
            <a:off x="7578725" y="2009750"/>
            <a:ext cx="1720" cy="42275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28" name="Line 52"/>
          <p:cNvSpPr>
            <a:spLocks noChangeShapeType="1"/>
          </p:cNvSpPr>
          <p:nvPr/>
        </p:nvSpPr>
        <p:spPr bwMode="auto">
          <a:xfrm flipH="1">
            <a:off x="9258238" y="2009750"/>
            <a:ext cx="27049" cy="42275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nvGrpSpPr>
          <p:cNvPr id="13329" name="Group 108"/>
          <p:cNvGrpSpPr>
            <a:grpSpLocks/>
          </p:cNvGrpSpPr>
          <p:nvPr/>
        </p:nvGrpSpPr>
        <p:grpSpPr bwMode="auto">
          <a:xfrm>
            <a:off x="3903662" y="2376463"/>
            <a:ext cx="2286000" cy="563562"/>
            <a:chOff x="3045778" y="2133600"/>
            <a:chExt cx="2287326" cy="563881"/>
          </a:xfrm>
        </p:grpSpPr>
        <p:sp>
          <p:nvSpPr>
            <p:cNvPr id="13383" name="Text Box 43"/>
            <p:cNvSpPr txBox="1">
              <a:spLocks noChangeArrowheads="1"/>
            </p:cNvSpPr>
            <p:nvPr/>
          </p:nvSpPr>
          <p:spPr bwMode="auto">
            <a:xfrm>
              <a:off x="3045778" y="2133600"/>
              <a:ext cx="2287326" cy="38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err="1"/>
                <a:t>qty</a:t>
              </a:r>
              <a:r>
                <a:rPr lang="en-US" altLang="en-US" sz="1900" dirty="0"/>
                <a:t> =</a:t>
              </a:r>
              <a:r>
                <a:rPr lang="en-US" altLang="en-US" sz="1900" dirty="0" err="1"/>
                <a:t>getQuantity</a:t>
              </a:r>
              <a:r>
                <a:rPr lang="en-US" altLang="en-US" sz="1900" dirty="0"/>
                <a:t>()</a:t>
              </a:r>
            </a:p>
          </p:txBody>
        </p:sp>
        <p:sp>
          <p:nvSpPr>
            <p:cNvPr id="13384" name="Line 42"/>
            <p:cNvSpPr>
              <a:spLocks noChangeShapeType="1"/>
            </p:cNvSpPr>
            <p:nvPr/>
          </p:nvSpPr>
          <p:spPr bwMode="auto">
            <a:xfrm>
              <a:off x="3056890" y="2495550"/>
              <a:ext cx="1911350" cy="381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85" name="Rectangle 40"/>
            <p:cNvSpPr>
              <a:spLocks noChangeArrowheads="1"/>
            </p:cNvSpPr>
            <p:nvPr/>
          </p:nvSpPr>
          <p:spPr bwMode="auto">
            <a:xfrm>
              <a:off x="4949508" y="2420939"/>
              <a:ext cx="186372" cy="276542"/>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0" name="Group 109"/>
          <p:cNvGrpSpPr>
            <a:grpSpLocks/>
          </p:cNvGrpSpPr>
          <p:nvPr/>
        </p:nvGrpSpPr>
        <p:grpSpPr bwMode="auto">
          <a:xfrm>
            <a:off x="3903662" y="2924150"/>
            <a:ext cx="2089150" cy="565150"/>
            <a:chOff x="3045778" y="2133600"/>
            <a:chExt cx="2090102" cy="563881"/>
          </a:xfrm>
        </p:grpSpPr>
        <p:sp>
          <p:nvSpPr>
            <p:cNvPr id="13380" name="Text Box 43"/>
            <p:cNvSpPr txBox="1">
              <a:spLocks noChangeArrowheads="1"/>
            </p:cNvSpPr>
            <p:nvPr/>
          </p:nvSpPr>
          <p:spPr bwMode="auto">
            <a:xfrm>
              <a:off x="3045778" y="2133600"/>
              <a:ext cx="1800542" cy="383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 </a:t>
              </a:r>
              <a:r>
                <a:rPr lang="en-US" altLang="en-US" sz="1900" dirty="0" err="1"/>
                <a:t>getProduct</a:t>
              </a:r>
              <a:r>
                <a:rPr lang="en-US" altLang="en-US" sz="1900" dirty="0"/>
                <a:t>()</a:t>
              </a:r>
            </a:p>
          </p:txBody>
        </p:sp>
        <p:sp>
          <p:nvSpPr>
            <p:cNvPr id="13381" name="Line 42"/>
            <p:cNvSpPr>
              <a:spLocks noChangeShapeType="1"/>
            </p:cNvSpPr>
            <p:nvPr/>
          </p:nvSpPr>
          <p:spPr bwMode="auto">
            <a:xfrm>
              <a:off x="3056890" y="2495550"/>
              <a:ext cx="1911350" cy="381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82" name="Rectangle 40"/>
            <p:cNvSpPr>
              <a:spLocks noChangeArrowheads="1"/>
            </p:cNvSpPr>
            <p:nvPr/>
          </p:nvSpPr>
          <p:spPr bwMode="auto">
            <a:xfrm>
              <a:off x="4949508" y="2420939"/>
              <a:ext cx="186372" cy="276542"/>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1" name="Group 117"/>
          <p:cNvGrpSpPr>
            <a:grpSpLocks/>
          </p:cNvGrpSpPr>
          <p:nvPr/>
        </p:nvGrpSpPr>
        <p:grpSpPr bwMode="auto">
          <a:xfrm>
            <a:off x="3914776" y="3503588"/>
            <a:ext cx="3754437" cy="563562"/>
            <a:chOff x="3056890" y="3063240"/>
            <a:chExt cx="3755390" cy="563881"/>
          </a:xfrm>
        </p:grpSpPr>
        <p:sp>
          <p:nvSpPr>
            <p:cNvPr id="13377" name="Text Box 43"/>
            <p:cNvSpPr txBox="1">
              <a:spLocks noChangeArrowheads="1"/>
            </p:cNvSpPr>
            <p:nvPr/>
          </p:nvSpPr>
          <p:spPr bwMode="auto">
            <a:xfrm>
              <a:off x="4204018" y="3063240"/>
              <a:ext cx="22729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err="1"/>
                <a:t>getPricingDetails</a:t>
              </a:r>
              <a:r>
                <a:rPr lang="en-US" altLang="en-US" sz="1900" dirty="0"/>
                <a:t>()</a:t>
              </a:r>
            </a:p>
          </p:txBody>
        </p:sp>
        <p:sp>
          <p:nvSpPr>
            <p:cNvPr id="13378" name="Line 42"/>
            <p:cNvSpPr>
              <a:spLocks noChangeShapeType="1"/>
            </p:cNvSpPr>
            <p:nvPr/>
          </p:nvSpPr>
          <p:spPr bwMode="auto">
            <a:xfrm>
              <a:off x="3056890" y="3425190"/>
              <a:ext cx="3572510" cy="381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79" name="Rectangle 40"/>
            <p:cNvSpPr>
              <a:spLocks noChangeArrowheads="1"/>
            </p:cNvSpPr>
            <p:nvPr/>
          </p:nvSpPr>
          <p:spPr bwMode="auto">
            <a:xfrm>
              <a:off x="6625908" y="3350579"/>
              <a:ext cx="186372" cy="276542"/>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2" name="Group 74"/>
          <p:cNvGrpSpPr>
            <a:grpSpLocks/>
          </p:cNvGrpSpPr>
          <p:nvPr/>
        </p:nvGrpSpPr>
        <p:grpSpPr bwMode="auto">
          <a:xfrm>
            <a:off x="3825875" y="4130651"/>
            <a:ext cx="5899150" cy="511175"/>
            <a:chOff x="2968625" y="4273550"/>
            <a:chExt cx="5899020" cy="511175"/>
          </a:xfrm>
        </p:grpSpPr>
        <p:grpSp>
          <p:nvGrpSpPr>
            <p:cNvPr id="13371" name="Group 73"/>
            <p:cNvGrpSpPr>
              <a:grpSpLocks/>
            </p:cNvGrpSpPr>
            <p:nvPr/>
          </p:nvGrpSpPr>
          <p:grpSpPr bwMode="auto">
            <a:xfrm>
              <a:off x="3065452" y="4339243"/>
              <a:ext cx="311439" cy="266535"/>
              <a:chOff x="3065452" y="4339243"/>
              <a:chExt cx="311439" cy="266535"/>
            </a:xfrm>
          </p:grpSpPr>
          <p:sp>
            <p:nvSpPr>
              <p:cNvPr id="13374" name="Line 61"/>
              <p:cNvSpPr>
                <a:spLocks noChangeShapeType="1"/>
              </p:cNvSpPr>
              <p:nvPr/>
            </p:nvSpPr>
            <p:spPr bwMode="auto">
              <a:xfrm>
                <a:off x="3065452" y="4349703"/>
                <a:ext cx="3000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75" name="Line 64"/>
              <p:cNvSpPr>
                <a:spLocks noChangeShapeType="1"/>
              </p:cNvSpPr>
              <p:nvPr/>
            </p:nvSpPr>
            <p:spPr bwMode="auto">
              <a:xfrm>
                <a:off x="3376891" y="4339243"/>
                <a:ext cx="0" cy="2665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76" name="Line 65"/>
              <p:cNvSpPr>
                <a:spLocks noChangeShapeType="1"/>
              </p:cNvSpPr>
              <p:nvPr/>
            </p:nvSpPr>
            <p:spPr bwMode="auto">
              <a:xfrm flipH="1" flipV="1">
                <a:off x="3132120" y="4587680"/>
                <a:ext cx="242863" cy="476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72" name="Text Box 66"/>
            <p:cNvSpPr txBox="1">
              <a:spLocks noChangeArrowheads="1"/>
            </p:cNvSpPr>
            <p:nvPr/>
          </p:nvSpPr>
          <p:spPr bwMode="auto">
            <a:xfrm>
              <a:off x="3327363" y="4273550"/>
              <a:ext cx="5540282"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 </a:t>
              </a:r>
              <a:r>
                <a:rPr lang="en-US" altLang="en-US" sz="1900" dirty="0" err="1"/>
                <a:t>bPrice</a:t>
              </a:r>
              <a:r>
                <a:rPr lang="en-US" altLang="en-US" sz="1900" dirty="0"/>
                <a:t> =</a:t>
              </a:r>
              <a:r>
                <a:rPr lang="en-US" altLang="en-US" sz="1900" dirty="0" err="1"/>
                <a:t>calculateBasicPrice</a:t>
              </a:r>
              <a:r>
                <a:rPr lang="en-US" altLang="en-US" sz="1900" dirty="0"/>
                <a:t>( </a:t>
              </a:r>
              <a:r>
                <a:rPr lang="en-US" altLang="en-US" sz="1900" dirty="0" err="1"/>
                <a:t>qty</a:t>
              </a:r>
              <a:r>
                <a:rPr lang="en-US" altLang="en-US" sz="1900" dirty="0"/>
                <a:t> : </a:t>
              </a:r>
              <a:r>
                <a:rPr lang="en-US" altLang="en-US" sz="1900" dirty="0" err="1"/>
                <a:t>int</a:t>
              </a:r>
              <a:r>
                <a:rPr lang="en-US" altLang="en-US" sz="1900" dirty="0"/>
                <a:t>, price : double)</a:t>
              </a:r>
            </a:p>
          </p:txBody>
        </p:sp>
        <p:sp>
          <p:nvSpPr>
            <p:cNvPr id="13373" name="Rectangle 40"/>
            <p:cNvSpPr>
              <a:spLocks noChangeArrowheads="1"/>
            </p:cNvSpPr>
            <p:nvPr/>
          </p:nvSpPr>
          <p:spPr bwMode="auto">
            <a:xfrm>
              <a:off x="2968625" y="4508355"/>
              <a:ext cx="186353" cy="276370"/>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3" name="Group 78"/>
          <p:cNvGrpSpPr>
            <a:grpSpLocks/>
          </p:cNvGrpSpPr>
          <p:nvPr/>
        </p:nvGrpSpPr>
        <p:grpSpPr bwMode="auto">
          <a:xfrm>
            <a:off x="3825875" y="4638650"/>
            <a:ext cx="4083050" cy="876300"/>
            <a:chOff x="2968625" y="4822825"/>
            <a:chExt cx="4083688" cy="876300"/>
          </a:xfrm>
        </p:grpSpPr>
        <p:grpSp>
          <p:nvGrpSpPr>
            <p:cNvPr id="13365" name="Group 77"/>
            <p:cNvGrpSpPr>
              <a:grpSpLocks/>
            </p:cNvGrpSpPr>
            <p:nvPr/>
          </p:nvGrpSpPr>
          <p:grpSpPr bwMode="auto">
            <a:xfrm>
              <a:off x="3065452" y="4884686"/>
              <a:ext cx="309531" cy="266410"/>
              <a:chOff x="3065452" y="4884686"/>
              <a:chExt cx="309531" cy="266410"/>
            </a:xfrm>
          </p:grpSpPr>
          <p:sp>
            <p:nvSpPr>
              <p:cNvPr id="13368" name="Line 61"/>
              <p:cNvSpPr>
                <a:spLocks noChangeShapeType="1"/>
              </p:cNvSpPr>
              <p:nvPr/>
            </p:nvSpPr>
            <p:spPr bwMode="auto">
              <a:xfrm>
                <a:off x="3065452" y="4898942"/>
                <a:ext cx="3000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69" name="Line 64"/>
              <p:cNvSpPr>
                <a:spLocks noChangeShapeType="1"/>
              </p:cNvSpPr>
              <p:nvPr/>
            </p:nvSpPr>
            <p:spPr bwMode="auto">
              <a:xfrm>
                <a:off x="3373081" y="4884686"/>
                <a:ext cx="0" cy="2664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70" name="Line 65"/>
              <p:cNvSpPr>
                <a:spLocks noChangeShapeType="1"/>
              </p:cNvSpPr>
              <p:nvPr/>
            </p:nvSpPr>
            <p:spPr bwMode="auto">
              <a:xfrm flipH="1" flipV="1">
                <a:off x="3132120" y="5136808"/>
                <a:ext cx="242863" cy="475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66" name="Text Box 66"/>
            <p:cNvSpPr txBox="1">
              <a:spLocks noChangeArrowheads="1"/>
            </p:cNvSpPr>
            <p:nvPr/>
          </p:nvSpPr>
          <p:spPr bwMode="auto">
            <a:xfrm>
              <a:off x="3327362" y="4822825"/>
              <a:ext cx="372495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discount =</a:t>
              </a:r>
              <a:r>
                <a:rPr lang="en-US" altLang="en-US" sz="1900" dirty="0" err="1"/>
                <a:t>calculateDiscounts</a:t>
              </a:r>
              <a:r>
                <a:rPr lang="en-US" altLang="en-US" sz="1900" dirty="0"/>
                <a:t>()</a:t>
              </a:r>
            </a:p>
          </p:txBody>
        </p:sp>
        <p:sp>
          <p:nvSpPr>
            <p:cNvPr id="13367" name="Rectangle 40"/>
            <p:cNvSpPr>
              <a:spLocks noChangeArrowheads="1"/>
            </p:cNvSpPr>
            <p:nvPr/>
          </p:nvSpPr>
          <p:spPr bwMode="auto">
            <a:xfrm>
              <a:off x="2968625" y="5057520"/>
              <a:ext cx="182245" cy="641605"/>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4" name="Group 143"/>
          <p:cNvGrpSpPr>
            <a:grpSpLocks/>
          </p:cNvGrpSpPr>
          <p:nvPr/>
        </p:nvGrpSpPr>
        <p:grpSpPr bwMode="auto">
          <a:xfrm>
            <a:off x="3989388" y="4970438"/>
            <a:ext cx="5387975" cy="563562"/>
            <a:chOff x="3178810" y="4373877"/>
            <a:chExt cx="5355590" cy="563884"/>
          </a:xfrm>
        </p:grpSpPr>
        <p:sp>
          <p:nvSpPr>
            <p:cNvPr id="13362" name="Text Box 43"/>
            <p:cNvSpPr txBox="1">
              <a:spLocks noChangeArrowheads="1"/>
            </p:cNvSpPr>
            <p:nvPr/>
          </p:nvSpPr>
          <p:spPr bwMode="auto">
            <a:xfrm>
              <a:off x="5987098" y="4373877"/>
              <a:ext cx="2318702"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err="1"/>
                <a:t>getDiscountInfo</a:t>
              </a:r>
              <a:r>
                <a:rPr lang="en-US" altLang="en-US" sz="1900" dirty="0"/>
                <a:t>()</a:t>
              </a:r>
            </a:p>
          </p:txBody>
        </p:sp>
        <p:sp>
          <p:nvSpPr>
            <p:cNvPr id="13363" name="Line 42"/>
            <p:cNvSpPr>
              <a:spLocks noChangeShapeType="1"/>
            </p:cNvSpPr>
            <p:nvPr/>
          </p:nvSpPr>
          <p:spPr bwMode="auto">
            <a:xfrm>
              <a:off x="3178810" y="4735830"/>
              <a:ext cx="5187950" cy="381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64" name="Rectangle 40"/>
            <p:cNvSpPr>
              <a:spLocks noChangeArrowheads="1"/>
            </p:cNvSpPr>
            <p:nvPr/>
          </p:nvSpPr>
          <p:spPr bwMode="auto">
            <a:xfrm>
              <a:off x="8348028" y="4661219"/>
              <a:ext cx="186372" cy="276542"/>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grpSp>
        <p:nvGrpSpPr>
          <p:cNvPr id="13335" name="Group 80"/>
          <p:cNvGrpSpPr>
            <a:grpSpLocks/>
          </p:cNvGrpSpPr>
          <p:nvPr/>
        </p:nvGrpSpPr>
        <p:grpSpPr bwMode="auto">
          <a:xfrm>
            <a:off x="3840162" y="5594326"/>
            <a:ext cx="5994400" cy="511175"/>
            <a:chOff x="2982913" y="5737225"/>
            <a:chExt cx="5993735" cy="511175"/>
          </a:xfrm>
        </p:grpSpPr>
        <p:grpSp>
          <p:nvGrpSpPr>
            <p:cNvPr id="13356" name="Group 79"/>
            <p:cNvGrpSpPr>
              <a:grpSpLocks/>
            </p:cNvGrpSpPr>
            <p:nvPr/>
          </p:nvGrpSpPr>
          <p:grpSpPr bwMode="auto">
            <a:xfrm>
              <a:off x="3063240" y="5780058"/>
              <a:ext cx="335279" cy="271297"/>
              <a:chOff x="3063240" y="5780058"/>
              <a:chExt cx="335279" cy="271297"/>
            </a:xfrm>
          </p:grpSpPr>
          <p:sp>
            <p:nvSpPr>
              <p:cNvPr id="13359" name="Line 61"/>
              <p:cNvSpPr>
                <a:spLocks noChangeShapeType="1"/>
              </p:cNvSpPr>
              <p:nvPr/>
            </p:nvSpPr>
            <p:spPr bwMode="auto">
              <a:xfrm flipV="1">
                <a:off x="3063240" y="5794328"/>
                <a:ext cx="316713" cy="6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60" name="Line 64"/>
              <p:cNvSpPr>
                <a:spLocks noChangeShapeType="1"/>
              </p:cNvSpPr>
              <p:nvPr/>
            </p:nvSpPr>
            <p:spPr bwMode="auto">
              <a:xfrm>
                <a:off x="3387567" y="5780058"/>
                <a:ext cx="0" cy="2665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61" name="Line 65"/>
              <p:cNvSpPr>
                <a:spLocks noChangeShapeType="1"/>
              </p:cNvSpPr>
              <p:nvPr/>
            </p:nvSpPr>
            <p:spPr bwMode="auto">
              <a:xfrm flipH="1">
                <a:off x="3157922" y="6050280"/>
                <a:ext cx="240597" cy="10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57" name="Text Box 66"/>
            <p:cNvSpPr txBox="1">
              <a:spLocks noChangeArrowheads="1"/>
            </p:cNvSpPr>
            <p:nvPr/>
          </p:nvSpPr>
          <p:spPr bwMode="auto">
            <a:xfrm>
              <a:off x="3341837" y="5737225"/>
              <a:ext cx="563481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err="1"/>
                <a:t>calculateTotalPrice</a:t>
              </a:r>
              <a:r>
                <a:rPr lang="en-US" altLang="en-US" sz="1900" dirty="0"/>
                <a:t>(price :double, discount  : double)</a:t>
              </a:r>
            </a:p>
          </p:txBody>
        </p:sp>
        <p:sp>
          <p:nvSpPr>
            <p:cNvPr id="13358" name="Rectangle 40"/>
            <p:cNvSpPr>
              <a:spLocks noChangeArrowheads="1"/>
            </p:cNvSpPr>
            <p:nvPr/>
          </p:nvSpPr>
          <p:spPr bwMode="auto">
            <a:xfrm>
              <a:off x="2982913" y="5972030"/>
              <a:ext cx="186450" cy="276370"/>
            </a:xfrm>
            <a:prstGeom prst="rect">
              <a:avLst/>
            </a:prstGeom>
            <a:solidFill>
              <a:schemeClr val="accent1"/>
            </a:solidFill>
            <a:ln w="19050">
              <a:solidFill>
                <a:schemeClr val="tx1"/>
              </a:solidFill>
              <a:miter lim="800000"/>
              <a:headEnd/>
              <a:tailE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74" name="Line 65"/>
          <p:cNvSpPr>
            <a:spLocks noChangeShapeType="1"/>
          </p:cNvSpPr>
          <p:nvPr/>
        </p:nvSpPr>
        <p:spPr bwMode="auto">
          <a:xfrm flipH="1">
            <a:off x="5624235" y="3292673"/>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76" name="Line 65"/>
          <p:cNvSpPr>
            <a:spLocks noChangeShapeType="1"/>
          </p:cNvSpPr>
          <p:nvPr/>
        </p:nvSpPr>
        <p:spPr bwMode="auto">
          <a:xfrm flipH="1">
            <a:off x="5627783" y="2732692"/>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77" name="Line 65"/>
          <p:cNvSpPr>
            <a:spLocks noChangeShapeType="1"/>
          </p:cNvSpPr>
          <p:nvPr/>
        </p:nvSpPr>
        <p:spPr bwMode="auto">
          <a:xfrm flipH="1">
            <a:off x="7275888" y="3859760"/>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78" name="Line 65"/>
          <p:cNvSpPr>
            <a:spLocks noChangeShapeType="1"/>
          </p:cNvSpPr>
          <p:nvPr/>
        </p:nvSpPr>
        <p:spPr bwMode="auto">
          <a:xfrm flipH="1">
            <a:off x="9019571" y="5329894"/>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79" name="Line 65"/>
          <p:cNvSpPr>
            <a:spLocks noChangeShapeType="1"/>
          </p:cNvSpPr>
          <p:nvPr/>
        </p:nvSpPr>
        <p:spPr bwMode="auto">
          <a:xfrm flipH="1">
            <a:off x="3524761" y="2530670"/>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13341" name="Line 75"/>
          <p:cNvSpPr>
            <a:spLocks noChangeShapeType="1"/>
          </p:cNvSpPr>
          <p:nvPr/>
        </p:nvSpPr>
        <p:spPr bwMode="auto">
          <a:xfrm flipH="1">
            <a:off x="2451100" y="6065814"/>
            <a:ext cx="1268412" cy="14287"/>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42" name="Text Box 66"/>
          <p:cNvSpPr txBox="1">
            <a:spLocks noChangeArrowheads="1"/>
          </p:cNvSpPr>
          <p:nvPr/>
        </p:nvSpPr>
        <p:spPr bwMode="auto">
          <a:xfrm>
            <a:off x="2208212" y="5705450"/>
            <a:ext cx="2693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      total</a:t>
            </a:r>
          </a:p>
        </p:txBody>
      </p:sp>
      <p:grpSp>
        <p:nvGrpSpPr>
          <p:cNvPr id="13343" name="Group 42"/>
          <p:cNvGrpSpPr>
            <a:grpSpLocks/>
          </p:cNvGrpSpPr>
          <p:nvPr/>
        </p:nvGrpSpPr>
        <p:grpSpPr bwMode="auto">
          <a:xfrm>
            <a:off x="7053262" y="2489175"/>
            <a:ext cx="3613150" cy="1225550"/>
            <a:chOff x="3464" y="1675"/>
            <a:chExt cx="2276" cy="772"/>
          </a:xfrm>
        </p:grpSpPr>
        <p:sp>
          <p:nvSpPr>
            <p:cNvPr id="13350" name="AutoShape 34"/>
            <p:cNvSpPr>
              <a:spLocks noChangeArrowheads="1"/>
            </p:cNvSpPr>
            <p:nvPr/>
          </p:nvSpPr>
          <p:spPr bwMode="auto">
            <a:xfrm rot="10800000" flipH="1">
              <a:off x="4474" y="1675"/>
              <a:ext cx="974" cy="440"/>
            </a:xfrm>
            <a:prstGeom prst="foldedCorner">
              <a:avLst>
                <a:gd name="adj" fmla="val 12500"/>
              </a:avLst>
            </a:prstGeom>
            <a:solidFill>
              <a:schemeClr val="accent3">
                <a:lumMod val="20000"/>
                <a:lumOff val="80000"/>
              </a:schemeClr>
            </a:solidFill>
            <a:ln w="9525">
              <a:solidFill>
                <a:srgbClr val="000000"/>
              </a:solidFill>
              <a:round/>
              <a:headEnd/>
              <a:tailEnd/>
            </a:ln>
            <a:effectLst>
              <a:outerShdw blurRad="50800" dist="38100" dir="8100000" algn="tr" rotWithShape="0">
                <a:prstClr val="black">
                  <a:alpha val="40000"/>
                </a:prstClr>
              </a:outerShdw>
            </a:effectLst>
          </p:spPr>
          <p:txBody>
            <a:bodyPr wrap="none"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endParaRPr lang="en-US" altLang="en-US" sz="1800"/>
            </a:p>
          </p:txBody>
        </p:sp>
        <p:sp>
          <p:nvSpPr>
            <p:cNvPr id="13354" name="Text Box 35"/>
            <p:cNvSpPr txBox="1">
              <a:spLocks noChangeArrowheads="1"/>
            </p:cNvSpPr>
            <p:nvPr/>
          </p:nvSpPr>
          <p:spPr bwMode="auto">
            <a:xfrm>
              <a:off x="4483" y="1707"/>
              <a:ext cx="1257"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1800" dirty="0">
                  <a:solidFill>
                    <a:srgbClr val="000000"/>
                  </a:solidFill>
                </a:rPr>
                <a:t>Get price of product</a:t>
              </a:r>
            </a:p>
          </p:txBody>
        </p:sp>
        <p:sp>
          <p:nvSpPr>
            <p:cNvPr id="13355" name="Line 36"/>
            <p:cNvSpPr>
              <a:spLocks noChangeShapeType="1"/>
            </p:cNvSpPr>
            <p:nvPr/>
          </p:nvSpPr>
          <p:spPr bwMode="auto">
            <a:xfrm flipV="1">
              <a:off x="3464" y="1931"/>
              <a:ext cx="1015" cy="516"/>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13344" name="Line 75"/>
          <p:cNvSpPr>
            <a:spLocks noChangeShapeType="1"/>
          </p:cNvSpPr>
          <p:nvPr/>
        </p:nvSpPr>
        <p:spPr bwMode="auto">
          <a:xfrm flipH="1">
            <a:off x="3900488" y="4073501"/>
            <a:ext cx="3586163" cy="30163"/>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45" name="Text Box 43"/>
          <p:cNvSpPr txBox="1">
            <a:spLocks noChangeArrowheads="1"/>
          </p:cNvSpPr>
          <p:nvPr/>
        </p:nvSpPr>
        <p:spPr bwMode="auto">
          <a:xfrm>
            <a:off x="4518025" y="3765525"/>
            <a:ext cx="2271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dirty="0"/>
              <a:t>price</a:t>
            </a:r>
          </a:p>
        </p:txBody>
      </p:sp>
      <p:sp>
        <p:nvSpPr>
          <p:cNvPr id="87" name="Line 65"/>
          <p:cNvSpPr>
            <a:spLocks noChangeShapeType="1"/>
          </p:cNvSpPr>
          <p:nvPr/>
        </p:nvSpPr>
        <p:spPr bwMode="auto">
          <a:xfrm flipH="1">
            <a:off x="8991471" y="5322344"/>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88" name="Line 65"/>
          <p:cNvSpPr>
            <a:spLocks noChangeShapeType="1"/>
          </p:cNvSpPr>
          <p:nvPr/>
        </p:nvSpPr>
        <p:spPr bwMode="auto">
          <a:xfrm flipH="1">
            <a:off x="5615177" y="2737662"/>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89" name="Line 65"/>
          <p:cNvSpPr>
            <a:spLocks noChangeShapeType="1"/>
          </p:cNvSpPr>
          <p:nvPr/>
        </p:nvSpPr>
        <p:spPr bwMode="auto">
          <a:xfrm flipH="1">
            <a:off x="5587881" y="3283582"/>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sp>
        <p:nvSpPr>
          <p:cNvPr id="90" name="Line 65"/>
          <p:cNvSpPr>
            <a:spLocks noChangeShapeType="1"/>
          </p:cNvSpPr>
          <p:nvPr/>
        </p:nvSpPr>
        <p:spPr bwMode="auto">
          <a:xfrm flipH="1">
            <a:off x="7252937" y="3856798"/>
            <a:ext cx="321324" cy="4974"/>
          </a:xfrm>
          <a:prstGeom prst="line">
            <a:avLst/>
          </a:prstGeom>
          <a:noFill/>
          <a:ln w="25400">
            <a:solidFill>
              <a:schemeClr val="tx1"/>
            </a:solidFill>
            <a:round/>
            <a:headEnd/>
            <a:tailEnd type="triangle" w="lg" len="lg"/>
          </a:ln>
          <a:scene3d>
            <a:camera prst="orthographicFront">
              <a:rot lat="0" lon="0" rev="10800000"/>
            </a:camera>
            <a:lightRig rig="threePt" dir="t"/>
          </a:scene3d>
        </p:spPr>
        <p:txBody>
          <a:bodyPr/>
          <a:lstStyle/>
          <a:p>
            <a:pPr>
              <a:defRPr/>
            </a:pPr>
            <a:endParaRPr lang="en-US">
              <a:latin typeface="Calibri" panose="020F0502020204030204" pitchFamily="34" charset="0"/>
            </a:endParaRPr>
          </a:p>
        </p:txBody>
      </p:sp>
      <p:grpSp>
        <p:nvGrpSpPr>
          <p:cNvPr id="2" name="Group 1"/>
          <p:cNvGrpSpPr>
            <a:grpSpLocks/>
          </p:cNvGrpSpPr>
          <p:nvPr/>
        </p:nvGrpSpPr>
        <p:grpSpPr bwMode="auto">
          <a:xfrm>
            <a:off x="3895725" y="3173388"/>
            <a:ext cx="3046412" cy="400050"/>
            <a:chOff x="2372870" y="3357790"/>
            <a:chExt cx="3046855" cy="400050"/>
          </a:xfrm>
        </p:grpSpPr>
        <p:sp>
          <p:nvSpPr>
            <p:cNvPr id="13351" name="Line 75"/>
            <p:cNvSpPr>
              <a:spLocks noChangeShapeType="1"/>
            </p:cNvSpPr>
            <p:nvPr/>
          </p:nvSpPr>
          <p:spPr bwMode="auto">
            <a:xfrm flipH="1">
              <a:off x="2372870" y="3646931"/>
              <a:ext cx="1929728" cy="0"/>
            </a:xfrm>
            <a:prstGeom prst="line">
              <a:avLst/>
            </a:prstGeom>
            <a:noFill/>
            <a:ln w="28575">
              <a:solidFill>
                <a:schemeClr val="tx1"/>
              </a:solidFill>
              <a:prstDash val="dash"/>
              <a:round/>
              <a:headEnd/>
              <a:tailEnd type="arrow" w="lg" len="lg"/>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sp>
          <p:nvSpPr>
            <p:cNvPr id="13352" name="Text Box 43"/>
            <p:cNvSpPr txBox="1">
              <a:spLocks noChangeArrowheads="1"/>
            </p:cNvSpPr>
            <p:nvPr/>
          </p:nvSpPr>
          <p:spPr bwMode="auto">
            <a:xfrm>
              <a:off x="3148013" y="3357790"/>
              <a:ext cx="2271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t>p</a:t>
              </a:r>
            </a:p>
          </p:txBody>
        </p:sp>
      </p:grpSp>
    </p:spTree>
    <p:custDataLst>
      <p:tags r:id="rId1"/>
    </p:custDataLst>
    <p:extLst>
      <p:ext uri="{BB962C8B-B14F-4D97-AF65-F5344CB8AC3E}">
        <p14:creationId xmlns:p14="http://schemas.microsoft.com/office/powerpoint/2010/main" val="535678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054099" y="0"/>
            <a:ext cx="11134725" cy="548680"/>
          </a:xfrm>
        </p:spPr>
        <p:txBody>
          <a:bodyPr/>
          <a:lstStyle/>
          <a:p>
            <a:pPr eaLnBrk="1" hangingPunct="1"/>
            <a:r>
              <a:rPr lang="en-US" altLang="en-US" b="1" dirty="0"/>
              <a:t>Diagram to Code</a:t>
            </a:r>
          </a:p>
        </p:txBody>
      </p:sp>
      <p:sp>
        <p:nvSpPr>
          <p:cNvPr id="11267" name="Content Placeholder 2"/>
          <p:cNvSpPr>
            <a:spLocks noGrp="1"/>
          </p:cNvSpPr>
          <p:nvPr>
            <p:ph idx="1"/>
          </p:nvPr>
        </p:nvSpPr>
        <p:spPr>
          <a:xfrm>
            <a:off x="1053852" y="646736"/>
            <a:ext cx="10080873" cy="5615976"/>
          </a:xfrm>
          <a:solidFill>
            <a:schemeClr val="accent3">
              <a:lumMod val="20000"/>
              <a:lumOff val="80000"/>
            </a:schemeClr>
          </a:solidFill>
          <a:ln>
            <a:noFill/>
            <a:miter lim="800000"/>
            <a:headEnd/>
            <a:tailEnd/>
          </a:ln>
          <a:effectLst>
            <a:outerShdw blurRad="50800" dist="38100" dir="8100000" algn="tr" rotWithShape="0">
              <a:prstClr val="black">
                <a:alpha val="40000"/>
              </a:prstClr>
            </a:outerShdw>
          </a:effectLst>
        </p:spPr>
        <p:txBody>
          <a:bodyPr>
            <a:normAutofit/>
          </a:bodyPr>
          <a:lstStyle/>
          <a:p>
            <a:pPr eaLnBrk="1" hangingPunct="1">
              <a:spcBef>
                <a:spcPts val="600"/>
              </a:spcBef>
              <a:buFontTx/>
              <a:buNone/>
            </a:pPr>
            <a:r>
              <a:rPr lang="en-US" altLang="en-US" sz="1700" dirty="0"/>
              <a:t>public class </a:t>
            </a:r>
            <a:r>
              <a:rPr lang="en-US" altLang="en-US" sz="1700" b="1" dirty="0">
                <a:solidFill>
                  <a:srgbClr val="00B050"/>
                </a:solidFill>
              </a:rPr>
              <a:t>Order</a:t>
            </a:r>
            <a:r>
              <a:rPr lang="en-US" altLang="en-US" sz="1700" dirty="0"/>
              <a:t> {</a:t>
            </a:r>
          </a:p>
          <a:p>
            <a:pPr eaLnBrk="1" hangingPunct="1">
              <a:spcBef>
                <a:spcPts val="600"/>
              </a:spcBef>
              <a:buFontTx/>
              <a:buNone/>
            </a:pPr>
            <a:r>
              <a:rPr lang="en-US" altLang="en-US" sz="1700" b="1" dirty="0">
                <a:solidFill>
                  <a:srgbClr val="0070C0"/>
                </a:solidFill>
              </a:rPr>
              <a:t>   </a:t>
            </a:r>
            <a:r>
              <a:rPr lang="en-US" altLang="en-US" sz="1700" b="1" dirty="0">
                <a:solidFill>
                  <a:srgbClr val="FF0000"/>
                </a:solidFill>
              </a:rPr>
              <a:t>private Customer c ;    </a:t>
            </a:r>
          </a:p>
          <a:p>
            <a:pPr eaLnBrk="1" hangingPunct="1">
              <a:spcBef>
                <a:spcPts val="600"/>
              </a:spcBef>
              <a:buFontTx/>
              <a:buNone/>
            </a:pPr>
            <a:r>
              <a:rPr lang="en-US" altLang="en-US" sz="1700" b="1" dirty="0">
                <a:solidFill>
                  <a:srgbClr val="0070C0"/>
                </a:solidFill>
              </a:rPr>
              <a:t>   </a:t>
            </a:r>
            <a:r>
              <a:rPr lang="en-US" altLang="en-US" sz="1700" b="1" dirty="0">
                <a:solidFill>
                  <a:srgbClr val="FF0000"/>
                </a:solidFill>
              </a:rPr>
              <a:t>private </a:t>
            </a:r>
            <a:r>
              <a:rPr lang="en-US" altLang="en-US" sz="1700" b="1" dirty="0" err="1">
                <a:solidFill>
                  <a:srgbClr val="FF0000"/>
                </a:solidFill>
              </a:rPr>
              <a:t>Orderline</a:t>
            </a:r>
            <a:r>
              <a:rPr lang="en-US" altLang="en-US" sz="1700" b="1" dirty="0">
                <a:solidFill>
                  <a:srgbClr val="FF0000"/>
                </a:solidFill>
              </a:rPr>
              <a:t> </a:t>
            </a:r>
            <a:r>
              <a:rPr lang="en-US" altLang="en-US" sz="1700" b="1" dirty="0" err="1">
                <a:solidFill>
                  <a:srgbClr val="FF0000"/>
                </a:solidFill>
              </a:rPr>
              <a:t>ol</a:t>
            </a:r>
            <a:r>
              <a:rPr lang="en-US" altLang="en-US" sz="1700" b="1" dirty="0">
                <a:solidFill>
                  <a:srgbClr val="FF0000"/>
                </a:solidFill>
              </a:rPr>
              <a:t> ; //………some other codes</a:t>
            </a:r>
            <a:endParaRPr lang="en-US" altLang="en-US" sz="1700" b="1" dirty="0">
              <a:solidFill>
                <a:srgbClr val="0070C0"/>
              </a:solidFill>
            </a:endParaRPr>
          </a:p>
          <a:p>
            <a:pPr eaLnBrk="1" hangingPunct="1">
              <a:spcBef>
                <a:spcPts val="600"/>
              </a:spcBef>
              <a:buFontTx/>
              <a:buNone/>
            </a:pPr>
            <a:r>
              <a:rPr lang="en-US" altLang="en-US" sz="1700" b="1" dirty="0">
                <a:solidFill>
                  <a:srgbClr val="0070C0"/>
                </a:solidFill>
              </a:rPr>
              <a:t>public double </a:t>
            </a:r>
            <a:r>
              <a:rPr lang="en-US" altLang="en-US" sz="1700" b="1" dirty="0" err="1">
                <a:solidFill>
                  <a:srgbClr val="0070C0"/>
                </a:solidFill>
              </a:rPr>
              <a:t>calculatePrice</a:t>
            </a: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a:t>
            </a:r>
            <a:r>
              <a:rPr lang="en-US" altLang="en-US" sz="1700" b="1" dirty="0" err="1">
                <a:solidFill>
                  <a:srgbClr val="0070C0"/>
                </a:solidFill>
              </a:rPr>
              <a:t>int</a:t>
            </a:r>
            <a:r>
              <a:rPr lang="en-US" altLang="en-US" sz="1700" b="1" dirty="0">
                <a:solidFill>
                  <a:srgbClr val="0070C0"/>
                </a:solidFill>
              </a:rPr>
              <a:t> </a:t>
            </a:r>
            <a:r>
              <a:rPr lang="en-US" altLang="en-US" sz="1700" b="1" dirty="0" err="1">
                <a:solidFill>
                  <a:srgbClr val="0070C0"/>
                </a:solidFill>
              </a:rPr>
              <a:t>qty</a:t>
            </a:r>
            <a:r>
              <a:rPr lang="en-US" altLang="en-US" sz="1700" b="1" dirty="0">
                <a:solidFill>
                  <a:srgbClr val="0070C0"/>
                </a:solidFill>
              </a:rPr>
              <a:t> = </a:t>
            </a:r>
            <a:r>
              <a:rPr lang="en-US" altLang="en-US" sz="1700" b="1" dirty="0" err="1">
                <a:solidFill>
                  <a:srgbClr val="FF0000"/>
                </a:solidFill>
              </a:rPr>
              <a:t>ol</a:t>
            </a:r>
            <a:r>
              <a:rPr lang="en-US" altLang="en-US" sz="1700" b="1" dirty="0" err="1">
                <a:solidFill>
                  <a:srgbClr val="0070C0"/>
                </a:solidFill>
              </a:rPr>
              <a:t>.getQuantity</a:t>
            </a: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Product p = </a:t>
            </a:r>
            <a:r>
              <a:rPr lang="en-US" altLang="en-US" sz="1700" b="1" dirty="0" err="1">
                <a:solidFill>
                  <a:srgbClr val="FF0000"/>
                </a:solidFill>
              </a:rPr>
              <a:t>ol</a:t>
            </a:r>
            <a:r>
              <a:rPr lang="en-US" altLang="en-US" sz="1700" b="1" dirty="0" err="1">
                <a:solidFill>
                  <a:srgbClr val="0070C0"/>
                </a:solidFill>
              </a:rPr>
              <a:t>.getProduct</a:t>
            </a: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double price = </a:t>
            </a:r>
            <a:r>
              <a:rPr lang="en-US" altLang="en-US" sz="1700" b="1" dirty="0" err="1">
                <a:solidFill>
                  <a:srgbClr val="0070C0"/>
                </a:solidFill>
              </a:rPr>
              <a:t>p.getPricingDetail</a:t>
            </a: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double </a:t>
            </a:r>
            <a:r>
              <a:rPr lang="en-US" altLang="en-US" sz="1700" b="1" dirty="0" err="1">
                <a:solidFill>
                  <a:srgbClr val="0070C0"/>
                </a:solidFill>
              </a:rPr>
              <a:t>bPrice</a:t>
            </a:r>
            <a:r>
              <a:rPr lang="en-US" altLang="en-US" sz="1700" b="1" dirty="0">
                <a:solidFill>
                  <a:srgbClr val="0070C0"/>
                </a:solidFill>
              </a:rPr>
              <a:t> = </a:t>
            </a:r>
            <a:r>
              <a:rPr lang="en-US" altLang="en-US" sz="1700" b="1" dirty="0" err="1">
                <a:solidFill>
                  <a:srgbClr val="0070C0"/>
                </a:solidFill>
              </a:rPr>
              <a:t>calculateBasicPrice</a:t>
            </a:r>
            <a:r>
              <a:rPr lang="en-US" altLang="en-US" sz="1700" b="1" dirty="0">
                <a:solidFill>
                  <a:srgbClr val="0070C0"/>
                </a:solidFill>
              </a:rPr>
              <a:t>(</a:t>
            </a:r>
            <a:r>
              <a:rPr lang="en-US" altLang="en-US" sz="1700" b="1" dirty="0" err="1">
                <a:solidFill>
                  <a:srgbClr val="0070C0"/>
                </a:solidFill>
              </a:rPr>
              <a:t>qty</a:t>
            </a:r>
            <a:r>
              <a:rPr lang="en-US" altLang="en-US" sz="1700" b="1" dirty="0">
                <a:solidFill>
                  <a:srgbClr val="0070C0"/>
                </a:solidFill>
              </a:rPr>
              <a:t>, price);</a:t>
            </a:r>
          </a:p>
          <a:p>
            <a:pPr eaLnBrk="1" hangingPunct="1">
              <a:spcBef>
                <a:spcPts val="600"/>
              </a:spcBef>
              <a:buFontTx/>
              <a:buNone/>
            </a:pPr>
            <a:r>
              <a:rPr lang="en-US" altLang="en-US" sz="1700" b="1" dirty="0">
                <a:solidFill>
                  <a:srgbClr val="0070C0"/>
                </a:solidFill>
              </a:rPr>
              <a:t>      double discount = </a:t>
            </a:r>
            <a:r>
              <a:rPr lang="en-US" altLang="en-US" sz="1700" b="1" dirty="0" err="1">
                <a:solidFill>
                  <a:srgbClr val="0070C0"/>
                </a:solidFill>
              </a:rPr>
              <a:t>calculateDiscounts</a:t>
            </a:r>
            <a:r>
              <a:rPr lang="en-US" altLang="en-US" sz="1700" b="1" dirty="0">
                <a:solidFill>
                  <a:srgbClr val="0070C0"/>
                </a:solidFill>
              </a:rPr>
              <a:t>();</a:t>
            </a:r>
          </a:p>
          <a:p>
            <a:pPr eaLnBrk="1" hangingPunct="1">
              <a:spcBef>
                <a:spcPts val="600"/>
              </a:spcBef>
              <a:buFontTx/>
              <a:buNone/>
            </a:pPr>
            <a:r>
              <a:rPr lang="en-US" altLang="en-US" sz="1700" b="1" dirty="0">
                <a:solidFill>
                  <a:srgbClr val="0070C0"/>
                </a:solidFill>
              </a:rPr>
              <a:t>      return </a:t>
            </a:r>
            <a:r>
              <a:rPr lang="en-US" altLang="en-US" sz="1700" b="1" dirty="0" err="1">
                <a:solidFill>
                  <a:srgbClr val="0070C0"/>
                </a:solidFill>
              </a:rPr>
              <a:t>calculateTotalPrice</a:t>
            </a:r>
            <a:r>
              <a:rPr lang="en-US" altLang="en-US" sz="1700" b="1" dirty="0">
                <a:solidFill>
                  <a:srgbClr val="0070C0"/>
                </a:solidFill>
              </a:rPr>
              <a:t>(price, discount );</a:t>
            </a:r>
          </a:p>
          <a:p>
            <a:pPr eaLnBrk="1" hangingPunct="1">
              <a:spcBef>
                <a:spcPts val="600"/>
              </a:spcBef>
              <a:buFontTx/>
              <a:buNone/>
            </a:pP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a:t>
            </a:r>
            <a:r>
              <a:rPr lang="en-US" altLang="en-US" sz="1700" b="1" dirty="0">
                <a:solidFill>
                  <a:srgbClr val="FF0000"/>
                </a:solidFill>
              </a:rPr>
              <a:t>private</a:t>
            </a:r>
            <a:r>
              <a:rPr lang="en-US" altLang="en-US" sz="1700" b="1" dirty="0">
                <a:solidFill>
                  <a:srgbClr val="0070C0"/>
                </a:solidFill>
              </a:rPr>
              <a:t> double </a:t>
            </a:r>
            <a:r>
              <a:rPr lang="en-US" altLang="en-US" sz="1700" b="1" dirty="0" err="1">
                <a:solidFill>
                  <a:srgbClr val="0070C0"/>
                </a:solidFill>
              </a:rPr>
              <a:t>calculateBasicPrice</a:t>
            </a:r>
            <a:r>
              <a:rPr lang="en-US" altLang="en-US" sz="1700" b="1" dirty="0">
                <a:solidFill>
                  <a:srgbClr val="0070C0"/>
                </a:solidFill>
              </a:rPr>
              <a:t>(</a:t>
            </a:r>
            <a:r>
              <a:rPr lang="en-US" altLang="en-US" sz="1700" b="1" dirty="0" err="1">
                <a:solidFill>
                  <a:srgbClr val="0070C0"/>
                </a:solidFill>
              </a:rPr>
              <a:t>qty</a:t>
            </a:r>
            <a:r>
              <a:rPr lang="en-US" altLang="en-US" sz="1700" b="1" dirty="0">
                <a:solidFill>
                  <a:srgbClr val="0070C0"/>
                </a:solidFill>
              </a:rPr>
              <a:t>, price) {</a:t>
            </a:r>
          </a:p>
          <a:p>
            <a:pPr eaLnBrk="1" hangingPunct="1">
              <a:spcBef>
                <a:spcPts val="600"/>
              </a:spcBef>
              <a:buFontTx/>
              <a:buNone/>
            </a:pPr>
            <a:r>
              <a:rPr lang="en-US" altLang="en-US" sz="1700" b="1" dirty="0">
                <a:solidFill>
                  <a:srgbClr val="0070C0"/>
                </a:solidFill>
              </a:rPr>
              <a:t>           return </a:t>
            </a:r>
            <a:r>
              <a:rPr lang="en-US" altLang="en-US" sz="1700" b="1" dirty="0" err="1">
                <a:solidFill>
                  <a:srgbClr val="0070C0"/>
                </a:solidFill>
              </a:rPr>
              <a:t>qty</a:t>
            </a:r>
            <a:r>
              <a:rPr lang="en-US" altLang="en-US" sz="1700" b="1" dirty="0">
                <a:solidFill>
                  <a:srgbClr val="0070C0"/>
                </a:solidFill>
              </a:rPr>
              <a:t> * price ;</a:t>
            </a:r>
          </a:p>
          <a:p>
            <a:pPr eaLnBrk="1" hangingPunct="1">
              <a:spcBef>
                <a:spcPts val="600"/>
              </a:spcBef>
              <a:buFontTx/>
              <a:buNone/>
            </a:pPr>
            <a:r>
              <a:rPr lang="en-US" altLang="en-US" sz="1700" b="1" dirty="0">
                <a:solidFill>
                  <a:srgbClr val="0070C0"/>
                </a:solidFill>
              </a:rPr>
              <a:t>   }</a:t>
            </a:r>
          </a:p>
          <a:p>
            <a:pPr eaLnBrk="1" hangingPunct="1">
              <a:spcBef>
                <a:spcPts val="600"/>
              </a:spcBef>
              <a:buFontTx/>
              <a:buNone/>
            </a:pPr>
            <a:r>
              <a:rPr lang="en-US" altLang="en-US" sz="1700" b="1" dirty="0">
                <a:solidFill>
                  <a:srgbClr val="0070C0"/>
                </a:solidFill>
              </a:rPr>
              <a:t>   </a:t>
            </a:r>
            <a:r>
              <a:rPr lang="en-US" altLang="en-US" sz="1700" b="1" dirty="0">
                <a:solidFill>
                  <a:srgbClr val="FF0000"/>
                </a:solidFill>
              </a:rPr>
              <a:t>private</a:t>
            </a:r>
            <a:r>
              <a:rPr lang="en-US" altLang="en-US" sz="1700" b="1" dirty="0">
                <a:solidFill>
                  <a:srgbClr val="0070C0"/>
                </a:solidFill>
              </a:rPr>
              <a:t> double </a:t>
            </a:r>
            <a:r>
              <a:rPr lang="en-US" altLang="en-US" sz="1700" b="1" dirty="0" err="1">
                <a:solidFill>
                  <a:srgbClr val="0070C0"/>
                </a:solidFill>
              </a:rPr>
              <a:t>calculateDiscounts</a:t>
            </a:r>
            <a:r>
              <a:rPr lang="en-US" altLang="en-US" sz="1700" b="1" dirty="0">
                <a:solidFill>
                  <a:srgbClr val="0070C0"/>
                </a:solidFill>
              </a:rPr>
              <a:t> ( ) {</a:t>
            </a:r>
          </a:p>
          <a:p>
            <a:pPr eaLnBrk="1" hangingPunct="1">
              <a:spcBef>
                <a:spcPts val="600"/>
              </a:spcBef>
              <a:buFontTx/>
              <a:buNone/>
            </a:pPr>
            <a:r>
              <a:rPr lang="en-US" altLang="en-US" sz="1700" b="1" dirty="0">
                <a:solidFill>
                  <a:srgbClr val="0070C0"/>
                </a:solidFill>
              </a:rPr>
              <a:t>           return </a:t>
            </a:r>
            <a:r>
              <a:rPr lang="en-US" altLang="en-US" sz="1700" b="1" dirty="0" err="1">
                <a:solidFill>
                  <a:srgbClr val="FF0000"/>
                </a:solidFill>
              </a:rPr>
              <a:t>c</a:t>
            </a:r>
            <a:r>
              <a:rPr lang="en-US" altLang="en-US" sz="1700" b="1" dirty="0" err="1">
                <a:solidFill>
                  <a:srgbClr val="0070C0"/>
                </a:solidFill>
              </a:rPr>
              <a:t>.getDiscountInfo</a:t>
            </a:r>
            <a:r>
              <a:rPr lang="en-US" altLang="en-US" sz="1700" b="1" dirty="0">
                <a:solidFill>
                  <a:srgbClr val="0070C0"/>
                </a:solidFill>
              </a:rPr>
              <a:t>( ) ;</a:t>
            </a:r>
          </a:p>
          <a:p>
            <a:pPr eaLnBrk="1" hangingPunct="1">
              <a:spcBef>
                <a:spcPts val="600"/>
              </a:spcBef>
              <a:buFontTx/>
              <a:buNone/>
            </a:pPr>
            <a:r>
              <a:rPr lang="en-US" altLang="en-US" sz="1700" b="1" dirty="0">
                <a:solidFill>
                  <a:srgbClr val="0070C0"/>
                </a:solidFill>
              </a:rPr>
              <a:t>   }</a:t>
            </a:r>
            <a:endParaRPr lang="en-US" altLang="en-US" sz="1700" dirty="0"/>
          </a:p>
        </p:txBody>
      </p:sp>
      <p:sp>
        <p:nvSpPr>
          <p:cNvPr id="3" name="TextBox 2"/>
          <p:cNvSpPr txBox="1"/>
          <p:nvPr/>
        </p:nvSpPr>
        <p:spPr>
          <a:xfrm>
            <a:off x="1341884" y="3414911"/>
            <a:ext cx="4749313" cy="615553"/>
          </a:xfrm>
          <a:prstGeom prst="rect">
            <a:avLst/>
          </a:prstGeom>
          <a:solidFill>
            <a:schemeClr val="accent3">
              <a:lumMod val="20000"/>
              <a:lumOff val="80000"/>
            </a:schemeClr>
          </a:solidFill>
          <a:ln>
            <a:noFill/>
          </a:ln>
        </p:spPr>
        <p:txBody>
          <a:bodyPr wrap="none">
            <a:spAutoFit/>
          </a:bodyPr>
          <a:lstStyle/>
          <a:p>
            <a:pPr>
              <a:defRPr/>
            </a:pPr>
            <a:r>
              <a:rPr lang="en-US" altLang="en-US" sz="1700" b="1" dirty="0">
                <a:solidFill>
                  <a:srgbClr val="0070C0"/>
                </a:solidFill>
                <a:latin typeface="Calibri" panose="020F0502020204030204" pitchFamily="34" charset="0"/>
              </a:rPr>
              <a:t>double total = </a:t>
            </a:r>
            <a:r>
              <a:rPr lang="en-US" altLang="en-US" sz="1700" b="1" dirty="0" err="1">
                <a:solidFill>
                  <a:srgbClr val="0070C0"/>
                </a:solidFill>
                <a:latin typeface="Calibri" panose="020F0502020204030204" pitchFamily="34" charset="0"/>
              </a:rPr>
              <a:t>calculateTotalPrice</a:t>
            </a:r>
            <a:r>
              <a:rPr lang="en-US" altLang="en-US" sz="1700" b="1" dirty="0">
                <a:solidFill>
                  <a:srgbClr val="0070C0"/>
                </a:solidFill>
                <a:latin typeface="Calibri" panose="020F0502020204030204" pitchFamily="34" charset="0"/>
              </a:rPr>
              <a:t>(price, discount );</a:t>
            </a:r>
          </a:p>
          <a:p>
            <a:pPr>
              <a:defRPr/>
            </a:pPr>
            <a:r>
              <a:rPr lang="en-US" sz="1700" b="1" dirty="0">
                <a:solidFill>
                  <a:srgbClr val="0070C0"/>
                </a:solidFill>
                <a:latin typeface="Calibri" panose="020F0502020204030204" pitchFamily="34" charset="0"/>
              </a:rPr>
              <a:t>return total;</a:t>
            </a:r>
            <a:endParaRPr lang="en-SG" sz="1700" b="1" dirty="0">
              <a:solidFill>
                <a:srgbClr val="0070C0"/>
              </a:solidFill>
              <a:latin typeface="Calibri" panose="020F0502020204030204" pitchFamily="34" charset="0"/>
            </a:endParaRPr>
          </a:p>
        </p:txBody>
      </p:sp>
    </p:spTree>
    <p:extLst>
      <p:ext uri="{BB962C8B-B14F-4D97-AF65-F5344CB8AC3E}">
        <p14:creationId xmlns:p14="http://schemas.microsoft.com/office/powerpoint/2010/main" val="1435175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870075" y="192088"/>
            <a:ext cx="8229600" cy="1143000"/>
          </a:xfrm>
        </p:spPr>
        <p:txBody>
          <a:bodyPr/>
          <a:lstStyle/>
          <a:p>
            <a:pPr eaLnBrk="1" hangingPunct="1"/>
            <a:r>
              <a:rPr lang="en-US" altLang="en-US"/>
              <a:t>Diagram to Code</a:t>
            </a:r>
          </a:p>
        </p:txBody>
      </p:sp>
      <p:sp>
        <p:nvSpPr>
          <p:cNvPr id="15363" name="Content Placeholder 2"/>
          <p:cNvSpPr>
            <a:spLocks noGrp="1"/>
          </p:cNvSpPr>
          <p:nvPr>
            <p:ph idx="1"/>
          </p:nvPr>
        </p:nvSpPr>
        <p:spPr>
          <a:xfrm>
            <a:off x="1064145" y="2675012"/>
            <a:ext cx="10070580" cy="3490292"/>
          </a:xfrm>
          <a:solidFill>
            <a:schemeClr val="accent3">
              <a:lumMod val="20000"/>
              <a:lumOff val="80000"/>
            </a:schemeClr>
          </a:solidFill>
          <a:ln>
            <a:noFill/>
            <a:miter lim="800000"/>
            <a:headEnd/>
            <a:tailEnd/>
          </a:ln>
          <a:effectLst>
            <a:outerShdw blurRad="50800" dist="38100" dir="8100000" algn="tr" rotWithShape="0">
              <a:prstClr val="black">
                <a:alpha val="40000"/>
              </a:prstClr>
            </a:outerShdw>
          </a:effectLst>
        </p:spPr>
        <p:txBody>
          <a:bodyPr>
            <a:normAutofit/>
          </a:bodyPr>
          <a:lstStyle/>
          <a:p>
            <a:pPr eaLnBrk="1" hangingPunct="1">
              <a:spcBef>
                <a:spcPts val="400"/>
              </a:spcBef>
              <a:buFontTx/>
              <a:buNone/>
            </a:pPr>
            <a:r>
              <a:rPr lang="en-US" altLang="en-US" sz="1800" dirty="0"/>
              <a:t>public class </a:t>
            </a:r>
            <a:r>
              <a:rPr lang="en-US" altLang="en-US" sz="1800" b="1" dirty="0" err="1">
                <a:solidFill>
                  <a:srgbClr val="00B050"/>
                </a:solidFill>
              </a:rPr>
              <a:t>OrderLine</a:t>
            </a:r>
            <a:r>
              <a:rPr lang="en-US" altLang="en-US" sz="1800" dirty="0"/>
              <a:t> {</a:t>
            </a:r>
          </a:p>
          <a:p>
            <a:pPr eaLnBrk="1" hangingPunct="1">
              <a:spcBef>
                <a:spcPts val="400"/>
              </a:spcBef>
              <a:buFontTx/>
              <a:buNone/>
            </a:pPr>
            <a:r>
              <a:rPr lang="en-US" altLang="en-US" sz="1800" b="1" dirty="0">
                <a:solidFill>
                  <a:srgbClr val="FF0000"/>
                </a:solidFill>
              </a:rPr>
              <a:t>   private </a:t>
            </a:r>
            <a:r>
              <a:rPr lang="en-US" altLang="en-US" sz="1800" b="1" dirty="0" err="1">
                <a:solidFill>
                  <a:srgbClr val="FF0000"/>
                </a:solidFill>
              </a:rPr>
              <a:t>int</a:t>
            </a:r>
            <a:r>
              <a:rPr lang="en-US" altLang="en-US" sz="1800" b="1" dirty="0">
                <a:solidFill>
                  <a:srgbClr val="FF0000"/>
                </a:solidFill>
              </a:rPr>
              <a:t> </a:t>
            </a:r>
            <a:r>
              <a:rPr lang="en-US" altLang="en-US" sz="1800" b="1" dirty="0" err="1">
                <a:solidFill>
                  <a:srgbClr val="FF0000"/>
                </a:solidFill>
              </a:rPr>
              <a:t>qty</a:t>
            </a:r>
            <a:r>
              <a:rPr lang="en-US" altLang="en-US" sz="1800" b="1" dirty="0">
                <a:solidFill>
                  <a:srgbClr val="FF0000"/>
                </a:solidFill>
              </a:rPr>
              <a:t> ;    </a:t>
            </a:r>
          </a:p>
          <a:p>
            <a:pPr eaLnBrk="1" hangingPunct="1">
              <a:spcBef>
                <a:spcPts val="400"/>
              </a:spcBef>
              <a:buFontTx/>
              <a:buNone/>
            </a:pPr>
            <a:r>
              <a:rPr lang="en-US" altLang="en-US" sz="1800" b="1" dirty="0">
                <a:solidFill>
                  <a:srgbClr val="0070C0"/>
                </a:solidFill>
              </a:rPr>
              <a:t>   </a:t>
            </a:r>
            <a:r>
              <a:rPr lang="en-US" altLang="en-US" sz="1800" b="1" dirty="0">
                <a:solidFill>
                  <a:srgbClr val="FF0000"/>
                </a:solidFill>
              </a:rPr>
              <a:t>private Product </a:t>
            </a:r>
            <a:r>
              <a:rPr lang="en-US" altLang="en-US" sz="1800" b="1" dirty="0" err="1">
                <a:solidFill>
                  <a:srgbClr val="FF0000"/>
                </a:solidFill>
              </a:rPr>
              <a:t>product</a:t>
            </a:r>
            <a:r>
              <a:rPr lang="en-US" altLang="en-US" sz="1800" b="1" dirty="0">
                <a:solidFill>
                  <a:srgbClr val="FF0000"/>
                </a:solidFill>
              </a:rPr>
              <a:t> ; //………some other codes</a:t>
            </a:r>
            <a:endParaRPr lang="en-US" altLang="en-US" sz="1800" b="1" dirty="0">
              <a:solidFill>
                <a:srgbClr val="0070C0"/>
              </a:solidFill>
            </a:endParaRPr>
          </a:p>
          <a:p>
            <a:pPr eaLnBrk="1" hangingPunct="1">
              <a:spcBef>
                <a:spcPts val="400"/>
              </a:spcBef>
              <a:buFontTx/>
              <a:buNone/>
            </a:pPr>
            <a:r>
              <a:rPr lang="en-US" altLang="en-US" sz="1800" b="1" dirty="0">
                <a:solidFill>
                  <a:srgbClr val="0070C0"/>
                </a:solidFill>
              </a:rPr>
              <a:t>  public  </a:t>
            </a:r>
            <a:r>
              <a:rPr lang="en-US" altLang="en-US" sz="1800" b="1" dirty="0" err="1">
                <a:solidFill>
                  <a:srgbClr val="0070C0"/>
                </a:solidFill>
              </a:rPr>
              <a:t>int</a:t>
            </a:r>
            <a:r>
              <a:rPr lang="en-US" altLang="en-US" sz="1800" b="1" dirty="0">
                <a:solidFill>
                  <a:srgbClr val="0070C0"/>
                </a:solidFill>
              </a:rPr>
              <a:t>  </a:t>
            </a:r>
            <a:r>
              <a:rPr lang="en-US" altLang="en-US" sz="1800" b="1" dirty="0" err="1">
                <a:solidFill>
                  <a:srgbClr val="0070C0"/>
                </a:solidFill>
              </a:rPr>
              <a:t>getQuantity</a:t>
            </a:r>
            <a:r>
              <a:rPr lang="en-US" altLang="en-US" sz="1800" b="1" dirty="0">
                <a:solidFill>
                  <a:srgbClr val="0070C0"/>
                </a:solidFill>
              </a:rPr>
              <a:t>( ) () {</a:t>
            </a:r>
          </a:p>
          <a:p>
            <a:pPr eaLnBrk="1" hangingPunct="1">
              <a:spcBef>
                <a:spcPts val="400"/>
              </a:spcBef>
              <a:buFontTx/>
              <a:buNone/>
            </a:pPr>
            <a:r>
              <a:rPr lang="en-US" altLang="en-US" sz="1800" b="1" dirty="0">
                <a:solidFill>
                  <a:srgbClr val="0070C0"/>
                </a:solidFill>
              </a:rPr>
              <a:t>	  return </a:t>
            </a:r>
            <a:r>
              <a:rPr lang="en-US" altLang="en-US" sz="1800" b="1" dirty="0" err="1">
                <a:solidFill>
                  <a:srgbClr val="0070C0"/>
                </a:solidFill>
              </a:rPr>
              <a:t>qty</a:t>
            </a:r>
            <a:r>
              <a:rPr lang="en-US" altLang="en-US" sz="1800" b="1" dirty="0">
                <a:solidFill>
                  <a:srgbClr val="0070C0"/>
                </a:solidFill>
              </a:rPr>
              <a:t> ; </a:t>
            </a:r>
            <a:r>
              <a:rPr lang="en-US" altLang="en-US" sz="1800" dirty="0">
                <a:solidFill>
                  <a:srgbClr val="00B050"/>
                </a:solidFill>
              </a:rPr>
              <a:t>// assume </a:t>
            </a:r>
            <a:r>
              <a:rPr lang="en-US" altLang="en-US" sz="1800" dirty="0" err="1">
                <a:solidFill>
                  <a:srgbClr val="00B050"/>
                </a:solidFill>
              </a:rPr>
              <a:t>qty</a:t>
            </a:r>
            <a:r>
              <a:rPr lang="en-US" altLang="en-US" sz="1800" dirty="0">
                <a:solidFill>
                  <a:srgbClr val="00B050"/>
                </a:solidFill>
              </a:rPr>
              <a:t> is defined in class diagram or a valid value</a:t>
            </a:r>
            <a:endParaRPr lang="en-US" altLang="en-US" sz="1800" b="1" dirty="0">
              <a:solidFill>
                <a:srgbClr val="0070C0"/>
              </a:solidFill>
            </a:endParaRPr>
          </a:p>
          <a:p>
            <a:pPr eaLnBrk="1" hangingPunct="1">
              <a:spcBef>
                <a:spcPts val="400"/>
              </a:spcBef>
              <a:buFontTx/>
              <a:buNone/>
            </a:pPr>
            <a:r>
              <a:rPr lang="en-US" altLang="en-US" sz="1800" b="1" dirty="0">
                <a:solidFill>
                  <a:srgbClr val="0070C0"/>
                </a:solidFill>
              </a:rPr>
              <a:t>   }</a:t>
            </a:r>
          </a:p>
          <a:p>
            <a:pPr eaLnBrk="1" hangingPunct="1">
              <a:spcBef>
                <a:spcPts val="400"/>
              </a:spcBef>
              <a:buFontTx/>
              <a:buNone/>
            </a:pPr>
            <a:r>
              <a:rPr lang="en-US" altLang="en-US" sz="1800" b="1" dirty="0">
                <a:solidFill>
                  <a:srgbClr val="0070C0"/>
                </a:solidFill>
              </a:rPr>
              <a:t>   public  Product  </a:t>
            </a:r>
            <a:r>
              <a:rPr lang="en-US" altLang="en-US" sz="1800" b="1" dirty="0" err="1">
                <a:solidFill>
                  <a:srgbClr val="0070C0"/>
                </a:solidFill>
              </a:rPr>
              <a:t>getProduct</a:t>
            </a:r>
            <a:r>
              <a:rPr lang="en-US" altLang="en-US" sz="1800" b="1" dirty="0">
                <a:solidFill>
                  <a:srgbClr val="0070C0"/>
                </a:solidFill>
              </a:rPr>
              <a:t>()  {</a:t>
            </a:r>
          </a:p>
          <a:p>
            <a:pPr eaLnBrk="1" hangingPunct="1">
              <a:spcBef>
                <a:spcPts val="400"/>
              </a:spcBef>
              <a:buFontTx/>
              <a:buNone/>
            </a:pPr>
            <a:r>
              <a:rPr lang="en-US" altLang="en-US" sz="1800" b="1" dirty="0">
                <a:solidFill>
                  <a:srgbClr val="0070C0"/>
                </a:solidFill>
              </a:rPr>
              <a:t>           return product ; </a:t>
            </a:r>
            <a:r>
              <a:rPr lang="en-US" altLang="en-US" sz="1800" dirty="0">
                <a:solidFill>
                  <a:srgbClr val="00B050"/>
                </a:solidFill>
              </a:rPr>
              <a:t>// assume product  is defined in class diagram </a:t>
            </a:r>
            <a:endParaRPr lang="en-US" altLang="en-US" sz="1800" b="1" dirty="0">
              <a:solidFill>
                <a:srgbClr val="0070C0"/>
              </a:solidFill>
            </a:endParaRPr>
          </a:p>
          <a:p>
            <a:pPr eaLnBrk="1" hangingPunct="1">
              <a:spcBef>
                <a:spcPts val="400"/>
              </a:spcBef>
              <a:buFontTx/>
              <a:buNone/>
            </a:pPr>
            <a:r>
              <a:rPr lang="en-US" altLang="en-US" sz="1800" b="1" dirty="0">
                <a:solidFill>
                  <a:srgbClr val="0070C0"/>
                </a:solidFill>
              </a:rPr>
              <a:t>   }</a:t>
            </a:r>
          </a:p>
          <a:p>
            <a:pPr eaLnBrk="1" hangingPunct="1">
              <a:spcBef>
                <a:spcPts val="400"/>
              </a:spcBef>
              <a:buFontTx/>
              <a:buNone/>
            </a:pPr>
            <a:r>
              <a:rPr lang="en-US" altLang="en-US" sz="1800" dirty="0"/>
              <a:t>} </a:t>
            </a:r>
          </a:p>
        </p:txBody>
      </p:sp>
      <p:sp>
        <p:nvSpPr>
          <p:cNvPr id="15364" name="Content Placeholder 2"/>
          <p:cNvSpPr txBox="1">
            <a:spLocks/>
          </p:cNvSpPr>
          <p:nvPr/>
        </p:nvSpPr>
        <p:spPr bwMode="auto">
          <a:xfrm>
            <a:off x="1053852" y="764704"/>
            <a:ext cx="10080873" cy="1800200"/>
          </a:xfrm>
          <a:prstGeom prst="rect">
            <a:avLst/>
          </a:prstGeom>
          <a:solidFill>
            <a:schemeClr val="accent3">
              <a:lumMod val="20000"/>
              <a:lumOff val="80000"/>
            </a:schemeClr>
          </a:solidFill>
          <a:ln w="9525">
            <a:noFill/>
            <a:miter lim="800000"/>
            <a:headEnd/>
            <a:tailEnd/>
          </a:ln>
          <a:effectLst>
            <a:outerShdw blurRad="50800" dist="38100" dir="8100000" algn="tr" rotWithShape="0">
              <a:prstClr val="black">
                <a:alpha val="40000"/>
              </a:prstClr>
            </a:outerShdw>
          </a:effec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Tx/>
              <a:buNone/>
            </a:pPr>
            <a:r>
              <a:rPr lang="en-US" altLang="en-US" sz="1800" b="1" dirty="0">
                <a:solidFill>
                  <a:srgbClr val="0070C0"/>
                </a:solidFill>
              </a:rPr>
              <a:t>// </a:t>
            </a:r>
            <a:r>
              <a:rPr lang="en-US" altLang="en-US" sz="1800" b="1" dirty="0">
                <a:solidFill>
                  <a:srgbClr val="00B050"/>
                </a:solidFill>
              </a:rPr>
              <a:t>Order class </a:t>
            </a:r>
            <a:r>
              <a:rPr lang="en-US" altLang="en-US" sz="1800" b="1" dirty="0">
                <a:solidFill>
                  <a:srgbClr val="0070C0"/>
                </a:solidFill>
              </a:rPr>
              <a:t>continue…</a:t>
            </a:r>
          </a:p>
          <a:p>
            <a:pPr>
              <a:buFontTx/>
              <a:buNone/>
            </a:pPr>
            <a:r>
              <a:rPr lang="en-US" altLang="en-US" sz="1800" b="1" dirty="0">
                <a:solidFill>
                  <a:srgbClr val="0070C0"/>
                </a:solidFill>
              </a:rPr>
              <a:t>    </a:t>
            </a:r>
            <a:r>
              <a:rPr lang="en-US" altLang="en-US" sz="1800" b="1" dirty="0">
                <a:solidFill>
                  <a:srgbClr val="FF0000"/>
                </a:solidFill>
              </a:rPr>
              <a:t>private</a:t>
            </a:r>
            <a:r>
              <a:rPr lang="en-US" altLang="en-US" sz="1800" b="1" dirty="0">
                <a:solidFill>
                  <a:srgbClr val="0070C0"/>
                </a:solidFill>
              </a:rPr>
              <a:t> double </a:t>
            </a:r>
            <a:r>
              <a:rPr lang="en-US" altLang="en-US" sz="1800" b="1" dirty="0" err="1">
                <a:solidFill>
                  <a:srgbClr val="0070C0"/>
                </a:solidFill>
              </a:rPr>
              <a:t>calculateTotalPrice</a:t>
            </a:r>
            <a:r>
              <a:rPr lang="en-US" altLang="en-US" sz="1800" b="1" dirty="0">
                <a:solidFill>
                  <a:srgbClr val="0070C0"/>
                </a:solidFill>
              </a:rPr>
              <a:t>(double price, double discount ) {</a:t>
            </a:r>
          </a:p>
          <a:p>
            <a:pPr>
              <a:buFontTx/>
              <a:buNone/>
            </a:pPr>
            <a:r>
              <a:rPr lang="en-US" altLang="en-US" sz="1800" b="1" dirty="0">
                <a:solidFill>
                  <a:srgbClr val="0070C0"/>
                </a:solidFill>
              </a:rPr>
              <a:t>		return price * discount ;</a:t>
            </a:r>
          </a:p>
          <a:p>
            <a:pPr>
              <a:buFontTx/>
              <a:buNone/>
            </a:pPr>
            <a:r>
              <a:rPr lang="en-US" altLang="en-US" sz="1800" b="1" dirty="0">
                <a:solidFill>
                  <a:srgbClr val="0070C0"/>
                </a:solidFill>
              </a:rPr>
              <a:t>    }</a:t>
            </a:r>
          </a:p>
          <a:p>
            <a:pPr>
              <a:buFontTx/>
              <a:buNone/>
            </a:pPr>
            <a:r>
              <a:rPr lang="en-US" altLang="en-US" sz="1800" b="1" dirty="0">
                <a:solidFill>
                  <a:srgbClr val="0070C0"/>
                </a:solidFill>
              </a:rPr>
              <a:t>}</a:t>
            </a:r>
            <a:endParaRPr lang="en-US" altLang="en-US" sz="1800" dirty="0"/>
          </a:p>
        </p:txBody>
      </p:sp>
      <p:sp>
        <p:nvSpPr>
          <p:cNvPr id="5" name="Rectangle 1026"/>
          <p:cNvSpPr txBox="1">
            <a:spLocks noChangeArrowheads="1"/>
          </p:cNvSpPr>
          <p:nvPr/>
        </p:nvSpPr>
        <p:spPr bwMode="white">
          <a:xfrm>
            <a:off x="1054100" y="0"/>
            <a:ext cx="10080625" cy="5486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a:lstStyle>
          <a:p>
            <a:pPr>
              <a:defRPr/>
            </a:pPr>
            <a:r>
              <a:rPr lang="en-GB" altLang="zh-TW" sz="3300" b="1" dirty="0"/>
              <a:t>Diagram</a:t>
            </a:r>
            <a:r>
              <a:rPr lang="en-GB" altLang="zh-TW" b="1" dirty="0"/>
              <a:t> to Code</a:t>
            </a:r>
            <a:endParaRPr lang="en-US" altLang="zh-TW" b="1" dirty="0">
              <a:cs typeface="Times New Roman" pitchFamily="18" charset="0"/>
            </a:endParaRPr>
          </a:p>
        </p:txBody>
      </p:sp>
    </p:spTree>
    <p:extLst>
      <p:ext uri="{BB962C8B-B14F-4D97-AF65-F5344CB8AC3E}">
        <p14:creationId xmlns:p14="http://schemas.microsoft.com/office/powerpoint/2010/main" val="2693874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1064841" y="1122363"/>
            <a:ext cx="10069884" cy="1658565"/>
          </a:xfrm>
          <a:solidFill>
            <a:schemeClr val="bg1">
              <a:lumMod val="95000"/>
            </a:schemeClr>
          </a:solidFill>
          <a:ln>
            <a:noFill/>
            <a:miter lim="800000"/>
            <a:headEnd/>
            <a:tailEnd/>
          </a:ln>
          <a:effectLst>
            <a:outerShdw blurRad="50800" dist="38100" dir="8100000" algn="tr" rotWithShape="0">
              <a:prstClr val="black">
                <a:alpha val="40000"/>
              </a:prstClr>
            </a:outerShdw>
          </a:effectLst>
        </p:spPr>
        <p:txBody>
          <a:bodyPr>
            <a:normAutofit/>
          </a:bodyPr>
          <a:lstStyle/>
          <a:p>
            <a:pPr eaLnBrk="1" hangingPunct="1">
              <a:spcBef>
                <a:spcPts val="500"/>
              </a:spcBef>
              <a:buFontTx/>
              <a:buNone/>
            </a:pPr>
            <a:r>
              <a:rPr lang="en-US" altLang="en-US" sz="1800" dirty="0"/>
              <a:t>public class </a:t>
            </a:r>
            <a:r>
              <a:rPr lang="en-US" altLang="en-US" sz="1800" b="1" dirty="0">
                <a:solidFill>
                  <a:srgbClr val="00B050"/>
                </a:solidFill>
              </a:rPr>
              <a:t>Product</a:t>
            </a:r>
            <a:r>
              <a:rPr lang="en-US" altLang="en-US" sz="1800" dirty="0"/>
              <a:t> {</a:t>
            </a:r>
          </a:p>
          <a:p>
            <a:pPr eaLnBrk="1" hangingPunct="1">
              <a:spcBef>
                <a:spcPts val="500"/>
              </a:spcBef>
              <a:buFontTx/>
              <a:buNone/>
            </a:pPr>
            <a:r>
              <a:rPr lang="en-US" altLang="en-US" sz="1800" b="1" dirty="0">
                <a:solidFill>
                  <a:srgbClr val="0070C0"/>
                </a:solidFill>
              </a:rPr>
              <a:t>   public  double  </a:t>
            </a:r>
            <a:r>
              <a:rPr lang="en-US" altLang="en-US" sz="1800" b="1" dirty="0" err="1">
                <a:solidFill>
                  <a:srgbClr val="0070C0"/>
                </a:solidFill>
              </a:rPr>
              <a:t>getPricingDetails</a:t>
            </a:r>
            <a:r>
              <a:rPr lang="en-US" altLang="en-US" sz="1800" b="1" dirty="0">
                <a:solidFill>
                  <a:srgbClr val="0070C0"/>
                </a:solidFill>
              </a:rPr>
              <a:t>()  {</a:t>
            </a:r>
          </a:p>
          <a:p>
            <a:pPr eaLnBrk="1" hangingPunct="1">
              <a:spcBef>
                <a:spcPts val="500"/>
              </a:spcBef>
              <a:buFontTx/>
              <a:buNone/>
            </a:pPr>
            <a:r>
              <a:rPr lang="en-US" altLang="en-US" sz="1800" b="1" dirty="0">
                <a:solidFill>
                  <a:srgbClr val="0070C0"/>
                </a:solidFill>
              </a:rPr>
              <a:t>           return 100.0 ; </a:t>
            </a:r>
            <a:r>
              <a:rPr lang="en-US" altLang="en-US" sz="1800" dirty="0">
                <a:solidFill>
                  <a:srgbClr val="FF0000"/>
                </a:solidFill>
              </a:rPr>
              <a:t>// some valid value</a:t>
            </a:r>
            <a:endParaRPr lang="en-US" altLang="en-US" sz="1800" b="1" dirty="0">
              <a:solidFill>
                <a:srgbClr val="FF0000"/>
              </a:solidFill>
            </a:endParaRPr>
          </a:p>
          <a:p>
            <a:pPr eaLnBrk="1" hangingPunct="1">
              <a:spcBef>
                <a:spcPts val="500"/>
              </a:spcBef>
              <a:buFontTx/>
              <a:buNone/>
            </a:pPr>
            <a:r>
              <a:rPr lang="en-US" altLang="en-US" sz="1800" b="1" dirty="0">
                <a:solidFill>
                  <a:srgbClr val="0070C0"/>
                </a:solidFill>
              </a:rPr>
              <a:t>   }</a:t>
            </a:r>
          </a:p>
          <a:p>
            <a:pPr eaLnBrk="1" hangingPunct="1">
              <a:spcBef>
                <a:spcPts val="500"/>
              </a:spcBef>
              <a:buFontTx/>
              <a:buNone/>
            </a:pPr>
            <a:r>
              <a:rPr lang="en-US" altLang="en-US" sz="1800" dirty="0"/>
              <a:t>} </a:t>
            </a:r>
          </a:p>
        </p:txBody>
      </p:sp>
      <p:sp>
        <p:nvSpPr>
          <p:cNvPr id="16388" name="TextBox 3"/>
          <p:cNvSpPr txBox="1">
            <a:spLocks noChangeArrowheads="1"/>
          </p:cNvSpPr>
          <p:nvPr/>
        </p:nvSpPr>
        <p:spPr bwMode="auto">
          <a:xfrm>
            <a:off x="1054101" y="5373216"/>
            <a:ext cx="100806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60000" indent="-360000" eaLnBrk="1" hangingPunct="1">
              <a:spcBef>
                <a:spcPct val="0"/>
              </a:spcBef>
            </a:pPr>
            <a:r>
              <a:rPr lang="en-US" altLang="en-US" sz="2400" dirty="0"/>
              <a:t>Though the codes are partial, they must still be </a:t>
            </a:r>
            <a:r>
              <a:rPr lang="en-US" altLang="en-US" sz="2400" b="1" u="sng" dirty="0">
                <a:solidFill>
                  <a:srgbClr val="FF0000"/>
                </a:solidFill>
              </a:rPr>
              <a:t>COMPILABLE.</a:t>
            </a:r>
            <a:r>
              <a:rPr lang="en-US" altLang="en-US" sz="2400" dirty="0"/>
              <a:t> </a:t>
            </a:r>
          </a:p>
        </p:txBody>
      </p:sp>
      <p:sp>
        <p:nvSpPr>
          <p:cNvPr id="16389" name="Content Placeholder 2"/>
          <p:cNvSpPr txBox="1">
            <a:spLocks/>
          </p:cNvSpPr>
          <p:nvPr/>
        </p:nvSpPr>
        <p:spPr bwMode="auto">
          <a:xfrm>
            <a:off x="1053851" y="3212976"/>
            <a:ext cx="10080873" cy="1872208"/>
          </a:xfrm>
          <a:prstGeom prst="rect">
            <a:avLst/>
          </a:prstGeom>
          <a:solidFill>
            <a:schemeClr val="bg1">
              <a:lumMod val="95000"/>
            </a:schemeClr>
          </a:solidFill>
          <a:ln w="9525">
            <a:noFill/>
            <a:miter lim="800000"/>
            <a:headEnd/>
            <a:tailEnd/>
          </a:ln>
          <a:effectLst>
            <a:outerShdw blurRad="50800" dist="38100" dir="8100000" algn="tr" rotWithShape="0">
              <a:prstClr val="black">
                <a:alpha val="40000"/>
              </a:prstClr>
            </a:outerShdw>
          </a:effec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Tx/>
              <a:buNone/>
            </a:pPr>
            <a:r>
              <a:rPr lang="en-US" altLang="en-US" sz="1800" dirty="0"/>
              <a:t>public class </a:t>
            </a:r>
            <a:r>
              <a:rPr lang="en-US" altLang="en-US" sz="1800" b="1" dirty="0">
                <a:solidFill>
                  <a:srgbClr val="00B050"/>
                </a:solidFill>
              </a:rPr>
              <a:t>Customer</a:t>
            </a:r>
            <a:r>
              <a:rPr lang="en-US" altLang="en-US" sz="1800" dirty="0"/>
              <a:t>{</a:t>
            </a:r>
          </a:p>
          <a:p>
            <a:pPr>
              <a:buFontTx/>
              <a:buNone/>
            </a:pPr>
            <a:r>
              <a:rPr lang="en-US" altLang="en-US" sz="1800" b="1" dirty="0">
                <a:solidFill>
                  <a:srgbClr val="0070C0"/>
                </a:solidFill>
              </a:rPr>
              <a:t>   public  double  </a:t>
            </a:r>
            <a:r>
              <a:rPr lang="en-US" altLang="en-US" sz="1800" b="1" dirty="0" err="1">
                <a:solidFill>
                  <a:srgbClr val="0070C0"/>
                </a:solidFill>
              </a:rPr>
              <a:t>getDiscountInfo</a:t>
            </a:r>
            <a:r>
              <a:rPr lang="en-US" altLang="en-US" sz="1800" b="1" dirty="0">
                <a:solidFill>
                  <a:srgbClr val="0070C0"/>
                </a:solidFill>
              </a:rPr>
              <a:t>()  {</a:t>
            </a:r>
          </a:p>
          <a:p>
            <a:pPr>
              <a:buFontTx/>
              <a:buNone/>
            </a:pPr>
            <a:r>
              <a:rPr lang="en-US" altLang="en-US" sz="1800" b="1" dirty="0">
                <a:solidFill>
                  <a:srgbClr val="0070C0"/>
                </a:solidFill>
              </a:rPr>
              <a:t>           return 10.0 ; </a:t>
            </a:r>
            <a:r>
              <a:rPr lang="en-US" altLang="en-US" sz="1800" dirty="0">
                <a:solidFill>
                  <a:srgbClr val="FF0000"/>
                </a:solidFill>
              </a:rPr>
              <a:t>// some valid value</a:t>
            </a:r>
            <a:endParaRPr lang="en-US" altLang="en-US" sz="1800" b="1" dirty="0">
              <a:solidFill>
                <a:srgbClr val="FF0000"/>
              </a:solidFill>
            </a:endParaRPr>
          </a:p>
          <a:p>
            <a:pPr>
              <a:buFontTx/>
              <a:buNone/>
            </a:pPr>
            <a:r>
              <a:rPr lang="en-US" altLang="en-US" sz="1800" b="1" dirty="0">
                <a:solidFill>
                  <a:srgbClr val="0070C0"/>
                </a:solidFill>
              </a:rPr>
              <a:t>   }</a:t>
            </a:r>
          </a:p>
          <a:p>
            <a:pPr>
              <a:buFontTx/>
              <a:buNone/>
            </a:pPr>
            <a:r>
              <a:rPr lang="en-US" altLang="en-US" sz="1800" dirty="0"/>
              <a:t>} </a:t>
            </a:r>
          </a:p>
        </p:txBody>
      </p:sp>
      <p:sp>
        <p:nvSpPr>
          <p:cNvPr id="8" name="Rectangle 1026"/>
          <p:cNvSpPr txBox="1">
            <a:spLocks noChangeArrowheads="1"/>
          </p:cNvSpPr>
          <p:nvPr/>
        </p:nvSpPr>
        <p:spPr bwMode="white">
          <a:xfrm>
            <a:off x="1054100" y="0"/>
            <a:ext cx="10080625" cy="5486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a:lstStyle>
          <a:p>
            <a:pPr>
              <a:defRPr/>
            </a:pPr>
            <a:r>
              <a:rPr lang="en-GB" altLang="zh-TW" sz="3300" b="1" dirty="0"/>
              <a:t>Diagram</a:t>
            </a:r>
            <a:r>
              <a:rPr lang="en-GB" altLang="zh-TW" b="1" dirty="0"/>
              <a:t> to Code</a:t>
            </a:r>
            <a:endParaRPr lang="en-US" altLang="zh-TW" b="1" dirty="0">
              <a:cs typeface="Times New Roman" pitchFamily="18" charset="0"/>
            </a:endParaRPr>
          </a:p>
        </p:txBody>
      </p:sp>
    </p:spTree>
    <p:extLst>
      <p:ext uri="{BB962C8B-B14F-4D97-AF65-F5344CB8AC3E}">
        <p14:creationId xmlns:p14="http://schemas.microsoft.com/office/powerpoint/2010/main" val="1453604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6"/>
          <p:cNvSpPr>
            <a:spLocks noGrp="1" noChangeArrowheads="1"/>
          </p:cNvSpPr>
          <p:nvPr>
            <p:ph type="title"/>
          </p:nvPr>
        </p:nvSpPr>
        <p:spPr>
          <a:xfrm>
            <a:off x="1054100" y="0"/>
            <a:ext cx="10080625" cy="548680"/>
          </a:xfrm>
        </p:spPr>
        <p:txBody>
          <a:bodyPr>
            <a:normAutofit fontScale="90000"/>
          </a:bodyPr>
          <a:lstStyle/>
          <a:p>
            <a:pPr algn="l" eaLnBrk="1" hangingPunct="1">
              <a:defRPr/>
            </a:pPr>
            <a:r>
              <a:rPr lang="en-GB" altLang="zh-TW" sz="3600" b="1" dirty="0"/>
              <a:t>Summary</a:t>
            </a:r>
            <a:endParaRPr lang="en-US" altLang="zh-TW" sz="2900" b="1" dirty="0">
              <a:cs typeface="Times New Roman" pitchFamily="18" charset="0"/>
            </a:endParaRPr>
          </a:p>
        </p:txBody>
      </p:sp>
      <p:sp>
        <p:nvSpPr>
          <p:cNvPr id="17411" name="Slide Number Placeholder 5"/>
          <p:cNvSpPr>
            <a:spLocks noGrp="1"/>
          </p:cNvSpPr>
          <p:nvPr>
            <p:ph type="sldNum" sz="quarter" idx="4294967295"/>
          </p:nvPr>
        </p:nvSpPr>
        <p:spPr bwMode="auto">
          <a:xfrm>
            <a:off x="8075612"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fld id="{57B2420F-4933-4D30-914E-F0EB0890FC9E}" type="slidenum">
              <a:rPr lang="zh-TW" altLang="en-US" sz="1200">
                <a:solidFill>
                  <a:srgbClr val="898989"/>
                </a:solidFill>
              </a:rPr>
              <a:pPr eaLnBrk="1" hangingPunct="1">
                <a:spcBef>
                  <a:spcPct val="0"/>
                </a:spcBef>
                <a:buFontTx/>
                <a:buNone/>
              </a:pPr>
              <a:t>19</a:t>
            </a:fld>
            <a:endParaRPr lang="en-US" altLang="zh-TW" sz="1200">
              <a:solidFill>
                <a:srgbClr val="898989"/>
              </a:solidFill>
            </a:endParaRPr>
          </a:p>
        </p:txBody>
      </p:sp>
      <p:sp>
        <p:nvSpPr>
          <p:cNvPr id="17412" name="Rectangle 1027"/>
          <p:cNvSpPr txBox="1">
            <a:spLocks noChangeArrowheads="1"/>
          </p:cNvSpPr>
          <p:nvPr/>
        </p:nvSpPr>
        <p:spPr bwMode="auto">
          <a:xfrm>
            <a:off x="1054099" y="981075"/>
            <a:ext cx="10080625" cy="504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buFontTx/>
              <a:buChar char="•"/>
            </a:pPr>
            <a:endParaRPr lang="en-US" altLang="zh-TW" sz="2800" dirty="0">
              <a:cs typeface="Times New Roman" panose="02020603050405020304" pitchFamily="18" charset="0"/>
            </a:endParaRPr>
          </a:p>
          <a:p>
            <a:pPr marL="360000" indent="-360000">
              <a:spcBef>
                <a:spcPts val="0"/>
              </a:spcBef>
              <a:buClr>
                <a:schemeClr val="tx1"/>
              </a:buClr>
              <a:buFont typeface="Wingdings" panose="05000000000000000000" pitchFamily="2" charset="2"/>
              <a:buChar char="§"/>
            </a:pPr>
            <a:r>
              <a:rPr lang="en-US" altLang="zh-TW" sz="2800" dirty="0">
                <a:cs typeface="Times New Roman" panose="02020603050405020304" pitchFamily="18" charset="0"/>
              </a:rPr>
              <a:t>Sequence diagram elements</a:t>
            </a:r>
          </a:p>
          <a:p>
            <a:pPr marL="360000" indent="-360000">
              <a:spcBef>
                <a:spcPts val="0"/>
              </a:spcBef>
              <a:buClr>
                <a:schemeClr val="tx1"/>
              </a:buClr>
              <a:buFont typeface="Wingdings" panose="05000000000000000000" pitchFamily="2" charset="2"/>
              <a:buChar char="§"/>
            </a:pPr>
            <a:r>
              <a:rPr lang="en-US" altLang="zh-TW" sz="2800" dirty="0">
                <a:cs typeface="Times New Roman" panose="02020603050405020304" pitchFamily="18" charset="0"/>
              </a:rPr>
              <a:t>Interaction fragments</a:t>
            </a:r>
          </a:p>
          <a:p>
            <a:pPr marL="360000" indent="-360000">
              <a:spcBef>
                <a:spcPts val="0"/>
              </a:spcBef>
              <a:buClr>
                <a:schemeClr val="tx1"/>
              </a:buClr>
              <a:buFont typeface="Wingdings" panose="05000000000000000000" pitchFamily="2" charset="2"/>
              <a:buChar char="§"/>
            </a:pPr>
            <a:r>
              <a:rPr lang="en-US" altLang="zh-TW" sz="2800" dirty="0">
                <a:solidFill>
                  <a:srgbClr val="FF0000"/>
                </a:solidFill>
                <a:cs typeface="Times New Roman" panose="02020603050405020304" pitchFamily="18" charset="0"/>
              </a:rPr>
              <a:t>Diagram to Code</a:t>
            </a:r>
          </a:p>
          <a:p>
            <a:pPr>
              <a:lnSpc>
                <a:spcPct val="80000"/>
              </a:lnSpc>
              <a:buClr>
                <a:schemeClr val="tx1"/>
              </a:buClr>
              <a:buFontTx/>
              <a:buNone/>
            </a:pPr>
            <a:endParaRPr lang="en-US" altLang="zh-TW" sz="2800" dirty="0">
              <a:solidFill>
                <a:srgbClr val="FF0000"/>
              </a:solidFill>
              <a:cs typeface="Times New Roman" panose="02020603050405020304" pitchFamily="18" charset="0"/>
            </a:endParaRPr>
          </a:p>
          <a:p>
            <a:pPr>
              <a:lnSpc>
                <a:spcPct val="80000"/>
              </a:lnSpc>
              <a:buClr>
                <a:schemeClr val="tx1"/>
              </a:buClr>
              <a:buFontTx/>
              <a:buNone/>
            </a:pPr>
            <a:r>
              <a:rPr lang="en-US" altLang="zh-TW" sz="2800" b="1" u="sng" dirty="0">
                <a:cs typeface="Times New Roman" panose="02020603050405020304" pitchFamily="18" charset="0"/>
              </a:rPr>
              <a:t>Further Reading</a:t>
            </a:r>
          </a:p>
          <a:p>
            <a:pPr>
              <a:lnSpc>
                <a:spcPct val="80000"/>
              </a:lnSpc>
              <a:buClr>
                <a:schemeClr val="tx1"/>
              </a:buClr>
              <a:buFontTx/>
              <a:buNone/>
            </a:pPr>
            <a:endParaRPr lang="en-US" altLang="zh-TW" sz="2800" b="1" dirty="0">
              <a:solidFill>
                <a:schemeClr val="bg2">
                  <a:lumMod val="50000"/>
                </a:schemeClr>
              </a:solidFill>
              <a:cs typeface="Times New Roman" panose="02020603050405020304" pitchFamily="18" charset="0"/>
            </a:endParaRPr>
          </a:p>
          <a:p>
            <a:pPr>
              <a:spcBef>
                <a:spcPts val="0"/>
              </a:spcBef>
              <a:buClr>
                <a:schemeClr val="tx1"/>
              </a:buClr>
              <a:buFont typeface="Wingdings" panose="05000000000000000000" pitchFamily="2" charset="2"/>
              <a:buChar char="§"/>
            </a:pPr>
            <a:r>
              <a:rPr lang="en-US" altLang="zh-TW" sz="2800" dirty="0">
                <a:solidFill>
                  <a:schemeClr val="bg2">
                    <a:lumMod val="50000"/>
                  </a:schemeClr>
                </a:solidFill>
                <a:cs typeface="Times New Roman" panose="02020603050405020304" pitchFamily="18" charset="0"/>
              </a:rPr>
              <a:t>UML Distilled</a:t>
            </a:r>
          </a:p>
          <a:p>
            <a:pPr>
              <a:lnSpc>
                <a:spcPct val="80000"/>
              </a:lnSpc>
              <a:buClr>
                <a:schemeClr val="tx1"/>
              </a:buClr>
              <a:buFontTx/>
              <a:buNone/>
            </a:pPr>
            <a:r>
              <a:rPr lang="en-US" altLang="en-US" sz="2800" dirty="0">
                <a:ea typeface="PMingLiU" panose="02020500000000000000" pitchFamily="18" charset="-120"/>
                <a:cs typeface="Times New Roman" panose="02020603050405020304" pitchFamily="18" charset="0"/>
              </a:rPr>
              <a:t>		</a:t>
            </a:r>
            <a:r>
              <a:rPr lang="en-US" altLang="zh-TW" sz="2800" u="sng" dirty="0">
                <a:cs typeface="Times New Roman" panose="02020603050405020304" pitchFamily="18" charset="0"/>
              </a:rPr>
              <a:t>CHAPTER 4</a:t>
            </a:r>
            <a:r>
              <a:rPr lang="en-US" altLang="zh-TW" sz="2800" dirty="0">
                <a:cs typeface="Times New Roman" panose="02020603050405020304" pitchFamily="18" charset="0"/>
              </a:rPr>
              <a:t>. SEQUENCE DIAGRAMS</a:t>
            </a:r>
          </a:p>
          <a:p>
            <a:pPr>
              <a:lnSpc>
                <a:spcPct val="80000"/>
              </a:lnSpc>
              <a:buClr>
                <a:schemeClr val="tx1"/>
              </a:buClr>
              <a:buFontTx/>
              <a:buNone/>
            </a:pPr>
            <a:endParaRPr lang="en-US" altLang="zh-TW" sz="2800" dirty="0">
              <a:solidFill>
                <a:srgbClr val="404040"/>
              </a:solidFill>
              <a:cs typeface="Times New Roman" panose="02020603050405020304" pitchFamily="18" charset="0"/>
            </a:endParaRPr>
          </a:p>
          <a:p>
            <a:pPr>
              <a:spcBef>
                <a:spcPts val="0"/>
              </a:spcBef>
              <a:buClr>
                <a:schemeClr val="tx1"/>
              </a:buClr>
              <a:buFont typeface="Wingdings" panose="05000000000000000000" pitchFamily="2" charset="2"/>
              <a:buChar char="§"/>
            </a:pPr>
            <a:r>
              <a:rPr lang="en-US" altLang="zh-TW" sz="2800" dirty="0" err="1">
                <a:solidFill>
                  <a:schemeClr val="bg2">
                    <a:lumMod val="50000"/>
                  </a:schemeClr>
                </a:solidFill>
                <a:cs typeface="Times New Roman" panose="02020603050405020304" pitchFamily="18" charset="0"/>
              </a:rPr>
              <a:t>UMLSpecNotes</a:t>
            </a:r>
            <a:endParaRPr lang="en-US" altLang="zh-TW" sz="2800" dirty="0">
              <a:solidFill>
                <a:schemeClr val="bg2">
                  <a:lumMod val="50000"/>
                </a:schemeClr>
              </a:solidFill>
              <a:cs typeface="Times New Roman" panose="02020603050405020304" pitchFamily="18" charset="0"/>
            </a:endParaRPr>
          </a:p>
        </p:txBody>
      </p:sp>
    </p:spTree>
    <p:custDataLst>
      <p:tags r:id="rId1"/>
    </p:custDataLst>
    <p:extLst>
      <p:ext uri="{BB962C8B-B14F-4D97-AF65-F5344CB8AC3E}">
        <p14:creationId xmlns:p14="http://schemas.microsoft.com/office/powerpoint/2010/main" val="2941592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53851" y="0"/>
            <a:ext cx="11134973" cy="548680"/>
          </a:xfrm>
        </p:spPr>
        <p:txBody>
          <a:bodyPr>
            <a:normAutofit/>
          </a:bodyPr>
          <a:lstStyle/>
          <a:p>
            <a:r>
              <a:rPr lang="en-US" altLang="en-US" b="1" dirty="0"/>
              <a:t>Further Reading: Graphic nodes included in sequence diagrams </a:t>
            </a:r>
          </a:p>
        </p:txBody>
      </p:sp>
      <p:graphicFrame>
        <p:nvGraphicFramePr>
          <p:cNvPr id="3" name="Table 2"/>
          <p:cNvGraphicFramePr>
            <a:graphicFrameLocks noGrp="1"/>
          </p:cNvGraphicFramePr>
          <p:nvPr>
            <p:extLst>
              <p:ext uri="{D42A27DB-BD31-4B8C-83A1-F6EECF244321}">
                <p14:modId xmlns:p14="http://schemas.microsoft.com/office/powerpoint/2010/main" val="1431082035"/>
              </p:ext>
            </p:extLst>
          </p:nvPr>
        </p:nvGraphicFramePr>
        <p:xfrm>
          <a:off x="1056103" y="1340767"/>
          <a:ext cx="10080873" cy="4717897"/>
        </p:xfrm>
        <a:graphic>
          <a:graphicData uri="http://schemas.openxmlformats.org/drawingml/2006/table">
            <a:tbl>
              <a:tblPr firstRow="1" firstCol="1" lastRow="1" lastCol="1" bandRow="1" bandCol="1"/>
              <a:tblGrid>
                <a:gridCol w="1221885">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6122684">
                  <a:extLst>
                    <a:ext uri="{9D8B030D-6E8A-4147-A177-3AD203B41FA5}">
                      <a16:colId xmlns:a16="http://schemas.microsoft.com/office/drawing/2014/main" val="20002"/>
                    </a:ext>
                  </a:extLst>
                </a:gridCol>
              </a:tblGrid>
              <a:tr h="553645">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Node Type</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Notation</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Description</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90572">
                <a:tc>
                  <a:txBody>
                    <a:bodyPr/>
                    <a:lstStyle/>
                    <a:p>
                      <a:pPr>
                        <a:spcAft>
                          <a:spcPts val="0"/>
                        </a:spcAft>
                      </a:pPr>
                      <a:r>
                        <a:rPr lang="en-US" sz="1400" dirty="0">
                          <a:effectLst/>
                          <a:latin typeface="Calibri" panose="020F0502020204030204" pitchFamily="34" charset="0"/>
                          <a:ea typeface="Times New Roman" panose="02020603050405020304" pitchFamily="18" charset="0"/>
                        </a:rPr>
                        <a:t>Frame</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r>
                        <a:rPr lang="en-US" sz="1400" dirty="0">
                          <a:effectLst/>
                          <a:latin typeface="Calibri" panose="020F0502020204030204" pitchFamily="34" charset="0"/>
                          <a:ea typeface="Times New Roman" panose="02020603050405020304" pitchFamily="18" charset="0"/>
                        </a:rPr>
                        <a:t> </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The notation shows a rectangular frame around the diagram with a name in a compartment in the upper left corner.</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The keyword </a:t>
                      </a:r>
                      <a:r>
                        <a:rPr lang="en-US" sz="1400" dirty="0" err="1">
                          <a:effectLst/>
                          <a:latin typeface="Calibri" panose="020F0502020204030204" pitchFamily="34" charset="0"/>
                          <a:ea typeface="Times New Roman" panose="02020603050405020304" pitchFamily="18" charset="0"/>
                        </a:rPr>
                        <a:t>sd</a:t>
                      </a:r>
                      <a:r>
                        <a:rPr lang="en-US" sz="1400" dirty="0">
                          <a:effectLst/>
                          <a:latin typeface="Calibri" panose="020F0502020204030204" pitchFamily="34" charset="0"/>
                          <a:ea typeface="Times New Roman" panose="02020603050405020304" pitchFamily="18" charset="0"/>
                        </a:rPr>
                        <a:t> followed by the Interaction name and parameters is in a pentagon in the upper left corner of the rectangle.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122">
                <a:tc>
                  <a:txBody>
                    <a:bodyPr/>
                    <a:lstStyle/>
                    <a:p>
                      <a:pPr>
                        <a:spcAft>
                          <a:spcPts val="0"/>
                        </a:spcAft>
                      </a:pPr>
                      <a:r>
                        <a:rPr lang="en-US" sz="1400" dirty="0">
                          <a:effectLst/>
                          <a:latin typeface="Calibri" panose="020F0502020204030204" pitchFamily="34" charset="0"/>
                          <a:ea typeface="Times New Roman" panose="02020603050405020304" pitchFamily="18" charset="0"/>
                        </a:rPr>
                        <a:t>Lifeline</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A lifeline represents an individual participant in the Interaction.</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A Lifeline is shown using a symbol that consists of a rectangle forming its “head” followed by a vertical line (which may be dashed) that represents the lifetime of the participant. </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The Lifeline head has a shape that is based on the classifier for the part that this lifeline represents. Often the head is a white rectangle containing the name.</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Information identifying the lifeline is displayed inside the rectangle in the following format: [name] : &lt;</a:t>
                      </a:r>
                      <a:r>
                        <a:rPr lang="en-US" sz="1400" dirty="0" err="1">
                          <a:effectLst/>
                          <a:latin typeface="Calibri" panose="020F0502020204030204" pitchFamily="34" charset="0"/>
                          <a:ea typeface="Times New Roman" panose="02020603050405020304" pitchFamily="18" charset="0"/>
                        </a:rPr>
                        <a:t>class_name</a:t>
                      </a:r>
                      <a:r>
                        <a:rPr lang="en-US" sz="1400" dirty="0">
                          <a:effectLst/>
                          <a:latin typeface="Calibri" panose="020F0502020204030204" pitchFamily="34" charset="0"/>
                          <a:ea typeface="Times New Roman" panose="02020603050405020304" pitchFamily="18" charset="0"/>
                        </a:rPr>
                        <a:t>&gt;</a:t>
                      </a:r>
                    </a:p>
                    <a:p>
                      <a:pPr>
                        <a:spcAft>
                          <a:spcPts val="0"/>
                        </a:spcAft>
                      </a:pPr>
                      <a:r>
                        <a:rPr lang="en-US" sz="1400" dirty="0">
                          <a:effectLst/>
                          <a:latin typeface="Calibri" panose="020F0502020204030204" pitchFamily="34" charset="0"/>
                          <a:ea typeface="Times New Roman" panose="02020603050405020304" pitchFamily="18" charset="0"/>
                        </a:rPr>
                        <a:t>(:</a:t>
                      </a:r>
                      <a:r>
                        <a:rPr lang="en-US" sz="1400" dirty="0" err="1">
                          <a:effectLst/>
                          <a:latin typeface="Calibri" panose="020F0502020204030204" pitchFamily="34" charset="0"/>
                          <a:ea typeface="Times New Roman" panose="02020603050405020304" pitchFamily="18" charset="0"/>
                        </a:rPr>
                        <a:t>class_name</a:t>
                      </a:r>
                      <a:r>
                        <a:rPr lang="en-US" sz="1400" dirty="0">
                          <a:effectLst/>
                          <a:latin typeface="Calibri" panose="020F0502020204030204" pitchFamily="34" charset="0"/>
                          <a:ea typeface="Times New Roman" panose="02020603050405020304" pitchFamily="18" charset="0"/>
                        </a:rPr>
                        <a:t> is mandatory but name is optional).</a:t>
                      </a:r>
                    </a:p>
                    <a:p>
                      <a:pPr>
                        <a:spcAft>
                          <a:spcPts val="0"/>
                        </a:spcAft>
                      </a:pPr>
                      <a:r>
                        <a:rPr lang="en-US" sz="1400" dirty="0">
                          <a:effectLst/>
                          <a:latin typeface="Calibri" panose="020F0502020204030204" pitchFamily="34" charset="0"/>
                          <a:ea typeface="Times New Roman" panose="02020603050405020304" pitchFamily="18" charset="0"/>
                        </a:rPr>
                        <a:t> </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 name="Rectangle 1"/>
          <p:cNvSpPr/>
          <p:nvPr/>
        </p:nvSpPr>
        <p:spPr>
          <a:xfrm>
            <a:off x="1053851" y="692696"/>
            <a:ext cx="10083125" cy="646331"/>
          </a:xfrm>
          <a:prstGeom prst="rect">
            <a:avLst/>
          </a:prstGeom>
        </p:spPr>
        <p:txBody>
          <a:bodyPr wrap="square">
            <a:spAutoFit/>
          </a:bodyPr>
          <a:lstStyle/>
          <a:p>
            <a:pPr>
              <a:spcAft>
                <a:spcPts val="0"/>
              </a:spcAft>
            </a:pPr>
            <a:r>
              <a:rPr lang="en-US" dirty="0">
                <a:latin typeface="Calibri" panose="020F0502020204030204" pitchFamily="34" charset="0"/>
                <a:ea typeface="Times New Roman" panose="02020603050405020304" pitchFamily="18" charset="0"/>
              </a:rPr>
              <a:t>A </a:t>
            </a:r>
            <a:r>
              <a:rPr lang="en-US" b="1" u="sng" dirty="0">
                <a:latin typeface="Calibri" panose="020F0502020204030204" pitchFamily="34" charset="0"/>
                <a:ea typeface="Times New Roman" panose="02020603050405020304" pitchFamily="18" charset="0"/>
              </a:rPr>
              <a:t>Sequence Diagram</a:t>
            </a:r>
            <a:r>
              <a:rPr lang="en-US" dirty="0">
                <a:latin typeface="Calibri" panose="020F0502020204030204" pitchFamily="34" charset="0"/>
                <a:ea typeface="Times New Roman" panose="02020603050405020304" pitchFamily="18" charset="0"/>
              </a:rPr>
              <a:t> describes an Interaction by focusing on the sequence of Messages that are exchanged, along with their corresponding Occurrence Specifications on the Lifelines.</a:t>
            </a:r>
            <a:endParaRPr lang="en-GB" dirty="0">
              <a:effectLst/>
              <a:latin typeface="Calibri" panose="020F0502020204030204" pitchFamily="34" charset="0"/>
              <a:ea typeface="Times New Roman" panose="02020603050405020304" pitchFamily="18" charset="0"/>
            </a:endParaRPr>
          </a:p>
        </p:txBody>
      </p:sp>
      <p:grpSp>
        <p:nvGrpSpPr>
          <p:cNvPr id="12" name="Group 11"/>
          <p:cNvGrpSpPr/>
          <p:nvPr/>
        </p:nvGrpSpPr>
        <p:grpSpPr>
          <a:xfrm>
            <a:off x="2926060" y="3817360"/>
            <a:ext cx="1368152" cy="1483848"/>
            <a:chOff x="2926060" y="3817360"/>
            <a:chExt cx="1368152" cy="1483848"/>
          </a:xfrm>
        </p:grpSpPr>
        <p:sp>
          <p:nvSpPr>
            <p:cNvPr id="6" name="Rectangle 5"/>
            <p:cNvSpPr/>
            <p:nvPr/>
          </p:nvSpPr>
          <p:spPr>
            <a:xfrm>
              <a:off x="2926060" y="3817360"/>
              <a:ext cx="1368152" cy="6198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rPr>
                <a:t>:Lifeline</a:t>
              </a:r>
              <a:endParaRPr lang="en-GB" dirty="0">
                <a:solidFill>
                  <a:schemeClr val="tx1"/>
                </a:solidFill>
                <a:latin typeface="Calibri" panose="020F0502020204030204" pitchFamily="34" charset="0"/>
              </a:endParaRPr>
            </a:p>
          </p:txBody>
        </p:sp>
        <p:cxnSp>
          <p:nvCxnSpPr>
            <p:cNvPr id="8" name="Straight Connector 7"/>
            <p:cNvCxnSpPr>
              <a:stCxn id="6" idx="2"/>
            </p:cNvCxnSpPr>
            <p:nvPr/>
          </p:nvCxnSpPr>
          <p:spPr>
            <a:xfrm>
              <a:off x="3610136" y="4437208"/>
              <a:ext cx="0" cy="864000"/>
            </a:xfrm>
            <a:prstGeom prst="line">
              <a:avLst/>
            </a:prstGeom>
            <a:ln>
              <a:prstDash val="sysDash"/>
            </a:ln>
          </p:spPr>
          <p:style>
            <a:lnRef idx="3">
              <a:schemeClr val="dk1"/>
            </a:lnRef>
            <a:fillRef idx="0">
              <a:schemeClr val="dk1"/>
            </a:fillRef>
            <a:effectRef idx="2">
              <a:schemeClr val="dk1"/>
            </a:effectRef>
            <a:fontRef idx="minor">
              <a:schemeClr val="tx1"/>
            </a:fontRef>
          </p:style>
        </p:cxnSp>
      </p:grpSp>
      <p:grpSp>
        <p:nvGrpSpPr>
          <p:cNvPr id="16" name="Group 15"/>
          <p:cNvGrpSpPr/>
          <p:nvPr/>
        </p:nvGrpSpPr>
        <p:grpSpPr>
          <a:xfrm>
            <a:off x="2710036" y="1953192"/>
            <a:ext cx="1836000" cy="1260000"/>
            <a:chOff x="5806380" y="1915092"/>
            <a:chExt cx="1944216" cy="1369892"/>
          </a:xfrm>
        </p:grpSpPr>
        <p:sp>
          <p:nvSpPr>
            <p:cNvPr id="13" name="Rectangle 12"/>
            <p:cNvSpPr/>
            <p:nvPr/>
          </p:nvSpPr>
          <p:spPr>
            <a:xfrm>
              <a:off x="5806380" y="1916832"/>
              <a:ext cx="1944216" cy="136815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nip Single Corner Rectangle 13"/>
            <p:cNvSpPr/>
            <p:nvPr/>
          </p:nvSpPr>
          <p:spPr>
            <a:xfrm flipV="1">
              <a:off x="5806380" y="1915092"/>
              <a:ext cx="1296144" cy="289772"/>
            </a:xfrm>
            <a:prstGeom prst="snip1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5806380" y="1940492"/>
              <a:ext cx="1296144" cy="246221"/>
            </a:xfrm>
            <a:prstGeom prst="rect">
              <a:avLst/>
            </a:prstGeom>
            <a:noFill/>
          </p:spPr>
          <p:txBody>
            <a:bodyPr wrap="square" rtlCol="0">
              <a:spAutoFit/>
            </a:bodyPr>
            <a:lstStyle/>
            <a:p>
              <a:r>
                <a:rPr lang="en-US" sz="1000" dirty="0" err="1">
                  <a:latin typeface="Calibri" panose="020F0502020204030204" pitchFamily="34" charset="0"/>
                </a:rPr>
                <a:t>Sd</a:t>
              </a:r>
              <a:r>
                <a:rPr lang="en-US" sz="1000" dirty="0">
                  <a:latin typeface="Calibri" panose="020F0502020204030204" pitchFamily="34" charset="0"/>
                </a:rPr>
                <a:t> </a:t>
              </a:r>
              <a:r>
                <a:rPr lang="en-US" sz="1000" dirty="0" err="1">
                  <a:latin typeface="Calibri" panose="020F0502020204030204" pitchFamily="34" charset="0"/>
                </a:rPr>
                <a:t>EverOccurance</a:t>
              </a:r>
              <a:endParaRPr lang="en-GB" sz="1000" dirty="0">
                <a:latin typeface="Calibri" panose="020F0502020204030204" pitchFamily="34" charset="0"/>
              </a:endParaRPr>
            </a:p>
          </p:txBody>
        </p:sp>
      </p:grpSp>
    </p:spTree>
    <p:extLst>
      <p:ext uri="{BB962C8B-B14F-4D97-AF65-F5344CB8AC3E}">
        <p14:creationId xmlns:p14="http://schemas.microsoft.com/office/powerpoint/2010/main" val="3518373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53851" y="0"/>
            <a:ext cx="11134973" cy="548680"/>
          </a:xfrm>
        </p:spPr>
        <p:txBody>
          <a:bodyPr>
            <a:normAutofit/>
          </a:bodyPr>
          <a:lstStyle/>
          <a:p>
            <a:r>
              <a:rPr lang="en-US" altLang="en-US" b="1" dirty="0"/>
              <a:t>Further Reading: Graphic nodes included in sequence diagrams </a:t>
            </a:r>
          </a:p>
        </p:txBody>
      </p:sp>
      <p:graphicFrame>
        <p:nvGraphicFramePr>
          <p:cNvPr id="3" name="Table 2"/>
          <p:cNvGraphicFramePr>
            <a:graphicFrameLocks noGrp="1"/>
          </p:cNvGraphicFramePr>
          <p:nvPr>
            <p:extLst>
              <p:ext uri="{D42A27DB-BD31-4B8C-83A1-F6EECF244321}">
                <p14:modId xmlns:p14="http://schemas.microsoft.com/office/powerpoint/2010/main" val="2313042256"/>
              </p:ext>
            </p:extLst>
          </p:nvPr>
        </p:nvGraphicFramePr>
        <p:xfrm>
          <a:off x="1053851" y="1412776"/>
          <a:ext cx="10080873" cy="4248472"/>
        </p:xfrm>
        <a:graphic>
          <a:graphicData uri="http://schemas.openxmlformats.org/drawingml/2006/table">
            <a:tbl>
              <a:tblPr firstRow="1" firstCol="1" lastRow="1" lastCol="1" bandRow="1" bandCol="1"/>
              <a:tblGrid>
                <a:gridCol w="1879968">
                  <a:extLst>
                    <a:ext uri="{9D8B030D-6E8A-4147-A177-3AD203B41FA5}">
                      <a16:colId xmlns:a16="http://schemas.microsoft.com/office/drawing/2014/main" val="20000"/>
                    </a:ext>
                  </a:extLst>
                </a:gridCol>
                <a:gridCol w="2296497">
                  <a:extLst>
                    <a:ext uri="{9D8B030D-6E8A-4147-A177-3AD203B41FA5}">
                      <a16:colId xmlns:a16="http://schemas.microsoft.com/office/drawing/2014/main" val="20001"/>
                    </a:ext>
                  </a:extLst>
                </a:gridCol>
                <a:gridCol w="5904408">
                  <a:extLst>
                    <a:ext uri="{9D8B030D-6E8A-4147-A177-3AD203B41FA5}">
                      <a16:colId xmlns:a16="http://schemas.microsoft.com/office/drawing/2014/main" val="20002"/>
                    </a:ext>
                  </a:extLst>
                </a:gridCol>
              </a:tblGrid>
              <a:tr h="259206">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Node Type</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Notation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Description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33082">
                <a:tc>
                  <a:txBody>
                    <a:bodyPr/>
                    <a:lstStyle/>
                    <a:p>
                      <a:pPr>
                        <a:spcAft>
                          <a:spcPts val="0"/>
                        </a:spcAft>
                      </a:pPr>
                      <a:r>
                        <a:rPr lang="en-US" sz="1400" dirty="0">
                          <a:effectLst/>
                          <a:latin typeface="Calibri" panose="020F0502020204030204" pitchFamily="34" charset="0"/>
                          <a:ea typeface="Times New Roman" panose="02020603050405020304" pitchFamily="18" charset="0"/>
                        </a:rPr>
                        <a:t>Execution Specification</a:t>
                      </a:r>
                    </a:p>
                    <a:p>
                      <a:pPr>
                        <a:spcAft>
                          <a:spcPts val="0"/>
                        </a:spcAft>
                      </a:pPr>
                      <a:r>
                        <a:rPr lang="en-US" sz="1400" dirty="0">
                          <a:effectLst/>
                          <a:latin typeface="Calibri" panose="020F0502020204030204" pitchFamily="34" charset="0"/>
                          <a:ea typeface="Times New Roman" panose="02020603050405020304" pitchFamily="18" charset="0"/>
                        </a:rPr>
                        <a:t>(Activation)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r>
                        <a:rPr lang="en-US" sz="1400" dirty="0">
                          <a:effectLst/>
                          <a:latin typeface="Calibri" panose="020F0502020204030204" pitchFamily="34" charset="0"/>
                          <a:ea typeface="Times New Roman" panose="02020603050405020304" pitchFamily="18" charset="0"/>
                        </a:rPr>
                        <a:t> </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An </a:t>
                      </a:r>
                      <a:r>
                        <a:rPr lang="en-US" sz="1400" dirty="0" err="1">
                          <a:effectLst/>
                          <a:latin typeface="Calibri" panose="020F0502020204030204" pitchFamily="34" charset="0"/>
                          <a:ea typeface="Times New Roman" panose="02020603050405020304" pitchFamily="18" charset="0"/>
                        </a:rPr>
                        <a:t>ExecutionSpecification</a:t>
                      </a:r>
                      <a:r>
                        <a:rPr lang="en-US" sz="1400" dirty="0">
                          <a:effectLst/>
                          <a:latin typeface="Calibri" panose="020F0502020204030204" pitchFamily="34" charset="0"/>
                          <a:ea typeface="Times New Roman" panose="02020603050405020304" pitchFamily="18" charset="0"/>
                        </a:rPr>
                        <a:t> is a specification of the execution of a unit of behavior or action within the Lifeline. The duration of an </a:t>
                      </a:r>
                      <a:r>
                        <a:rPr lang="en-US" sz="1400" dirty="0" err="1">
                          <a:effectLst/>
                          <a:latin typeface="Calibri" panose="020F0502020204030204" pitchFamily="34" charset="0"/>
                          <a:ea typeface="Times New Roman" panose="02020603050405020304" pitchFamily="18" charset="0"/>
                        </a:rPr>
                        <a:t>ExecutionSpecification</a:t>
                      </a:r>
                      <a:r>
                        <a:rPr lang="en-US" sz="1400" dirty="0">
                          <a:effectLst/>
                          <a:latin typeface="Calibri" panose="020F0502020204030204" pitchFamily="34" charset="0"/>
                          <a:ea typeface="Times New Roman" panose="02020603050405020304" pitchFamily="18" charset="0"/>
                        </a:rPr>
                        <a:t> is represented by the start </a:t>
                      </a:r>
                      <a:r>
                        <a:rPr lang="en-US" sz="1400" dirty="0" err="1">
                          <a:effectLst/>
                          <a:latin typeface="Calibri" panose="020F0502020204030204" pitchFamily="34" charset="0"/>
                          <a:ea typeface="Times New Roman" panose="02020603050405020304" pitchFamily="18" charset="0"/>
                        </a:rPr>
                        <a:t>ExecutionOccurrenceSpecification</a:t>
                      </a:r>
                      <a:r>
                        <a:rPr lang="en-US" sz="1400" dirty="0">
                          <a:effectLst/>
                          <a:latin typeface="Calibri" panose="020F0502020204030204" pitchFamily="34" charset="0"/>
                          <a:ea typeface="Times New Roman" panose="02020603050405020304" pitchFamily="18" charset="0"/>
                        </a:rPr>
                        <a:t> and the finish </a:t>
                      </a:r>
                      <a:r>
                        <a:rPr lang="en-US" sz="1400" dirty="0" err="1">
                          <a:effectLst/>
                          <a:latin typeface="Calibri" panose="020F0502020204030204" pitchFamily="34" charset="0"/>
                          <a:ea typeface="Times New Roman" panose="02020603050405020304" pitchFamily="18" charset="0"/>
                        </a:rPr>
                        <a:t>ExecutionOccurrenceSpecification</a:t>
                      </a:r>
                      <a:r>
                        <a:rPr lang="en-US" sz="1400" dirty="0">
                          <a:effectLst/>
                          <a:latin typeface="Calibri" panose="020F0502020204030204" pitchFamily="34" charset="0"/>
                          <a:ea typeface="Times New Roman" panose="02020603050405020304" pitchFamily="18" charset="0"/>
                        </a:rPr>
                        <a:t>.</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56184">
                <a:tc>
                  <a:txBody>
                    <a:bodyPr/>
                    <a:lstStyle/>
                    <a:p>
                      <a:pPr>
                        <a:spcAft>
                          <a:spcPts val="0"/>
                        </a:spcAft>
                      </a:pPr>
                      <a:r>
                        <a:rPr lang="en-US" sz="1400" dirty="0" err="1">
                          <a:effectLst/>
                          <a:latin typeface="Calibri" panose="020F0502020204030204" pitchFamily="34" charset="0"/>
                          <a:ea typeface="Times New Roman" panose="02020603050405020304" pitchFamily="18" charset="0"/>
                        </a:rPr>
                        <a:t>InteractionUse</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It is common to want to share portions of an interaction between several other interactions. An </a:t>
                      </a:r>
                      <a:r>
                        <a:rPr lang="en-US" sz="1400" dirty="0" err="1">
                          <a:effectLst/>
                          <a:latin typeface="Calibri" panose="020F0502020204030204" pitchFamily="34" charset="0"/>
                          <a:ea typeface="Times New Roman" panose="02020603050405020304" pitchFamily="18" charset="0"/>
                        </a:rPr>
                        <a:t>InteractionUse</a:t>
                      </a:r>
                      <a:r>
                        <a:rPr lang="en-US" sz="1400" dirty="0">
                          <a:effectLst/>
                          <a:latin typeface="Calibri" panose="020F0502020204030204" pitchFamily="34" charset="0"/>
                          <a:ea typeface="Times New Roman" panose="02020603050405020304" pitchFamily="18" charset="0"/>
                        </a:rPr>
                        <a:t> allows multiple interactions to reference an interaction that represents a common portion of their specification.</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The </a:t>
                      </a:r>
                      <a:r>
                        <a:rPr lang="en-US" sz="1400" dirty="0" err="1">
                          <a:effectLst/>
                          <a:latin typeface="Calibri" panose="020F0502020204030204" pitchFamily="34" charset="0"/>
                          <a:ea typeface="Times New Roman" panose="02020603050405020304" pitchFamily="18" charset="0"/>
                        </a:rPr>
                        <a:t>InteractionUse</a:t>
                      </a:r>
                      <a:r>
                        <a:rPr lang="en-US" sz="1400" dirty="0">
                          <a:effectLst/>
                          <a:latin typeface="Calibri" panose="020F0502020204030204" pitchFamily="34" charset="0"/>
                          <a:ea typeface="Times New Roman" panose="02020603050405020304" pitchFamily="18" charset="0"/>
                        </a:rPr>
                        <a:t> is shown as a </a:t>
                      </a:r>
                      <a:r>
                        <a:rPr lang="en-US" sz="1400" dirty="0" err="1">
                          <a:effectLst/>
                          <a:latin typeface="Calibri" panose="020F0502020204030204" pitchFamily="34" charset="0"/>
                          <a:ea typeface="Times New Roman" panose="02020603050405020304" pitchFamily="18" charset="0"/>
                        </a:rPr>
                        <a:t>CombinedFragment</a:t>
                      </a:r>
                      <a:r>
                        <a:rPr lang="en-US" sz="1400" dirty="0">
                          <a:effectLst/>
                          <a:latin typeface="Calibri" panose="020F0502020204030204" pitchFamily="34" charset="0"/>
                          <a:ea typeface="Times New Roman" panose="02020603050405020304" pitchFamily="18" charset="0"/>
                        </a:rPr>
                        <a:t> symbol where the operator is called ref.</a:t>
                      </a:r>
                    </a:p>
                    <a:p>
                      <a:pPr>
                        <a:spcAft>
                          <a:spcPts val="0"/>
                        </a:spcAft>
                      </a:pP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2" name="Picture 1"/>
          <p:cNvPicPr>
            <a:picLocks noChangeAspect="1"/>
          </p:cNvPicPr>
          <p:nvPr/>
        </p:nvPicPr>
        <p:blipFill>
          <a:blip r:embed="rId2"/>
          <a:stretch>
            <a:fillRect/>
          </a:stretch>
        </p:blipFill>
        <p:spPr>
          <a:xfrm>
            <a:off x="3673570" y="1772816"/>
            <a:ext cx="761905" cy="2152381"/>
          </a:xfrm>
          <a:prstGeom prst="rect">
            <a:avLst/>
          </a:prstGeom>
        </p:spPr>
      </p:pic>
      <p:pic>
        <p:nvPicPr>
          <p:cNvPr id="4" name="Picture 3"/>
          <p:cNvPicPr>
            <a:picLocks noChangeAspect="1"/>
          </p:cNvPicPr>
          <p:nvPr/>
        </p:nvPicPr>
        <p:blipFill>
          <a:blip r:embed="rId3"/>
          <a:stretch>
            <a:fillRect/>
          </a:stretch>
        </p:blipFill>
        <p:spPr>
          <a:xfrm>
            <a:off x="3673570" y="4869160"/>
            <a:ext cx="1180952" cy="485714"/>
          </a:xfrm>
          <a:prstGeom prst="rect">
            <a:avLst/>
          </a:prstGeom>
        </p:spPr>
      </p:pic>
    </p:spTree>
    <p:extLst>
      <p:ext uri="{BB962C8B-B14F-4D97-AF65-F5344CB8AC3E}">
        <p14:creationId xmlns:p14="http://schemas.microsoft.com/office/powerpoint/2010/main" val="2134692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53851" y="0"/>
            <a:ext cx="11134973" cy="548680"/>
          </a:xfrm>
        </p:spPr>
        <p:txBody>
          <a:bodyPr>
            <a:normAutofit/>
          </a:bodyPr>
          <a:lstStyle/>
          <a:p>
            <a:r>
              <a:rPr lang="en-US" altLang="en-US" b="1" dirty="0"/>
              <a:t>Further Reading: Graphic nodes included in sequence diagrams </a:t>
            </a:r>
          </a:p>
        </p:txBody>
      </p:sp>
      <p:graphicFrame>
        <p:nvGraphicFramePr>
          <p:cNvPr id="3" name="Table 2"/>
          <p:cNvGraphicFramePr>
            <a:graphicFrameLocks noGrp="1"/>
          </p:cNvGraphicFramePr>
          <p:nvPr>
            <p:extLst>
              <p:ext uri="{D42A27DB-BD31-4B8C-83A1-F6EECF244321}">
                <p14:modId xmlns:p14="http://schemas.microsoft.com/office/powerpoint/2010/main" val="2122006691"/>
              </p:ext>
            </p:extLst>
          </p:nvPr>
        </p:nvGraphicFramePr>
        <p:xfrm>
          <a:off x="1053851" y="764704"/>
          <a:ext cx="10080873" cy="5480680"/>
        </p:xfrm>
        <a:graphic>
          <a:graphicData uri="http://schemas.openxmlformats.org/drawingml/2006/table">
            <a:tbl>
              <a:tblPr firstRow="1" firstCol="1" lastRow="1" lastCol="1" bandRow="1" bandCol="1"/>
              <a:tblGrid>
                <a:gridCol w="1368153">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7272560">
                  <a:extLst>
                    <a:ext uri="{9D8B030D-6E8A-4147-A177-3AD203B41FA5}">
                      <a16:colId xmlns:a16="http://schemas.microsoft.com/office/drawing/2014/main" val="20002"/>
                    </a:ext>
                  </a:extLst>
                </a:gridCol>
              </a:tblGrid>
              <a:tr h="360040">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Node Type</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Notation</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Description</a:t>
                      </a:r>
                      <a:endParaRPr lang="en-GB" sz="1400" b="1" dirty="0">
                        <a:effectLst/>
                        <a:latin typeface="Calibri" panose="020F0502020204030204" pitchFamily="34"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30018">
                <a:tc>
                  <a:txBody>
                    <a:bodyPr/>
                    <a:lstStyle/>
                    <a:p>
                      <a:pPr>
                        <a:spcAft>
                          <a:spcPts val="0"/>
                        </a:spcAft>
                      </a:pPr>
                      <a:r>
                        <a:rPr lang="en-US" sz="1400" dirty="0">
                          <a:effectLst/>
                          <a:latin typeface="Calibri" panose="020F0502020204030204" pitchFamily="34" charset="0"/>
                          <a:ea typeface="Times New Roman" panose="02020603050405020304" pitchFamily="18" charset="0"/>
                        </a:rPr>
                        <a:t>Combined</a:t>
                      </a:r>
                    </a:p>
                    <a:p>
                      <a:pPr>
                        <a:spcAft>
                          <a:spcPts val="0"/>
                        </a:spcAft>
                      </a:pPr>
                      <a:r>
                        <a:rPr lang="en-US" sz="1400" dirty="0">
                          <a:effectLst/>
                          <a:latin typeface="Calibri" panose="020F0502020204030204" pitchFamily="34" charset="0"/>
                          <a:ea typeface="Times New Roman" panose="02020603050405020304" pitchFamily="18" charset="0"/>
                        </a:rPr>
                        <a:t>Fragment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r>
                        <a:rPr lang="en-US" sz="1400" dirty="0">
                          <a:effectLst/>
                          <a:latin typeface="Calibri" panose="020F0502020204030204" pitchFamily="34" charset="0"/>
                          <a:ea typeface="Times New Roman" panose="02020603050405020304" pitchFamily="18" charset="0"/>
                        </a:rPr>
                        <a:t> </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A combined fragment is defined by an interaction operator and corresponding interaction operands.</a:t>
                      </a:r>
                    </a:p>
                    <a:p>
                      <a:pPr>
                        <a:spcAft>
                          <a:spcPts val="0"/>
                        </a:spcAft>
                      </a:pPr>
                      <a:r>
                        <a:rPr lang="en-US" sz="1400" dirty="0">
                          <a:effectLst/>
                          <a:latin typeface="Calibri" panose="020F0502020204030204" pitchFamily="34" charset="0"/>
                          <a:ea typeface="Times New Roman" panose="02020603050405020304" pitchFamily="18" charset="0"/>
                        </a:rPr>
                        <a:t>Through the use of </a:t>
                      </a:r>
                      <a:r>
                        <a:rPr lang="en-US" sz="1400" dirty="0" err="1">
                          <a:effectLst/>
                          <a:latin typeface="Calibri" panose="020F0502020204030204" pitchFamily="34" charset="0"/>
                          <a:ea typeface="Times New Roman" panose="02020603050405020304" pitchFamily="18" charset="0"/>
                        </a:rPr>
                        <a:t>CombinedFragments</a:t>
                      </a:r>
                      <a:r>
                        <a:rPr lang="en-US" sz="1400" dirty="0">
                          <a:effectLst/>
                          <a:latin typeface="Calibri" panose="020F0502020204030204" pitchFamily="34" charset="0"/>
                          <a:ea typeface="Times New Roman" panose="02020603050405020304" pitchFamily="18" charset="0"/>
                        </a:rPr>
                        <a:t> the user will be able to describe a number of traces in a compact and concise manner.</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alt</a:t>
                      </a:r>
                      <a:r>
                        <a:rPr lang="en-US" sz="1400" dirty="0">
                          <a:effectLst/>
                          <a:latin typeface="Calibri" panose="020F0502020204030204" pitchFamily="34" charset="0"/>
                          <a:ea typeface="Times New Roman" panose="02020603050405020304" pitchFamily="18" charset="0"/>
                        </a:rPr>
                        <a:t> designates that the </a:t>
                      </a:r>
                      <a:r>
                        <a:rPr lang="en-US" sz="1400" dirty="0" err="1">
                          <a:effectLst/>
                          <a:latin typeface="Calibri" panose="020F0502020204030204" pitchFamily="34" charset="0"/>
                          <a:ea typeface="Times New Roman" panose="02020603050405020304" pitchFamily="18" charset="0"/>
                        </a:rPr>
                        <a:t>CombinedFragment</a:t>
                      </a:r>
                      <a:r>
                        <a:rPr lang="en-US" sz="1400" dirty="0">
                          <a:effectLst/>
                          <a:latin typeface="Calibri" panose="020F0502020204030204" pitchFamily="34" charset="0"/>
                          <a:ea typeface="Times New Roman" panose="02020603050405020304" pitchFamily="18" charset="0"/>
                        </a:rPr>
                        <a:t> represents a choice of behavior. At most one of the operands will be chosen. The chosen operand must have an explicit or implicit guard expression that evaluates to true at this point in the interaction.</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opt</a:t>
                      </a:r>
                      <a:r>
                        <a:rPr lang="en-US" sz="1400" dirty="0">
                          <a:effectLst/>
                          <a:latin typeface="Calibri" panose="020F0502020204030204" pitchFamily="34" charset="0"/>
                          <a:ea typeface="Times New Roman" panose="02020603050405020304" pitchFamily="18" charset="0"/>
                        </a:rPr>
                        <a:t> defines condition to a single call - the call will execute only if the supplied condition is true . Equivalent to an alt with only one trace.</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par</a:t>
                      </a:r>
                      <a:r>
                        <a:rPr lang="en-US" sz="1400" dirty="0">
                          <a:effectLst/>
                          <a:latin typeface="Calibri" panose="020F0502020204030204" pitchFamily="34" charset="0"/>
                          <a:ea typeface="Times New Roman" panose="02020603050405020304" pitchFamily="18" charset="0"/>
                        </a:rPr>
                        <a:t> defines that the calls within the fragment run in parallel.</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critical</a:t>
                      </a:r>
                      <a:r>
                        <a:rPr lang="en-US" sz="1400" dirty="0">
                          <a:effectLst/>
                          <a:latin typeface="Calibri" panose="020F0502020204030204" pitchFamily="34" charset="0"/>
                          <a:ea typeface="Times New Roman" panose="02020603050405020304" pitchFamily="18" charset="0"/>
                        </a:rPr>
                        <a:t> designates that the </a:t>
                      </a:r>
                      <a:r>
                        <a:rPr lang="en-US" sz="1400" dirty="0" err="1">
                          <a:effectLst/>
                          <a:latin typeface="Calibri" panose="020F0502020204030204" pitchFamily="34" charset="0"/>
                          <a:ea typeface="Times New Roman" panose="02020603050405020304" pitchFamily="18" charset="0"/>
                        </a:rPr>
                        <a:t>CombinedFragment</a:t>
                      </a:r>
                      <a:r>
                        <a:rPr lang="en-US" sz="1400" dirty="0">
                          <a:effectLst/>
                          <a:latin typeface="Calibri" panose="020F0502020204030204" pitchFamily="34" charset="0"/>
                          <a:ea typeface="Times New Roman" panose="02020603050405020304" pitchFamily="18" charset="0"/>
                        </a:rPr>
                        <a:t> represents a critical region, where the traces of the region cannot be interleaved by other </a:t>
                      </a:r>
                      <a:r>
                        <a:rPr lang="en-US" sz="1400" dirty="0" err="1">
                          <a:effectLst/>
                          <a:latin typeface="Calibri" panose="020F0502020204030204" pitchFamily="34" charset="0"/>
                          <a:ea typeface="Times New Roman" panose="02020603050405020304" pitchFamily="18" charset="0"/>
                        </a:rPr>
                        <a:t>OccurrenceSpecifications</a:t>
                      </a:r>
                      <a:r>
                        <a:rPr lang="en-US" sz="1400" dirty="0">
                          <a:effectLst/>
                          <a:latin typeface="Calibri" panose="020F0502020204030204" pitchFamily="34" charset="0"/>
                          <a:ea typeface="Times New Roman" panose="02020603050405020304" pitchFamily="18" charset="0"/>
                        </a:rPr>
                        <a:t> (on those Lifelines covered by the region).</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loop</a:t>
                      </a:r>
                      <a:r>
                        <a:rPr lang="en-US" sz="1400" dirty="0">
                          <a:effectLst/>
                          <a:latin typeface="Calibri" panose="020F0502020204030204" pitchFamily="34" charset="0"/>
                          <a:ea typeface="Times New Roman" panose="02020603050405020304" pitchFamily="18" charset="0"/>
                        </a:rPr>
                        <a:t> operand will iterate minimum the ‘</a:t>
                      </a:r>
                      <a:r>
                        <a:rPr lang="en-US" sz="1400" dirty="0" err="1">
                          <a:effectLst/>
                          <a:latin typeface="Calibri" panose="020F0502020204030204" pitchFamily="34" charset="0"/>
                          <a:ea typeface="Times New Roman" panose="02020603050405020304" pitchFamily="18" charset="0"/>
                        </a:rPr>
                        <a:t>minint</a:t>
                      </a:r>
                      <a:r>
                        <a:rPr lang="en-US" sz="1400" dirty="0">
                          <a:effectLst/>
                          <a:latin typeface="Calibri" panose="020F0502020204030204" pitchFamily="34" charset="0"/>
                          <a:ea typeface="Times New Roman" panose="02020603050405020304" pitchFamily="18" charset="0"/>
                        </a:rPr>
                        <a:t>’ number of times (given by the iteration expression in the guard) and at most the ‘</a:t>
                      </a:r>
                      <a:r>
                        <a:rPr lang="en-US" sz="1400" dirty="0" err="1">
                          <a:effectLst/>
                          <a:latin typeface="Calibri" panose="020F0502020204030204" pitchFamily="34" charset="0"/>
                          <a:ea typeface="Times New Roman" panose="02020603050405020304" pitchFamily="18" charset="0"/>
                        </a:rPr>
                        <a:t>maxint</a:t>
                      </a:r>
                      <a:r>
                        <a:rPr lang="en-US" sz="1400" dirty="0">
                          <a:effectLst/>
                          <a:latin typeface="Calibri" panose="020F0502020204030204" pitchFamily="34" charset="0"/>
                          <a:ea typeface="Times New Roman" panose="02020603050405020304" pitchFamily="18" charset="0"/>
                        </a:rPr>
                        <a:t>’ number of times. After the minimum number of iterations have executed and the Boolean expression is false the loop will terminate.</a:t>
                      </a:r>
                    </a:p>
                    <a:p>
                      <a:pPr>
                        <a:spcAft>
                          <a:spcPts val="0"/>
                        </a:spcAft>
                      </a:pPr>
                      <a:endParaRPr lang="en-US" sz="1400" b="1" dirty="0">
                        <a:effectLst/>
                        <a:latin typeface="Calibri" panose="020F0502020204030204" pitchFamily="34" charset="0"/>
                        <a:ea typeface="Times New Roman" panose="02020603050405020304" pitchFamily="18" charset="0"/>
                      </a:endParaRPr>
                    </a:p>
                    <a:p>
                      <a:pPr>
                        <a:spcAft>
                          <a:spcPts val="0"/>
                        </a:spcAft>
                      </a:pPr>
                      <a:r>
                        <a:rPr lang="en-US" sz="1400" b="1" dirty="0">
                          <a:effectLst/>
                          <a:latin typeface="Calibri" panose="020F0502020204030204" pitchFamily="34" charset="0"/>
                          <a:ea typeface="Times New Roman" panose="02020603050405020304" pitchFamily="18" charset="0"/>
                        </a:rPr>
                        <a:t>break</a:t>
                      </a:r>
                      <a:r>
                        <a:rPr lang="en-US" sz="1400" dirty="0">
                          <a:effectLst/>
                          <a:latin typeface="Calibri" panose="020F0502020204030204" pitchFamily="34" charset="0"/>
                          <a:ea typeface="Times New Roman" panose="02020603050405020304" pitchFamily="18" charset="0"/>
                        </a:rPr>
                        <a:t> represents a breaking or exceptional scenario that is performed instead of the remainder of the enclosing interaction fragment.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stretch>
            <a:fillRect/>
          </a:stretch>
        </p:blipFill>
        <p:spPr>
          <a:xfrm>
            <a:off x="2494012" y="1268760"/>
            <a:ext cx="1219048" cy="714286"/>
          </a:xfrm>
          <a:prstGeom prst="rect">
            <a:avLst/>
          </a:prstGeom>
        </p:spPr>
      </p:pic>
    </p:spTree>
    <p:extLst>
      <p:ext uri="{BB962C8B-B14F-4D97-AF65-F5344CB8AC3E}">
        <p14:creationId xmlns:p14="http://schemas.microsoft.com/office/powerpoint/2010/main" val="2668552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53851" y="0"/>
            <a:ext cx="11134973" cy="548680"/>
          </a:xfrm>
        </p:spPr>
        <p:txBody>
          <a:bodyPr>
            <a:normAutofit/>
          </a:bodyPr>
          <a:lstStyle/>
          <a:p>
            <a:r>
              <a:rPr lang="en-US" altLang="en-US" b="1" dirty="0"/>
              <a:t>Further Reading: Graphic nodes included in sequence diagrams </a:t>
            </a:r>
          </a:p>
        </p:txBody>
      </p:sp>
      <p:graphicFrame>
        <p:nvGraphicFramePr>
          <p:cNvPr id="3" name="Table 2"/>
          <p:cNvGraphicFramePr>
            <a:graphicFrameLocks noGrp="1"/>
          </p:cNvGraphicFramePr>
          <p:nvPr>
            <p:extLst>
              <p:ext uri="{D42A27DB-BD31-4B8C-83A1-F6EECF244321}">
                <p14:modId xmlns:p14="http://schemas.microsoft.com/office/powerpoint/2010/main" val="1681264540"/>
              </p:ext>
            </p:extLst>
          </p:nvPr>
        </p:nvGraphicFramePr>
        <p:xfrm>
          <a:off x="1053851" y="703756"/>
          <a:ext cx="10080873" cy="5461548"/>
        </p:xfrm>
        <a:graphic>
          <a:graphicData uri="http://schemas.openxmlformats.org/drawingml/2006/table">
            <a:tbl>
              <a:tblPr firstRow="1" firstCol="1" lastRow="1" lastCol="1" bandRow="1" bandCol="1"/>
              <a:tblGrid>
                <a:gridCol w="1879968">
                  <a:extLst>
                    <a:ext uri="{9D8B030D-6E8A-4147-A177-3AD203B41FA5}">
                      <a16:colId xmlns:a16="http://schemas.microsoft.com/office/drawing/2014/main" val="20000"/>
                    </a:ext>
                  </a:extLst>
                </a:gridCol>
                <a:gridCol w="2008465">
                  <a:extLst>
                    <a:ext uri="{9D8B030D-6E8A-4147-A177-3AD203B41FA5}">
                      <a16:colId xmlns:a16="http://schemas.microsoft.com/office/drawing/2014/main" val="20001"/>
                    </a:ext>
                  </a:extLst>
                </a:gridCol>
                <a:gridCol w="6192440">
                  <a:extLst>
                    <a:ext uri="{9D8B030D-6E8A-4147-A177-3AD203B41FA5}">
                      <a16:colId xmlns:a16="http://schemas.microsoft.com/office/drawing/2014/main" val="20002"/>
                    </a:ext>
                  </a:extLst>
                </a:gridCol>
              </a:tblGrid>
              <a:tr h="256133">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Path Type</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Notation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Description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5026">
                <a:tc>
                  <a:txBody>
                    <a:bodyPr/>
                    <a:lstStyle/>
                    <a:p>
                      <a:pPr>
                        <a:spcAft>
                          <a:spcPts val="0"/>
                        </a:spcAft>
                      </a:pPr>
                      <a:r>
                        <a:rPr lang="en-GB" sz="1400" dirty="0">
                          <a:effectLst/>
                          <a:latin typeface="Calibri" panose="020F0502020204030204" pitchFamily="34" charset="0"/>
                          <a:ea typeface="Times New Roman" panose="02020603050405020304" pitchFamily="18" charset="0"/>
                        </a:rPr>
                        <a:t>Destruction</a:t>
                      </a:r>
                    </a:p>
                    <a:p>
                      <a:pPr>
                        <a:spcAft>
                          <a:spcPts val="0"/>
                        </a:spcAft>
                      </a:pPr>
                      <a:r>
                        <a:rPr lang="en-GB" sz="1400" dirty="0">
                          <a:effectLst/>
                          <a:latin typeface="Calibri" panose="020F0502020204030204" pitchFamily="34" charset="0"/>
                          <a:ea typeface="Times New Roman" panose="02020603050405020304" pitchFamily="18" charset="0"/>
                        </a:rPr>
                        <a:t>Event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Destruction of the instance described by the lifeline containing the </a:t>
                      </a:r>
                      <a:r>
                        <a:rPr lang="en-US" sz="1400" dirty="0" err="1">
                          <a:effectLst/>
                          <a:latin typeface="Calibri" panose="020F0502020204030204" pitchFamily="34" charset="0"/>
                          <a:ea typeface="Times New Roman" panose="02020603050405020304" pitchFamily="18" charset="0"/>
                        </a:rPr>
                        <a:t>OccurrenceSpecification</a:t>
                      </a:r>
                      <a:r>
                        <a:rPr lang="en-US" sz="1400" dirty="0">
                          <a:effectLst/>
                          <a:latin typeface="Calibri" panose="020F0502020204030204" pitchFamily="34" charset="0"/>
                          <a:ea typeface="Times New Roman" panose="02020603050405020304" pitchFamily="18" charset="0"/>
                        </a:rPr>
                        <a:t> that references the destruction event.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10389">
                <a:tc>
                  <a:txBody>
                    <a:bodyPr/>
                    <a:lstStyle/>
                    <a:p>
                      <a:pPr>
                        <a:spcAft>
                          <a:spcPts val="0"/>
                        </a:spcAft>
                      </a:pPr>
                      <a:r>
                        <a:rPr lang="en-US" sz="1400" dirty="0">
                          <a:effectLst/>
                          <a:latin typeface="Calibri" panose="020F0502020204030204" pitchFamily="34" charset="0"/>
                          <a:ea typeface="Times New Roman" panose="02020603050405020304" pitchFamily="18" charset="0"/>
                        </a:rPr>
                        <a:t>Message</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dirty="0">
                          <a:effectLst/>
                          <a:latin typeface="Calibri" panose="020F0502020204030204" pitchFamily="34" charset="0"/>
                          <a:ea typeface="Times New Roman" panose="02020603050405020304" pitchFamily="18" charset="0"/>
                        </a:rPr>
                        <a:t>A Message defines a particular communication between Lifelines of an Interaction.  </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A message is shown as a line from the sender message end to the receiver message end.</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Messages come in different variants depending on what kind of Message they convey. Here we show an asynchronous message, a call and a reply. These are all complete messages. </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 Asynchronous Messages have an open arrow head</a:t>
                      </a:r>
                    </a:p>
                    <a:p>
                      <a:pPr>
                        <a:spcAft>
                          <a:spcPts val="0"/>
                        </a:spcAft>
                      </a:pPr>
                      <a:r>
                        <a:rPr lang="en-US" sz="1400" dirty="0">
                          <a:effectLst/>
                          <a:latin typeface="Calibri" panose="020F0502020204030204" pitchFamily="34" charset="0"/>
                          <a:ea typeface="Times New Roman" panose="02020603050405020304" pitchFamily="18" charset="0"/>
                        </a:rPr>
                        <a:t>• Synchronous Messages typically represent operation calls and are shown with a filled arrow head. </a:t>
                      </a:r>
                    </a:p>
                    <a:p>
                      <a:pPr>
                        <a:spcAft>
                          <a:spcPts val="0"/>
                        </a:spcAft>
                      </a:pPr>
                      <a:r>
                        <a:rPr lang="en-US" sz="1400" dirty="0">
                          <a:effectLst/>
                          <a:latin typeface="Calibri" panose="020F0502020204030204" pitchFamily="34" charset="0"/>
                          <a:ea typeface="Times New Roman" panose="02020603050405020304" pitchFamily="18" charset="0"/>
                        </a:rPr>
                        <a:t>• The reply message from a method has a dashed line.</a:t>
                      </a:r>
                    </a:p>
                    <a:p>
                      <a:pPr>
                        <a:spcAft>
                          <a:spcPts val="0"/>
                        </a:spcAft>
                      </a:pPr>
                      <a:r>
                        <a:rPr lang="en-US" sz="1400" dirty="0">
                          <a:effectLst/>
                          <a:latin typeface="Calibri" panose="020F0502020204030204" pitchFamily="34" charset="0"/>
                          <a:ea typeface="Times New Roman" panose="02020603050405020304" pitchFamily="18" charset="0"/>
                        </a:rPr>
                        <a:t>• Object creation Message has a dashed line with an open arrow.</a:t>
                      </a:r>
                    </a:p>
                    <a:p>
                      <a:pPr>
                        <a:spcAft>
                          <a:spcPts val="0"/>
                        </a:spcAft>
                      </a:pPr>
                      <a:endParaRPr lang="en-US" sz="1400" dirty="0">
                        <a:effectLst/>
                        <a:latin typeface="Calibri" panose="020F0502020204030204" pitchFamily="34" charset="0"/>
                        <a:ea typeface="Times New Roman" panose="02020603050405020304" pitchFamily="18" charset="0"/>
                      </a:endParaRPr>
                    </a:p>
                    <a:p>
                      <a:pPr>
                        <a:spcAft>
                          <a:spcPts val="0"/>
                        </a:spcAft>
                      </a:pPr>
                      <a:r>
                        <a:rPr lang="en-US" sz="1400" dirty="0">
                          <a:effectLst/>
                          <a:latin typeface="Calibri" panose="020F0502020204030204" pitchFamily="34" charset="0"/>
                          <a:ea typeface="Times New Roman" panose="02020603050405020304" pitchFamily="18" charset="0"/>
                        </a:rPr>
                        <a:t>Examples of syntax: </a:t>
                      </a:r>
                    </a:p>
                    <a:p>
                      <a:pPr>
                        <a:spcAft>
                          <a:spcPts val="0"/>
                        </a:spcAft>
                      </a:pPr>
                      <a:r>
                        <a:rPr lang="en-US" sz="1400" dirty="0" err="1">
                          <a:effectLst/>
                          <a:latin typeface="Calibri" panose="020F0502020204030204" pitchFamily="34" charset="0"/>
                          <a:ea typeface="Times New Roman" panose="02020603050405020304" pitchFamily="18" charset="0"/>
                        </a:rPr>
                        <a:t>mymessage</a:t>
                      </a:r>
                      <a:r>
                        <a:rPr lang="en-US" sz="1400" dirty="0">
                          <a:effectLst/>
                          <a:latin typeface="Calibri" panose="020F0502020204030204" pitchFamily="34" charset="0"/>
                          <a:ea typeface="Times New Roman" panose="02020603050405020304" pitchFamily="18" charset="0"/>
                        </a:rPr>
                        <a:t>(14, - , 3.14, “hello”) // second argument is undefined </a:t>
                      </a:r>
                    </a:p>
                    <a:p>
                      <a:pPr>
                        <a:spcAft>
                          <a:spcPts val="0"/>
                        </a:spcAft>
                      </a:pPr>
                      <a:r>
                        <a:rPr lang="en-US" sz="1400" dirty="0">
                          <a:effectLst/>
                          <a:latin typeface="Calibri" panose="020F0502020204030204" pitchFamily="34" charset="0"/>
                          <a:ea typeface="Times New Roman" panose="02020603050405020304" pitchFamily="18" charset="0"/>
                        </a:rPr>
                        <a:t>v=</a:t>
                      </a:r>
                      <a:r>
                        <a:rPr lang="en-US" sz="1400" dirty="0" err="1">
                          <a:effectLst/>
                          <a:latin typeface="Calibri" panose="020F0502020204030204" pitchFamily="34" charset="0"/>
                          <a:ea typeface="Times New Roman" panose="02020603050405020304" pitchFamily="18" charset="0"/>
                        </a:rPr>
                        <a:t>mymsg</a:t>
                      </a:r>
                      <a:r>
                        <a:rPr lang="en-US" sz="1400" dirty="0">
                          <a:effectLst/>
                          <a:latin typeface="Calibri" panose="020F0502020204030204" pitchFamily="34" charset="0"/>
                          <a:ea typeface="Times New Roman" panose="02020603050405020304" pitchFamily="18" charset="0"/>
                        </a:rPr>
                        <a:t>(16, </a:t>
                      </a:r>
                      <a:r>
                        <a:rPr lang="en-US" sz="1400" dirty="0" err="1">
                          <a:effectLst/>
                          <a:latin typeface="Calibri" panose="020F0502020204030204" pitchFamily="34" charset="0"/>
                          <a:ea typeface="Times New Roman" panose="02020603050405020304" pitchFamily="18" charset="0"/>
                        </a:rPr>
                        <a:t>variab</a:t>
                      </a:r>
                      <a:r>
                        <a:rPr lang="en-US" sz="1400" dirty="0">
                          <a:effectLst/>
                          <a:latin typeface="Calibri" panose="020F0502020204030204" pitchFamily="34" charset="0"/>
                          <a:ea typeface="Times New Roman" panose="02020603050405020304" pitchFamily="18" charset="0"/>
                        </a:rPr>
                        <a:t>):96 // this is a reply message carrying the return value 96 assigning it to v</a:t>
                      </a:r>
                    </a:p>
                    <a:p>
                      <a:pPr>
                        <a:spcAft>
                          <a:spcPts val="0"/>
                        </a:spcAft>
                      </a:pPr>
                      <a:r>
                        <a:rPr lang="en-US" sz="1400" dirty="0">
                          <a:effectLst/>
                          <a:latin typeface="Calibri" panose="020F0502020204030204" pitchFamily="34" charset="0"/>
                          <a:ea typeface="Times New Roman" panose="02020603050405020304" pitchFamily="18" charset="0"/>
                        </a:rPr>
                        <a:t> </a:t>
                      </a:r>
                      <a:r>
                        <a:rPr lang="en-US" sz="1400" dirty="0" err="1">
                          <a:effectLst/>
                          <a:latin typeface="Calibri" panose="020F0502020204030204" pitchFamily="34" charset="0"/>
                          <a:ea typeface="Times New Roman" panose="02020603050405020304" pitchFamily="18" charset="0"/>
                        </a:rPr>
                        <a:t>mymsg</a:t>
                      </a:r>
                      <a:r>
                        <a:rPr lang="en-US" sz="1400" dirty="0">
                          <a:effectLst/>
                          <a:latin typeface="Calibri" panose="020F0502020204030204" pitchFamily="34" charset="0"/>
                          <a:ea typeface="Times New Roman" panose="02020603050405020304" pitchFamily="18" charset="0"/>
                        </a:rPr>
                        <a:t>(</a:t>
                      </a:r>
                      <a:r>
                        <a:rPr lang="en-US" sz="1400" dirty="0" err="1">
                          <a:effectLst/>
                          <a:latin typeface="Calibri" panose="020F0502020204030204" pitchFamily="34" charset="0"/>
                          <a:ea typeface="Times New Roman" panose="02020603050405020304" pitchFamily="18" charset="0"/>
                        </a:rPr>
                        <a:t>myint</a:t>
                      </a:r>
                      <a:r>
                        <a:rPr lang="en-US" sz="1400" dirty="0">
                          <a:effectLst/>
                          <a:latin typeface="Calibri" panose="020F0502020204030204" pitchFamily="34" charset="0"/>
                          <a:ea typeface="Times New Roman" panose="02020603050405020304" pitchFamily="18" charset="0"/>
                        </a:rPr>
                        <a:t>=16) // the input parameter ‘</a:t>
                      </a:r>
                      <a:r>
                        <a:rPr lang="en-US" sz="1400" dirty="0" err="1">
                          <a:effectLst/>
                          <a:latin typeface="Calibri" panose="020F0502020204030204" pitchFamily="34" charset="0"/>
                          <a:ea typeface="Times New Roman" panose="02020603050405020304" pitchFamily="18" charset="0"/>
                        </a:rPr>
                        <a:t>myint</a:t>
                      </a:r>
                      <a:r>
                        <a:rPr lang="en-US" sz="1400" dirty="0">
                          <a:effectLst/>
                          <a:latin typeface="Calibri" panose="020F0502020204030204" pitchFamily="34" charset="0"/>
                          <a:ea typeface="Times New Roman" panose="02020603050405020304" pitchFamily="18" charset="0"/>
                        </a:rPr>
                        <a:t>’ is given the argument value 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3"/>
          <p:cNvSpPr txBox="1"/>
          <p:nvPr/>
        </p:nvSpPr>
        <p:spPr>
          <a:xfrm>
            <a:off x="-1610444" y="764704"/>
            <a:ext cx="184731" cy="369332"/>
          </a:xfrm>
          <a:prstGeom prst="rect">
            <a:avLst/>
          </a:prstGeom>
          <a:noFill/>
        </p:spPr>
        <p:txBody>
          <a:bodyPr wrap="none" rtlCol="0">
            <a:spAutoFit/>
          </a:bodyPr>
          <a:lstStyle/>
          <a:p>
            <a:endParaRPr lang="en-GB" dirty="0"/>
          </a:p>
        </p:txBody>
      </p:sp>
      <p:pic>
        <p:nvPicPr>
          <p:cNvPr id="2" name="Picture 1"/>
          <p:cNvPicPr>
            <a:picLocks noChangeAspect="1"/>
          </p:cNvPicPr>
          <p:nvPr/>
        </p:nvPicPr>
        <p:blipFill>
          <a:blip r:embed="rId2"/>
          <a:stretch>
            <a:fillRect/>
          </a:stretch>
        </p:blipFill>
        <p:spPr>
          <a:xfrm>
            <a:off x="3574132" y="1020059"/>
            <a:ext cx="571429" cy="476190"/>
          </a:xfrm>
          <a:prstGeom prst="rect">
            <a:avLst/>
          </a:prstGeom>
        </p:spPr>
      </p:pic>
      <p:pic>
        <p:nvPicPr>
          <p:cNvPr id="6" name="Picture 5"/>
          <p:cNvPicPr>
            <a:picLocks noChangeAspect="1"/>
          </p:cNvPicPr>
          <p:nvPr/>
        </p:nvPicPr>
        <p:blipFill>
          <a:blip r:embed="rId3"/>
          <a:stretch>
            <a:fillRect/>
          </a:stretch>
        </p:blipFill>
        <p:spPr>
          <a:xfrm>
            <a:off x="5313459" y="3300428"/>
            <a:ext cx="1561905" cy="257143"/>
          </a:xfrm>
          <a:prstGeom prst="rect">
            <a:avLst/>
          </a:prstGeom>
        </p:spPr>
      </p:pic>
      <p:grpSp>
        <p:nvGrpSpPr>
          <p:cNvPr id="10" name="Group 9"/>
          <p:cNvGrpSpPr/>
          <p:nvPr/>
        </p:nvGrpSpPr>
        <p:grpSpPr>
          <a:xfrm>
            <a:off x="3176158" y="1971948"/>
            <a:ext cx="1599839" cy="1745084"/>
            <a:chOff x="3176158" y="1971948"/>
            <a:chExt cx="1599839" cy="1745084"/>
          </a:xfrm>
        </p:grpSpPr>
        <p:pic>
          <p:nvPicPr>
            <p:cNvPr id="7" name="Picture 6"/>
            <p:cNvPicPr>
              <a:picLocks noChangeAspect="1"/>
            </p:cNvPicPr>
            <p:nvPr/>
          </p:nvPicPr>
          <p:blipFill>
            <a:blip r:embed="rId3"/>
            <a:stretch>
              <a:fillRect/>
            </a:stretch>
          </p:blipFill>
          <p:spPr>
            <a:xfrm>
              <a:off x="3214092" y="2060848"/>
              <a:ext cx="1561905" cy="257143"/>
            </a:xfrm>
            <a:prstGeom prst="rect">
              <a:avLst/>
            </a:prstGeom>
          </p:spPr>
        </p:pic>
        <p:pic>
          <p:nvPicPr>
            <p:cNvPr id="8" name="Picture 7"/>
            <p:cNvPicPr>
              <a:picLocks noChangeAspect="1"/>
            </p:cNvPicPr>
            <p:nvPr/>
          </p:nvPicPr>
          <p:blipFill>
            <a:blip r:embed="rId4"/>
            <a:stretch>
              <a:fillRect/>
            </a:stretch>
          </p:blipFill>
          <p:spPr>
            <a:xfrm>
              <a:off x="3176158" y="2528197"/>
              <a:ext cx="1583308" cy="325144"/>
            </a:xfrm>
            <a:prstGeom prst="rect">
              <a:avLst/>
            </a:prstGeom>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4315" y="3140999"/>
              <a:ext cx="1384054"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3"/>
            <p:cNvSpPr>
              <a:spLocks noChangeShapeType="1"/>
            </p:cNvSpPr>
            <p:nvPr/>
          </p:nvSpPr>
          <p:spPr bwMode="auto">
            <a:xfrm>
              <a:off x="3373697" y="3717032"/>
              <a:ext cx="1188000" cy="0"/>
            </a:xfrm>
            <a:prstGeom prst="line">
              <a:avLst/>
            </a:prstGeom>
            <a:noFill/>
            <a:ln w="9525">
              <a:solidFill>
                <a:srgbClr val="000000"/>
              </a:solidFill>
              <a:prstDash val="dash"/>
              <a:round/>
              <a:headEnd/>
              <a:tailEnd type="arrow" w="med"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p:cNvSpPr txBox="1"/>
            <p:nvPr/>
          </p:nvSpPr>
          <p:spPr>
            <a:xfrm>
              <a:off x="3777456" y="1971948"/>
              <a:ext cx="648072" cy="215444"/>
            </a:xfrm>
            <a:prstGeom prst="rect">
              <a:avLst/>
            </a:prstGeom>
            <a:solidFill>
              <a:schemeClr val="bg1"/>
            </a:solidFill>
          </p:spPr>
          <p:txBody>
            <a:bodyPr wrap="square" rtlCol="0">
              <a:spAutoFit/>
            </a:bodyPr>
            <a:lstStyle/>
            <a:p>
              <a:r>
                <a:rPr lang="en-US" sz="800" dirty="0">
                  <a:latin typeface="Calibri" panose="020F0502020204030204" pitchFamily="34" charset="0"/>
                </a:rPr>
                <a:t>Code</a:t>
              </a:r>
              <a:endParaRPr lang="en-GB" sz="800" dirty="0">
                <a:latin typeface="Calibri" panose="020F0502020204030204" pitchFamily="34" charset="0"/>
              </a:endParaRPr>
            </a:p>
          </p:txBody>
        </p:sp>
        <p:sp>
          <p:nvSpPr>
            <p:cNvPr id="12" name="TextBox 11"/>
            <p:cNvSpPr txBox="1"/>
            <p:nvPr/>
          </p:nvSpPr>
          <p:spPr>
            <a:xfrm>
              <a:off x="3760564" y="2492896"/>
              <a:ext cx="648072" cy="215444"/>
            </a:xfrm>
            <a:prstGeom prst="rect">
              <a:avLst/>
            </a:prstGeom>
            <a:solidFill>
              <a:schemeClr val="bg1"/>
            </a:solidFill>
          </p:spPr>
          <p:txBody>
            <a:bodyPr wrap="square" rtlCol="0">
              <a:spAutoFit/>
            </a:bodyPr>
            <a:lstStyle/>
            <a:p>
              <a:r>
                <a:rPr lang="en-US" sz="800" dirty="0" err="1">
                  <a:latin typeface="Calibri" panose="020F0502020204030204" pitchFamily="34" charset="0"/>
                </a:rPr>
                <a:t>doit</a:t>
              </a:r>
              <a:r>
                <a:rPr lang="en-US" sz="800" dirty="0">
                  <a:latin typeface="Calibri" panose="020F0502020204030204" pitchFamily="34" charset="0"/>
                </a:rPr>
                <a:t> (Z)</a:t>
              </a:r>
              <a:endParaRPr lang="en-GB" sz="800" dirty="0">
                <a:latin typeface="Calibri" panose="020F0502020204030204" pitchFamily="34" charset="0"/>
              </a:endParaRPr>
            </a:p>
          </p:txBody>
        </p:sp>
      </p:grpSp>
    </p:spTree>
    <p:extLst>
      <p:ext uri="{BB962C8B-B14F-4D97-AF65-F5344CB8AC3E}">
        <p14:creationId xmlns:p14="http://schemas.microsoft.com/office/powerpoint/2010/main" val="239890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53851" y="0"/>
            <a:ext cx="11134973" cy="548680"/>
          </a:xfrm>
        </p:spPr>
        <p:txBody>
          <a:bodyPr>
            <a:normAutofit/>
          </a:bodyPr>
          <a:lstStyle/>
          <a:p>
            <a:r>
              <a:rPr lang="en-US" altLang="en-US" sz="2800" b="1" dirty="0"/>
              <a:t>Further Reading: </a:t>
            </a:r>
            <a:r>
              <a:rPr lang="en-US" sz="2800" b="1" dirty="0">
                <a:ea typeface="Times New Roman" panose="02020603050405020304" pitchFamily="18" charset="0"/>
              </a:rPr>
              <a:t>Graphic nodes included in sequence diagrams</a:t>
            </a:r>
            <a:endParaRPr lang="en-US" altLang="en-US" sz="2800" b="1" dirty="0"/>
          </a:p>
        </p:txBody>
      </p:sp>
      <p:graphicFrame>
        <p:nvGraphicFramePr>
          <p:cNvPr id="3" name="Table 2"/>
          <p:cNvGraphicFramePr>
            <a:graphicFrameLocks noGrp="1"/>
          </p:cNvGraphicFramePr>
          <p:nvPr>
            <p:extLst>
              <p:ext uri="{D42A27DB-BD31-4B8C-83A1-F6EECF244321}">
                <p14:modId xmlns:p14="http://schemas.microsoft.com/office/powerpoint/2010/main" val="3329245777"/>
              </p:ext>
            </p:extLst>
          </p:nvPr>
        </p:nvGraphicFramePr>
        <p:xfrm>
          <a:off x="1053851" y="1373019"/>
          <a:ext cx="10080873" cy="4491417"/>
        </p:xfrm>
        <a:graphic>
          <a:graphicData uri="http://schemas.openxmlformats.org/drawingml/2006/table">
            <a:tbl>
              <a:tblPr firstRow="1" firstCol="1" lastRow="1" lastCol="1" bandRow="1" bandCol="1"/>
              <a:tblGrid>
                <a:gridCol w="1368153">
                  <a:extLst>
                    <a:ext uri="{9D8B030D-6E8A-4147-A177-3AD203B41FA5}">
                      <a16:colId xmlns:a16="http://schemas.microsoft.com/office/drawing/2014/main" val="20000"/>
                    </a:ext>
                  </a:extLst>
                </a:gridCol>
                <a:gridCol w="3320625">
                  <a:extLst>
                    <a:ext uri="{9D8B030D-6E8A-4147-A177-3AD203B41FA5}">
                      <a16:colId xmlns:a16="http://schemas.microsoft.com/office/drawing/2014/main" val="20001"/>
                    </a:ext>
                  </a:extLst>
                </a:gridCol>
                <a:gridCol w="5392095">
                  <a:extLst>
                    <a:ext uri="{9D8B030D-6E8A-4147-A177-3AD203B41FA5}">
                      <a16:colId xmlns:a16="http://schemas.microsoft.com/office/drawing/2014/main" val="20002"/>
                    </a:ext>
                  </a:extLst>
                </a:gridCol>
              </a:tblGrid>
              <a:tr h="408273">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Type</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Notation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b="1" dirty="0">
                          <a:effectLst/>
                          <a:latin typeface="Calibri" panose="020F0502020204030204" pitchFamily="34" charset="0"/>
                          <a:ea typeface="Times New Roman" panose="02020603050405020304" pitchFamily="18" charset="0"/>
                        </a:rPr>
                        <a:t>Description</a:t>
                      </a:r>
                      <a:endParaRPr lang="en-GB" sz="1400" b="1"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47708">
                <a:tc>
                  <a:txBody>
                    <a:bodyPr/>
                    <a:lstStyle/>
                    <a:p>
                      <a:pPr algn="l">
                        <a:spcAft>
                          <a:spcPts val="0"/>
                        </a:spcAft>
                      </a:pPr>
                      <a:r>
                        <a:rPr lang="en-GB" sz="1400" dirty="0">
                          <a:effectLst/>
                          <a:latin typeface="Calibri" panose="020F0502020204030204" pitchFamily="34" charset="0"/>
                          <a:ea typeface="Times New Roman" panose="02020603050405020304" pitchFamily="18" charset="0"/>
                        </a:rPr>
                        <a:t>Lost Message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r>
                        <a:rPr lang="en-US" sz="1400" dirty="0">
                          <a:effectLst/>
                          <a:latin typeface="Calibri" panose="020F0502020204030204" pitchFamily="34" charset="0"/>
                          <a:ea typeface="Times New Roman" panose="02020603050405020304" pitchFamily="18" charset="0"/>
                        </a:rPr>
                        <a:t>Web Client sent search message which was lost.</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b="1" dirty="0">
                          <a:effectLst/>
                          <a:latin typeface="Calibri" panose="020F0502020204030204" pitchFamily="34" charset="0"/>
                          <a:ea typeface="Times New Roman" panose="02020603050405020304" pitchFamily="18" charset="0"/>
                        </a:rPr>
                        <a:t>Lost Message </a:t>
                      </a:r>
                      <a:r>
                        <a:rPr lang="en-US" sz="1400" dirty="0">
                          <a:effectLst/>
                          <a:latin typeface="Calibri" panose="020F0502020204030204" pitchFamily="34" charset="0"/>
                          <a:ea typeface="Times New Roman" panose="02020603050405020304" pitchFamily="18" charset="0"/>
                        </a:rPr>
                        <a:t>is a message where the sending event is known, but there is no receiving event. It is interpreted as if the message never reached its destination. Lost messages are denoted with as a small black circle at the arrow end of the message.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76264">
                <a:tc>
                  <a:txBody>
                    <a:bodyPr/>
                    <a:lstStyle/>
                    <a:p>
                      <a:pPr>
                        <a:spcAft>
                          <a:spcPts val="0"/>
                        </a:spcAft>
                      </a:pPr>
                      <a:r>
                        <a:rPr lang="en-US" sz="1400" dirty="0">
                          <a:effectLst/>
                          <a:latin typeface="Calibri" panose="020F0502020204030204" pitchFamily="34" charset="0"/>
                          <a:ea typeface="Times New Roman" panose="02020603050405020304" pitchFamily="18" charset="0"/>
                        </a:rPr>
                        <a:t>Found Message</a:t>
                      </a:r>
                      <a:endParaRPr lang="en-GB" sz="1400" dirty="0">
                        <a:effectLst/>
                        <a:latin typeface="Calibri" panose="020F050202020403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endParaRPr lang="en-US" sz="1400" dirty="0">
                        <a:effectLst/>
                        <a:latin typeface="Calibri" panose="020F0502020204030204" pitchFamily="34" charset="0"/>
                        <a:ea typeface="Times New Roman" panose="02020603050405020304" pitchFamily="18" charset="0"/>
                      </a:endParaRPr>
                    </a:p>
                    <a:p>
                      <a:pPr algn="ctr">
                        <a:spcAft>
                          <a:spcPts val="0"/>
                        </a:spcAft>
                      </a:pPr>
                      <a:endParaRPr lang="en-US" sz="1400" dirty="0">
                        <a:effectLst/>
                        <a:latin typeface="Calibri" panose="020F0502020204030204" pitchFamily="34" charset="0"/>
                        <a:ea typeface="Times New Roman" panose="02020603050405020304" pitchFamily="18" charset="0"/>
                      </a:endParaRPr>
                    </a:p>
                    <a:p>
                      <a:pPr algn="l">
                        <a:spcAft>
                          <a:spcPts val="0"/>
                        </a:spcAft>
                      </a:pPr>
                      <a:r>
                        <a:rPr lang="en-US" sz="1400" dirty="0">
                          <a:effectLst/>
                          <a:latin typeface="Calibri" panose="020F0502020204030204" pitchFamily="34" charset="0"/>
                          <a:ea typeface="Times New Roman" panose="02020603050405020304" pitchFamily="18" charset="0"/>
                        </a:rPr>
                        <a:t>Online Bookshop gets search message of unknown origin.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b="1" dirty="0">
                          <a:effectLst/>
                          <a:latin typeface="Calibri" panose="020F0502020204030204" pitchFamily="34" charset="0"/>
                          <a:ea typeface="Times New Roman" panose="02020603050405020304" pitchFamily="18" charset="0"/>
                        </a:rPr>
                        <a:t>Found Message </a:t>
                      </a:r>
                      <a:r>
                        <a:rPr lang="en-US" sz="1400" dirty="0">
                          <a:effectLst/>
                          <a:latin typeface="Calibri" panose="020F0502020204030204" pitchFamily="34" charset="0"/>
                          <a:ea typeface="Times New Roman" panose="02020603050405020304" pitchFamily="18" charset="0"/>
                        </a:rPr>
                        <a:t>is a message where the receiving event is known, but there is no (known) sending event. It is interpreted as if the origin of the message is outside the scope of the description. This may for example be noise or other activity that we do not want to describe in detail. </a:t>
                      </a:r>
                    </a:p>
                    <a:p>
                      <a:pPr>
                        <a:spcAft>
                          <a:spcPts val="0"/>
                        </a:spcAft>
                      </a:pPr>
                      <a:r>
                        <a:rPr lang="en-US" sz="1400" dirty="0">
                          <a:effectLst/>
                          <a:latin typeface="Calibri" panose="020F0502020204030204" pitchFamily="34" charset="0"/>
                          <a:ea typeface="Times New Roman" panose="02020603050405020304" pitchFamily="18" charset="0"/>
                        </a:rPr>
                        <a:t>Found messages are denoted with a small black circle.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2050" name="Picture 2" descr="Web Client sent search message which was l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00" y="1855695"/>
            <a:ext cx="1638300"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Online Bookshop gets search message of unknown orig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068" y="3817996"/>
            <a:ext cx="16160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8002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Curves 16x9">
  <a:themeElements>
    <a:clrScheme name="Custom 7">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0D78C9"/>
      </a:hlink>
      <a:folHlink>
        <a:srgbClr val="0D78C9"/>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Curves 16x9">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ves_16x9">
      <a:dk1>
        <a:sysClr val="windowText" lastClr="000000"/>
      </a:dk1>
      <a:lt1>
        <a:sysClr val="window" lastClr="FFFFFF"/>
      </a:lt1>
      <a:dk2>
        <a:srgbClr val="1D4D53"/>
      </a:dk2>
      <a:lt2>
        <a:srgbClr val="96D2DA"/>
      </a:lt2>
      <a:accent1>
        <a:srgbClr val="00B1C5"/>
      </a:accent1>
      <a:accent2>
        <a:srgbClr val="49AF0A"/>
      </a:accent2>
      <a:accent3>
        <a:srgbClr val="6457DB"/>
      </a:accent3>
      <a:accent4>
        <a:srgbClr val="CF4895"/>
      </a:accent4>
      <a:accent5>
        <a:srgbClr val="0065E1"/>
      </a:accent5>
      <a:accent6>
        <a:srgbClr val="A84BE1"/>
      </a:accent6>
      <a:hlink>
        <a:srgbClr val="CF4895"/>
      </a:hlink>
      <a:folHlink>
        <a:srgbClr val="7F7F7F"/>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Curves_16x9">
      <a:dk1>
        <a:sysClr val="windowText" lastClr="000000"/>
      </a:dk1>
      <a:lt1>
        <a:sysClr val="window" lastClr="FFFFFF"/>
      </a:lt1>
      <a:dk2>
        <a:srgbClr val="1D4D53"/>
      </a:dk2>
      <a:lt2>
        <a:srgbClr val="96D2DA"/>
      </a:lt2>
      <a:accent1>
        <a:srgbClr val="00B1C5"/>
      </a:accent1>
      <a:accent2>
        <a:srgbClr val="49AF0A"/>
      </a:accent2>
      <a:accent3>
        <a:srgbClr val="6457DB"/>
      </a:accent3>
      <a:accent4>
        <a:srgbClr val="CF4895"/>
      </a:accent4>
      <a:accent5>
        <a:srgbClr val="0065E1"/>
      </a:accent5>
      <a:accent6>
        <a:srgbClr val="A84BE1"/>
      </a:accent6>
      <a:hlink>
        <a:srgbClr val="CF4895"/>
      </a:hlink>
      <a:folHlink>
        <a:srgbClr val="7F7F7F"/>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8D31E73-3400-43EB-B8BB-CAAED88672E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Musical curves presentation (widescreen)</Template>
  <TotalTime>0</TotalTime>
  <Words>5570</Words>
  <Application>Microsoft Office PowerPoint</Application>
  <PresentationFormat>Custom</PresentationFormat>
  <Paragraphs>397</Paragraphs>
  <Slides>24</Slides>
  <Notes>20</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Arial Unicode MS</vt:lpstr>
      <vt:lpstr>PMingLiU</vt:lpstr>
      <vt:lpstr>Arial</vt:lpstr>
      <vt:lpstr>Calibri</vt:lpstr>
      <vt:lpstr>Euphemia</vt:lpstr>
      <vt:lpstr>Times New Roman</vt:lpstr>
      <vt:lpstr>Wingdings</vt:lpstr>
      <vt:lpstr>Curves 16x9</vt:lpstr>
      <vt:lpstr>1_Curves 16x9</vt:lpstr>
      <vt:lpstr>PowerPoint Presentation</vt:lpstr>
      <vt:lpstr>Objectives</vt:lpstr>
      <vt:lpstr>Topic 1: Sequence Diagram Elements</vt:lpstr>
      <vt:lpstr>UML Diagram Types</vt:lpstr>
      <vt:lpstr>Sequence Diagram</vt:lpstr>
      <vt:lpstr>Sequence Diagram</vt:lpstr>
      <vt:lpstr>Creating and Deleting Participants</vt:lpstr>
      <vt:lpstr>Message Specification</vt:lpstr>
      <vt:lpstr>Topic 2: Interaction Fragments</vt:lpstr>
      <vt:lpstr>Interaction Fragments</vt:lpstr>
      <vt:lpstr>Interaction Fragments</vt:lpstr>
      <vt:lpstr>Interaction Fragments</vt:lpstr>
      <vt:lpstr>Enacting Use Case Description Flow</vt:lpstr>
      <vt:lpstr>Topic 3: Diagram to Code</vt:lpstr>
      <vt:lpstr>Sequence Diagram – CalculatePrice</vt:lpstr>
      <vt:lpstr>Diagram to Code</vt:lpstr>
      <vt:lpstr>Diagram to Code</vt:lpstr>
      <vt:lpstr>PowerPoint Presentation</vt:lpstr>
      <vt:lpstr>Summary</vt:lpstr>
      <vt:lpstr>Further Reading: Graphic nodes included in sequence diagrams </vt:lpstr>
      <vt:lpstr>Further Reading: Graphic nodes included in sequence diagrams </vt:lpstr>
      <vt:lpstr>Further Reading: Graphic nodes included in sequence diagrams </vt:lpstr>
      <vt:lpstr>Further Reading: Graphic nodes included in sequence diagrams </vt:lpstr>
      <vt:lpstr>Further Reading: Graphic nodes included in sequence diagrams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2016-09-21T07:05:32Z</dcterms:created>
  <dcterms:modified xsi:type="dcterms:W3CDTF">2024-10-30T08:16:36Z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TC028010949991</vt:lpwstr>
  </property>
</Properties>
</file>