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tags/tag4.xml" ContentType="application/vnd.openxmlformats-officedocument.presentationml.tags+xml"/>
  <Override PartName="/ppt/notesSlides/notesSlide15.xml" ContentType="application/vnd.openxmlformats-officedocument.presentationml.notesSlide+xml"/>
  <Override PartName="/ppt/tags/tag5.xml" ContentType="application/vnd.openxmlformats-officedocument.presentationml.tags+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tags/tag7.xml" ContentType="application/vnd.openxmlformats-officedocument.presentationml.tags+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tags/tag9.xml" ContentType="application/vnd.openxmlformats-officedocument.presentationml.tags+xml"/>
  <Override PartName="/ppt/notesSlides/notesSlide20.xml" ContentType="application/vnd.openxmlformats-officedocument.presentationml.notesSlide+xml"/>
  <Override PartName="/ppt/tags/tag10.xml" ContentType="application/vnd.openxmlformats-officedocument.presentationml.tags+xml"/>
  <Override PartName="/ppt/notesSlides/notesSlide21.xml" ContentType="application/vnd.openxmlformats-officedocument.presentationml.notesSlide+xml"/>
  <Override PartName="/ppt/tags/tag11.xml" ContentType="application/vnd.openxmlformats-officedocument.presentationml.tags+xml"/>
  <Override PartName="/ppt/notesSlides/notesSlide22.xml" ContentType="application/vnd.openxmlformats-officedocument.presentationml.notesSlide+xml"/>
  <Override PartName="/ppt/tags/tag12.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5.xml" ContentType="application/vnd.openxmlformats-officedocument.presentationml.notesSlide+xml"/>
  <Override PartName="/ppt/tags/tag17.xml" ContentType="application/vnd.openxmlformats-officedocument.presentationml.tags+xml"/>
  <Override PartName="/ppt/notesSlides/notesSlide26.xml" ContentType="application/vnd.openxmlformats-officedocument.presentationml.notesSlide+xml"/>
  <Override PartName="/ppt/tags/tag18.xml" ContentType="application/vnd.openxmlformats-officedocument.presentationml.tags+xml"/>
  <Override PartName="/ppt/notesSlides/notesSlide27.xml" ContentType="application/vnd.openxmlformats-officedocument.presentationml.notesSlide+xml"/>
  <Override PartName="/ppt/tags/tag19.xml" ContentType="application/vnd.openxmlformats-officedocument.presentationml.tags+xml"/>
  <Override PartName="/ppt/notesSlides/notesSlide28.xml" ContentType="application/vnd.openxmlformats-officedocument.presentationml.notesSlide+xml"/>
  <Override PartName="/ppt/tags/tag20.xml" ContentType="application/vnd.openxmlformats-officedocument.presentationml.tags+xml"/>
  <Override PartName="/ppt/notesSlides/notesSlide29.xml" ContentType="application/vnd.openxmlformats-officedocument.presentationml.notesSlide+xml"/>
  <Override PartName="/ppt/tags/tag21.xml" ContentType="application/vnd.openxmlformats-officedocument.presentationml.tags+xml"/>
  <Override PartName="/ppt/notesSlides/notesSlide30.xml" ContentType="application/vnd.openxmlformats-officedocument.presentationml.notesSlide+xml"/>
  <Override PartName="/ppt/tags/tag22.xml" ContentType="application/vnd.openxmlformats-officedocument.presentationml.tags+xml"/>
  <Override PartName="/ppt/notesSlides/notesSlide3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32.xml" ContentType="application/vnd.openxmlformats-officedocument.presentationml.notesSlide+xml"/>
  <Override PartName="/ppt/tags/tag25.xml" ContentType="application/vnd.openxmlformats-officedocument.presentationml.tags+xml"/>
  <Override PartName="/ppt/notesSlides/notesSlide33.xml" ContentType="application/vnd.openxmlformats-officedocument.presentationml.notesSlide+xml"/>
  <Override PartName="/ppt/tags/tag26.xml" ContentType="application/vnd.openxmlformats-officedocument.presentationml.tags+xml"/>
  <Override PartName="/ppt/notesSlides/notesSlide34.xml" ContentType="application/vnd.openxmlformats-officedocument.presentationml.notesSlide+xml"/>
  <Override PartName="/ppt/tags/tag27.xml" ContentType="application/vnd.openxmlformats-officedocument.presentationml.tags+xml"/>
  <Override PartName="/ppt/notesSlides/notesSlide35.xml" ContentType="application/vnd.openxmlformats-officedocument.presentationml.notesSlide+xml"/>
  <Override PartName="/ppt/tags/tag28.xml" ContentType="application/vnd.openxmlformats-officedocument.presentationml.tags+xml"/>
  <Override PartName="/ppt/notesSlides/notesSlide36.xml" ContentType="application/vnd.openxmlformats-officedocument.presentationml.notesSlide+xml"/>
  <Override PartName="/ppt/tags/tag29.xml" ContentType="application/vnd.openxmlformats-officedocument.presentationml.tags+xml"/>
  <Override PartName="/ppt/notesSlides/notesSlide37.xml" ContentType="application/vnd.openxmlformats-officedocument.presentationml.notesSlide+xml"/>
  <Override PartName="/ppt/tags/tag30.xml" ContentType="application/vnd.openxmlformats-officedocument.presentationml.tags+xml"/>
  <Override PartName="/ppt/notesSlides/notesSlide38.xml" ContentType="application/vnd.openxmlformats-officedocument.presentationml.notesSlide+xml"/>
  <Override PartName="/ppt/tags/tag31.xml" ContentType="application/vnd.openxmlformats-officedocument.presentationml.tags+xml"/>
  <Override PartName="/ppt/notesSlides/notesSlide39.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40.xml" ContentType="application/vnd.openxmlformats-officedocument.presentationml.notesSlide+xml"/>
  <Override PartName="/ppt/tags/tag39.xml" ContentType="application/vnd.openxmlformats-officedocument.presentationml.tags+xml"/>
  <Override PartName="/ppt/notesSlides/notesSlide4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42.xml" ContentType="application/vnd.openxmlformats-officedocument.presentationml.notesSlide+xml"/>
  <Override PartName="/ppt/tags/tag42.xml" ContentType="application/vnd.openxmlformats-officedocument.presentationml.tags+xml"/>
  <Override PartName="/ppt/notesSlides/notesSlide43.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44.xml" ContentType="application/vnd.openxmlformats-officedocument.presentationml.notesSlide+xml"/>
  <Override PartName="/ppt/tags/tag49.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 id="2147483663" r:id="rId3"/>
  </p:sldMasterIdLst>
  <p:notesMasterIdLst>
    <p:notesMasterId r:id="rId67"/>
  </p:notesMasterIdLst>
  <p:handoutMasterIdLst>
    <p:handoutMasterId r:id="rId68"/>
  </p:handoutMasterIdLst>
  <p:sldIdLst>
    <p:sldId id="267" r:id="rId4"/>
    <p:sldId id="271"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1"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664" userDrawn="1">
          <p15:clr>
            <a:srgbClr val="A4A3A4"/>
          </p15:clr>
        </p15:guide>
        <p15:guide id="2" orient="horz" pos="61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43894" autoAdjust="0"/>
  </p:normalViewPr>
  <p:slideViewPr>
    <p:cSldViewPr>
      <p:cViewPr varScale="1">
        <p:scale>
          <a:sx n="36" d="100"/>
          <a:sy n="36" d="100"/>
        </p:scale>
        <p:origin x="2290" y="34"/>
      </p:cViewPr>
      <p:guideLst>
        <p:guide pos="664"/>
        <p:guide orient="horz" pos="618"/>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handoutMaster" Target="handoutMasters/handout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1.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2.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854337B-1E9F-4110-BC3E-692A50FC03D8}" type="doc">
      <dgm:prSet loTypeId="urn:microsoft.com/office/officeart/2011/layout/HexagonRadial" loCatId="cycle" qsTypeId="urn:microsoft.com/office/officeart/2005/8/quickstyle/3d5" qsCatId="3D" csTypeId="urn:microsoft.com/office/officeart/2005/8/colors/colorful4" csCatId="colorful" phldr="1"/>
      <dgm:spPr/>
      <dgm:t>
        <a:bodyPr/>
        <a:lstStyle/>
        <a:p>
          <a:endParaRPr lang="en-GB"/>
        </a:p>
      </dgm:t>
    </dgm:pt>
    <dgm:pt modelId="{4B5DD945-4B7D-45A3-8029-EAA8984D5981}">
      <dgm:prSet phldrT="[Text]"/>
      <dgm:spPr>
        <a:solidFill>
          <a:schemeClr val="bg2">
            <a:lumMod val="50000"/>
          </a:schemeClr>
        </a:solidFill>
      </dgm:spPr>
      <dgm:t>
        <a:bodyPr/>
        <a:lstStyle/>
        <a:p>
          <a:r>
            <a:rPr lang="en-US" dirty="0"/>
            <a:t>Student registered courses</a:t>
          </a:r>
          <a:endParaRPr lang="en-GB" dirty="0"/>
        </a:p>
      </dgm:t>
    </dgm:pt>
    <dgm:pt modelId="{4C6E8B3C-BB1E-4517-A0E6-88E6F1E84A00}" type="parTrans" cxnId="{32B6F493-69F4-449B-B526-9D7E148029CF}">
      <dgm:prSet/>
      <dgm:spPr/>
      <dgm:t>
        <a:bodyPr/>
        <a:lstStyle/>
        <a:p>
          <a:endParaRPr lang="en-GB"/>
        </a:p>
      </dgm:t>
    </dgm:pt>
    <dgm:pt modelId="{8278FEA5-F1C5-4490-9E9B-648E17D26E05}" type="sibTrans" cxnId="{32B6F493-69F4-449B-B526-9D7E148029CF}">
      <dgm:prSet/>
      <dgm:spPr/>
      <dgm:t>
        <a:bodyPr/>
        <a:lstStyle/>
        <a:p>
          <a:endParaRPr lang="en-GB"/>
        </a:p>
      </dgm:t>
    </dgm:pt>
    <dgm:pt modelId="{79FE173A-BA59-431E-8EDB-200C1BF34995}">
      <dgm:prSet phldrT="[Text]"/>
      <dgm:spPr/>
      <dgm:t>
        <a:bodyPr/>
        <a:lstStyle/>
        <a:p>
          <a:r>
            <a:rPr lang="en-US" dirty="0"/>
            <a:t>Verb</a:t>
          </a:r>
          <a:endParaRPr lang="en-GB" dirty="0"/>
        </a:p>
      </dgm:t>
    </dgm:pt>
    <dgm:pt modelId="{B521D518-DD19-4B15-880C-EF09A2B232F4}" type="parTrans" cxnId="{E9233F03-5BDF-4226-9801-915231734C5D}">
      <dgm:prSet/>
      <dgm:spPr/>
      <dgm:t>
        <a:bodyPr/>
        <a:lstStyle/>
        <a:p>
          <a:endParaRPr lang="en-GB"/>
        </a:p>
      </dgm:t>
    </dgm:pt>
    <dgm:pt modelId="{336C1D86-C0A5-48C8-8255-07730E9DEE18}" type="sibTrans" cxnId="{E9233F03-5BDF-4226-9801-915231734C5D}">
      <dgm:prSet/>
      <dgm:spPr/>
      <dgm:t>
        <a:bodyPr/>
        <a:lstStyle/>
        <a:p>
          <a:endParaRPr lang="en-GB"/>
        </a:p>
      </dgm:t>
    </dgm:pt>
    <dgm:pt modelId="{A4CEFC85-1E78-4315-BBE8-C9F55347A600}">
      <dgm:prSet phldrT="[Text]"/>
      <dgm:spPr/>
      <dgm:t>
        <a:bodyPr/>
        <a:lstStyle/>
        <a:p>
          <a:r>
            <a:rPr lang="en-US" dirty="0"/>
            <a:t>Object</a:t>
          </a:r>
          <a:endParaRPr lang="en-GB" dirty="0"/>
        </a:p>
      </dgm:t>
    </dgm:pt>
    <dgm:pt modelId="{481A31EC-C736-41CC-8B84-DBD0DDD520CC}" type="parTrans" cxnId="{BB18CEAD-C0D8-4D4D-9805-8854A02B6675}">
      <dgm:prSet/>
      <dgm:spPr/>
      <dgm:t>
        <a:bodyPr/>
        <a:lstStyle/>
        <a:p>
          <a:endParaRPr lang="en-GB"/>
        </a:p>
      </dgm:t>
    </dgm:pt>
    <dgm:pt modelId="{111C236C-4BB9-47BB-9031-7045FDE55C72}" type="sibTrans" cxnId="{BB18CEAD-C0D8-4D4D-9805-8854A02B6675}">
      <dgm:prSet/>
      <dgm:spPr/>
      <dgm:t>
        <a:bodyPr/>
        <a:lstStyle/>
        <a:p>
          <a:endParaRPr lang="en-GB"/>
        </a:p>
      </dgm:t>
    </dgm:pt>
    <dgm:pt modelId="{E748192A-7683-4EBA-9036-2559380788A3}">
      <dgm:prSet phldrT="[Text]"/>
      <dgm:spPr/>
      <dgm:t>
        <a:bodyPr/>
        <a:lstStyle/>
        <a:p>
          <a:r>
            <a:rPr lang="en-US" dirty="0"/>
            <a:t>Goal</a:t>
          </a:r>
          <a:endParaRPr lang="en-GB" dirty="0"/>
        </a:p>
      </dgm:t>
    </dgm:pt>
    <dgm:pt modelId="{CD28750C-83CD-48AE-8DF6-2978D1BC6A0A}" type="parTrans" cxnId="{09444D79-9070-433A-B90E-E9E2FBA5C39C}">
      <dgm:prSet/>
      <dgm:spPr/>
      <dgm:t>
        <a:bodyPr/>
        <a:lstStyle/>
        <a:p>
          <a:endParaRPr lang="en-GB"/>
        </a:p>
      </dgm:t>
    </dgm:pt>
    <dgm:pt modelId="{6CD35954-17CB-46A9-890B-CB4D34AC4812}" type="sibTrans" cxnId="{09444D79-9070-433A-B90E-E9E2FBA5C39C}">
      <dgm:prSet/>
      <dgm:spPr/>
      <dgm:t>
        <a:bodyPr/>
        <a:lstStyle/>
        <a:p>
          <a:endParaRPr lang="en-GB"/>
        </a:p>
      </dgm:t>
    </dgm:pt>
    <dgm:pt modelId="{5F18EB40-982A-4E98-903B-40E61A8C6FD9}">
      <dgm:prSet phldrT="[Text]"/>
      <dgm:spPr/>
      <dgm:t>
        <a:bodyPr/>
        <a:lstStyle/>
        <a:p>
          <a:r>
            <a:rPr lang="en-US" dirty="0"/>
            <a:t>Action</a:t>
          </a:r>
          <a:endParaRPr lang="en-GB" dirty="0"/>
        </a:p>
      </dgm:t>
    </dgm:pt>
    <dgm:pt modelId="{BA87BB07-F972-4C87-A8CA-1CBA13E3FEA0}" type="parTrans" cxnId="{A9481A66-8F2A-4F33-B6EA-911A9FC6D760}">
      <dgm:prSet/>
      <dgm:spPr/>
      <dgm:t>
        <a:bodyPr/>
        <a:lstStyle/>
        <a:p>
          <a:endParaRPr lang="en-GB"/>
        </a:p>
      </dgm:t>
    </dgm:pt>
    <dgm:pt modelId="{26F2CDF8-95E5-4611-A2B1-FC8BB88BFE2C}" type="sibTrans" cxnId="{A9481A66-8F2A-4F33-B6EA-911A9FC6D760}">
      <dgm:prSet/>
      <dgm:spPr/>
      <dgm:t>
        <a:bodyPr/>
        <a:lstStyle/>
        <a:p>
          <a:endParaRPr lang="en-GB"/>
        </a:p>
      </dgm:t>
    </dgm:pt>
    <dgm:pt modelId="{FD85A318-F543-4E33-8C9D-F7DDB09735BC}">
      <dgm:prSet phldrT="[Text]"/>
      <dgm:spPr/>
      <dgm:t>
        <a:bodyPr/>
        <a:lstStyle/>
        <a:p>
          <a:r>
            <a:rPr lang="en-US" dirty="0"/>
            <a:t>Actor</a:t>
          </a:r>
          <a:endParaRPr lang="en-GB" dirty="0"/>
        </a:p>
      </dgm:t>
    </dgm:pt>
    <dgm:pt modelId="{CF957E10-9395-4121-B344-4DFCB7661A3F}" type="parTrans" cxnId="{89C9249A-5AF1-4E9F-A48A-A6381C3574A1}">
      <dgm:prSet/>
      <dgm:spPr/>
      <dgm:t>
        <a:bodyPr/>
        <a:lstStyle/>
        <a:p>
          <a:endParaRPr lang="en-GB"/>
        </a:p>
      </dgm:t>
    </dgm:pt>
    <dgm:pt modelId="{6EFEBD90-F3E4-4305-9AAE-8BBEABB9BF35}" type="sibTrans" cxnId="{89C9249A-5AF1-4E9F-A48A-A6381C3574A1}">
      <dgm:prSet/>
      <dgm:spPr/>
      <dgm:t>
        <a:bodyPr/>
        <a:lstStyle/>
        <a:p>
          <a:endParaRPr lang="en-GB"/>
        </a:p>
      </dgm:t>
    </dgm:pt>
    <dgm:pt modelId="{92504B3B-F4DF-469D-839A-694442094BAF}">
      <dgm:prSet phldrT="[Text]"/>
      <dgm:spPr/>
      <dgm:t>
        <a:bodyPr/>
        <a:lstStyle/>
        <a:p>
          <a:r>
            <a:rPr lang="en-US" dirty="0"/>
            <a:t>Subject</a:t>
          </a:r>
          <a:endParaRPr lang="en-GB" dirty="0"/>
        </a:p>
      </dgm:t>
    </dgm:pt>
    <dgm:pt modelId="{8E698E36-D8B2-486C-9B7E-9A76E87301A1}" type="parTrans" cxnId="{7F0ADFC6-C41A-4469-A62A-9082DD99A7EC}">
      <dgm:prSet/>
      <dgm:spPr/>
      <dgm:t>
        <a:bodyPr/>
        <a:lstStyle/>
        <a:p>
          <a:endParaRPr lang="en-GB"/>
        </a:p>
      </dgm:t>
    </dgm:pt>
    <dgm:pt modelId="{8AF46EA7-C68C-4113-B0DB-3A44485A0845}" type="sibTrans" cxnId="{7F0ADFC6-C41A-4469-A62A-9082DD99A7EC}">
      <dgm:prSet/>
      <dgm:spPr/>
      <dgm:t>
        <a:bodyPr/>
        <a:lstStyle/>
        <a:p>
          <a:endParaRPr lang="en-GB"/>
        </a:p>
      </dgm:t>
    </dgm:pt>
    <dgm:pt modelId="{415EFC16-D2B5-415F-9CEA-9172B8FE0439}" type="pres">
      <dgm:prSet presAssocID="{9854337B-1E9F-4110-BC3E-692A50FC03D8}" presName="Name0" presStyleCnt="0">
        <dgm:presLayoutVars>
          <dgm:chMax val="1"/>
          <dgm:chPref val="1"/>
          <dgm:dir/>
          <dgm:animOne val="branch"/>
          <dgm:animLvl val="lvl"/>
        </dgm:presLayoutVars>
      </dgm:prSet>
      <dgm:spPr/>
    </dgm:pt>
    <dgm:pt modelId="{8A12FF9E-4A25-4D39-8DBB-0B7E5C54C4A8}" type="pres">
      <dgm:prSet presAssocID="{4B5DD945-4B7D-45A3-8029-EAA8984D5981}" presName="Parent" presStyleLbl="node0" presStyleIdx="0" presStyleCnt="1">
        <dgm:presLayoutVars>
          <dgm:chMax val="6"/>
          <dgm:chPref val="6"/>
        </dgm:presLayoutVars>
      </dgm:prSet>
      <dgm:spPr/>
    </dgm:pt>
    <dgm:pt modelId="{D9220045-329F-4A12-BABC-E36D34BCEB3A}" type="pres">
      <dgm:prSet presAssocID="{79FE173A-BA59-431E-8EDB-200C1BF34995}" presName="Accent1" presStyleCnt="0"/>
      <dgm:spPr/>
    </dgm:pt>
    <dgm:pt modelId="{E9168464-E188-4A43-9917-28D03139F8F8}" type="pres">
      <dgm:prSet presAssocID="{79FE173A-BA59-431E-8EDB-200C1BF34995}" presName="Accent" presStyleLbl="bgShp" presStyleIdx="0" presStyleCnt="6"/>
      <dgm:spPr/>
    </dgm:pt>
    <dgm:pt modelId="{CF6C6AED-385E-4353-8185-62A8E594399F}" type="pres">
      <dgm:prSet presAssocID="{79FE173A-BA59-431E-8EDB-200C1BF34995}" presName="Child1" presStyleLbl="node1" presStyleIdx="0" presStyleCnt="6">
        <dgm:presLayoutVars>
          <dgm:chMax val="0"/>
          <dgm:chPref val="0"/>
          <dgm:bulletEnabled val="1"/>
        </dgm:presLayoutVars>
      </dgm:prSet>
      <dgm:spPr/>
    </dgm:pt>
    <dgm:pt modelId="{97619531-079B-49DD-94FB-E73140DFBDA8}" type="pres">
      <dgm:prSet presAssocID="{A4CEFC85-1E78-4315-BBE8-C9F55347A600}" presName="Accent2" presStyleCnt="0"/>
      <dgm:spPr/>
    </dgm:pt>
    <dgm:pt modelId="{CCA7534B-29E9-43D6-890F-4FE423B2F7FA}" type="pres">
      <dgm:prSet presAssocID="{A4CEFC85-1E78-4315-BBE8-C9F55347A600}" presName="Accent" presStyleLbl="bgShp" presStyleIdx="1" presStyleCnt="6"/>
      <dgm:spPr/>
    </dgm:pt>
    <dgm:pt modelId="{5B7EC052-8068-4C5F-8A33-9DD2ADF1EBCF}" type="pres">
      <dgm:prSet presAssocID="{A4CEFC85-1E78-4315-BBE8-C9F55347A600}" presName="Child2" presStyleLbl="node1" presStyleIdx="1" presStyleCnt="6">
        <dgm:presLayoutVars>
          <dgm:chMax val="0"/>
          <dgm:chPref val="0"/>
          <dgm:bulletEnabled val="1"/>
        </dgm:presLayoutVars>
      </dgm:prSet>
      <dgm:spPr/>
    </dgm:pt>
    <dgm:pt modelId="{B1651A39-BF1B-4DB6-9222-244CF313B047}" type="pres">
      <dgm:prSet presAssocID="{E748192A-7683-4EBA-9036-2559380788A3}" presName="Accent3" presStyleCnt="0"/>
      <dgm:spPr/>
    </dgm:pt>
    <dgm:pt modelId="{0467FB48-1448-4157-AA5A-2CDEEC39C097}" type="pres">
      <dgm:prSet presAssocID="{E748192A-7683-4EBA-9036-2559380788A3}" presName="Accent" presStyleLbl="bgShp" presStyleIdx="2" presStyleCnt="6"/>
      <dgm:spPr/>
    </dgm:pt>
    <dgm:pt modelId="{7F61A38F-343C-43F5-80B0-04F1D03F00E7}" type="pres">
      <dgm:prSet presAssocID="{E748192A-7683-4EBA-9036-2559380788A3}" presName="Child3" presStyleLbl="node1" presStyleIdx="2" presStyleCnt="6">
        <dgm:presLayoutVars>
          <dgm:chMax val="0"/>
          <dgm:chPref val="0"/>
          <dgm:bulletEnabled val="1"/>
        </dgm:presLayoutVars>
      </dgm:prSet>
      <dgm:spPr/>
    </dgm:pt>
    <dgm:pt modelId="{89A290CE-C99D-4D3F-9B27-26C70D354B92}" type="pres">
      <dgm:prSet presAssocID="{5F18EB40-982A-4E98-903B-40E61A8C6FD9}" presName="Accent4" presStyleCnt="0"/>
      <dgm:spPr/>
    </dgm:pt>
    <dgm:pt modelId="{1EFB4FA7-2208-410D-BBF6-CEEA4792F77E}" type="pres">
      <dgm:prSet presAssocID="{5F18EB40-982A-4E98-903B-40E61A8C6FD9}" presName="Accent" presStyleLbl="bgShp" presStyleIdx="3" presStyleCnt="6"/>
      <dgm:spPr/>
    </dgm:pt>
    <dgm:pt modelId="{2BB529A9-F2DE-4383-B69A-CDF0FD305FC5}" type="pres">
      <dgm:prSet presAssocID="{5F18EB40-982A-4E98-903B-40E61A8C6FD9}" presName="Child4" presStyleLbl="node1" presStyleIdx="3" presStyleCnt="6">
        <dgm:presLayoutVars>
          <dgm:chMax val="0"/>
          <dgm:chPref val="0"/>
          <dgm:bulletEnabled val="1"/>
        </dgm:presLayoutVars>
      </dgm:prSet>
      <dgm:spPr/>
    </dgm:pt>
    <dgm:pt modelId="{0379FF7E-5046-4DD3-B326-28FC8BB5AF75}" type="pres">
      <dgm:prSet presAssocID="{FD85A318-F543-4E33-8C9D-F7DDB09735BC}" presName="Accent5" presStyleCnt="0"/>
      <dgm:spPr/>
    </dgm:pt>
    <dgm:pt modelId="{9F775D72-85A9-4AA7-AA30-3950BED8F6FC}" type="pres">
      <dgm:prSet presAssocID="{FD85A318-F543-4E33-8C9D-F7DDB09735BC}" presName="Accent" presStyleLbl="bgShp" presStyleIdx="4" presStyleCnt="6"/>
      <dgm:spPr/>
    </dgm:pt>
    <dgm:pt modelId="{7375F600-C34C-458C-9A42-E94431FB4E36}" type="pres">
      <dgm:prSet presAssocID="{FD85A318-F543-4E33-8C9D-F7DDB09735BC}" presName="Child5" presStyleLbl="node1" presStyleIdx="4" presStyleCnt="6">
        <dgm:presLayoutVars>
          <dgm:chMax val="0"/>
          <dgm:chPref val="0"/>
          <dgm:bulletEnabled val="1"/>
        </dgm:presLayoutVars>
      </dgm:prSet>
      <dgm:spPr/>
    </dgm:pt>
    <dgm:pt modelId="{0D363E75-871B-4D52-AE8E-957364A9BB1A}" type="pres">
      <dgm:prSet presAssocID="{92504B3B-F4DF-469D-839A-694442094BAF}" presName="Accent6" presStyleCnt="0"/>
      <dgm:spPr/>
    </dgm:pt>
    <dgm:pt modelId="{5E7EEBE1-6ECF-4C54-B12B-1D2C3EA8C071}" type="pres">
      <dgm:prSet presAssocID="{92504B3B-F4DF-469D-839A-694442094BAF}" presName="Accent" presStyleLbl="bgShp" presStyleIdx="5" presStyleCnt="6"/>
      <dgm:spPr/>
    </dgm:pt>
    <dgm:pt modelId="{CF9C7BB5-37C3-4004-99A1-DE9C230672A6}" type="pres">
      <dgm:prSet presAssocID="{92504B3B-F4DF-469D-839A-694442094BAF}" presName="Child6" presStyleLbl="node1" presStyleIdx="5" presStyleCnt="6">
        <dgm:presLayoutVars>
          <dgm:chMax val="0"/>
          <dgm:chPref val="0"/>
          <dgm:bulletEnabled val="1"/>
        </dgm:presLayoutVars>
      </dgm:prSet>
      <dgm:spPr/>
    </dgm:pt>
  </dgm:ptLst>
  <dgm:cxnLst>
    <dgm:cxn modelId="{E9233F03-5BDF-4226-9801-915231734C5D}" srcId="{4B5DD945-4B7D-45A3-8029-EAA8984D5981}" destId="{79FE173A-BA59-431E-8EDB-200C1BF34995}" srcOrd="0" destOrd="0" parTransId="{B521D518-DD19-4B15-880C-EF09A2B232F4}" sibTransId="{336C1D86-C0A5-48C8-8255-07730E9DEE18}"/>
    <dgm:cxn modelId="{FE1E3713-9E66-4F9D-8375-F45180F6AA4A}" type="presOf" srcId="{92504B3B-F4DF-469D-839A-694442094BAF}" destId="{CF9C7BB5-37C3-4004-99A1-DE9C230672A6}" srcOrd="0" destOrd="0" presId="urn:microsoft.com/office/officeart/2011/layout/HexagonRadial"/>
    <dgm:cxn modelId="{D5088129-C685-49F3-B91D-3299AB910B42}" type="presOf" srcId="{E748192A-7683-4EBA-9036-2559380788A3}" destId="{7F61A38F-343C-43F5-80B0-04F1D03F00E7}" srcOrd="0" destOrd="0" presId="urn:microsoft.com/office/officeart/2011/layout/HexagonRadial"/>
    <dgm:cxn modelId="{12B85D60-6535-40EE-92B6-598BCAA5A6E1}" type="presOf" srcId="{FD85A318-F543-4E33-8C9D-F7DDB09735BC}" destId="{7375F600-C34C-458C-9A42-E94431FB4E36}" srcOrd="0" destOrd="0" presId="urn:microsoft.com/office/officeart/2011/layout/HexagonRadial"/>
    <dgm:cxn modelId="{A9481A66-8F2A-4F33-B6EA-911A9FC6D760}" srcId="{4B5DD945-4B7D-45A3-8029-EAA8984D5981}" destId="{5F18EB40-982A-4E98-903B-40E61A8C6FD9}" srcOrd="3" destOrd="0" parTransId="{BA87BB07-F972-4C87-A8CA-1CBA13E3FEA0}" sibTransId="{26F2CDF8-95E5-4611-A2B1-FC8BB88BFE2C}"/>
    <dgm:cxn modelId="{BB75FB69-2F6B-4885-9A79-2C5B597AD09D}" type="presOf" srcId="{4B5DD945-4B7D-45A3-8029-EAA8984D5981}" destId="{8A12FF9E-4A25-4D39-8DBB-0B7E5C54C4A8}" srcOrd="0" destOrd="0" presId="urn:microsoft.com/office/officeart/2011/layout/HexagonRadial"/>
    <dgm:cxn modelId="{D179A255-D1F6-4239-8EC6-7BE05225F21A}" type="presOf" srcId="{9854337B-1E9F-4110-BC3E-692A50FC03D8}" destId="{415EFC16-D2B5-415F-9CEA-9172B8FE0439}" srcOrd="0" destOrd="0" presId="urn:microsoft.com/office/officeart/2011/layout/HexagonRadial"/>
    <dgm:cxn modelId="{09444D79-9070-433A-B90E-E9E2FBA5C39C}" srcId="{4B5DD945-4B7D-45A3-8029-EAA8984D5981}" destId="{E748192A-7683-4EBA-9036-2559380788A3}" srcOrd="2" destOrd="0" parTransId="{CD28750C-83CD-48AE-8DF6-2978D1BC6A0A}" sibTransId="{6CD35954-17CB-46A9-890B-CB4D34AC4812}"/>
    <dgm:cxn modelId="{9D7D177F-A168-4B97-A07E-9D726E81A6C6}" type="presOf" srcId="{79FE173A-BA59-431E-8EDB-200C1BF34995}" destId="{CF6C6AED-385E-4353-8185-62A8E594399F}" srcOrd="0" destOrd="0" presId="urn:microsoft.com/office/officeart/2011/layout/HexagonRadial"/>
    <dgm:cxn modelId="{32B6F493-69F4-449B-B526-9D7E148029CF}" srcId="{9854337B-1E9F-4110-BC3E-692A50FC03D8}" destId="{4B5DD945-4B7D-45A3-8029-EAA8984D5981}" srcOrd="0" destOrd="0" parTransId="{4C6E8B3C-BB1E-4517-A0E6-88E6F1E84A00}" sibTransId="{8278FEA5-F1C5-4490-9E9B-648E17D26E05}"/>
    <dgm:cxn modelId="{89C9249A-5AF1-4E9F-A48A-A6381C3574A1}" srcId="{4B5DD945-4B7D-45A3-8029-EAA8984D5981}" destId="{FD85A318-F543-4E33-8C9D-F7DDB09735BC}" srcOrd="4" destOrd="0" parTransId="{CF957E10-9395-4121-B344-4DFCB7661A3F}" sibTransId="{6EFEBD90-F3E4-4305-9AAE-8BBEABB9BF35}"/>
    <dgm:cxn modelId="{03FE5DAB-CC0E-4F3B-9D8F-F1A416BF58FD}" type="presOf" srcId="{A4CEFC85-1E78-4315-BBE8-C9F55347A600}" destId="{5B7EC052-8068-4C5F-8A33-9DD2ADF1EBCF}" srcOrd="0" destOrd="0" presId="urn:microsoft.com/office/officeart/2011/layout/HexagonRadial"/>
    <dgm:cxn modelId="{BB18CEAD-C0D8-4D4D-9805-8854A02B6675}" srcId="{4B5DD945-4B7D-45A3-8029-EAA8984D5981}" destId="{A4CEFC85-1E78-4315-BBE8-C9F55347A600}" srcOrd="1" destOrd="0" parTransId="{481A31EC-C736-41CC-8B84-DBD0DDD520CC}" sibTransId="{111C236C-4BB9-47BB-9031-7045FDE55C72}"/>
    <dgm:cxn modelId="{7F0ADFC6-C41A-4469-A62A-9082DD99A7EC}" srcId="{4B5DD945-4B7D-45A3-8029-EAA8984D5981}" destId="{92504B3B-F4DF-469D-839A-694442094BAF}" srcOrd="5" destOrd="0" parTransId="{8E698E36-D8B2-486C-9B7E-9A76E87301A1}" sibTransId="{8AF46EA7-C68C-4113-B0DB-3A44485A0845}"/>
    <dgm:cxn modelId="{467880F3-1525-4818-9901-3B6ABEC42879}" type="presOf" srcId="{5F18EB40-982A-4E98-903B-40E61A8C6FD9}" destId="{2BB529A9-F2DE-4383-B69A-CDF0FD305FC5}" srcOrd="0" destOrd="0" presId="urn:microsoft.com/office/officeart/2011/layout/HexagonRadial"/>
    <dgm:cxn modelId="{978805A8-A9EE-41D6-825A-19ADC90FB3C3}" type="presParOf" srcId="{415EFC16-D2B5-415F-9CEA-9172B8FE0439}" destId="{8A12FF9E-4A25-4D39-8DBB-0B7E5C54C4A8}" srcOrd="0" destOrd="0" presId="urn:microsoft.com/office/officeart/2011/layout/HexagonRadial"/>
    <dgm:cxn modelId="{DA77C66B-5708-4DB8-B8E4-2AB4E158F0FC}" type="presParOf" srcId="{415EFC16-D2B5-415F-9CEA-9172B8FE0439}" destId="{D9220045-329F-4A12-BABC-E36D34BCEB3A}" srcOrd="1" destOrd="0" presId="urn:microsoft.com/office/officeart/2011/layout/HexagonRadial"/>
    <dgm:cxn modelId="{B9813040-6CB4-4D6E-B420-97EDA3B8092E}" type="presParOf" srcId="{D9220045-329F-4A12-BABC-E36D34BCEB3A}" destId="{E9168464-E188-4A43-9917-28D03139F8F8}" srcOrd="0" destOrd="0" presId="urn:microsoft.com/office/officeart/2011/layout/HexagonRadial"/>
    <dgm:cxn modelId="{A6125AE2-0353-40BA-8FB5-14B6FAC1BC8C}" type="presParOf" srcId="{415EFC16-D2B5-415F-9CEA-9172B8FE0439}" destId="{CF6C6AED-385E-4353-8185-62A8E594399F}" srcOrd="2" destOrd="0" presId="urn:microsoft.com/office/officeart/2011/layout/HexagonRadial"/>
    <dgm:cxn modelId="{13849DD8-86A2-4070-A729-F1A8B346B6ED}" type="presParOf" srcId="{415EFC16-D2B5-415F-9CEA-9172B8FE0439}" destId="{97619531-079B-49DD-94FB-E73140DFBDA8}" srcOrd="3" destOrd="0" presId="urn:microsoft.com/office/officeart/2011/layout/HexagonRadial"/>
    <dgm:cxn modelId="{070D2E08-B4CA-41C8-AFE4-81A1FE56A54D}" type="presParOf" srcId="{97619531-079B-49DD-94FB-E73140DFBDA8}" destId="{CCA7534B-29E9-43D6-890F-4FE423B2F7FA}" srcOrd="0" destOrd="0" presId="urn:microsoft.com/office/officeart/2011/layout/HexagonRadial"/>
    <dgm:cxn modelId="{2A3308E1-DF58-4889-8918-5D57AF1E7063}" type="presParOf" srcId="{415EFC16-D2B5-415F-9CEA-9172B8FE0439}" destId="{5B7EC052-8068-4C5F-8A33-9DD2ADF1EBCF}" srcOrd="4" destOrd="0" presId="urn:microsoft.com/office/officeart/2011/layout/HexagonRadial"/>
    <dgm:cxn modelId="{9BCF4B4B-9AD7-40AB-B1FF-5DEF0A55058E}" type="presParOf" srcId="{415EFC16-D2B5-415F-9CEA-9172B8FE0439}" destId="{B1651A39-BF1B-4DB6-9222-244CF313B047}" srcOrd="5" destOrd="0" presId="urn:microsoft.com/office/officeart/2011/layout/HexagonRadial"/>
    <dgm:cxn modelId="{0FC2A388-3D8A-4A27-BF7C-415C5D1BAB29}" type="presParOf" srcId="{B1651A39-BF1B-4DB6-9222-244CF313B047}" destId="{0467FB48-1448-4157-AA5A-2CDEEC39C097}" srcOrd="0" destOrd="0" presId="urn:microsoft.com/office/officeart/2011/layout/HexagonRadial"/>
    <dgm:cxn modelId="{4749A79E-F89A-4EE6-A180-51CA87FD7CAA}" type="presParOf" srcId="{415EFC16-D2B5-415F-9CEA-9172B8FE0439}" destId="{7F61A38F-343C-43F5-80B0-04F1D03F00E7}" srcOrd="6" destOrd="0" presId="urn:microsoft.com/office/officeart/2011/layout/HexagonRadial"/>
    <dgm:cxn modelId="{2B0F3B03-9C1B-4A29-BB8C-158E5E3AC9C9}" type="presParOf" srcId="{415EFC16-D2B5-415F-9CEA-9172B8FE0439}" destId="{89A290CE-C99D-4D3F-9B27-26C70D354B92}" srcOrd="7" destOrd="0" presId="urn:microsoft.com/office/officeart/2011/layout/HexagonRadial"/>
    <dgm:cxn modelId="{9F0F6F18-D23E-421A-808B-5384DFEB8D3A}" type="presParOf" srcId="{89A290CE-C99D-4D3F-9B27-26C70D354B92}" destId="{1EFB4FA7-2208-410D-BBF6-CEEA4792F77E}" srcOrd="0" destOrd="0" presId="urn:microsoft.com/office/officeart/2011/layout/HexagonRadial"/>
    <dgm:cxn modelId="{B5F6B8C9-FA7E-4C51-9D67-68D298525B7B}" type="presParOf" srcId="{415EFC16-D2B5-415F-9CEA-9172B8FE0439}" destId="{2BB529A9-F2DE-4383-B69A-CDF0FD305FC5}" srcOrd="8" destOrd="0" presId="urn:microsoft.com/office/officeart/2011/layout/HexagonRadial"/>
    <dgm:cxn modelId="{26AFFFEA-57CB-4979-86B7-62A8ED26D06D}" type="presParOf" srcId="{415EFC16-D2B5-415F-9CEA-9172B8FE0439}" destId="{0379FF7E-5046-4DD3-B326-28FC8BB5AF75}" srcOrd="9" destOrd="0" presId="urn:microsoft.com/office/officeart/2011/layout/HexagonRadial"/>
    <dgm:cxn modelId="{3CAB7C61-AECE-4252-9D5A-3B72D805A693}" type="presParOf" srcId="{0379FF7E-5046-4DD3-B326-28FC8BB5AF75}" destId="{9F775D72-85A9-4AA7-AA30-3950BED8F6FC}" srcOrd="0" destOrd="0" presId="urn:microsoft.com/office/officeart/2011/layout/HexagonRadial"/>
    <dgm:cxn modelId="{C97FC948-0B35-41BB-92D8-8D5C7325C97F}" type="presParOf" srcId="{415EFC16-D2B5-415F-9CEA-9172B8FE0439}" destId="{7375F600-C34C-458C-9A42-E94431FB4E36}" srcOrd="10" destOrd="0" presId="urn:microsoft.com/office/officeart/2011/layout/HexagonRadial"/>
    <dgm:cxn modelId="{143AC499-1E6C-4579-9D54-9329A02479E6}" type="presParOf" srcId="{415EFC16-D2B5-415F-9CEA-9172B8FE0439}" destId="{0D363E75-871B-4D52-AE8E-957364A9BB1A}" srcOrd="11" destOrd="0" presId="urn:microsoft.com/office/officeart/2011/layout/HexagonRadial"/>
    <dgm:cxn modelId="{CA542353-F1DF-4381-BD88-3D54349BE54C}" type="presParOf" srcId="{0D363E75-871B-4D52-AE8E-957364A9BB1A}" destId="{5E7EEBE1-6ECF-4C54-B12B-1D2C3EA8C071}" srcOrd="0" destOrd="0" presId="urn:microsoft.com/office/officeart/2011/layout/HexagonRadial"/>
    <dgm:cxn modelId="{8AD41840-E281-4404-BE22-C7E8163E41A7}" type="presParOf" srcId="{415EFC16-D2B5-415F-9CEA-9172B8FE0439}" destId="{CF9C7BB5-37C3-4004-99A1-DE9C230672A6}" srcOrd="12" destOrd="0" presId="urn:microsoft.com/office/officeart/2011/layout/HexagonRadial"/>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12FF9E-4A25-4D39-8DBB-0B7E5C54C4A8}">
      <dsp:nvSpPr>
        <dsp:cNvPr id="0" name=""/>
        <dsp:cNvSpPr/>
      </dsp:nvSpPr>
      <dsp:spPr>
        <a:xfrm>
          <a:off x="1953883" y="1570696"/>
          <a:ext cx="1996423" cy="1726987"/>
        </a:xfrm>
        <a:prstGeom prst="hexagon">
          <a:avLst>
            <a:gd name="adj" fmla="val 28570"/>
            <a:gd name="vf" fmla="val 115470"/>
          </a:avLst>
        </a:prstGeom>
        <a:solidFill>
          <a:schemeClr val="bg2">
            <a:lumMod val="5000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Student registered courses</a:t>
          </a:r>
          <a:endParaRPr lang="en-GB" sz="2300" kern="1200" dirty="0"/>
        </a:p>
      </dsp:txBody>
      <dsp:txXfrm>
        <a:off x="2284718" y="1856882"/>
        <a:ext cx="1334753" cy="1154615"/>
      </dsp:txXfrm>
    </dsp:sp>
    <dsp:sp modelId="{CCA7534B-29E9-43D6-890F-4FE423B2F7FA}">
      <dsp:nvSpPr>
        <dsp:cNvPr id="0" name=""/>
        <dsp:cNvSpPr/>
      </dsp:nvSpPr>
      <dsp:spPr>
        <a:xfrm>
          <a:off x="3204028" y="744449"/>
          <a:ext cx="753244" cy="649020"/>
        </a:xfrm>
        <a:prstGeom prst="hexagon">
          <a:avLst>
            <a:gd name="adj" fmla="val 28900"/>
            <a:gd name="vf" fmla="val 115470"/>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CF6C6AED-385E-4353-8185-62A8E594399F}">
      <dsp:nvSpPr>
        <dsp:cNvPr id="0" name=""/>
        <dsp:cNvSpPr/>
      </dsp:nvSpPr>
      <dsp:spPr>
        <a:xfrm>
          <a:off x="2137783" y="0"/>
          <a:ext cx="1636055" cy="1415379"/>
        </a:xfrm>
        <a:prstGeom prst="hexagon">
          <a:avLst>
            <a:gd name="adj" fmla="val 28570"/>
            <a:gd name="vf" fmla="val 115470"/>
          </a:avLst>
        </a:prstGeom>
        <a:solidFill>
          <a:schemeClr val="accent4">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Verb</a:t>
          </a:r>
          <a:endParaRPr lang="en-GB" sz="2300" kern="1200" dirty="0"/>
        </a:p>
      </dsp:txBody>
      <dsp:txXfrm>
        <a:off x="2408912" y="234558"/>
        <a:ext cx="1093797" cy="946263"/>
      </dsp:txXfrm>
    </dsp:sp>
    <dsp:sp modelId="{0467FB48-1448-4157-AA5A-2CDEEC39C097}">
      <dsp:nvSpPr>
        <dsp:cNvPr id="0" name=""/>
        <dsp:cNvSpPr/>
      </dsp:nvSpPr>
      <dsp:spPr>
        <a:xfrm>
          <a:off x="4083124" y="1957771"/>
          <a:ext cx="753244" cy="649020"/>
        </a:xfrm>
        <a:prstGeom prst="hexagon">
          <a:avLst>
            <a:gd name="adj" fmla="val 28900"/>
            <a:gd name="vf" fmla="val 115470"/>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5B7EC052-8068-4C5F-8A33-9DD2ADF1EBCF}">
      <dsp:nvSpPr>
        <dsp:cNvPr id="0" name=""/>
        <dsp:cNvSpPr/>
      </dsp:nvSpPr>
      <dsp:spPr>
        <a:xfrm>
          <a:off x="3638235" y="870553"/>
          <a:ext cx="1636055" cy="1415379"/>
        </a:xfrm>
        <a:prstGeom prst="hexagon">
          <a:avLst>
            <a:gd name="adj" fmla="val 28570"/>
            <a:gd name="vf" fmla="val 115470"/>
          </a:avLst>
        </a:prstGeom>
        <a:solidFill>
          <a:schemeClr val="accent4">
            <a:hueOff val="-1654372"/>
            <a:satOff val="9289"/>
            <a:lumOff val="-431"/>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Object</a:t>
          </a:r>
          <a:endParaRPr lang="en-GB" sz="2300" kern="1200" dirty="0"/>
        </a:p>
      </dsp:txBody>
      <dsp:txXfrm>
        <a:off x="3909364" y="1105111"/>
        <a:ext cx="1093797" cy="946263"/>
      </dsp:txXfrm>
    </dsp:sp>
    <dsp:sp modelId="{1EFB4FA7-2208-410D-BBF6-CEEA4792F77E}">
      <dsp:nvSpPr>
        <dsp:cNvPr id="0" name=""/>
        <dsp:cNvSpPr/>
      </dsp:nvSpPr>
      <dsp:spPr>
        <a:xfrm>
          <a:off x="3472447" y="3327384"/>
          <a:ext cx="753244" cy="649020"/>
        </a:xfrm>
        <a:prstGeom prst="hexagon">
          <a:avLst>
            <a:gd name="adj" fmla="val 28900"/>
            <a:gd name="vf" fmla="val 115470"/>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7F61A38F-343C-43F5-80B0-04F1D03F00E7}">
      <dsp:nvSpPr>
        <dsp:cNvPr id="0" name=""/>
        <dsp:cNvSpPr/>
      </dsp:nvSpPr>
      <dsp:spPr>
        <a:xfrm>
          <a:off x="3638235" y="2581960"/>
          <a:ext cx="1636055" cy="1415379"/>
        </a:xfrm>
        <a:prstGeom prst="hexagon">
          <a:avLst>
            <a:gd name="adj" fmla="val 28570"/>
            <a:gd name="vf" fmla="val 115470"/>
          </a:avLst>
        </a:prstGeom>
        <a:solidFill>
          <a:schemeClr val="accent4">
            <a:hueOff val="-3308744"/>
            <a:satOff val="18578"/>
            <a:lumOff val="-862"/>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Goal</a:t>
          </a:r>
          <a:endParaRPr lang="en-GB" sz="2300" kern="1200" dirty="0"/>
        </a:p>
      </dsp:txBody>
      <dsp:txXfrm>
        <a:off x="3909364" y="2816518"/>
        <a:ext cx="1093797" cy="946263"/>
      </dsp:txXfrm>
    </dsp:sp>
    <dsp:sp modelId="{9F775D72-85A9-4AA7-AA30-3950BED8F6FC}">
      <dsp:nvSpPr>
        <dsp:cNvPr id="0" name=""/>
        <dsp:cNvSpPr/>
      </dsp:nvSpPr>
      <dsp:spPr>
        <a:xfrm>
          <a:off x="1957598" y="3469555"/>
          <a:ext cx="753244" cy="649020"/>
        </a:xfrm>
        <a:prstGeom prst="hexagon">
          <a:avLst>
            <a:gd name="adj" fmla="val 28900"/>
            <a:gd name="vf" fmla="val 115470"/>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2BB529A9-F2DE-4383-B69A-CDF0FD305FC5}">
      <dsp:nvSpPr>
        <dsp:cNvPr id="0" name=""/>
        <dsp:cNvSpPr/>
      </dsp:nvSpPr>
      <dsp:spPr>
        <a:xfrm>
          <a:off x="2137783" y="3453488"/>
          <a:ext cx="1636055" cy="1415379"/>
        </a:xfrm>
        <a:prstGeom prst="hexagon">
          <a:avLst>
            <a:gd name="adj" fmla="val 28570"/>
            <a:gd name="vf" fmla="val 115470"/>
          </a:avLst>
        </a:prstGeom>
        <a:solidFill>
          <a:schemeClr val="accent4">
            <a:hueOff val="-4963116"/>
            <a:satOff val="27867"/>
            <a:lumOff val="-1294"/>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Action</a:t>
          </a:r>
          <a:endParaRPr lang="en-GB" sz="2300" kern="1200" dirty="0"/>
        </a:p>
      </dsp:txBody>
      <dsp:txXfrm>
        <a:off x="2408912" y="3688046"/>
        <a:ext cx="1093797" cy="946263"/>
      </dsp:txXfrm>
    </dsp:sp>
    <dsp:sp modelId="{5E7EEBE1-6ECF-4C54-B12B-1D2C3EA8C071}">
      <dsp:nvSpPr>
        <dsp:cNvPr id="0" name=""/>
        <dsp:cNvSpPr/>
      </dsp:nvSpPr>
      <dsp:spPr>
        <a:xfrm>
          <a:off x="1064107" y="2256720"/>
          <a:ext cx="753244" cy="649020"/>
        </a:xfrm>
        <a:prstGeom prst="hexagon">
          <a:avLst>
            <a:gd name="adj" fmla="val 28900"/>
            <a:gd name="vf" fmla="val 115470"/>
          </a:avLst>
        </a:prstGeom>
        <a:solidFill>
          <a:schemeClr val="accent4">
            <a:tint val="40000"/>
            <a:hueOff val="0"/>
            <a:satOff val="0"/>
            <a:lumOff val="0"/>
            <a:alphaOff val="0"/>
          </a:schemeClr>
        </a:solidFill>
        <a:ln>
          <a:noFill/>
        </a:ln>
        <a:effectLst/>
        <a:sp3d z="-400500" extrusionH="63500" contourW="12700" prstMaterial="matte">
          <a:contourClr>
            <a:schemeClr val="lt1">
              <a:tint val="50000"/>
            </a:schemeClr>
          </a:contourClr>
        </a:sp3d>
      </dsp:spPr>
      <dsp:style>
        <a:lnRef idx="0">
          <a:scrgbClr r="0" g="0" b="0"/>
        </a:lnRef>
        <a:fillRef idx="1">
          <a:scrgbClr r="0" g="0" b="0"/>
        </a:fillRef>
        <a:effectRef idx="0">
          <a:scrgbClr r="0" g="0" b="0"/>
        </a:effectRef>
        <a:fontRef idx="minor"/>
      </dsp:style>
    </dsp:sp>
    <dsp:sp modelId="{7375F600-C34C-458C-9A42-E94431FB4E36}">
      <dsp:nvSpPr>
        <dsp:cNvPr id="0" name=""/>
        <dsp:cNvSpPr/>
      </dsp:nvSpPr>
      <dsp:spPr>
        <a:xfrm>
          <a:off x="630364" y="2582934"/>
          <a:ext cx="1636055" cy="1415379"/>
        </a:xfrm>
        <a:prstGeom prst="hexagon">
          <a:avLst>
            <a:gd name="adj" fmla="val 28570"/>
            <a:gd name="vf" fmla="val 115470"/>
          </a:avLst>
        </a:prstGeom>
        <a:solidFill>
          <a:schemeClr val="accent4">
            <a:hueOff val="-6617488"/>
            <a:satOff val="37156"/>
            <a:lumOff val="-1725"/>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Actor</a:t>
          </a:r>
          <a:endParaRPr lang="en-GB" sz="2300" kern="1200" dirty="0"/>
        </a:p>
      </dsp:txBody>
      <dsp:txXfrm>
        <a:off x="901493" y="2817492"/>
        <a:ext cx="1093797" cy="946263"/>
      </dsp:txXfrm>
    </dsp:sp>
    <dsp:sp modelId="{CF9C7BB5-37C3-4004-99A1-DE9C230672A6}">
      <dsp:nvSpPr>
        <dsp:cNvPr id="0" name=""/>
        <dsp:cNvSpPr/>
      </dsp:nvSpPr>
      <dsp:spPr>
        <a:xfrm>
          <a:off x="630364" y="868606"/>
          <a:ext cx="1636055" cy="1415379"/>
        </a:xfrm>
        <a:prstGeom prst="hexagon">
          <a:avLst>
            <a:gd name="adj" fmla="val 28570"/>
            <a:gd name="vf" fmla="val 115470"/>
          </a:avLst>
        </a:prstGeom>
        <a:solidFill>
          <a:schemeClr val="accent4">
            <a:hueOff val="-8271860"/>
            <a:satOff val="46445"/>
            <a:lumOff val="-2156"/>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Subject</a:t>
          </a:r>
          <a:endParaRPr lang="en-GB" sz="2300" kern="1200" dirty="0"/>
        </a:p>
      </dsp:txBody>
      <dsp:txXfrm>
        <a:off x="901493" y="1103164"/>
        <a:ext cx="1093797" cy="946263"/>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985FFBF-2C64-42CD-9E2F-09E2049D891B}" type="datetimeFigureOut">
              <a:rPr lang="en-US"/>
              <a:t>10/30/2024</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4AF2C6B-0C1B-4F88-BCBA-898BA50DE788}" type="slidenum">
              <a:rPr/>
              <a:t>‹#›</a:t>
            </a:fld>
            <a:endParaRPr/>
          </a:p>
        </p:txBody>
      </p:sp>
    </p:spTree>
    <p:extLst>
      <p:ext uri="{BB962C8B-B14F-4D97-AF65-F5344CB8AC3E}">
        <p14:creationId xmlns:p14="http://schemas.microsoft.com/office/powerpoint/2010/main" val="2410930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A3DF44-BBF1-44C7-A0B1-7B7B2F7B3880}" type="datetimeFigureOut">
              <a:rPr lang="en-US"/>
              <a:t>10/30/2024</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8E53BB-F993-49A1-9E37-CA3E5BE0709B}" type="slidenum">
              <a:rPr/>
              <a:t>‹#›</a:t>
            </a:fld>
            <a:endParaRPr/>
          </a:p>
        </p:txBody>
      </p:sp>
    </p:spTree>
    <p:extLst>
      <p:ext uri="{BB962C8B-B14F-4D97-AF65-F5344CB8AC3E}">
        <p14:creationId xmlns:p14="http://schemas.microsoft.com/office/powerpoint/2010/main" val="60987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and welcome to Chapter 8 of</a:t>
            </a:r>
            <a:r>
              <a:rPr lang="en-US" baseline="0" dirty="0"/>
              <a:t> </a:t>
            </a:r>
            <a:r>
              <a:rPr lang="en-US" dirty="0"/>
              <a:t>the CE2002 course on Object-Oriented Design &amp; Programming. Y</a:t>
            </a:r>
            <a:r>
              <a:rPr lang="en-US" baseline="0" dirty="0"/>
              <a:t>ou learnt about class diagrams and sequence diagrams. In this lecture, you are going to make use of these two diagrams and model OO application which is what you are going to do for your assignment as well.</a:t>
            </a:r>
          </a:p>
        </p:txBody>
      </p:sp>
      <p:sp>
        <p:nvSpPr>
          <p:cNvPr id="4" name="Slide Number Placeholder 3"/>
          <p:cNvSpPr>
            <a:spLocks noGrp="1"/>
          </p:cNvSpPr>
          <p:nvPr>
            <p:ph type="sldNum" sz="quarter" idx="10"/>
          </p:nvPr>
        </p:nvSpPr>
        <p:spPr/>
        <p:txBody>
          <a:bodyPr/>
          <a:lstStyle/>
          <a:p>
            <a:fld id="{3F8E53BB-F993-49A1-9E37-CA3E5BE0709B}" type="slidenum">
              <a:rPr lang="en-GB" smtClean="0"/>
              <a:t>1</a:t>
            </a:fld>
            <a:endParaRPr lang="en-GB"/>
          </a:p>
        </p:txBody>
      </p:sp>
    </p:spTree>
    <p:extLst>
      <p:ext uri="{BB962C8B-B14F-4D97-AF65-F5344CB8AC3E}">
        <p14:creationId xmlns:p14="http://schemas.microsoft.com/office/powerpoint/2010/main" val="368269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the end of this chapter, you should be able to use class and sequence diagrams to model</a:t>
            </a:r>
            <a:r>
              <a:rPr lang="en-US" baseline="0" dirty="0"/>
              <a:t> OO applications</a:t>
            </a:r>
            <a:r>
              <a:rPr lang="en-US" dirty="0"/>
              <a:t>.</a:t>
            </a:r>
          </a:p>
          <a:p>
            <a:endParaRPr lang="en-GB" dirty="0"/>
          </a:p>
        </p:txBody>
      </p:sp>
      <p:sp>
        <p:nvSpPr>
          <p:cNvPr id="4" name="Slide Number Placeholder 3"/>
          <p:cNvSpPr>
            <a:spLocks noGrp="1"/>
          </p:cNvSpPr>
          <p:nvPr>
            <p:ph type="sldNum" sz="quarter" idx="10"/>
          </p:nvPr>
        </p:nvSpPr>
        <p:spPr/>
        <p:txBody>
          <a:bodyPr/>
          <a:lstStyle/>
          <a:p>
            <a:fld id="{3F8E53BB-F993-49A1-9E37-CA3E5BE0709B}" type="slidenum">
              <a:rPr lang="en-GB" smtClean="0"/>
              <a:t>2</a:t>
            </a:fld>
            <a:endParaRPr lang="en-GB"/>
          </a:p>
        </p:txBody>
      </p:sp>
    </p:spTree>
    <p:extLst>
      <p:ext uri="{BB962C8B-B14F-4D97-AF65-F5344CB8AC3E}">
        <p14:creationId xmlns:p14="http://schemas.microsoft.com/office/powerpoint/2010/main" val="169917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Object Oriented</a:t>
            </a:r>
            <a:r>
              <a:rPr lang="en-US" baseline="0" dirty="0"/>
              <a:t> language is to model the real-life scenarios. In real-life how people interact is how objects work. In theory, we try to identify objects from what we know, what people think the real world is supposed to be. For example, in a clinic setup, you have doctors, nurses, appointments, medical records, drugs and medicines. These are called considered objects in a case scenario.</a:t>
            </a:r>
          </a:p>
          <a:p>
            <a:endParaRPr lang="en-US" baseline="0" dirty="0"/>
          </a:p>
          <a:p>
            <a:r>
              <a:rPr lang="en-US" baseline="0" dirty="0"/>
              <a:t>So if you look at a very simple English language sentence, it will always have a subject, a verb, an object whereby subjects and verb, all three are considered noun. For example, ‘Students register for courses’. Students and courses are nouns so they are possible classes or objects later. If you have verbs, sometimes it gives you a hint of whose responsibility or whose behavior this verb belongs to or responsibility of a class or behavior which ultimately becomes the method or function of that class. Basically you are trying to identify nouns and verbs from a case scenario given a certain text.</a:t>
            </a:r>
            <a:endParaRPr lang="en-GB" dirty="0"/>
          </a:p>
        </p:txBody>
      </p:sp>
      <p:sp>
        <p:nvSpPr>
          <p:cNvPr id="4" name="Slide Number Placeholder 3"/>
          <p:cNvSpPr>
            <a:spLocks noGrp="1"/>
          </p:cNvSpPr>
          <p:nvPr>
            <p:ph type="sldNum" sz="quarter" idx="10"/>
          </p:nvPr>
        </p:nvSpPr>
        <p:spPr/>
        <p:txBody>
          <a:bodyPr/>
          <a:lstStyle/>
          <a:p>
            <a:fld id="{3F8E53BB-F993-49A1-9E37-CA3E5BE0709B}" type="slidenum">
              <a:rPr lang="en-GB" smtClean="0"/>
              <a:t>3</a:t>
            </a:fld>
            <a:endParaRPr lang="en-GB"/>
          </a:p>
        </p:txBody>
      </p:sp>
    </p:spTree>
    <p:extLst>
      <p:ext uri="{BB962C8B-B14F-4D97-AF65-F5344CB8AC3E}">
        <p14:creationId xmlns:p14="http://schemas.microsoft.com/office/powerpoint/2010/main" val="4292715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eaLnBrk="0" hangingPunct="0">
              <a:spcBef>
                <a:spcPct val="30000"/>
              </a:spcBef>
              <a:defRPr sz="1200">
                <a:solidFill>
                  <a:schemeClr val="tx1"/>
                </a:solidFill>
                <a:latin typeface="Garamond" panose="02020404030301010803" pitchFamily="18" charset="0"/>
              </a:defRPr>
            </a:lvl1pPr>
            <a:lvl2pPr marL="742950" indent="-285750" defTabSz="965200" eaLnBrk="0" hangingPunct="0">
              <a:spcBef>
                <a:spcPct val="30000"/>
              </a:spcBef>
              <a:defRPr sz="1200">
                <a:solidFill>
                  <a:schemeClr val="tx1"/>
                </a:solidFill>
                <a:latin typeface="Garamond" panose="02020404030301010803" pitchFamily="18" charset="0"/>
              </a:defRPr>
            </a:lvl2pPr>
            <a:lvl3pPr marL="1143000" indent="-228600" defTabSz="965200" eaLnBrk="0" hangingPunct="0">
              <a:spcBef>
                <a:spcPct val="30000"/>
              </a:spcBef>
              <a:defRPr sz="1200">
                <a:solidFill>
                  <a:schemeClr val="tx1"/>
                </a:solidFill>
                <a:latin typeface="Garamond" panose="02020404030301010803" pitchFamily="18" charset="0"/>
              </a:defRPr>
            </a:lvl3pPr>
            <a:lvl4pPr marL="1600200" indent="-228600" defTabSz="965200" eaLnBrk="0" hangingPunct="0">
              <a:spcBef>
                <a:spcPct val="30000"/>
              </a:spcBef>
              <a:defRPr sz="1200">
                <a:solidFill>
                  <a:schemeClr val="tx1"/>
                </a:solidFill>
                <a:latin typeface="Garamond" panose="02020404030301010803" pitchFamily="18" charset="0"/>
              </a:defRPr>
            </a:lvl4pPr>
            <a:lvl5pPr marL="2057400" indent="-228600" defTabSz="965200" eaLnBrk="0" hangingPunct="0">
              <a:spcBef>
                <a:spcPct val="30000"/>
              </a:spcBef>
              <a:defRPr sz="1200">
                <a:solidFill>
                  <a:schemeClr val="tx1"/>
                </a:solidFill>
                <a:latin typeface="Garamond" panose="02020404030301010803" pitchFamily="18" charset="0"/>
              </a:defRPr>
            </a:lvl5pPr>
            <a:lvl6pPr marL="2514600" indent="-228600" defTabSz="965200" eaLnBrk="0" fontAlgn="base" hangingPunct="0">
              <a:spcBef>
                <a:spcPct val="30000"/>
              </a:spcBef>
              <a:spcAft>
                <a:spcPct val="0"/>
              </a:spcAft>
              <a:defRPr sz="1200">
                <a:solidFill>
                  <a:schemeClr val="tx1"/>
                </a:solidFill>
                <a:latin typeface="Garamond" panose="02020404030301010803" pitchFamily="18" charset="0"/>
              </a:defRPr>
            </a:lvl6pPr>
            <a:lvl7pPr marL="2971800" indent="-228600" defTabSz="965200" eaLnBrk="0" fontAlgn="base" hangingPunct="0">
              <a:spcBef>
                <a:spcPct val="30000"/>
              </a:spcBef>
              <a:spcAft>
                <a:spcPct val="0"/>
              </a:spcAft>
              <a:defRPr sz="1200">
                <a:solidFill>
                  <a:schemeClr val="tx1"/>
                </a:solidFill>
                <a:latin typeface="Garamond" panose="02020404030301010803" pitchFamily="18" charset="0"/>
              </a:defRPr>
            </a:lvl7pPr>
            <a:lvl8pPr marL="3429000" indent="-228600" defTabSz="965200" eaLnBrk="0" fontAlgn="base" hangingPunct="0">
              <a:spcBef>
                <a:spcPct val="30000"/>
              </a:spcBef>
              <a:spcAft>
                <a:spcPct val="0"/>
              </a:spcAft>
              <a:defRPr sz="1200">
                <a:solidFill>
                  <a:schemeClr val="tx1"/>
                </a:solidFill>
                <a:latin typeface="Garamond" panose="02020404030301010803" pitchFamily="18" charset="0"/>
              </a:defRPr>
            </a:lvl8pPr>
            <a:lvl9pPr marL="3886200" indent="-228600" defTabSz="965200"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2BC4B41D-C0AD-44EE-B715-7ABF0857B7E9}" type="slidenum">
              <a:rPr lang="en-US" altLang="en-US" sz="1300"/>
              <a:pPr eaLnBrk="1" hangingPunct="1">
                <a:spcBef>
                  <a:spcPct val="0"/>
                </a:spcBef>
              </a:pPr>
              <a:t>4</a:t>
            </a:fld>
            <a:endParaRPr lang="en-US" altLang="en-US" sz="1300"/>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You identify in a case scenario,</a:t>
            </a:r>
            <a:r>
              <a:rPr lang="en-US" altLang="en-US" baseline="0" dirty="0"/>
              <a:t> for example, in your assignment specifications, you look for nouns that would give you candidate classes, whether they are possible classes, ultimately you need to decide later but it would give you the first draft of what classes you need in your applications or your system. Then, we have classes, these are mainly Entity classes. Remember the three stereotype, we have Entity, Control and Boundaries when you are identifying nouns from this case scenario – </a:t>
            </a:r>
            <a:r>
              <a:rPr lang="en-US" altLang="en-US" b="1" baseline="0" dirty="0"/>
              <a:t>requirement specification or customer/system specification</a:t>
            </a:r>
            <a:r>
              <a:rPr lang="en-US" altLang="en-US" baseline="0" dirty="0"/>
              <a:t>, basically are identifying nouns. What are the classes you need to store data information. Subsequently we have done entity classes, then you decide how many boundary classes do you need. So, how do you decide how many boundary classes do you need? Basically, you need to look at a function. You know boundary classes is about input and output, so for certain functions you need to have certain inputs and that needs to present certain outputs, then you consider what are the boundary classes you need at a point of time, when you look at a function. Of course, you have to control. As simple as an application can be, it can just have one control but if the application is too complex, you will notice that with just one control class is going to be overloaded and then this control class code is going to get very huge. That is when you think about it whether you need to speed up, remember the Fingerprint Access System whereby the FAS managers dedicated to the functions of verifying the fingerprints to the fingerprint manager. That’s the point where you think whether you need to speed up some of the logics and leave it to other control classes to </a:t>
            </a:r>
            <a:r>
              <a:rPr lang="en-US" altLang="en-US" baseline="0" dirty="0" err="1"/>
              <a:t>specialise</a:t>
            </a:r>
            <a:r>
              <a:rPr lang="en-US" altLang="en-US" baseline="0" dirty="0"/>
              <a:t> on what they are supposed to do by </a:t>
            </a:r>
            <a:r>
              <a:rPr lang="en-US" altLang="en-US" baseline="0" dirty="0" err="1"/>
              <a:t>specialising</a:t>
            </a:r>
            <a:r>
              <a:rPr lang="en-US" altLang="en-US" baseline="0" dirty="0"/>
              <a:t> on a logic.</a:t>
            </a:r>
          </a:p>
          <a:p>
            <a:pPr eaLnBrk="1" hangingPunct="1"/>
            <a:endParaRPr lang="en-US" altLang="en-US" baseline="0" dirty="0"/>
          </a:p>
          <a:p>
            <a:pPr eaLnBrk="1" hangingPunct="1"/>
            <a:r>
              <a:rPr lang="en-US" altLang="en-US" baseline="0" dirty="0"/>
              <a:t>When you are identifying nouns, its first-cut Entity classes, then subsequently you decide how many boundary classes or control classes you need. After you have identified the classes, you can add the attributes and </a:t>
            </a:r>
            <a:r>
              <a:rPr lang="en-US" altLang="en-US" baseline="0" dirty="0" err="1"/>
              <a:t>behaviour</a:t>
            </a:r>
            <a:r>
              <a:rPr lang="en-US" altLang="en-US" baseline="0" dirty="0"/>
              <a:t> to complete the attributes and also methods for that class. Classes don’t just stand alone, they are related. Use your class diagrams to map out the relationship. And then the multiplicities, one instance you will have how many instances of the other.</a:t>
            </a:r>
            <a:endParaRPr lang="en-US" altLang="en-US" dirty="0"/>
          </a:p>
        </p:txBody>
      </p:sp>
    </p:spTree>
    <p:extLst>
      <p:ext uri="{BB962C8B-B14F-4D97-AF65-F5344CB8AC3E}">
        <p14:creationId xmlns:p14="http://schemas.microsoft.com/office/powerpoint/2010/main" val="282078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eaLnBrk="0" hangingPunct="0">
              <a:spcBef>
                <a:spcPct val="30000"/>
              </a:spcBef>
              <a:defRPr sz="1200">
                <a:solidFill>
                  <a:schemeClr val="tx1"/>
                </a:solidFill>
                <a:latin typeface="Garamond" panose="02020404030301010803" pitchFamily="18" charset="0"/>
              </a:defRPr>
            </a:lvl1pPr>
            <a:lvl2pPr marL="742950" indent="-285750" defTabSz="965200" eaLnBrk="0" hangingPunct="0">
              <a:spcBef>
                <a:spcPct val="30000"/>
              </a:spcBef>
              <a:defRPr sz="1200">
                <a:solidFill>
                  <a:schemeClr val="tx1"/>
                </a:solidFill>
                <a:latin typeface="Garamond" panose="02020404030301010803" pitchFamily="18" charset="0"/>
              </a:defRPr>
            </a:lvl2pPr>
            <a:lvl3pPr marL="1143000" indent="-228600" defTabSz="965200" eaLnBrk="0" hangingPunct="0">
              <a:spcBef>
                <a:spcPct val="30000"/>
              </a:spcBef>
              <a:defRPr sz="1200">
                <a:solidFill>
                  <a:schemeClr val="tx1"/>
                </a:solidFill>
                <a:latin typeface="Garamond" panose="02020404030301010803" pitchFamily="18" charset="0"/>
              </a:defRPr>
            </a:lvl3pPr>
            <a:lvl4pPr marL="1600200" indent="-228600" defTabSz="965200" eaLnBrk="0" hangingPunct="0">
              <a:spcBef>
                <a:spcPct val="30000"/>
              </a:spcBef>
              <a:defRPr sz="1200">
                <a:solidFill>
                  <a:schemeClr val="tx1"/>
                </a:solidFill>
                <a:latin typeface="Garamond" panose="02020404030301010803" pitchFamily="18" charset="0"/>
              </a:defRPr>
            </a:lvl4pPr>
            <a:lvl5pPr marL="2057400" indent="-228600" defTabSz="965200" eaLnBrk="0" hangingPunct="0">
              <a:spcBef>
                <a:spcPct val="30000"/>
              </a:spcBef>
              <a:defRPr sz="1200">
                <a:solidFill>
                  <a:schemeClr val="tx1"/>
                </a:solidFill>
                <a:latin typeface="Garamond" panose="02020404030301010803" pitchFamily="18" charset="0"/>
              </a:defRPr>
            </a:lvl5pPr>
            <a:lvl6pPr marL="2514600" indent="-228600" defTabSz="965200" eaLnBrk="0" fontAlgn="base" hangingPunct="0">
              <a:spcBef>
                <a:spcPct val="30000"/>
              </a:spcBef>
              <a:spcAft>
                <a:spcPct val="0"/>
              </a:spcAft>
              <a:defRPr sz="1200">
                <a:solidFill>
                  <a:schemeClr val="tx1"/>
                </a:solidFill>
                <a:latin typeface="Garamond" panose="02020404030301010803" pitchFamily="18" charset="0"/>
              </a:defRPr>
            </a:lvl6pPr>
            <a:lvl7pPr marL="2971800" indent="-228600" defTabSz="965200" eaLnBrk="0" fontAlgn="base" hangingPunct="0">
              <a:spcBef>
                <a:spcPct val="30000"/>
              </a:spcBef>
              <a:spcAft>
                <a:spcPct val="0"/>
              </a:spcAft>
              <a:defRPr sz="1200">
                <a:solidFill>
                  <a:schemeClr val="tx1"/>
                </a:solidFill>
                <a:latin typeface="Garamond" panose="02020404030301010803" pitchFamily="18" charset="0"/>
              </a:defRPr>
            </a:lvl7pPr>
            <a:lvl8pPr marL="3429000" indent="-228600" defTabSz="965200" eaLnBrk="0" fontAlgn="base" hangingPunct="0">
              <a:spcBef>
                <a:spcPct val="30000"/>
              </a:spcBef>
              <a:spcAft>
                <a:spcPct val="0"/>
              </a:spcAft>
              <a:defRPr sz="1200">
                <a:solidFill>
                  <a:schemeClr val="tx1"/>
                </a:solidFill>
                <a:latin typeface="Garamond" panose="02020404030301010803" pitchFamily="18" charset="0"/>
              </a:defRPr>
            </a:lvl8pPr>
            <a:lvl9pPr marL="3886200" indent="-228600" defTabSz="965200"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C5958367-DFC0-4920-AE6B-6BE032AA4544}" type="slidenum">
              <a:rPr lang="en-US" altLang="en-US" sz="1300"/>
              <a:pPr eaLnBrk="1" hangingPunct="1">
                <a:spcBef>
                  <a:spcPct val="0"/>
                </a:spcBef>
              </a:pPr>
              <a:t>5</a:t>
            </a:fld>
            <a:endParaRPr lang="en-US" altLang="en-US" sz="130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After you have a class, then</a:t>
            </a:r>
            <a:r>
              <a:rPr lang="en-US" altLang="en-US" baseline="0" dirty="0"/>
              <a:t> you look into the function required by the system or applications to identify </a:t>
            </a:r>
            <a:r>
              <a:rPr lang="en-US" altLang="en-US" baseline="0" dirty="0" err="1"/>
              <a:t>behaviour</a:t>
            </a:r>
            <a:r>
              <a:rPr lang="en-US" altLang="en-US" baseline="0" dirty="0"/>
              <a:t>. Before you look into functions, when you are identifying classes, you should have a rough idea of what the </a:t>
            </a:r>
            <a:r>
              <a:rPr lang="en-US" altLang="en-US" baseline="0" dirty="0" err="1"/>
              <a:t>behaviour</a:t>
            </a:r>
            <a:r>
              <a:rPr lang="en-US" altLang="en-US" baseline="0" dirty="0"/>
              <a:t> of that class is supposed to be other than the get and set methods, you assess your get and set methods. But to the function itself, you notice that you are going to discover more methods to bring out the flow of a certain function. So through the objects and object interactions you need to identify more methods. And then you are going to go back to your class diagram and enhance it with all the details of what you have discovered in your sequence diagrams, then you see that your methods are going to increase because when you are doing your sequence flow, you may identify more methods required by that class. Then you implement the model. If your class likes them and few sequence likes them, you can start to do your coding, implement into codes. With the codes itself, you need to do a testing, quality testing to make sure that the application is of good quality and bugs free. </a:t>
            </a:r>
            <a:endParaRPr lang="en-US" altLang="en-US" dirty="0"/>
          </a:p>
        </p:txBody>
      </p:sp>
    </p:spTree>
    <p:extLst>
      <p:ext uri="{BB962C8B-B14F-4D97-AF65-F5344CB8AC3E}">
        <p14:creationId xmlns:p14="http://schemas.microsoft.com/office/powerpoint/2010/main" val="36063286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aseline="0" dirty="0"/>
              <a:t>As simple as the process is, not a very complex SDLC which you are going to learn in software engineering </a:t>
            </a:r>
            <a:r>
              <a:rPr lang="en-GB" altLang="en-US" baseline="0" dirty="0"/>
              <a:t>for purpose of this course and what you are going to go through in your assignment. You will be given these assignment specifications like 1D text, a very wordy thing which is good because with more words, it’s useful for you to identify more nouns and then you can discuss whether you need all these classes when you identify all these nouns. And then with this, you identify the nouns, call them your class list and embed them in the class diagram and the relationships. With the requirements and the class diagram, requirements not only gives you nouns but also tells you what the function of that application or system is going to be - functional. And then, you are going to describe what the flow is going to be. Therefore, with the requirements and the class diagrams, can come out with your sequence diagrams to map out the flow. Like I said, sequence diagrams can be used for helping out the system flow of a function or a method especially if the method logic is very complex. So, how many sequence diagrams you need is dependent on your team to see whether its certain functions or certain method logics to too complex. Therefore, you need to have sequence diagrams to map out the flow so that everyone has a better understanding of how to implement the logics.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aseline="0" dirty="0"/>
              <a:t>You have multiple sequence diagrams but how many, it depends. You usually have one class diagram but if the class diagrams are too huge, some may choose to speed up the functions and to the sequence diagrams, you map out, discover more methods and go back to the class diagrams, modify and enhance them. Together with the class diagrams and sequence diagrams, you implement them to the class code., your application class, all your classes. Then, you are going to run the testing. In a usual case, in a proper way of doing testing there will be a test plan with test cases. Just like in your assignments, I have provided certain test cases but of course you can increase it to make sure all the functions are properly tested. You also need to make sure that your application or system is bug free, ad free or bugs before your submit.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aseline="0" dirty="0"/>
              <a:t> </a:t>
            </a:r>
            <a:endParaRPr lang="en-US" altLang="en-US" dirty="0"/>
          </a:p>
        </p:txBody>
      </p:sp>
      <p:sp>
        <p:nvSpPr>
          <p:cNvPr id="4" name="Slide Number Placeholder 3"/>
          <p:cNvSpPr>
            <a:spLocks noGrp="1"/>
          </p:cNvSpPr>
          <p:nvPr>
            <p:ph type="sldNum" sz="quarter" idx="10"/>
          </p:nvPr>
        </p:nvSpPr>
        <p:spPr/>
        <p:txBody>
          <a:bodyPr/>
          <a:lstStyle/>
          <a:p>
            <a:fld id="{3F8E53BB-F993-49A1-9E37-CA3E5BE0709B}" type="slidenum">
              <a:rPr lang="en-GB" smtClean="0"/>
              <a:t>6</a:t>
            </a:fld>
            <a:endParaRPr lang="en-GB"/>
          </a:p>
        </p:txBody>
      </p:sp>
    </p:spTree>
    <p:extLst>
      <p:ext uri="{BB962C8B-B14F-4D97-AF65-F5344CB8AC3E}">
        <p14:creationId xmlns:p14="http://schemas.microsoft.com/office/powerpoint/2010/main" val="38585373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Lets look at an example, a</a:t>
            </a:r>
            <a:r>
              <a:rPr lang="en-US" altLang="en-US" baseline="0" dirty="0"/>
              <a:t> very short example. Just three statements – “A professor is a mentor to at least one student. He or she can check the course results of his or her mentees, which the students have registered. So, first thing, identify the nouns from a simple English statement – subject, object and of course in between </a:t>
            </a:r>
            <a:r>
              <a:rPr lang="en-US" altLang="en-US" b="0" baseline="0" dirty="0"/>
              <a:t>decibel.</a:t>
            </a:r>
            <a:r>
              <a:rPr lang="en-US" altLang="en-US" b="1" baseline="0" dirty="0"/>
              <a:t> </a:t>
            </a:r>
            <a:r>
              <a:rPr lang="en-US" altLang="en-US" b="0" baseline="0" dirty="0"/>
              <a:t>So you look at it, professor, mentor, student, course, result – they are possible nouns. You need to look at all these and of course mentees. These identified nouns are possible classes and then you will do another round of analysis whether all the nouns you have identified are possible classes. You look at it – Professor, you would need as he is a main thing to decide, to retrieve out and to know about the mentees. Professors have certain required attributes. How about mentor? If you look at mentor itself is actually referring to the professor, playing the role of a mentor. Its basically about the professor, you don’t really need the mentor class. Student, you would need because its for post ref or the information about courses and results later. So, same for course and results. Mentee, same thing, identifying the student as a role with reference to the professor as a mentor. With that, we have come out with your classes, move on to attributes and of course we will get on to methods as well to gather relationship.</a:t>
            </a:r>
          </a:p>
          <a:p>
            <a:pPr fontAlgn="t"/>
            <a:r>
              <a:rPr lang="en-US" altLang="en-US" b="0" baseline="0" dirty="0"/>
              <a:t>Then, you see that mentor and mentee is not really discarded. You can use them as a row name in your class diagram. Subsequently, you can use it as an object reference name in your implementation course. You can see from here that professor is related to this student because professor of at least one to many students and then </a:t>
            </a:r>
            <a:r>
              <a:rPr lang="en-US" altLang="en-US" b="0" baseline="0" dirty="0" err="1"/>
              <a:t>ofcourse</a:t>
            </a:r>
            <a:r>
              <a:rPr lang="en-US" altLang="en-US" b="0" baseline="0" dirty="0"/>
              <a:t> as a student you only have one mentor. If you look at this there are two links between the students – one link is from student </a:t>
            </a:r>
            <a:r>
              <a:rPr lang="en-US" sz="1200" b="0" i="0" kern="1200" dirty="0">
                <a:solidFill>
                  <a:schemeClr val="tx1"/>
                </a:solidFill>
                <a:effectLst/>
                <a:latin typeface="+mn-lt"/>
                <a:ea typeface="+mn-ea"/>
                <a:cs typeface="+mn-cs"/>
              </a:rPr>
              <a:t>to course which is for current registration. The other information is students result. The student result itself is not just the grade but you can also specify if this course has been taken and during which semester and then there is the result. Then, you have a separate association which shows that the course has been taken. You map the students which have been registered,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are the current courses that the students have registered</a:t>
            </a:r>
            <a:r>
              <a:rPr lang="en-US" sz="1200" b="0" i="0" kern="1200" baseline="0" dirty="0">
                <a:solidFill>
                  <a:schemeClr val="tx1"/>
                </a:solidFill>
                <a:effectLst/>
                <a:latin typeface="+mn-lt"/>
                <a:ea typeface="+mn-ea"/>
                <a:cs typeface="+mn-cs"/>
              </a:rPr>
              <a:t> and what are the past results.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altLang="en-US" b="0" dirty="0"/>
          </a:p>
        </p:txBody>
      </p:sp>
      <p:sp>
        <p:nvSpPr>
          <p:cNvPr id="235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eaLnBrk="0" hangingPunct="0">
              <a:spcBef>
                <a:spcPct val="30000"/>
              </a:spcBef>
              <a:defRPr sz="1200">
                <a:solidFill>
                  <a:schemeClr val="tx1"/>
                </a:solidFill>
                <a:latin typeface="Garamond" panose="02020404030301010803" pitchFamily="18" charset="0"/>
              </a:defRPr>
            </a:lvl1pPr>
            <a:lvl2pPr marL="742950" indent="-285750" defTabSz="965200" eaLnBrk="0" hangingPunct="0">
              <a:spcBef>
                <a:spcPct val="30000"/>
              </a:spcBef>
              <a:defRPr sz="1200">
                <a:solidFill>
                  <a:schemeClr val="tx1"/>
                </a:solidFill>
                <a:latin typeface="Garamond" panose="02020404030301010803" pitchFamily="18" charset="0"/>
              </a:defRPr>
            </a:lvl2pPr>
            <a:lvl3pPr marL="1143000" indent="-228600" defTabSz="965200" eaLnBrk="0" hangingPunct="0">
              <a:spcBef>
                <a:spcPct val="30000"/>
              </a:spcBef>
              <a:defRPr sz="1200">
                <a:solidFill>
                  <a:schemeClr val="tx1"/>
                </a:solidFill>
                <a:latin typeface="Garamond" panose="02020404030301010803" pitchFamily="18" charset="0"/>
              </a:defRPr>
            </a:lvl3pPr>
            <a:lvl4pPr marL="1600200" indent="-228600" defTabSz="965200" eaLnBrk="0" hangingPunct="0">
              <a:spcBef>
                <a:spcPct val="30000"/>
              </a:spcBef>
              <a:defRPr sz="1200">
                <a:solidFill>
                  <a:schemeClr val="tx1"/>
                </a:solidFill>
                <a:latin typeface="Garamond" panose="02020404030301010803" pitchFamily="18" charset="0"/>
              </a:defRPr>
            </a:lvl4pPr>
            <a:lvl5pPr marL="2057400" indent="-228600" defTabSz="965200" eaLnBrk="0" hangingPunct="0">
              <a:spcBef>
                <a:spcPct val="30000"/>
              </a:spcBef>
              <a:defRPr sz="1200">
                <a:solidFill>
                  <a:schemeClr val="tx1"/>
                </a:solidFill>
                <a:latin typeface="Garamond" panose="02020404030301010803" pitchFamily="18" charset="0"/>
              </a:defRPr>
            </a:lvl5pPr>
            <a:lvl6pPr marL="2514600" indent="-228600" defTabSz="965200" eaLnBrk="0" fontAlgn="base" hangingPunct="0">
              <a:spcBef>
                <a:spcPct val="30000"/>
              </a:spcBef>
              <a:spcAft>
                <a:spcPct val="0"/>
              </a:spcAft>
              <a:defRPr sz="1200">
                <a:solidFill>
                  <a:schemeClr val="tx1"/>
                </a:solidFill>
                <a:latin typeface="Garamond" panose="02020404030301010803" pitchFamily="18" charset="0"/>
              </a:defRPr>
            </a:lvl6pPr>
            <a:lvl7pPr marL="2971800" indent="-228600" defTabSz="965200" eaLnBrk="0" fontAlgn="base" hangingPunct="0">
              <a:spcBef>
                <a:spcPct val="30000"/>
              </a:spcBef>
              <a:spcAft>
                <a:spcPct val="0"/>
              </a:spcAft>
              <a:defRPr sz="1200">
                <a:solidFill>
                  <a:schemeClr val="tx1"/>
                </a:solidFill>
                <a:latin typeface="Garamond" panose="02020404030301010803" pitchFamily="18" charset="0"/>
              </a:defRPr>
            </a:lvl7pPr>
            <a:lvl8pPr marL="3429000" indent="-228600" defTabSz="965200" eaLnBrk="0" fontAlgn="base" hangingPunct="0">
              <a:spcBef>
                <a:spcPct val="30000"/>
              </a:spcBef>
              <a:spcAft>
                <a:spcPct val="0"/>
              </a:spcAft>
              <a:defRPr sz="1200">
                <a:solidFill>
                  <a:schemeClr val="tx1"/>
                </a:solidFill>
                <a:latin typeface="Garamond" panose="02020404030301010803" pitchFamily="18" charset="0"/>
              </a:defRPr>
            </a:lvl8pPr>
            <a:lvl9pPr marL="3886200" indent="-228600" defTabSz="965200" eaLnBrk="0" fontAlgn="base" hangingPunct="0">
              <a:spcBef>
                <a:spcPct val="30000"/>
              </a:spcBef>
              <a:spcAft>
                <a:spcPct val="0"/>
              </a:spcAft>
              <a:defRPr sz="1200">
                <a:solidFill>
                  <a:schemeClr val="tx1"/>
                </a:solidFill>
                <a:latin typeface="Garamond" panose="02020404030301010803" pitchFamily="18" charset="0"/>
              </a:defRPr>
            </a:lvl9pPr>
          </a:lstStyle>
          <a:p>
            <a:pPr eaLnBrk="1" hangingPunct="1">
              <a:spcBef>
                <a:spcPct val="0"/>
              </a:spcBef>
            </a:pPr>
            <a:fld id="{12AF82C4-1DC6-49FE-A207-DBD7E460F040}" type="slidenum">
              <a:rPr lang="en-US" altLang="en-US" sz="1300"/>
              <a:pPr eaLnBrk="1" hangingPunct="1">
                <a:spcBef>
                  <a:spcPct val="0"/>
                </a:spcBef>
              </a:pPr>
              <a:t>7</a:t>
            </a:fld>
            <a:endParaRPr lang="en-US" altLang="en-US" sz="1300"/>
          </a:p>
        </p:txBody>
      </p:sp>
    </p:spTree>
    <p:extLst>
      <p:ext uri="{BB962C8B-B14F-4D97-AF65-F5344CB8AC3E}">
        <p14:creationId xmlns:p14="http://schemas.microsoft.com/office/powerpoint/2010/main" val="35346557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these are entity classes. What needs to be stored in the system and in which classes</a:t>
            </a:r>
            <a:r>
              <a:rPr lang="en-US" baseline="0" dirty="0"/>
              <a:t> and ultimately which objects. With these classes you can also map the flow. The professor can </a:t>
            </a:r>
            <a:r>
              <a:rPr kumimoji="0" lang="en-US" altLang="en-US" sz="1200" b="0" i="0" u="none" strike="noStrike" kern="1200" cap="none" spc="0" normalizeH="0" baseline="0" noProof="0" dirty="0">
                <a:ln>
                  <a:noFill/>
                </a:ln>
                <a:solidFill>
                  <a:sysClr val="windowText" lastClr="000000"/>
                </a:solidFill>
                <a:effectLst/>
                <a:uLnTx/>
                <a:uFillTx/>
                <a:latin typeface="Calibri" panose="020F0502020204030204" pitchFamily="34" charset="0"/>
              </a:rPr>
              <a:t>check the course results of his or her mentees, which the students have registered. It can map out a sequence flow from here so that it can draw the sequence diagram. You only identify the entity classes and not the boundary or control classes. With these requirements, you need to have a certain interface for the professor to key in the mentees name and then ultimately the system will give out the mentees records and print out the result.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8</a:t>
            </a:fld>
            <a:endParaRPr lang="en-US"/>
          </a:p>
        </p:txBody>
      </p:sp>
    </p:spTree>
    <p:extLst>
      <p:ext uri="{BB962C8B-B14F-4D97-AF65-F5344CB8AC3E}">
        <p14:creationId xmlns:p14="http://schemas.microsoft.com/office/powerpoint/2010/main" val="26279430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here is a function and</a:t>
            </a:r>
            <a:r>
              <a:rPr lang="en-US" baseline="0" dirty="0"/>
              <a:t> not a method implementation. You can see that have an actor here to simulate the professor using a form which is identified by this boundary class. You can simply say that it is a select form which is a list down or the mentees to key in the metric numbers. This information is going to pass through a control class. The control class will decide what is the command and operate accordingly. The next step has to be control class. It can be any name you want, but we mostly name the control class according to the function, but you can simply name it as app manager, the application class. You send a command to show mentees result. That is where the other classes come in. The control class knows what to do but needs information. So you have to retrieve this information from the entity classes and objects ultimately. Here you have to refer back to the class diagram to see how to get the information. If you look at the first part, it is the professor which is locked in. So you can assume that the object itself can access it through the log in instantiated. It is just that how you get the other information with these professors records or objects. If you look at the class diagrams, there is an oscillation between the professors and students. The main purpose for us it to retrieve the students records and its result. With the professors objects, you can get the references of all the mentees through the association link. Through this link you can get all the mentees records. Then you can retrieve the information of all the students under him. The next step is where you get the results of all the students. You want to retrieve the list of the number of students and then you traverse through using loop to identify each of the students and then retrieve the result. You will traverse through all the students because you have a list of mentees student objects. Traverse through and get the result which is through this link Each individual student will have its own result. You will then get the results back. A student will of course have multiple results for different semesters and years. You need to traverse the same things through this and then get the course information from here. For course itself, you will have a course name, for result you have the grade. From the result object, you will not only get the courses but also the grades. You will only get the course information from course. You can then present it as an output. This shows how to retrieve the students course and present it. </a:t>
            </a:r>
          </a:p>
          <a:p>
            <a:endParaRPr lang="en-US" baseline="0" dirty="0"/>
          </a:p>
          <a:p>
            <a:r>
              <a:rPr lang="en-US" baseline="0" dirty="0"/>
              <a:t>Now you are aware that sequence diagrams have object names. So instead of using a given name you can use the row name mentor mentees. You can draw this using a rectangle object or you can also put them in the stereotype. If you put them in the stereotype, it is very clear which is the boundary class, which is the control class, and which are the entity classes.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9</a:t>
            </a:fld>
            <a:endParaRPr lang="en-US"/>
          </a:p>
        </p:txBody>
      </p:sp>
    </p:spTree>
    <p:extLst>
      <p:ext uri="{BB962C8B-B14F-4D97-AF65-F5344CB8AC3E}">
        <p14:creationId xmlns:p14="http://schemas.microsoft.com/office/powerpoint/2010/main" val="2869207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we have an example where you can come up with a class diagram and then probably multiple sequence diagrams depending on the complexity.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10</a:t>
            </a:fld>
            <a:endParaRPr lang="en-US"/>
          </a:p>
        </p:txBody>
      </p:sp>
    </p:spTree>
    <p:extLst>
      <p:ext uri="{BB962C8B-B14F-4D97-AF65-F5344CB8AC3E}">
        <p14:creationId xmlns:p14="http://schemas.microsoft.com/office/powerpoint/2010/main" val="514482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study something related to the assignments, there is</a:t>
            </a:r>
            <a:r>
              <a:rPr lang="en-US" baseline="0" dirty="0"/>
              <a:t> a longer example which is the blackjack example. The example has been taken from the reference text Object-Oriented Thought Process.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12</a:t>
            </a:fld>
            <a:endParaRPr lang="en-US"/>
          </a:p>
        </p:txBody>
      </p:sp>
    </p:spTree>
    <p:extLst>
      <p:ext uri="{BB962C8B-B14F-4D97-AF65-F5344CB8AC3E}">
        <p14:creationId xmlns:p14="http://schemas.microsoft.com/office/powerpoint/2010/main" val="38530231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there </a:t>
            </a:r>
            <a:r>
              <a:rPr lang="en-US" baseline="0" dirty="0"/>
              <a:t>is this requirement specification which are going to support with your assignment. </a:t>
            </a:r>
          </a:p>
          <a:p>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Here we follow the same thing. You go through the list, descriptions and specifications and then find all the nouns. After identifying the nouns, you need to </a:t>
            </a:r>
            <a:r>
              <a:rPr lang="en-US" baseline="0" dirty="0" err="1"/>
              <a:t>analyse</a:t>
            </a:r>
            <a:r>
              <a:rPr lang="en-US" baseline="0" dirty="0"/>
              <a:t> it. Here, even though it is a lot, you will not need these many classes for the applications. You will go through a simple process of eliminating those which are not needed</a:t>
            </a:r>
            <a:r>
              <a:rPr lang="en-US" dirty="0"/>
              <a:t> </a:t>
            </a:r>
            <a:r>
              <a:rPr lang="en-US" baseline="0" dirty="0"/>
              <a:t>so that you can come up with the class shown in the next slide.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Let us get into more detail.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13</a:t>
            </a:fld>
            <a:endParaRPr lang="en-US"/>
          </a:p>
        </p:txBody>
      </p:sp>
    </p:spTree>
    <p:extLst>
      <p:ext uri="{BB962C8B-B14F-4D97-AF65-F5344CB8AC3E}">
        <p14:creationId xmlns:p14="http://schemas.microsoft.com/office/powerpoint/2010/main" val="1162327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14</a:t>
            </a:fld>
            <a:endParaRPr lang="en-US"/>
          </a:p>
        </p:txBody>
      </p:sp>
    </p:spTree>
    <p:extLst>
      <p:ext uri="{BB962C8B-B14F-4D97-AF65-F5344CB8AC3E}">
        <p14:creationId xmlns:p14="http://schemas.microsoft.com/office/powerpoint/2010/main" val="39397881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has been</a:t>
            </a:r>
            <a:r>
              <a:rPr lang="en-US" baseline="0" dirty="0"/>
              <a:t> adapted from other sources. This will give you a detailed understanding of how to come up with a class diagram.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16</a:t>
            </a:fld>
            <a:endParaRPr lang="en-US"/>
          </a:p>
        </p:txBody>
      </p:sp>
    </p:spTree>
    <p:extLst>
      <p:ext uri="{BB962C8B-B14F-4D97-AF65-F5344CB8AC3E}">
        <p14:creationId xmlns:p14="http://schemas.microsoft.com/office/powerpoint/2010/main" val="2459736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must</a:t>
            </a:r>
            <a:r>
              <a:rPr lang="en-US" baseline="0" dirty="0"/>
              <a:t> already be familiar with the blackjack game. There will always be a requirement to know what you are supposed to do.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17</a:t>
            </a:fld>
            <a:endParaRPr lang="en-US"/>
          </a:p>
        </p:txBody>
      </p:sp>
    </p:spTree>
    <p:extLst>
      <p:ext uri="{BB962C8B-B14F-4D97-AF65-F5344CB8AC3E}">
        <p14:creationId xmlns:p14="http://schemas.microsoft.com/office/powerpoint/2010/main" val="564925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certain rules</a:t>
            </a:r>
            <a:r>
              <a:rPr lang="en-US" baseline="0" dirty="0"/>
              <a:t> for you to map out the functions of the applications. In this game, each player plays against the dealer.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18</a:t>
            </a:fld>
            <a:endParaRPr lang="en-US"/>
          </a:p>
        </p:txBody>
      </p:sp>
    </p:spTree>
    <p:extLst>
      <p:ext uri="{BB962C8B-B14F-4D97-AF65-F5344CB8AC3E}">
        <p14:creationId xmlns:p14="http://schemas.microsoft.com/office/powerpoint/2010/main" val="1902903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It is a game about the 21 points. Ultimately, all cards need to add to 21 and not beyond. The winner will be the one with blackjack or 21 points.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19</a:t>
            </a:fld>
            <a:endParaRPr lang="en-US"/>
          </a:p>
        </p:txBody>
      </p:sp>
    </p:spTree>
    <p:extLst>
      <p:ext uri="{BB962C8B-B14F-4D97-AF65-F5344CB8AC3E}">
        <p14:creationId xmlns:p14="http://schemas.microsoft.com/office/powerpoint/2010/main" val="3683663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 us talk</a:t>
            </a:r>
            <a:r>
              <a:rPr lang="en-US" baseline="0" dirty="0"/>
              <a:t> about the row of the dealer. The dealer is the main controller of the game. He deals the cards to the players and then distributes the cards further to the players if they need and then check the cards they have in hand and finally decide the winners.  </a:t>
            </a:r>
            <a:endParaRPr lang="en-US" dirty="0"/>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20</a:t>
            </a:fld>
            <a:endParaRPr lang="en-US"/>
          </a:p>
        </p:txBody>
      </p:sp>
    </p:spTree>
    <p:extLst>
      <p:ext uri="{BB962C8B-B14F-4D97-AF65-F5344CB8AC3E}">
        <p14:creationId xmlns:p14="http://schemas.microsoft.com/office/powerpoint/2010/main" val="762803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Cards have different face values and different suits. 	</a:t>
            </a:r>
          </a:p>
        </p:txBody>
      </p:sp>
      <p:sp>
        <p:nvSpPr>
          <p:cNvPr id="4" name="Slide Number Placeholder 3"/>
          <p:cNvSpPr>
            <a:spLocks noGrp="1"/>
          </p:cNvSpPr>
          <p:nvPr>
            <p:ph type="sldNum" sz="quarter" idx="10"/>
          </p:nvPr>
        </p:nvSpPr>
        <p:spPr/>
        <p:txBody>
          <a:bodyPr/>
          <a:lstStyle/>
          <a:p>
            <a:fld id="{3F8E53BB-F993-49A1-9E37-CA3E5BE0709B}" type="slidenum">
              <a:rPr lang="en-US" smtClean="0"/>
              <a:t>21</a:t>
            </a:fld>
            <a:endParaRPr lang="en-US"/>
          </a:p>
        </p:txBody>
      </p:sp>
    </p:spTree>
    <p:extLst>
      <p:ext uri="{BB962C8B-B14F-4D97-AF65-F5344CB8AC3E}">
        <p14:creationId xmlns:p14="http://schemas.microsoft.com/office/powerpoint/2010/main" val="3793460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player is playing against a dealer, he will need to display the cards to</a:t>
            </a:r>
            <a:r>
              <a:rPr lang="en-US" baseline="0" dirty="0"/>
              <a:t> know whether they have won the game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22</a:t>
            </a:fld>
            <a:endParaRPr lang="en-US"/>
          </a:p>
        </p:txBody>
      </p:sp>
    </p:spTree>
    <p:extLst>
      <p:ext uri="{BB962C8B-B14F-4D97-AF65-F5344CB8AC3E}">
        <p14:creationId xmlns:p14="http://schemas.microsoft.com/office/powerpoint/2010/main" val="37317369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has its own face value which are</a:t>
            </a:r>
            <a:r>
              <a:rPr lang="en-US" baseline="0" dirty="0"/>
              <a:t> of four types which are spade, heart, diamond and flowers</a:t>
            </a:r>
            <a:r>
              <a:rPr lang="en-US" dirty="0"/>
              <a:t>. </a:t>
            </a:r>
          </a:p>
        </p:txBody>
      </p:sp>
      <p:sp>
        <p:nvSpPr>
          <p:cNvPr id="4" name="Slide Number Placeholder 3"/>
          <p:cNvSpPr>
            <a:spLocks noGrp="1"/>
          </p:cNvSpPr>
          <p:nvPr>
            <p:ph type="sldNum" sz="quarter" idx="10"/>
          </p:nvPr>
        </p:nvSpPr>
        <p:spPr/>
        <p:txBody>
          <a:bodyPr/>
          <a:lstStyle/>
          <a:p>
            <a:fld id="{3F8E53BB-F993-49A1-9E37-CA3E5BE0709B}" type="slidenum">
              <a:rPr lang="en-US" smtClean="0"/>
              <a:t>23</a:t>
            </a:fld>
            <a:endParaRPr lang="en-US"/>
          </a:p>
        </p:txBody>
      </p:sp>
    </p:spTree>
    <p:extLst>
      <p:ext uri="{BB962C8B-B14F-4D97-AF65-F5344CB8AC3E}">
        <p14:creationId xmlns:p14="http://schemas.microsoft.com/office/powerpoint/2010/main" val="4043515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you have the rules. These rules are what ultimately becomes</a:t>
            </a:r>
            <a:r>
              <a:rPr lang="en-US" baseline="0" dirty="0"/>
              <a:t> a function flow in the application or the system.</a:t>
            </a:r>
            <a:endParaRPr lang="en-US" dirty="0"/>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24</a:t>
            </a:fld>
            <a:endParaRPr lang="en-US"/>
          </a:p>
        </p:txBody>
      </p:sp>
    </p:spTree>
    <p:extLst>
      <p:ext uri="{BB962C8B-B14F-4D97-AF65-F5344CB8AC3E}">
        <p14:creationId xmlns:p14="http://schemas.microsoft.com/office/powerpoint/2010/main" val="685811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a:t>
            </a:r>
            <a:r>
              <a:rPr lang="en-US" baseline="0" dirty="0"/>
              <a:t> is also a minimum. Some constraint needs to be set in the system. For example, a draw means that it has to be </a:t>
            </a:r>
            <a:r>
              <a:rPr lang="en-US" baseline="0" dirty="0" err="1"/>
              <a:t>atleast</a:t>
            </a:r>
            <a:r>
              <a:rPr lang="en-US" baseline="0" dirty="0"/>
              <a:t> 17 points in order to consider a valid winner.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25</a:t>
            </a:fld>
            <a:endParaRPr lang="en-US"/>
          </a:p>
        </p:txBody>
      </p:sp>
    </p:spTree>
    <p:extLst>
      <p:ext uri="{BB962C8B-B14F-4D97-AF65-F5344CB8AC3E}">
        <p14:creationId xmlns:p14="http://schemas.microsoft.com/office/powerpoint/2010/main" val="1215848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868673-1B6A-429D-99E5-738C3C2F8C23}" type="slidenum">
              <a:rPr lang="zh-TW" altLang="en-US" sz="1200">
                <a:solidFill>
                  <a:prstClr val="black"/>
                </a:solidFill>
              </a:rPr>
              <a:pPr eaLnBrk="1" hangingPunct="1"/>
              <a:t>26</a:t>
            </a:fld>
            <a:endParaRPr lang="en-US" altLang="zh-TW" sz="1200">
              <a:solidFill>
                <a:prstClr val="black"/>
              </a:solidFill>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Let’s start with the next topic of this chapter, Steps in Designing a Case Study.</a:t>
            </a:r>
            <a:endParaRPr lang="zh-TW" altLang="en-US" dirty="0"/>
          </a:p>
        </p:txBody>
      </p:sp>
    </p:spTree>
    <p:extLst>
      <p:ext uri="{BB962C8B-B14F-4D97-AF65-F5344CB8AC3E}">
        <p14:creationId xmlns:p14="http://schemas.microsoft.com/office/powerpoint/2010/main" val="22815860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a:t>
            </a:r>
            <a:r>
              <a:rPr lang="en-US" baseline="0" dirty="0"/>
              <a:t> identified the nouns. You have to go through this list…</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30</a:t>
            </a:fld>
            <a:endParaRPr lang="en-US"/>
          </a:p>
        </p:txBody>
      </p:sp>
    </p:spTree>
    <p:extLst>
      <p:ext uri="{BB962C8B-B14F-4D97-AF65-F5344CB8AC3E}">
        <p14:creationId xmlns:p14="http://schemas.microsoft.com/office/powerpoint/2010/main" val="39051716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then </a:t>
            </a:r>
            <a:r>
              <a:rPr lang="en-US" baseline="0" dirty="0"/>
              <a:t>eliminate the ones that you don’t need.</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31</a:t>
            </a:fld>
            <a:endParaRPr lang="en-US"/>
          </a:p>
        </p:txBody>
      </p:sp>
    </p:spTree>
    <p:extLst>
      <p:ext uri="{BB962C8B-B14F-4D97-AF65-F5344CB8AC3E}">
        <p14:creationId xmlns:p14="http://schemas.microsoft.com/office/powerpoint/2010/main" val="15952027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Let us go through each individual object. Start with Game. Is game a valid class? Yes it is because it is a class which is going to develop. </a:t>
            </a:r>
          </a:p>
          <a:p>
            <a:r>
              <a:rPr lang="en-US" baseline="0" dirty="0"/>
              <a:t>What about Blackjack? Blackjack is actually the game. So you can take as an instance of the game where you are naming it as Blackjack. </a:t>
            </a:r>
          </a:p>
          <a:p>
            <a:r>
              <a:rPr lang="en-US" baseline="0" dirty="0"/>
              <a:t>Now Dealer. Dealer is the main thing. So you will need the class.</a:t>
            </a:r>
          </a:p>
          <a:p>
            <a:r>
              <a:rPr lang="en-US" baseline="0" dirty="0"/>
              <a:t>What about house? House is actually referring to the dealer, the one who is managing the game. So you don’t need house.</a:t>
            </a:r>
          </a:p>
          <a:p>
            <a:r>
              <a:rPr lang="en-US" baseline="0" dirty="0"/>
              <a:t>For Players, you don’t need a lot of them but you do need a single player. Players itself is just a collection of player. </a:t>
            </a:r>
          </a:p>
          <a:p>
            <a:r>
              <a:rPr lang="en-US" baseline="0" dirty="0"/>
              <a:t>You don’t need cards, but you do need a card.</a:t>
            </a:r>
          </a:p>
          <a:p>
            <a:r>
              <a:rPr lang="en-US" baseline="0" dirty="0"/>
              <a:t>What about Deck? Deck in itself is a collection of cards. You need to have a whole in order to store all the cards for which you need a deck. </a:t>
            </a:r>
          </a:p>
          <a:p>
            <a:r>
              <a:rPr lang="en-US" baseline="0" dirty="0"/>
              <a:t>What about hand? When you distribute the cards, the individual dealer and player will hold on to certain cards. Hand itself helps in identifying what are the cards on hand held on by the players and the dealer. You ideally need to identify the which cards are being held on by the dealer and which ones by the players.</a:t>
            </a:r>
          </a:p>
          <a:p>
            <a:r>
              <a:rPr lang="en-US" baseline="0" dirty="0"/>
              <a:t>Face value? It is just the numberings which is not relatable to the cards but the attributes later to the cards. </a:t>
            </a:r>
          </a:p>
          <a:p>
            <a:r>
              <a:rPr lang="en-US" baseline="0" dirty="0"/>
              <a:t>Suit is also an attribute to the card.  Since you know that suits itself are of four types, you might want to identify it as </a:t>
            </a:r>
            <a:r>
              <a:rPr lang="en-US" baseline="0" dirty="0" err="1"/>
              <a:t>enum</a:t>
            </a:r>
            <a:r>
              <a:rPr lang="en-US" baseline="0" dirty="0"/>
              <a:t> later for ease of use. </a:t>
            </a:r>
          </a:p>
          <a:p>
            <a:r>
              <a:rPr lang="en-US" baseline="0" dirty="0"/>
              <a:t>You don’t need a winner </a:t>
            </a:r>
            <a:r>
              <a:rPr lang="en-US" baseline="0" dirty="0" err="1"/>
              <a:t>becaue</a:t>
            </a:r>
            <a:r>
              <a:rPr lang="en-US" baseline="0" dirty="0"/>
              <a:t> it is decided on the fly upon the games completion.</a:t>
            </a:r>
          </a:p>
          <a:p>
            <a:r>
              <a:rPr lang="en-US" baseline="0" dirty="0"/>
              <a:t>Ace is the same as face value. The same goes for Face card, King, Queen and Jack. Game is already being repeated.</a:t>
            </a:r>
          </a:p>
          <a:p>
            <a:r>
              <a:rPr lang="en-US" baseline="0" dirty="0"/>
              <a:t>We will talk about Bet later as we wont need that for this example because you probably think of it as a numerical value as to how much bet you are going to put in.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32</a:t>
            </a:fld>
            <a:endParaRPr lang="en-US"/>
          </a:p>
        </p:txBody>
      </p:sp>
    </p:spTree>
    <p:extLst>
      <p:ext uri="{BB962C8B-B14F-4D97-AF65-F5344CB8AC3E}">
        <p14:creationId xmlns:p14="http://schemas.microsoft.com/office/powerpoint/2010/main" val="16196327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The noun blackjack was eliminated because game is actually the system itself.</a:t>
            </a:r>
          </a:p>
          <a:p>
            <a:pPr eaLnBrk="1" hangingPunct="1"/>
            <a:r>
              <a:rPr lang="en-US" altLang="en-US" dirty="0"/>
              <a:t>House was eliminated because, it’s just another name for the dealer.</a:t>
            </a:r>
          </a:p>
          <a:p>
            <a:pPr eaLnBrk="1" hangingPunct="1"/>
            <a:r>
              <a:rPr lang="en-US" altLang="en-US" dirty="0"/>
              <a:t>Players are eliminated because we just need a single player (class).</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33</a:t>
            </a:fld>
            <a:endParaRPr lang="en-US"/>
          </a:p>
        </p:txBody>
      </p:sp>
    </p:spTree>
    <p:extLst>
      <p:ext uri="{BB962C8B-B14F-4D97-AF65-F5344CB8AC3E}">
        <p14:creationId xmlns:p14="http://schemas.microsoft.com/office/powerpoint/2010/main" val="15677132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dirty="0"/>
          </a:p>
          <a:p>
            <a:r>
              <a:rPr lang="en-US" altLang="en-US" dirty="0"/>
              <a:t>Cards not needed just a single card (class).</a:t>
            </a:r>
          </a:p>
          <a:p>
            <a:r>
              <a:rPr lang="en-US" altLang="en-US" dirty="0"/>
              <a:t>Face value is really an </a:t>
            </a:r>
            <a:r>
              <a:rPr lang="en-US" altLang="en-US" dirty="0">
                <a:solidFill>
                  <a:srgbClr val="C00000"/>
                </a:solidFill>
              </a:rPr>
              <a:t>attribute</a:t>
            </a:r>
            <a:r>
              <a:rPr lang="en-US" altLang="en-US" dirty="0"/>
              <a:t> of the card class.</a:t>
            </a:r>
          </a:p>
          <a:p>
            <a:r>
              <a:rPr lang="en-US" altLang="en-US" dirty="0"/>
              <a:t>Suit not needed to play the blackjack game. </a:t>
            </a:r>
            <a:r>
              <a:rPr lang="en-US" altLang="en-US" dirty="0">
                <a:solidFill>
                  <a:srgbClr val="C00000"/>
                </a:solidFill>
              </a:rPr>
              <a:t>However</a:t>
            </a:r>
            <a:r>
              <a:rPr lang="en-US" altLang="en-US" dirty="0"/>
              <a:t>, you might want to leave it if you were to use suits in </a:t>
            </a:r>
            <a:r>
              <a:rPr lang="en-US" altLang="en-US" dirty="0">
                <a:solidFill>
                  <a:srgbClr val="C00000"/>
                </a:solidFill>
              </a:rPr>
              <a:t>future</a:t>
            </a:r>
            <a:r>
              <a:rPr lang="en-US" altLang="en-US" dirty="0"/>
              <a:t> card games. Our example will leave it out.</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34</a:t>
            </a:fld>
            <a:endParaRPr lang="en-US"/>
          </a:p>
        </p:txBody>
      </p:sp>
    </p:spTree>
    <p:extLst>
      <p:ext uri="{BB962C8B-B14F-4D97-AF65-F5344CB8AC3E}">
        <p14:creationId xmlns:p14="http://schemas.microsoft.com/office/powerpoint/2010/main" val="343309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Ace, King, Queen, Jack are better represented as </a:t>
            </a:r>
            <a:r>
              <a:rPr lang="en-US" altLang="en-US" dirty="0">
                <a:solidFill>
                  <a:srgbClr val="C00000"/>
                </a:solidFill>
              </a:rPr>
              <a:t>attributes</a:t>
            </a:r>
            <a:r>
              <a:rPr lang="en-US" altLang="en-US" dirty="0"/>
              <a:t> of the card class, instead of individual classes.</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35</a:t>
            </a:fld>
            <a:endParaRPr lang="en-US"/>
          </a:p>
        </p:txBody>
      </p:sp>
    </p:spTree>
    <p:extLst>
      <p:ext uri="{BB962C8B-B14F-4D97-AF65-F5344CB8AC3E}">
        <p14:creationId xmlns:p14="http://schemas.microsoft.com/office/powerpoint/2010/main" val="462286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Originally bet was taken out of the list, but if you really think about it we should leave it in, because of the future card usage.</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36</a:t>
            </a:fld>
            <a:endParaRPr lang="en-US"/>
          </a:p>
        </p:txBody>
      </p:sp>
    </p:spTree>
    <p:extLst>
      <p:ext uri="{BB962C8B-B14F-4D97-AF65-F5344CB8AC3E}">
        <p14:creationId xmlns:p14="http://schemas.microsoft.com/office/powerpoint/2010/main" val="42934036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you have to identify all the required classes</a:t>
            </a:r>
            <a:r>
              <a:rPr lang="en-US" baseline="0" dirty="0"/>
              <a:t> a</a:t>
            </a:r>
            <a:r>
              <a:rPr lang="en-US" dirty="0"/>
              <a:t>nd the next step is to identify the responsibility of the classes</a:t>
            </a:r>
            <a:r>
              <a:rPr lang="en-US" baseline="0" dirty="0"/>
              <a:t> through the actions required by all these classes. One hint is looking for the verbs through which you can identify the what kind of objects or classes can perform what responsibilities.</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38</a:t>
            </a:fld>
            <a:endParaRPr lang="en-US"/>
          </a:p>
        </p:txBody>
      </p:sp>
    </p:spTree>
    <p:extLst>
      <p:ext uri="{BB962C8B-B14F-4D97-AF65-F5344CB8AC3E}">
        <p14:creationId xmlns:p14="http://schemas.microsoft.com/office/powerpoint/2010/main" val="7971809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you</a:t>
            </a:r>
            <a:r>
              <a:rPr lang="en-US" baseline="0" dirty="0"/>
              <a:t> need to figure out what you need to know about the cards? Then you start identifying the attributes and responsibilities. That way you will know if it has a face value suits.</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39</a:t>
            </a:fld>
            <a:endParaRPr lang="en-US"/>
          </a:p>
        </p:txBody>
      </p:sp>
    </p:spTree>
    <p:extLst>
      <p:ext uri="{BB962C8B-B14F-4D97-AF65-F5344CB8AC3E}">
        <p14:creationId xmlns:p14="http://schemas.microsoft.com/office/powerpoint/2010/main" val="20820613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t>Make a list of verbs that are needed for Deck, Hand, Dealer, Player and Bet.</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40</a:t>
            </a:fld>
            <a:endParaRPr lang="en-US"/>
          </a:p>
        </p:txBody>
      </p:sp>
    </p:spTree>
    <p:extLst>
      <p:ext uri="{BB962C8B-B14F-4D97-AF65-F5344CB8AC3E}">
        <p14:creationId xmlns:p14="http://schemas.microsoft.com/office/powerpoint/2010/main" val="2992618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has a collection of cards . So you need to get the next set of</a:t>
            </a:r>
            <a:r>
              <a:rPr lang="en-US" baseline="0" dirty="0"/>
              <a:t> </a:t>
            </a:r>
            <a:r>
              <a:rPr lang="en-US" dirty="0"/>
              <a:t>cards from the deck.</a:t>
            </a:r>
            <a:r>
              <a:rPr lang="en-US" baseline="0" dirty="0"/>
              <a:t> You will need to identify certain methods from the deck class.</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41</a:t>
            </a:fld>
            <a:endParaRPr lang="en-US"/>
          </a:p>
        </p:txBody>
      </p:sp>
    </p:spTree>
    <p:extLst>
      <p:ext uri="{BB962C8B-B14F-4D97-AF65-F5344CB8AC3E}">
        <p14:creationId xmlns:p14="http://schemas.microsoft.com/office/powerpoint/2010/main" val="9856114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hand-in to show all the cards available on hand. </a:t>
            </a:r>
          </a:p>
        </p:txBody>
      </p:sp>
      <p:sp>
        <p:nvSpPr>
          <p:cNvPr id="4" name="Slide Number Placeholder 3"/>
          <p:cNvSpPr>
            <a:spLocks noGrp="1"/>
          </p:cNvSpPr>
          <p:nvPr>
            <p:ph type="sldNum" sz="quarter" idx="10"/>
          </p:nvPr>
        </p:nvSpPr>
        <p:spPr/>
        <p:txBody>
          <a:bodyPr/>
          <a:lstStyle/>
          <a:p>
            <a:fld id="{3F8E53BB-F993-49A1-9E37-CA3E5BE0709B}" type="slidenum">
              <a:rPr lang="en-US" smtClean="0"/>
              <a:t>42</a:t>
            </a:fld>
            <a:endParaRPr lang="en-US"/>
          </a:p>
        </p:txBody>
      </p:sp>
    </p:spTree>
    <p:extLst>
      <p:ext uri="{BB962C8B-B14F-4D97-AF65-F5344CB8AC3E}">
        <p14:creationId xmlns:p14="http://schemas.microsoft.com/office/powerpoint/2010/main" val="7000193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see a dealer,</a:t>
            </a:r>
            <a:r>
              <a:rPr lang="en-US" baseline="0" dirty="0"/>
              <a:t> </a:t>
            </a:r>
            <a:r>
              <a:rPr lang="en-US" dirty="0"/>
              <a:t>you see that a class</a:t>
            </a:r>
            <a:r>
              <a:rPr lang="en-US" baseline="0" dirty="0"/>
              <a:t> as a lot of responsibilities. The dealer needs to shuffle the cards, give the cards to the players, if the players request for a card, the dealer has to give them the cards and so on. Ultimately, he will have to decide who is the winner. All this itself can map up into the responsibility of the dealer class and eventually becomes the method of the dealer class.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43</a:t>
            </a:fld>
            <a:endParaRPr lang="en-US"/>
          </a:p>
        </p:txBody>
      </p:sp>
    </p:spTree>
    <p:extLst>
      <p:ext uri="{BB962C8B-B14F-4D97-AF65-F5344CB8AC3E}">
        <p14:creationId xmlns:p14="http://schemas.microsoft.com/office/powerpoint/2010/main" val="21920213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Players</a:t>
            </a:r>
            <a:r>
              <a:rPr lang="en-US" baseline="0" dirty="0"/>
              <a:t> can also request for a card, calculate its values, check how many cards he has on hand and know whether the value is over 21, equal to 21 (blackjack won) or below 21 and within the range of 17 to 21and decide whether or not to get additional cards. </a:t>
            </a:r>
          </a:p>
          <a:p>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44</a:t>
            </a:fld>
            <a:endParaRPr lang="en-US"/>
          </a:p>
        </p:txBody>
      </p:sp>
    </p:spTree>
    <p:extLst>
      <p:ext uri="{BB962C8B-B14F-4D97-AF65-F5344CB8AC3E}">
        <p14:creationId xmlns:p14="http://schemas.microsoft.com/office/powerpoint/2010/main" val="36365469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talk about bet. Yo</a:t>
            </a:r>
            <a:r>
              <a:rPr lang="en-US" baseline="0" dirty="0"/>
              <a:t>u know that in a card game, bet can simple be a value where you put a certain value and when you win you get the same amount and more from the dealer. You can also store in different information	like the type of bet. There can be different types of bet whereby each of the bet can give you a different multiplier which could be twice or thrice of the value. If you need to have these two kinds of information, you will need to have bet as a class and not just an attribute. At a certain point of time, you need to look at the application itself and figure if you actually need the class or is it just for the future. For this case, you might not need it right now but might need it later so you open it up. At this point of time, you leave it as a simple attribute and not as a class.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45</a:t>
            </a:fld>
            <a:endParaRPr lang="en-US"/>
          </a:p>
        </p:txBody>
      </p:sp>
    </p:spTree>
    <p:extLst>
      <p:ext uri="{BB962C8B-B14F-4D97-AF65-F5344CB8AC3E}">
        <p14:creationId xmlns:p14="http://schemas.microsoft.com/office/powerpoint/2010/main" val="39984094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need to decide that this class is not needed and maybe add it later for other games. </a:t>
            </a:r>
          </a:p>
        </p:txBody>
      </p:sp>
      <p:sp>
        <p:nvSpPr>
          <p:cNvPr id="4" name="Slide Number Placeholder 3"/>
          <p:cNvSpPr>
            <a:spLocks noGrp="1"/>
          </p:cNvSpPr>
          <p:nvPr>
            <p:ph type="sldNum" sz="quarter" idx="10"/>
          </p:nvPr>
        </p:nvSpPr>
        <p:spPr/>
        <p:txBody>
          <a:bodyPr/>
          <a:lstStyle/>
          <a:p>
            <a:fld id="{3F8E53BB-F993-49A1-9E37-CA3E5BE0709B}" type="slidenum">
              <a:rPr lang="en-US" smtClean="0"/>
              <a:t>52</a:t>
            </a:fld>
            <a:endParaRPr lang="en-US"/>
          </a:p>
        </p:txBody>
      </p:sp>
    </p:spTree>
    <p:extLst>
      <p:ext uri="{BB962C8B-B14F-4D97-AF65-F5344CB8AC3E}">
        <p14:creationId xmlns:p14="http://schemas.microsoft.com/office/powerpoint/2010/main" val="12223105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talk about how to identify classes by identifying the nouns and verbs</a:t>
            </a:r>
            <a:r>
              <a:rPr lang="en-US" baseline="0" dirty="0"/>
              <a:t>. In the past people used this concept called CRC cards to identify the classes responsibilities. It literally means fiscal cards. In the past it was known to be a useful tool to design a class for projects.</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53</a:t>
            </a:fld>
            <a:endParaRPr lang="en-US"/>
          </a:p>
        </p:txBody>
      </p:sp>
    </p:spTree>
    <p:extLst>
      <p:ext uri="{BB962C8B-B14F-4D97-AF65-F5344CB8AC3E}">
        <p14:creationId xmlns:p14="http://schemas.microsoft.com/office/powerpoint/2010/main" val="5393705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just</a:t>
            </a:r>
            <a:r>
              <a:rPr lang="en-US" baseline="0" dirty="0"/>
              <a:t> a research done by </a:t>
            </a:r>
            <a:r>
              <a:rPr lang="en-US" altLang="en-US" dirty="0">
                <a:solidFill>
                  <a:srgbClr val="C00000"/>
                </a:solidFill>
              </a:rPr>
              <a:t>Kent Beck and Ward Cunningham.</a:t>
            </a:r>
            <a:r>
              <a:rPr lang="en-US" altLang="en-US" baseline="0" dirty="0">
                <a:solidFill>
                  <a:srgbClr val="C00000"/>
                </a:solidFill>
              </a:rPr>
              <a:t> Designing a lab exercise to teach the participants the object oriented paradigm was a part of the research. The CRC initially though of by its creator used his child’s initials, but the actual name was not the sons name.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55</a:t>
            </a:fld>
            <a:endParaRPr lang="en-US"/>
          </a:p>
        </p:txBody>
      </p:sp>
    </p:spTree>
    <p:extLst>
      <p:ext uri="{BB962C8B-B14F-4D97-AF65-F5344CB8AC3E}">
        <p14:creationId xmlns:p14="http://schemas.microsoft.com/office/powerpoint/2010/main" val="17449353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the CRC work? It is basically a fiscal cut. The main purpose of this process</a:t>
            </a:r>
            <a:r>
              <a:rPr lang="en-US" baseline="0" dirty="0"/>
              <a:t> is not have any computers where you want each of the participants to play the role of that class. It is just putting the participant in the shoe of the class and think that if I am this class, what will be my responsibility, who do I need to work with. Imagine that in a system itself you have to identify different classes where each of them play their parts to identify the responsibility and classes they are going to interact with and then they call it to discuss together and make it a complete class diagram. This is of course an imaginary thing. We are now trying to make the applications as fast as possible instead of spending two three hours just to go through this process. Going through this process is always there. You don’t actually go through this process but do so mentally where you are analyzing the classes. </a:t>
            </a:r>
            <a:endParaRPr lang="en-US" dirty="0"/>
          </a:p>
        </p:txBody>
      </p:sp>
      <p:sp>
        <p:nvSpPr>
          <p:cNvPr id="4" name="Slide Number Placeholder 3"/>
          <p:cNvSpPr>
            <a:spLocks noGrp="1"/>
          </p:cNvSpPr>
          <p:nvPr>
            <p:ph type="sldNum" sz="quarter" idx="10"/>
          </p:nvPr>
        </p:nvSpPr>
        <p:spPr/>
        <p:txBody>
          <a:bodyPr/>
          <a:lstStyle/>
          <a:p>
            <a:fld id="{3F8E53BB-F993-49A1-9E37-CA3E5BE0709B}" type="slidenum">
              <a:rPr lang="en-US" smtClean="0"/>
              <a:t>56</a:t>
            </a:fld>
            <a:endParaRPr lang="en-US"/>
          </a:p>
        </p:txBody>
      </p:sp>
    </p:spTree>
    <p:extLst>
      <p:ext uri="{BB962C8B-B14F-4D97-AF65-F5344CB8AC3E}">
        <p14:creationId xmlns:p14="http://schemas.microsoft.com/office/powerpoint/2010/main" val="1585920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4276"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0E88897-65B5-46C9-A38F-74CE3EB603F2}" type="slidenum">
              <a:rPr lang="en-US" altLang="en-US"/>
              <a:pPr/>
              <a:t>62</a:t>
            </a:fld>
            <a:endParaRPr lang="en-US" altLang="en-US"/>
          </a:p>
        </p:txBody>
      </p:sp>
    </p:spTree>
    <p:extLst>
      <p:ext uri="{BB962C8B-B14F-4D97-AF65-F5344CB8AC3E}">
        <p14:creationId xmlns:p14="http://schemas.microsoft.com/office/powerpoint/2010/main" val="9158407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45.28</a:t>
            </a:r>
          </a:p>
        </p:txBody>
      </p:sp>
      <p:sp>
        <p:nvSpPr>
          <p:cNvPr id="4" name="Slide Number Placeholder 3"/>
          <p:cNvSpPr>
            <a:spLocks noGrp="1"/>
          </p:cNvSpPr>
          <p:nvPr>
            <p:ph type="sldNum" sz="quarter" idx="10"/>
          </p:nvPr>
        </p:nvSpPr>
        <p:spPr/>
        <p:txBody>
          <a:bodyPr/>
          <a:lstStyle/>
          <a:p>
            <a:fld id="{3F8E53BB-F993-49A1-9E37-CA3E5BE0709B}" type="slidenum">
              <a:rPr lang="en-US" smtClean="0"/>
              <a:t>63</a:t>
            </a:fld>
            <a:endParaRPr lang="en-US"/>
          </a:p>
        </p:txBody>
      </p:sp>
    </p:spTree>
    <p:extLst>
      <p:ext uri="{BB962C8B-B14F-4D97-AF65-F5344CB8AC3E}">
        <p14:creationId xmlns:p14="http://schemas.microsoft.com/office/powerpoint/2010/main" val="457885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88825" cy="4449836"/>
          </a:xfrm>
          <a:custGeom>
            <a:avLst/>
            <a:gdLst>
              <a:gd name="connsiteX0" fmla="*/ 0 w 12188825"/>
              <a:gd name="connsiteY0" fmla="*/ 0 h 5545334"/>
              <a:gd name="connsiteX1" fmla="*/ 12188825 w 12188825"/>
              <a:gd name="connsiteY1" fmla="*/ 0 h 5545334"/>
              <a:gd name="connsiteX2" fmla="*/ 12188825 w 12188825"/>
              <a:gd name="connsiteY2" fmla="*/ 4181566 h 5545334"/>
              <a:gd name="connsiteX3" fmla="*/ 6105607 w 12188825"/>
              <a:gd name="connsiteY3" fmla="*/ 4449836 h 5545334"/>
              <a:gd name="connsiteX4" fmla="*/ 1 w 12188825"/>
              <a:gd name="connsiteY4" fmla="*/ 4179342 h 5545334"/>
              <a:gd name="connsiteX5" fmla="*/ 1 w 12188825"/>
              <a:gd name="connsiteY5" fmla="*/ 5545334 h 5545334"/>
              <a:gd name="connsiteX6" fmla="*/ 0 w 12188825"/>
              <a:gd name="connsiteY6" fmla="*/ 0 h 5545334"/>
              <a:gd name="connsiteX0" fmla="*/ 0 w 12188825"/>
              <a:gd name="connsiteY0" fmla="*/ 0 h 4449836"/>
              <a:gd name="connsiteX1" fmla="*/ 12188825 w 12188825"/>
              <a:gd name="connsiteY1" fmla="*/ 0 h 4449836"/>
              <a:gd name="connsiteX2" fmla="*/ 12188825 w 12188825"/>
              <a:gd name="connsiteY2" fmla="*/ 4181566 h 4449836"/>
              <a:gd name="connsiteX3" fmla="*/ 6105607 w 12188825"/>
              <a:gd name="connsiteY3" fmla="*/ 4449836 h 4449836"/>
              <a:gd name="connsiteX4" fmla="*/ 1 w 12188825"/>
              <a:gd name="connsiteY4" fmla="*/ 4179342 h 4449836"/>
              <a:gd name="connsiteX5" fmla="*/ 0 w 12188825"/>
              <a:gd name="connsiteY5" fmla="*/ 0 h 444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4449836">
                <a:moveTo>
                  <a:pt x="0" y="0"/>
                </a:moveTo>
                <a:lnTo>
                  <a:pt x="12188825" y="0"/>
                </a:lnTo>
                <a:lnTo>
                  <a:pt x="12188825" y="4181566"/>
                </a:lnTo>
                <a:cubicBezTo>
                  <a:pt x="10420785" y="4351787"/>
                  <a:pt x="8336850" y="4449836"/>
                  <a:pt x="6105607" y="4449836"/>
                </a:cubicBezTo>
                <a:cubicBezTo>
                  <a:pt x="3864934" y="4449836"/>
                  <a:pt x="1772815" y="4350957"/>
                  <a:pt x="1" y="4179342"/>
                </a:cubicBezTo>
                <a:cubicBezTo>
                  <a:pt x="1" y="2786228"/>
                  <a:pt x="0" y="1393114"/>
                  <a:pt x="0" y="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12"/>
          <p:cNvSpPr/>
          <p:nvPr/>
        </p:nvSpPr>
        <p:spPr>
          <a:xfrm flipV="1">
            <a:off x="1" y="4179342"/>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6"/>
          <p:cNvSpPr/>
          <p:nvPr/>
        </p:nvSpPr>
        <p:spPr>
          <a:xfrm flipV="1">
            <a:off x="0" y="4232668"/>
            <a:ext cx="12188825" cy="2625332"/>
          </a:xfrm>
          <a:custGeom>
            <a:avLst/>
            <a:gdLst/>
            <a:ahLst/>
            <a:cxnLst/>
            <a:rect l="l" t="t" r="r" b="b"/>
            <a:pathLst>
              <a:path w="12188825" h="2625332">
                <a:moveTo>
                  <a:pt x="12188819" y="2625332"/>
                </a:moveTo>
                <a:lnTo>
                  <a:pt x="12188819" y="1143000"/>
                </a:lnTo>
                <a:lnTo>
                  <a:pt x="12188819" y="1066800"/>
                </a:lnTo>
                <a:lnTo>
                  <a:pt x="12188825" y="1066800"/>
                </a:lnTo>
                <a:lnTo>
                  <a:pt x="12188825" y="0"/>
                </a:lnTo>
                <a:lnTo>
                  <a:pt x="1" y="0"/>
                </a:lnTo>
                <a:lnTo>
                  <a:pt x="1" y="762000"/>
                </a:lnTo>
                <a:lnTo>
                  <a:pt x="1" y="893566"/>
                </a:lnTo>
                <a:lnTo>
                  <a:pt x="0" y="893566"/>
                </a:lnTo>
                <a:lnTo>
                  <a:pt x="0" y="2417303"/>
                </a:lnTo>
                <a:cubicBezTo>
                  <a:pt x="1730673" y="2256633"/>
                  <a:pt x="3842817" y="2181652"/>
                  <a:pt x="6121030" y="2221419"/>
                </a:cubicBezTo>
                <a:cubicBezTo>
                  <a:pt x="8380478" y="2260858"/>
                  <a:pt x="10472741" y="2407392"/>
                  <a:pt x="12188819" y="2625332"/>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2413" y="1371600"/>
            <a:ext cx="9144000" cy="2743200"/>
          </a:xfrm>
        </p:spPr>
        <p:txBody>
          <a:bodyPr>
            <a:noAutofit/>
          </a:bodyPr>
          <a:lstStyle>
            <a:lvl1pPr>
              <a:lnSpc>
                <a:spcPct val="85000"/>
              </a:lnSpc>
              <a:defRPr sz="6600"/>
            </a:lvl1pPr>
          </a:lstStyle>
          <a:p>
            <a:r>
              <a:rPr lang="en-US" dirty="0"/>
              <a:t>Click to edit Master title style</a:t>
            </a:r>
            <a:endParaRPr dirty="0"/>
          </a:p>
        </p:txBody>
      </p:sp>
      <p:sp>
        <p:nvSpPr>
          <p:cNvPr id="3" name="Subtitle 2"/>
          <p:cNvSpPr>
            <a:spLocks noGrp="1"/>
          </p:cNvSpPr>
          <p:nvPr>
            <p:ph type="subTitle" idx="1"/>
          </p:nvPr>
        </p:nvSpPr>
        <p:spPr>
          <a:xfrm>
            <a:off x="1501775" y="4800600"/>
            <a:ext cx="7335837" cy="1371600"/>
          </a:xfrm>
        </p:spPr>
        <p:txBody>
          <a:bodyPr/>
          <a:lstStyle>
            <a:lvl1pPr marL="0" indent="0" algn="l">
              <a:spcBef>
                <a:spcPts val="0"/>
              </a:spcBef>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74110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245627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01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22336" r="523" b="7541"/>
          <a:stretch/>
        </p:blipFill>
        <p:spPr>
          <a:xfrm>
            <a:off x="1" y="-1984"/>
            <a:ext cx="12143084" cy="4392488"/>
          </a:xfrm>
          <a:prstGeom prst="rect">
            <a:avLst/>
          </a:prstGeom>
        </p:spPr>
      </p:pic>
      <p:sp>
        <p:nvSpPr>
          <p:cNvPr id="7" name="Rectangle 12"/>
          <p:cNvSpPr/>
          <p:nvPr/>
        </p:nvSpPr>
        <p:spPr>
          <a:xfrm flipH="1" flipV="1">
            <a:off x="0" y="2975260"/>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0" y="3028586"/>
            <a:ext cx="12188825" cy="3829414"/>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522413" y="3505200"/>
            <a:ext cx="9144000" cy="1908446"/>
          </a:xfr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
        <p:nvSpPr>
          <p:cNvPr id="3" name="Subtitle 2"/>
          <p:cNvSpPr>
            <a:spLocks noGrp="1"/>
          </p:cNvSpPr>
          <p:nvPr>
            <p:ph type="subTitle" idx="1"/>
          </p:nvPr>
        </p:nvSpPr>
        <p:spPr bwMode="white">
          <a:xfrm>
            <a:off x="1501775" y="5562600"/>
            <a:ext cx="7335837" cy="838200"/>
          </a:xfrm>
        </p:spPr>
        <p:txBody>
          <a:bodyPr/>
          <a:lstStyle>
            <a:lvl1pPr marL="0" indent="0" algn="l">
              <a:spcBef>
                <a:spcPts val="0"/>
              </a:spcBef>
              <a:buNone/>
              <a:defRPr>
                <a:solidFill>
                  <a:schemeClr val="tx2">
                    <a:lumMod val="75000"/>
                  </a:schemeClr>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23617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hoto">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384"/>
            <a:ext cx="12188825" cy="6907000"/>
          </a:xfrm>
          <a:prstGeom prst="rect">
            <a:avLst/>
          </a:prstGeom>
        </p:spPr>
      </p:pic>
      <p:sp>
        <p:nvSpPr>
          <p:cNvPr id="7" name="Rectangle 12"/>
          <p:cNvSpPr/>
          <p:nvPr/>
        </p:nvSpPr>
        <p:spPr>
          <a:xfrm flipH="1" flipV="1">
            <a:off x="0" y="4055456"/>
            <a:ext cx="12188824" cy="704896"/>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1" y="4077072"/>
            <a:ext cx="12188825" cy="2780928"/>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053852" y="4544890"/>
            <a:ext cx="9144000" cy="1908446"/>
          </a:xfr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Tree>
    <p:extLst>
      <p:ext uri="{BB962C8B-B14F-4D97-AF65-F5344CB8AC3E}">
        <p14:creationId xmlns:p14="http://schemas.microsoft.com/office/powerpoint/2010/main" val="1147957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12"/>
          <p:cNvSpPr/>
          <p:nvPr/>
        </p:nvSpPr>
        <p:spPr>
          <a:xfrm flipH="1">
            <a:off x="2" y="789993"/>
            <a:ext cx="12188825" cy="5080598"/>
          </a:xfrm>
          <a:custGeom>
            <a:avLst/>
            <a:gdLst/>
            <a:ahLst/>
            <a:cxnLst/>
            <a:rect l="l" t="t" r="r" b="b"/>
            <a:pathLst>
              <a:path w="12188825" h="5080598">
                <a:moveTo>
                  <a:pt x="12188824" y="0"/>
                </a:moveTo>
                <a:cubicBezTo>
                  <a:pt x="10416010" y="171615"/>
                  <a:pt x="8323891" y="270494"/>
                  <a:pt x="6083218" y="270494"/>
                </a:cubicBezTo>
                <a:cubicBezTo>
                  <a:pt x="3851975" y="270494"/>
                  <a:pt x="1768040" y="172445"/>
                  <a:pt x="0" y="2224"/>
                </a:cubicBezTo>
                <a:lnTo>
                  <a:pt x="0" y="1496008"/>
                </a:lnTo>
                <a:lnTo>
                  <a:pt x="0" y="1785092"/>
                </a:lnTo>
                <a:lnTo>
                  <a:pt x="0" y="3295506"/>
                </a:lnTo>
                <a:lnTo>
                  <a:pt x="0" y="3553408"/>
                </a:lnTo>
                <a:lnTo>
                  <a:pt x="0" y="5080598"/>
                </a:lnTo>
                <a:cubicBezTo>
                  <a:pt x="1772814" y="4908983"/>
                  <a:pt x="3864933" y="4810104"/>
                  <a:pt x="6105606" y="4810104"/>
                </a:cubicBezTo>
                <a:cubicBezTo>
                  <a:pt x="8336849" y="4810104"/>
                  <a:pt x="10420784" y="4908153"/>
                  <a:pt x="12188824" y="5078374"/>
                </a:cubicBezTo>
                <a:lnTo>
                  <a:pt x="12188824" y="3553408"/>
                </a:lnTo>
                <a:lnTo>
                  <a:pt x="12188825" y="3553408"/>
                </a:lnTo>
                <a:lnTo>
                  <a:pt x="12188825" y="1496008"/>
                </a:lnTo>
                <a:lnTo>
                  <a:pt x="12188824" y="1496008"/>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Rectangle 12"/>
          <p:cNvSpPr/>
          <p:nvPr/>
        </p:nvSpPr>
        <p:spPr>
          <a:xfrm flipH="1">
            <a:off x="2" y="792217"/>
            <a:ext cx="12188825" cy="5078374"/>
          </a:xfrm>
          <a:custGeom>
            <a:avLst/>
            <a:gdLst/>
            <a:ahLst/>
            <a:cxnLst/>
            <a:rect l="l" t="t" r="r" b="b"/>
            <a:pathLst>
              <a:path w="12188825" h="5078374">
                <a:moveTo>
                  <a:pt x="0" y="0"/>
                </a:moveTo>
                <a:lnTo>
                  <a:pt x="0" y="1493784"/>
                </a:lnTo>
                <a:lnTo>
                  <a:pt x="0" y="1782868"/>
                </a:lnTo>
                <a:lnTo>
                  <a:pt x="0" y="3293282"/>
                </a:lnTo>
                <a:lnTo>
                  <a:pt x="0" y="3551184"/>
                </a:lnTo>
                <a:lnTo>
                  <a:pt x="0" y="5078374"/>
                </a:lnTo>
                <a:lnTo>
                  <a:pt x="2" y="5078374"/>
                </a:lnTo>
                <a:lnTo>
                  <a:pt x="2" y="4101849"/>
                </a:lnTo>
                <a:lnTo>
                  <a:pt x="8" y="4101849"/>
                </a:lnTo>
                <a:lnTo>
                  <a:pt x="8" y="4825486"/>
                </a:lnTo>
                <a:cubicBezTo>
                  <a:pt x="1730681" y="4664816"/>
                  <a:pt x="3842825" y="4589835"/>
                  <a:pt x="6121038" y="4629602"/>
                </a:cubicBezTo>
                <a:cubicBezTo>
                  <a:pt x="8380486" y="4669041"/>
                  <a:pt x="10472749" y="4815575"/>
                  <a:pt x="12188824" y="5033515"/>
                </a:cubicBezTo>
                <a:lnTo>
                  <a:pt x="12188824" y="3551184"/>
                </a:lnTo>
                <a:lnTo>
                  <a:pt x="12188825" y="3551184"/>
                </a:lnTo>
                <a:lnTo>
                  <a:pt x="12188825" y="1493784"/>
                </a:lnTo>
                <a:lnTo>
                  <a:pt x="12188824" y="1493784"/>
                </a:lnTo>
                <a:lnTo>
                  <a:pt x="12188824" y="254012"/>
                </a:lnTo>
                <a:cubicBezTo>
                  <a:pt x="10458154" y="414682"/>
                  <a:pt x="8346010" y="489663"/>
                  <a:pt x="6067797" y="449896"/>
                </a:cubicBezTo>
                <a:cubicBezTo>
                  <a:pt x="3808349" y="410457"/>
                  <a:pt x="1716086" y="263923"/>
                  <a:pt x="8" y="45983"/>
                </a:cubicBezTo>
                <a:lnTo>
                  <a:pt x="8" y="977649"/>
                </a:lnTo>
                <a:lnTo>
                  <a:pt x="2" y="977649"/>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1522413" y="1371600"/>
            <a:ext cx="9144000" cy="2743200"/>
          </a:xfrm>
        </p:spPr>
        <p:txBody>
          <a:bodyPr anchor="b">
            <a:normAutofit/>
          </a:bodyPr>
          <a:lstStyle>
            <a:lvl1pPr algn="l">
              <a:lnSpc>
                <a:spcPct val="85000"/>
              </a:lnSpc>
              <a:defRPr sz="60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4" y="4267201"/>
            <a:ext cx="7315198" cy="1066800"/>
          </a:xfrm>
        </p:spPr>
        <p:txBody>
          <a:bodyPr anchor="t">
            <a:normAutofit/>
          </a:bodyPr>
          <a:lstStyle>
            <a:lvl1pPr marL="0" indent="0">
              <a:spcBef>
                <a:spcPts val="60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570375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9862" y="1905000"/>
            <a:ext cx="4416552"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544186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91754"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8" name="Footer Placeholder 7"/>
          <p:cNvSpPr>
            <a:spLocks noGrp="1"/>
          </p:cNvSpPr>
          <p:nvPr>
            <p:ph type="ftr" sz="quarter" idx="11"/>
          </p:nvPr>
        </p:nvSpPr>
        <p:spPr>
          <a:xfrm>
            <a:off x="1525138" y="6518274"/>
            <a:ext cx="5864674" cy="320676"/>
          </a:xfrm>
          <a:prstGeom prst="rect">
            <a:avLst/>
          </a:prstGeom>
        </p:spPr>
        <p:txBody>
          <a:bodyPr/>
          <a:lstStyle/>
          <a:p>
            <a:endParaRPr/>
          </a:p>
        </p:txBody>
      </p:sp>
      <p:sp>
        <p:nvSpPr>
          <p:cNvPr id="9" name="Slide Number Placeholder 8"/>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266106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Tree>
    <p:extLst>
      <p:ext uri="{BB962C8B-B14F-4D97-AF65-F5344CB8AC3E}">
        <p14:creationId xmlns:p14="http://schemas.microsoft.com/office/powerpoint/2010/main" val="118338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3" name="Footer Placeholder 2"/>
          <p:cNvSpPr>
            <a:spLocks noGrp="1"/>
          </p:cNvSpPr>
          <p:nvPr>
            <p:ph type="ftr" sz="quarter" idx="11"/>
          </p:nvPr>
        </p:nvSpPr>
        <p:spPr bwMode="white">
          <a:xfrm>
            <a:off x="1525138" y="6518274"/>
            <a:ext cx="5864674" cy="320676"/>
          </a:xfrm>
          <a:prstGeom prst="rect">
            <a:avLst/>
          </a:prstGeom>
        </p:spPr>
        <p:txBody>
          <a:bodyPr/>
          <a:lstStyle/>
          <a:p>
            <a:endParaRPr/>
          </a:p>
        </p:txBody>
      </p:sp>
      <p:sp>
        <p:nvSpPr>
          <p:cNvPr id="4" name="Slide Number Placeholder 3"/>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87941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2" y="457200"/>
            <a:ext cx="3781439" cy="3276600"/>
          </a:xfrm>
        </p:spPr>
        <p:txBody>
          <a:bodyPr anchor="b">
            <a:noAutofit/>
          </a:bodyPr>
          <a:lstStyle>
            <a:lvl1pPr algn="l">
              <a:defRPr sz="40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608013" y="457200"/>
            <a:ext cx="6324599"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2"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899459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1" y="457200"/>
            <a:ext cx="3781439" cy="3276600"/>
          </a:xfrm>
        </p:spPr>
        <p:txBody>
          <a:bodyPr anchor="b">
            <a:noAutofit/>
          </a:bodyPr>
          <a:lstStyle>
            <a:lvl1pPr algn="l">
              <a:defRPr sz="40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3026" y="0"/>
            <a:ext cx="7469039" cy="6366494"/>
          </a:xfrm>
          <a:custGeom>
            <a:avLst/>
            <a:gdLst>
              <a:gd name="connsiteX0" fmla="*/ 0 w 7469039"/>
              <a:gd name="connsiteY0" fmla="*/ 0 h 6508480"/>
              <a:gd name="connsiteX1" fmla="*/ 7469039 w 7469039"/>
              <a:gd name="connsiteY1" fmla="*/ 0 h 6508480"/>
              <a:gd name="connsiteX2" fmla="*/ 7469039 w 7469039"/>
              <a:gd name="connsiteY2" fmla="*/ 6353183 h 6508480"/>
              <a:gd name="connsiteX3" fmla="*/ 6108633 w 7469039"/>
              <a:gd name="connsiteY3" fmla="*/ 6366494 h 6508480"/>
              <a:gd name="connsiteX4" fmla="*/ 3027 w 7469039"/>
              <a:gd name="connsiteY4" fmla="*/ 6096000 h 6508480"/>
              <a:gd name="connsiteX5" fmla="*/ 3027 w 7469039"/>
              <a:gd name="connsiteY5" fmla="*/ 6508480 h 6508480"/>
              <a:gd name="connsiteX6" fmla="*/ 0 w 7469039"/>
              <a:gd name="connsiteY6" fmla="*/ 0 h 6508480"/>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3027 w 7469039"/>
              <a:gd name="connsiteY4" fmla="*/ 6096000 h 6366494"/>
              <a:gd name="connsiteX5" fmla="*/ 0 w 7469039"/>
              <a:gd name="connsiteY5" fmla="*/ 0 h 6366494"/>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645 w 7469039"/>
              <a:gd name="connsiteY4" fmla="*/ 6096000 h 6366494"/>
              <a:gd name="connsiteX5" fmla="*/ 0 w 7469039"/>
              <a:gd name="connsiteY5" fmla="*/ 0 h 6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9039" h="6366494">
                <a:moveTo>
                  <a:pt x="0" y="0"/>
                </a:moveTo>
                <a:lnTo>
                  <a:pt x="7469039" y="0"/>
                </a:lnTo>
                <a:lnTo>
                  <a:pt x="7469039" y="6353183"/>
                </a:lnTo>
                <a:cubicBezTo>
                  <a:pt x="7022837" y="6362323"/>
                  <a:pt x="6568869" y="6366494"/>
                  <a:pt x="6108633" y="6366494"/>
                </a:cubicBezTo>
                <a:cubicBezTo>
                  <a:pt x="3867960" y="6366494"/>
                  <a:pt x="1773459" y="6267615"/>
                  <a:pt x="645" y="6096000"/>
                </a:cubicBezTo>
                <a:lnTo>
                  <a:pt x="0" y="0"/>
                </a:lnTo>
                <a:close/>
              </a:path>
            </a:pathLst>
          </a:custGeom>
          <a:noFill/>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1"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673497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62593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bwMode="black">
          <a:xfrm>
            <a:off x="9294812" y="274639"/>
            <a:ext cx="1371602" cy="5897561"/>
          </a:xfrm>
        </p:spPr>
        <p:txBody>
          <a:bodyPr vert="eaVert"/>
          <a:lstStyle>
            <a:lvl1pPr>
              <a:defRPr>
                <a:solidFill>
                  <a:schemeClr val="tx1"/>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3" y="274639"/>
            <a:ext cx="7619999" cy="5884321"/>
          </a:xfrm>
        </p:spPr>
        <p:txBody>
          <a:bodyPr vert="eaVert"/>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bwMode="white">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4185769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12188825" cy="4449836"/>
          </a:xfrm>
          <a:custGeom>
            <a:avLst/>
            <a:gdLst>
              <a:gd name="connsiteX0" fmla="*/ 0 w 12188825"/>
              <a:gd name="connsiteY0" fmla="*/ 0 h 5545334"/>
              <a:gd name="connsiteX1" fmla="*/ 12188825 w 12188825"/>
              <a:gd name="connsiteY1" fmla="*/ 0 h 5545334"/>
              <a:gd name="connsiteX2" fmla="*/ 12188825 w 12188825"/>
              <a:gd name="connsiteY2" fmla="*/ 4181566 h 5545334"/>
              <a:gd name="connsiteX3" fmla="*/ 6105607 w 12188825"/>
              <a:gd name="connsiteY3" fmla="*/ 4449836 h 5545334"/>
              <a:gd name="connsiteX4" fmla="*/ 1 w 12188825"/>
              <a:gd name="connsiteY4" fmla="*/ 4179342 h 5545334"/>
              <a:gd name="connsiteX5" fmla="*/ 1 w 12188825"/>
              <a:gd name="connsiteY5" fmla="*/ 5545334 h 5545334"/>
              <a:gd name="connsiteX6" fmla="*/ 0 w 12188825"/>
              <a:gd name="connsiteY6" fmla="*/ 0 h 5545334"/>
              <a:gd name="connsiteX0" fmla="*/ 0 w 12188825"/>
              <a:gd name="connsiteY0" fmla="*/ 0 h 4449836"/>
              <a:gd name="connsiteX1" fmla="*/ 12188825 w 12188825"/>
              <a:gd name="connsiteY1" fmla="*/ 0 h 4449836"/>
              <a:gd name="connsiteX2" fmla="*/ 12188825 w 12188825"/>
              <a:gd name="connsiteY2" fmla="*/ 4181566 h 4449836"/>
              <a:gd name="connsiteX3" fmla="*/ 6105607 w 12188825"/>
              <a:gd name="connsiteY3" fmla="*/ 4449836 h 4449836"/>
              <a:gd name="connsiteX4" fmla="*/ 1 w 12188825"/>
              <a:gd name="connsiteY4" fmla="*/ 4179342 h 4449836"/>
              <a:gd name="connsiteX5" fmla="*/ 0 w 12188825"/>
              <a:gd name="connsiteY5" fmla="*/ 0 h 4449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4449836">
                <a:moveTo>
                  <a:pt x="0" y="0"/>
                </a:moveTo>
                <a:lnTo>
                  <a:pt x="12188825" y="0"/>
                </a:lnTo>
                <a:lnTo>
                  <a:pt x="12188825" y="4181566"/>
                </a:lnTo>
                <a:cubicBezTo>
                  <a:pt x="10420785" y="4351787"/>
                  <a:pt x="8336850" y="4449836"/>
                  <a:pt x="6105607" y="4449836"/>
                </a:cubicBezTo>
                <a:cubicBezTo>
                  <a:pt x="3864934" y="4449836"/>
                  <a:pt x="1772815" y="4350957"/>
                  <a:pt x="1" y="4179342"/>
                </a:cubicBezTo>
                <a:cubicBezTo>
                  <a:pt x="1" y="2786228"/>
                  <a:pt x="0" y="1393114"/>
                  <a:pt x="0" y="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12"/>
          <p:cNvSpPr/>
          <p:nvPr/>
        </p:nvSpPr>
        <p:spPr>
          <a:xfrm flipV="1">
            <a:off x="1" y="4179342"/>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6"/>
          <p:cNvSpPr/>
          <p:nvPr/>
        </p:nvSpPr>
        <p:spPr>
          <a:xfrm flipV="1">
            <a:off x="0" y="4232668"/>
            <a:ext cx="12188825" cy="2625332"/>
          </a:xfrm>
          <a:custGeom>
            <a:avLst/>
            <a:gdLst/>
            <a:ahLst/>
            <a:cxnLst/>
            <a:rect l="l" t="t" r="r" b="b"/>
            <a:pathLst>
              <a:path w="12188825" h="2625332">
                <a:moveTo>
                  <a:pt x="12188819" y="2625332"/>
                </a:moveTo>
                <a:lnTo>
                  <a:pt x="12188819" y="1143000"/>
                </a:lnTo>
                <a:lnTo>
                  <a:pt x="12188819" y="1066800"/>
                </a:lnTo>
                <a:lnTo>
                  <a:pt x="12188825" y="1066800"/>
                </a:lnTo>
                <a:lnTo>
                  <a:pt x="12188825" y="0"/>
                </a:lnTo>
                <a:lnTo>
                  <a:pt x="1" y="0"/>
                </a:lnTo>
                <a:lnTo>
                  <a:pt x="1" y="762000"/>
                </a:lnTo>
                <a:lnTo>
                  <a:pt x="1" y="893566"/>
                </a:lnTo>
                <a:lnTo>
                  <a:pt x="0" y="893566"/>
                </a:lnTo>
                <a:lnTo>
                  <a:pt x="0" y="2417303"/>
                </a:lnTo>
                <a:cubicBezTo>
                  <a:pt x="1730673" y="2256633"/>
                  <a:pt x="3842817" y="2181652"/>
                  <a:pt x="6121030" y="2221419"/>
                </a:cubicBezTo>
                <a:cubicBezTo>
                  <a:pt x="8380478" y="2260858"/>
                  <a:pt x="10472741" y="2407392"/>
                  <a:pt x="12188819" y="2625332"/>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2413" y="1371600"/>
            <a:ext cx="9144000" cy="2743200"/>
          </a:xfrm>
          <a:prstGeom prst="rect">
            <a:avLst/>
          </a:prstGeom>
        </p:spPr>
        <p:txBody>
          <a:bodyPr>
            <a:noAutofit/>
          </a:bodyPr>
          <a:lstStyle>
            <a:lvl1pPr>
              <a:lnSpc>
                <a:spcPct val="85000"/>
              </a:lnSpc>
              <a:defRPr sz="6600"/>
            </a:lvl1pPr>
          </a:lstStyle>
          <a:p>
            <a:r>
              <a:rPr lang="en-US" dirty="0"/>
              <a:t>Click to edit Master title style</a:t>
            </a:r>
            <a:endParaRPr dirty="0"/>
          </a:p>
        </p:txBody>
      </p:sp>
      <p:sp>
        <p:nvSpPr>
          <p:cNvPr id="3" name="Subtitle 2"/>
          <p:cNvSpPr>
            <a:spLocks noGrp="1"/>
          </p:cNvSpPr>
          <p:nvPr>
            <p:ph type="subTitle" idx="1"/>
          </p:nvPr>
        </p:nvSpPr>
        <p:spPr>
          <a:xfrm>
            <a:off x="1501775" y="4800600"/>
            <a:ext cx="7335837" cy="1371600"/>
          </a:xfrm>
        </p:spPr>
        <p:txBody>
          <a:bodyPr/>
          <a:lstStyle>
            <a:lvl1pPr marL="0" indent="0" algn="l">
              <a:spcBef>
                <a:spcPts val="0"/>
              </a:spcBef>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207847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dirty="0"/>
              <a:t>Click to edit Master title style</a:t>
            </a:r>
            <a:endParaRPr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002320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701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with Photo">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22336" r="523" b="7541"/>
          <a:stretch/>
        </p:blipFill>
        <p:spPr>
          <a:xfrm>
            <a:off x="1" y="-1984"/>
            <a:ext cx="12143084" cy="4392488"/>
          </a:xfrm>
          <a:prstGeom prst="rect">
            <a:avLst/>
          </a:prstGeom>
        </p:spPr>
      </p:pic>
      <p:sp>
        <p:nvSpPr>
          <p:cNvPr id="7" name="Rectangle 12"/>
          <p:cNvSpPr/>
          <p:nvPr/>
        </p:nvSpPr>
        <p:spPr>
          <a:xfrm flipH="1" flipV="1">
            <a:off x="0" y="2975260"/>
            <a:ext cx="12188824" cy="1785092"/>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0" y="3028586"/>
            <a:ext cx="12188825" cy="3829414"/>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522413" y="3505200"/>
            <a:ext cx="9144000" cy="1908446"/>
          </a:xfrm>
          <a:prstGeom prst="rect">
            <a:avLst/>
          </a:prstGeo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
        <p:nvSpPr>
          <p:cNvPr id="3" name="Subtitle 2"/>
          <p:cNvSpPr>
            <a:spLocks noGrp="1"/>
          </p:cNvSpPr>
          <p:nvPr>
            <p:ph type="subTitle" idx="1"/>
          </p:nvPr>
        </p:nvSpPr>
        <p:spPr bwMode="white">
          <a:xfrm>
            <a:off x="1501775" y="5562600"/>
            <a:ext cx="7335837" cy="838200"/>
          </a:xfrm>
        </p:spPr>
        <p:txBody>
          <a:bodyPr/>
          <a:lstStyle>
            <a:lvl1pPr marL="0" indent="0" algn="l">
              <a:spcBef>
                <a:spcPts val="0"/>
              </a:spcBef>
              <a:buNone/>
              <a:defRPr>
                <a:solidFill>
                  <a:schemeClr val="tx2">
                    <a:lumMod val="75000"/>
                  </a:schemeClr>
                </a:solidFill>
                <a:latin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762780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with Photo">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27384"/>
            <a:ext cx="12188825" cy="6907000"/>
          </a:xfrm>
          <a:prstGeom prst="rect">
            <a:avLst/>
          </a:prstGeom>
        </p:spPr>
      </p:pic>
      <p:sp>
        <p:nvSpPr>
          <p:cNvPr id="7" name="Rectangle 12"/>
          <p:cNvSpPr/>
          <p:nvPr/>
        </p:nvSpPr>
        <p:spPr>
          <a:xfrm flipH="1" flipV="1">
            <a:off x="0" y="4055456"/>
            <a:ext cx="12188824" cy="704896"/>
          </a:xfrm>
          <a:custGeom>
            <a:avLst/>
            <a:gdLst/>
            <a:ahLst/>
            <a:cxnLst/>
            <a:rect l="l" t="t" r="r" b="b"/>
            <a:pathLst>
              <a:path w="12188824" h="1785092">
                <a:moveTo>
                  <a:pt x="0" y="0"/>
                </a:moveTo>
                <a:lnTo>
                  <a:pt x="12188824" y="0"/>
                </a:lnTo>
                <a:lnTo>
                  <a:pt x="12188824" y="1782868"/>
                </a:lnTo>
                <a:cubicBezTo>
                  <a:pt x="10420784" y="1612647"/>
                  <a:pt x="8336849" y="1514598"/>
                  <a:pt x="6105606" y="1514598"/>
                </a:cubicBezTo>
                <a:cubicBezTo>
                  <a:pt x="3864933" y="1514598"/>
                  <a:pt x="1772814" y="1613477"/>
                  <a:pt x="0" y="1785092"/>
                </a:cubicBez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8" name="Rectangle 16"/>
          <p:cNvSpPr/>
          <p:nvPr/>
        </p:nvSpPr>
        <p:spPr>
          <a:xfrm flipH="1" flipV="1">
            <a:off x="-1" y="4077072"/>
            <a:ext cx="12188825" cy="2780928"/>
          </a:xfrm>
          <a:custGeom>
            <a:avLst/>
            <a:gdLst>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2270882 h 3829414"/>
              <a:gd name="connsiteX14" fmla="*/ 12188819 w 12188825"/>
              <a:gd name="connsiteY14"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25 w 12188825"/>
              <a:gd name="connsiteY12" fmla="*/ 2270882 h 3829414"/>
              <a:gd name="connsiteX13" fmla="*/ 12188819 w 12188825"/>
              <a:gd name="connsiteY13"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25 w 12188825"/>
              <a:gd name="connsiteY11" fmla="*/ 1600200 h 3829414"/>
              <a:gd name="connsiteX12" fmla="*/ 12188819 w 12188825"/>
              <a:gd name="connsiteY12"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25 w 12188825"/>
              <a:gd name="connsiteY10" fmla="*/ 1204082 h 3829414"/>
              <a:gd name="connsiteX11" fmla="*/ 12188819 w 12188825"/>
              <a:gd name="connsiteY11"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1204082 h 3829414"/>
              <a:gd name="connsiteX8" fmla="*/ 1 w 12188825"/>
              <a:gd name="connsiteY8" fmla="*/ 0 h 3829414"/>
              <a:gd name="connsiteX9" fmla="*/ 12188825 w 12188825"/>
              <a:gd name="connsiteY9" fmla="*/ 0 h 3829414"/>
              <a:gd name="connsiteX10" fmla="*/ 12188819 w 12188825"/>
              <a:gd name="connsiteY10"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1600200 h 3829414"/>
              <a:gd name="connsiteX7" fmla="*/ 1 w 12188825"/>
              <a:gd name="connsiteY7" fmla="*/ 0 h 3829414"/>
              <a:gd name="connsiteX8" fmla="*/ 12188825 w 12188825"/>
              <a:gd name="connsiteY8" fmla="*/ 0 h 3829414"/>
              <a:gd name="connsiteX9" fmla="*/ 12188819 w 12188825"/>
              <a:gd name="connsiteY9"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1966082 h 3829414"/>
              <a:gd name="connsiteX6" fmla="*/ 1 w 12188825"/>
              <a:gd name="connsiteY6" fmla="*/ 0 h 3829414"/>
              <a:gd name="connsiteX7" fmla="*/ 12188825 w 12188825"/>
              <a:gd name="connsiteY7" fmla="*/ 0 h 3829414"/>
              <a:gd name="connsiteX8" fmla="*/ 12188819 w 12188825"/>
              <a:gd name="connsiteY8"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2097648 h 3829414"/>
              <a:gd name="connsiteX5" fmla="*/ 1 w 12188825"/>
              <a:gd name="connsiteY5" fmla="*/ 0 h 3829414"/>
              <a:gd name="connsiteX6" fmla="*/ 12188825 w 12188825"/>
              <a:gd name="connsiteY6" fmla="*/ 0 h 3829414"/>
              <a:gd name="connsiteX7" fmla="*/ 12188819 w 12188825"/>
              <a:gd name="connsiteY7"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0 w 12188825"/>
              <a:gd name="connsiteY3" fmla="*/ 2097648 h 3829414"/>
              <a:gd name="connsiteX4" fmla="*/ 1 w 12188825"/>
              <a:gd name="connsiteY4" fmla="*/ 0 h 3829414"/>
              <a:gd name="connsiteX5" fmla="*/ 12188825 w 12188825"/>
              <a:gd name="connsiteY5" fmla="*/ 0 h 3829414"/>
              <a:gd name="connsiteX6" fmla="*/ 12188819 w 12188825"/>
              <a:gd name="connsiteY6" fmla="*/ 3829414 h 3829414"/>
              <a:gd name="connsiteX0" fmla="*/ 12188819 w 12188825"/>
              <a:gd name="connsiteY0" fmla="*/ 3829414 h 3829414"/>
              <a:gd name="connsiteX1" fmla="*/ 6121030 w 12188825"/>
              <a:gd name="connsiteY1" fmla="*/ 3425501 h 3829414"/>
              <a:gd name="connsiteX2" fmla="*/ 0 w 12188825"/>
              <a:gd name="connsiteY2" fmla="*/ 3621385 h 3829414"/>
              <a:gd name="connsiteX3" fmla="*/ 1 w 12188825"/>
              <a:gd name="connsiteY3" fmla="*/ 0 h 3829414"/>
              <a:gd name="connsiteX4" fmla="*/ 12188825 w 12188825"/>
              <a:gd name="connsiteY4" fmla="*/ 0 h 3829414"/>
              <a:gd name="connsiteX5" fmla="*/ 12188819 w 12188825"/>
              <a:gd name="connsiteY5" fmla="*/ 3829414 h 3829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5" h="3829414">
                <a:moveTo>
                  <a:pt x="12188819" y="3829414"/>
                </a:moveTo>
                <a:cubicBezTo>
                  <a:pt x="10472741" y="3611474"/>
                  <a:pt x="8380478" y="3464940"/>
                  <a:pt x="6121030" y="3425501"/>
                </a:cubicBezTo>
                <a:cubicBezTo>
                  <a:pt x="3842817" y="3385734"/>
                  <a:pt x="1730673" y="3460715"/>
                  <a:pt x="0" y="3621385"/>
                </a:cubicBezTo>
                <a:cubicBezTo>
                  <a:pt x="0" y="2414257"/>
                  <a:pt x="1" y="1207128"/>
                  <a:pt x="1" y="0"/>
                </a:cubicBezTo>
                <a:lnTo>
                  <a:pt x="12188825" y="0"/>
                </a:lnTo>
                <a:cubicBezTo>
                  <a:pt x="12188823" y="1276471"/>
                  <a:pt x="12188821" y="2552943"/>
                  <a:pt x="12188819" y="3829414"/>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1"/>
          <p:cNvSpPr>
            <a:spLocks noGrp="1"/>
          </p:cNvSpPr>
          <p:nvPr>
            <p:ph type="ctrTitle"/>
          </p:nvPr>
        </p:nvSpPr>
        <p:spPr>
          <a:xfrm>
            <a:off x="1053852" y="4544890"/>
            <a:ext cx="9144000" cy="1908446"/>
          </a:xfrm>
          <a:prstGeom prst="rect">
            <a:avLst/>
          </a:prstGeom>
        </p:spPr>
        <p:txBody>
          <a:bodyPr>
            <a:noAutofit/>
          </a:bodyPr>
          <a:lstStyle>
            <a:lvl1pPr>
              <a:lnSpc>
                <a:spcPct val="85000"/>
              </a:lnSpc>
              <a:defRPr sz="6600">
                <a:solidFill>
                  <a:sysClr val="windowText" lastClr="000000"/>
                </a:solidFill>
                <a:latin typeface="Calibri" panose="020F0502020204030204" pitchFamily="34" charset="0"/>
              </a:defRPr>
            </a:lvl1pPr>
          </a:lstStyle>
          <a:p>
            <a:r>
              <a:rPr lang="en-US" dirty="0"/>
              <a:t>Click to edit Master title style</a:t>
            </a:r>
            <a:endParaRPr dirty="0"/>
          </a:p>
        </p:txBody>
      </p:sp>
    </p:spTree>
    <p:extLst>
      <p:ext uri="{BB962C8B-B14F-4D97-AF65-F5344CB8AC3E}">
        <p14:creationId xmlns:p14="http://schemas.microsoft.com/office/powerpoint/2010/main" val="285603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0" name="Rectangle 12"/>
          <p:cNvSpPr/>
          <p:nvPr/>
        </p:nvSpPr>
        <p:spPr>
          <a:xfrm flipH="1">
            <a:off x="2" y="789993"/>
            <a:ext cx="12188825" cy="5080598"/>
          </a:xfrm>
          <a:custGeom>
            <a:avLst/>
            <a:gdLst/>
            <a:ahLst/>
            <a:cxnLst/>
            <a:rect l="l" t="t" r="r" b="b"/>
            <a:pathLst>
              <a:path w="12188825" h="5080598">
                <a:moveTo>
                  <a:pt x="12188824" y="0"/>
                </a:moveTo>
                <a:cubicBezTo>
                  <a:pt x="10416010" y="171615"/>
                  <a:pt x="8323891" y="270494"/>
                  <a:pt x="6083218" y="270494"/>
                </a:cubicBezTo>
                <a:cubicBezTo>
                  <a:pt x="3851975" y="270494"/>
                  <a:pt x="1768040" y="172445"/>
                  <a:pt x="0" y="2224"/>
                </a:cubicBezTo>
                <a:lnTo>
                  <a:pt x="0" y="1496008"/>
                </a:lnTo>
                <a:lnTo>
                  <a:pt x="0" y="1785092"/>
                </a:lnTo>
                <a:lnTo>
                  <a:pt x="0" y="3295506"/>
                </a:lnTo>
                <a:lnTo>
                  <a:pt x="0" y="3553408"/>
                </a:lnTo>
                <a:lnTo>
                  <a:pt x="0" y="5080598"/>
                </a:lnTo>
                <a:cubicBezTo>
                  <a:pt x="1772814" y="4908983"/>
                  <a:pt x="3864933" y="4810104"/>
                  <a:pt x="6105606" y="4810104"/>
                </a:cubicBezTo>
                <a:cubicBezTo>
                  <a:pt x="8336849" y="4810104"/>
                  <a:pt x="10420784" y="4908153"/>
                  <a:pt x="12188824" y="5078374"/>
                </a:cubicBezTo>
                <a:lnTo>
                  <a:pt x="12188824" y="3553408"/>
                </a:lnTo>
                <a:lnTo>
                  <a:pt x="12188825" y="3553408"/>
                </a:lnTo>
                <a:lnTo>
                  <a:pt x="12188825" y="1496008"/>
                </a:lnTo>
                <a:lnTo>
                  <a:pt x="12188824" y="1496008"/>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Rectangle 12"/>
          <p:cNvSpPr/>
          <p:nvPr/>
        </p:nvSpPr>
        <p:spPr>
          <a:xfrm flipH="1">
            <a:off x="2" y="792217"/>
            <a:ext cx="12188825" cy="5078374"/>
          </a:xfrm>
          <a:custGeom>
            <a:avLst/>
            <a:gdLst/>
            <a:ahLst/>
            <a:cxnLst/>
            <a:rect l="l" t="t" r="r" b="b"/>
            <a:pathLst>
              <a:path w="12188825" h="5078374">
                <a:moveTo>
                  <a:pt x="0" y="0"/>
                </a:moveTo>
                <a:lnTo>
                  <a:pt x="0" y="1493784"/>
                </a:lnTo>
                <a:lnTo>
                  <a:pt x="0" y="1782868"/>
                </a:lnTo>
                <a:lnTo>
                  <a:pt x="0" y="3293282"/>
                </a:lnTo>
                <a:lnTo>
                  <a:pt x="0" y="3551184"/>
                </a:lnTo>
                <a:lnTo>
                  <a:pt x="0" y="5078374"/>
                </a:lnTo>
                <a:lnTo>
                  <a:pt x="2" y="5078374"/>
                </a:lnTo>
                <a:lnTo>
                  <a:pt x="2" y="4101849"/>
                </a:lnTo>
                <a:lnTo>
                  <a:pt x="8" y="4101849"/>
                </a:lnTo>
                <a:lnTo>
                  <a:pt x="8" y="4825486"/>
                </a:lnTo>
                <a:cubicBezTo>
                  <a:pt x="1730681" y="4664816"/>
                  <a:pt x="3842825" y="4589835"/>
                  <a:pt x="6121038" y="4629602"/>
                </a:cubicBezTo>
                <a:cubicBezTo>
                  <a:pt x="8380486" y="4669041"/>
                  <a:pt x="10472749" y="4815575"/>
                  <a:pt x="12188824" y="5033515"/>
                </a:cubicBezTo>
                <a:lnTo>
                  <a:pt x="12188824" y="3551184"/>
                </a:lnTo>
                <a:lnTo>
                  <a:pt x="12188825" y="3551184"/>
                </a:lnTo>
                <a:lnTo>
                  <a:pt x="12188825" y="1493784"/>
                </a:lnTo>
                <a:lnTo>
                  <a:pt x="12188824" y="1493784"/>
                </a:lnTo>
                <a:lnTo>
                  <a:pt x="12188824" y="254012"/>
                </a:lnTo>
                <a:cubicBezTo>
                  <a:pt x="10458154" y="414682"/>
                  <a:pt x="8346010" y="489663"/>
                  <a:pt x="6067797" y="449896"/>
                </a:cubicBezTo>
                <a:cubicBezTo>
                  <a:pt x="3808349" y="410457"/>
                  <a:pt x="1716086" y="263923"/>
                  <a:pt x="8" y="45983"/>
                </a:cubicBezTo>
                <a:lnTo>
                  <a:pt x="8" y="977649"/>
                </a:lnTo>
                <a:lnTo>
                  <a:pt x="2" y="977649"/>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1522413" y="1371600"/>
            <a:ext cx="9144000" cy="2743200"/>
          </a:xfrm>
          <a:prstGeom prst="rect">
            <a:avLst/>
          </a:prstGeom>
        </p:spPr>
        <p:txBody>
          <a:bodyPr anchor="b">
            <a:normAutofit/>
          </a:bodyPr>
          <a:lstStyle>
            <a:lvl1pPr algn="l">
              <a:lnSpc>
                <a:spcPct val="85000"/>
              </a:lnSpc>
              <a:defRPr sz="60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4" y="4267201"/>
            <a:ext cx="7315198" cy="1066800"/>
          </a:xfrm>
        </p:spPr>
        <p:txBody>
          <a:bodyPr anchor="t">
            <a:normAutofit/>
          </a:bodyPr>
          <a:lstStyle>
            <a:lvl1pPr marL="0" indent="0">
              <a:spcBef>
                <a:spcPts val="60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444764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
        <p:nvSpPr>
          <p:cNvPr id="3" name="Content Placeholder 2"/>
          <p:cNvSpPr>
            <a:spLocks noGrp="1"/>
          </p:cNvSpPr>
          <p:nvPr>
            <p:ph sz="half" idx="1"/>
          </p:nvPr>
        </p:nvSpPr>
        <p:spPr>
          <a:xfrm>
            <a:off x="1522413" y="1905000"/>
            <a:ext cx="4419599"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9862" y="1905000"/>
            <a:ext cx="4416552" cy="42672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44505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413"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91754" y="1905000"/>
            <a:ext cx="4416552" cy="685800"/>
          </a:xfrm>
        </p:spPr>
        <p:txBody>
          <a:bodyPr anchor="ctr">
            <a:norm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666999"/>
            <a:ext cx="4416552" cy="3505201"/>
          </a:xfrm>
        </p:spPr>
        <p:txBody>
          <a:bodyPr>
            <a:normAutofit/>
          </a:bodyPr>
          <a:lstStyle>
            <a:lvl1pPr>
              <a:defRPr sz="2000"/>
            </a:lvl1pPr>
            <a:lvl2pPr>
              <a:defRPr sz="1800"/>
            </a:lvl2pPr>
            <a:lvl3pPr>
              <a:defRPr sz="1600"/>
            </a:lvl3pPr>
            <a:lvl4pPr>
              <a:defRPr sz="1400"/>
            </a:lvl4pPr>
            <a:lvl5pPr>
              <a:defRPr sz="1400"/>
            </a:lvl5pPr>
            <a:lvl6pPr>
              <a:defRPr sz="1400" baseline="0"/>
            </a:lvl6pPr>
            <a:lvl7pPr>
              <a:defRPr sz="1400" baseline="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8" name="Footer Placeholder 7"/>
          <p:cNvSpPr>
            <a:spLocks noGrp="1"/>
          </p:cNvSpPr>
          <p:nvPr>
            <p:ph type="ftr" sz="quarter" idx="11"/>
          </p:nvPr>
        </p:nvSpPr>
        <p:spPr>
          <a:xfrm>
            <a:off x="1525138" y="6518274"/>
            <a:ext cx="5864674" cy="320676"/>
          </a:xfrm>
          <a:prstGeom prst="rect">
            <a:avLst/>
          </a:prstGeom>
        </p:spPr>
        <p:txBody>
          <a:bodyPr/>
          <a:lstStyle/>
          <a:p>
            <a:endParaRPr/>
          </a:p>
        </p:txBody>
      </p:sp>
      <p:sp>
        <p:nvSpPr>
          <p:cNvPr id="9" name="Slide Number Placeholder 8"/>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679620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Tree>
    <p:extLst>
      <p:ext uri="{BB962C8B-B14F-4D97-AF65-F5344CB8AC3E}">
        <p14:creationId xmlns:p14="http://schemas.microsoft.com/office/powerpoint/2010/main" val="1842974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3" name="Footer Placeholder 2"/>
          <p:cNvSpPr>
            <a:spLocks noGrp="1"/>
          </p:cNvSpPr>
          <p:nvPr>
            <p:ph type="ftr" sz="quarter" idx="11"/>
          </p:nvPr>
        </p:nvSpPr>
        <p:spPr bwMode="white">
          <a:xfrm>
            <a:off x="1525138" y="6518274"/>
            <a:ext cx="5864674" cy="320676"/>
          </a:xfrm>
          <a:prstGeom prst="rect">
            <a:avLst/>
          </a:prstGeom>
        </p:spPr>
        <p:txBody>
          <a:bodyPr/>
          <a:lstStyle/>
          <a:p>
            <a:endParaRPr/>
          </a:p>
        </p:txBody>
      </p:sp>
      <p:sp>
        <p:nvSpPr>
          <p:cNvPr id="4" name="Slide Number Placeholder 3"/>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227461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3"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2" y="457200"/>
            <a:ext cx="3781439" cy="3276600"/>
          </a:xfrm>
          <a:prstGeom prst="rect">
            <a:avLst/>
          </a:prstGeom>
        </p:spPr>
        <p:txBody>
          <a:bodyPr anchor="b">
            <a:noAutofit/>
          </a:bodyPr>
          <a:lstStyle>
            <a:lvl1pPr algn="l">
              <a:defRPr sz="40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608013" y="457200"/>
            <a:ext cx="6324599" cy="5334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923212"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40304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2"/>
          <p:cNvSpPr/>
          <p:nvPr/>
        </p:nvSpPr>
        <p:spPr>
          <a:xfrm>
            <a:off x="7466013" y="1"/>
            <a:ext cx="4722806" cy="6353183"/>
          </a:xfrm>
          <a:custGeom>
            <a:avLst/>
            <a:gdLst/>
            <a:ahLst/>
            <a:cxnLst/>
            <a:rect l="l" t="t" r="r" b="b"/>
            <a:pathLst>
              <a:path w="4722806" h="6353183">
                <a:moveTo>
                  <a:pt x="0" y="0"/>
                </a:moveTo>
                <a:lnTo>
                  <a:pt x="4722806" y="0"/>
                </a:lnTo>
                <a:lnTo>
                  <a:pt x="4722806" y="6098225"/>
                </a:lnTo>
                <a:cubicBezTo>
                  <a:pt x="3319459" y="6233334"/>
                  <a:pt x="1717095" y="6322975"/>
                  <a:pt x="0" y="6353183"/>
                </a:cubicBezTo>
                <a:close/>
              </a:path>
            </a:pathLst>
          </a:cu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7923211" y="457200"/>
            <a:ext cx="3781439" cy="3276600"/>
          </a:xfrm>
          <a:prstGeom prst="rect">
            <a:avLst/>
          </a:prstGeom>
        </p:spPr>
        <p:txBody>
          <a:bodyPr anchor="b">
            <a:noAutofit/>
          </a:bodyPr>
          <a:lstStyle>
            <a:lvl1pPr algn="l">
              <a:defRPr sz="40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3026" y="0"/>
            <a:ext cx="7469039" cy="6366494"/>
          </a:xfrm>
          <a:custGeom>
            <a:avLst/>
            <a:gdLst>
              <a:gd name="connsiteX0" fmla="*/ 0 w 7469039"/>
              <a:gd name="connsiteY0" fmla="*/ 0 h 6508480"/>
              <a:gd name="connsiteX1" fmla="*/ 7469039 w 7469039"/>
              <a:gd name="connsiteY1" fmla="*/ 0 h 6508480"/>
              <a:gd name="connsiteX2" fmla="*/ 7469039 w 7469039"/>
              <a:gd name="connsiteY2" fmla="*/ 6353183 h 6508480"/>
              <a:gd name="connsiteX3" fmla="*/ 6108633 w 7469039"/>
              <a:gd name="connsiteY3" fmla="*/ 6366494 h 6508480"/>
              <a:gd name="connsiteX4" fmla="*/ 3027 w 7469039"/>
              <a:gd name="connsiteY4" fmla="*/ 6096000 h 6508480"/>
              <a:gd name="connsiteX5" fmla="*/ 3027 w 7469039"/>
              <a:gd name="connsiteY5" fmla="*/ 6508480 h 6508480"/>
              <a:gd name="connsiteX6" fmla="*/ 0 w 7469039"/>
              <a:gd name="connsiteY6" fmla="*/ 0 h 6508480"/>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3027 w 7469039"/>
              <a:gd name="connsiteY4" fmla="*/ 6096000 h 6366494"/>
              <a:gd name="connsiteX5" fmla="*/ 0 w 7469039"/>
              <a:gd name="connsiteY5" fmla="*/ 0 h 6366494"/>
              <a:gd name="connsiteX0" fmla="*/ 0 w 7469039"/>
              <a:gd name="connsiteY0" fmla="*/ 0 h 6366494"/>
              <a:gd name="connsiteX1" fmla="*/ 7469039 w 7469039"/>
              <a:gd name="connsiteY1" fmla="*/ 0 h 6366494"/>
              <a:gd name="connsiteX2" fmla="*/ 7469039 w 7469039"/>
              <a:gd name="connsiteY2" fmla="*/ 6353183 h 6366494"/>
              <a:gd name="connsiteX3" fmla="*/ 6108633 w 7469039"/>
              <a:gd name="connsiteY3" fmla="*/ 6366494 h 6366494"/>
              <a:gd name="connsiteX4" fmla="*/ 645 w 7469039"/>
              <a:gd name="connsiteY4" fmla="*/ 6096000 h 6366494"/>
              <a:gd name="connsiteX5" fmla="*/ 0 w 7469039"/>
              <a:gd name="connsiteY5" fmla="*/ 0 h 6366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69039" h="6366494">
                <a:moveTo>
                  <a:pt x="0" y="0"/>
                </a:moveTo>
                <a:lnTo>
                  <a:pt x="7469039" y="0"/>
                </a:lnTo>
                <a:lnTo>
                  <a:pt x="7469039" y="6353183"/>
                </a:lnTo>
                <a:cubicBezTo>
                  <a:pt x="7022837" y="6362323"/>
                  <a:pt x="6568869" y="6366494"/>
                  <a:pt x="6108633" y="6366494"/>
                </a:cubicBezTo>
                <a:cubicBezTo>
                  <a:pt x="3867960" y="6366494"/>
                  <a:pt x="1773459" y="6267615"/>
                  <a:pt x="645" y="6096000"/>
                </a:cubicBezTo>
                <a:lnTo>
                  <a:pt x="0" y="0"/>
                </a:lnTo>
                <a:close/>
              </a:path>
            </a:pathLst>
          </a:custGeom>
          <a:noFill/>
        </p:spPr>
        <p:txBody>
          <a:bodyPr tIns="4572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7923211" y="3962400"/>
            <a:ext cx="3781439" cy="1828800"/>
          </a:xfrm>
        </p:spPr>
        <p:txBody>
          <a:bodyPr>
            <a:normAutofit/>
          </a:bodyPr>
          <a:lstStyle>
            <a:lvl1pPr marL="0" indent="0">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6" name="Footer Placeholder 5"/>
          <p:cNvSpPr>
            <a:spLocks noGrp="1"/>
          </p:cNvSpPr>
          <p:nvPr>
            <p:ph type="ftr" sz="quarter" idx="11"/>
          </p:nvPr>
        </p:nvSpPr>
        <p:spPr bwMode="white">
          <a:xfrm>
            <a:off x="1525138" y="6518274"/>
            <a:ext cx="5864674" cy="320676"/>
          </a:xfrm>
          <a:prstGeom prst="rect">
            <a:avLst/>
          </a:prstGeom>
        </p:spPr>
        <p:txBody>
          <a:bodyPr/>
          <a:lstStyle/>
          <a:p>
            <a:endParaRPr/>
          </a:p>
        </p:txBody>
      </p:sp>
      <p:sp>
        <p:nvSpPr>
          <p:cNvPr id="7" name="Slide Number Placeholder 6"/>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803611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53852" y="44624"/>
            <a:ext cx="10081120" cy="648072"/>
          </a:xfrm>
          <a:prstGeom prst="rect">
            <a:avLst/>
          </a:prstGeom>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328737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12"/>
          <p:cNvSpPr/>
          <p:nvPr/>
        </p:nvSpPr>
        <p:spPr>
          <a:xfrm flipV="1">
            <a:off x="1" y="6096000"/>
            <a:ext cx="12188824" cy="762000"/>
          </a:xfrm>
          <a:custGeom>
            <a:avLst/>
            <a:gdLst/>
            <a:ahLst/>
            <a:cxnLst/>
            <a:rect l="l" t="t" r="r" b="b"/>
            <a:pathLst>
              <a:path w="12188824" h="762000">
                <a:moveTo>
                  <a:pt x="0" y="762000"/>
                </a:moveTo>
                <a:cubicBezTo>
                  <a:pt x="1772814" y="590385"/>
                  <a:pt x="3864933" y="491506"/>
                  <a:pt x="6105606" y="491506"/>
                </a:cubicBezTo>
                <a:cubicBezTo>
                  <a:pt x="8336849" y="491506"/>
                  <a:pt x="10420784" y="589555"/>
                  <a:pt x="12188824" y="759776"/>
                </a:cubicBezTo>
                <a:lnTo>
                  <a:pt x="12188824" y="0"/>
                </a:lnTo>
                <a:lnTo>
                  <a:pt x="0" y="0"/>
                </a:lnTo>
                <a:close/>
              </a:path>
            </a:pathLst>
          </a:custGeom>
          <a:solidFill>
            <a:schemeClr val="bg2">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12"/>
          <p:cNvSpPr/>
          <p:nvPr/>
        </p:nvSpPr>
        <p:spPr>
          <a:xfrm flipV="1">
            <a:off x="3" y="6158960"/>
            <a:ext cx="12188823" cy="699040"/>
          </a:xfrm>
          <a:custGeom>
            <a:avLst/>
            <a:gdLst/>
            <a:ahLst/>
            <a:cxnLst/>
            <a:rect l="l" t="t" r="r" b="b"/>
            <a:pathLst>
              <a:path w="12188823" h="699040">
                <a:moveTo>
                  <a:pt x="12188823" y="699040"/>
                </a:moveTo>
                <a:lnTo>
                  <a:pt x="12188823" y="0"/>
                </a:lnTo>
                <a:lnTo>
                  <a:pt x="0" y="0"/>
                </a:lnTo>
                <a:lnTo>
                  <a:pt x="0" y="609601"/>
                </a:lnTo>
                <a:cubicBezTo>
                  <a:pt x="1772814" y="437986"/>
                  <a:pt x="4065905" y="369154"/>
                  <a:pt x="6105606" y="384827"/>
                </a:cubicBezTo>
                <a:cubicBezTo>
                  <a:pt x="8126376" y="400355"/>
                  <a:pt x="10427037" y="530961"/>
                  <a:pt x="12188823" y="699040"/>
                </a:cubicBez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bwMode="black">
          <a:xfrm>
            <a:off x="9294812" y="274639"/>
            <a:ext cx="1371602" cy="5897561"/>
          </a:xfrm>
          <a:prstGeom prst="rect">
            <a:avLst/>
          </a:prstGeom>
        </p:spPr>
        <p:txBody>
          <a:bodyPr vert="eaVert"/>
          <a:lstStyle>
            <a:lvl1pPr>
              <a:defRPr>
                <a:solidFill>
                  <a:schemeClr val="tx1"/>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3" y="274639"/>
            <a:ext cx="7619999" cy="5884321"/>
          </a:xfrm>
        </p:spPr>
        <p:txBody>
          <a:bodyPr vert="eaVert"/>
          <a:lstStyle>
            <a:lvl5pPr>
              <a:defRPr/>
            </a:lvl5pPr>
            <a:lvl6pPr>
              <a:defRPr baseline="0"/>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bwMode="white">
          <a:xfrm>
            <a:off x="7618412" y="6518274"/>
            <a:ext cx="1676400" cy="320676"/>
          </a:xfrm>
          <a:prstGeom prst="rect">
            <a:avLst/>
          </a:prstGeom>
        </p:spPr>
        <p:txBody>
          <a:bodyPr/>
          <a:lstStyle/>
          <a:p>
            <a:fld id="{14F042A8-43C1-4815-A5CF-022104463224}" type="datetimeFigureOut">
              <a:rPr lang="en-US"/>
              <a:t>10/30/2024</a:t>
            </a:fld>
            <a:endParaRPr/>
          </a:p>
        </p:txBody>
      </p:sp>
      <p:sp>
        <p:nvSpPr>
          <p:cNvPr id="5" name="Footer Placeholder 4"/>
          <p:cNvSpPr>
            <a:spLocks noGrp="1"/>
          </p:cNvSpPr>
          <p:nvPr>
            <p:ph type="ftr" sz="quarter" idx="11"/>
          </p:nvPr>
        </p:nvSpPr>
        <p:spPr bwMode="white">
          <a:xfrm>
            <a:off x="1525138" y="6518274"/>
            <a:ext cx="5864674" cy="320676"/>
          </a:xfrm>
          <a:prstGeom prst="rect">
            <a:avLst/>
          </a:prstGeom>
        </p:spPr>
        <p:txBody>
          <a:bodyPr/>
          <a:lstStyle/>
          <a:p>
            <a:endParaRPr/>
          </a:p>
        </p:txBody>
      </p:sp>
      <p:sp>
        <p:nvSpPr>
          <p:cNvPr id="6" name="Slide Number Placeholder 5"/>
          <p:cNvSpPr>
            <a:spLocks noGrp="1"/>
          </p:cNvSpPr>
          <p:nvPr>
            <p:ph type="sldNum" sz="quarter" idx="12"/>
          </p:nvPr>
        </p:nvSpPr>
        <p:spPr bwMode="white">
          <a:xfrm>
            <a:off x="9523412" y="6518274"/>
            <a:ext cx="1143002" cy="320676"/>
          </a:xfrm>
          <a:prstGeom prst="rect">
            <a:avLst/>
          </a:prstGeom>
        </p:spPr>
        <p:txBody>
          <a:bodyPr/>
          <a:lstStyle/>
          <a:p>
            <a:fld id="{5382E9EE-A870-438B-947A-FF671DFAFC96}" type="slidenum">
              <a:rPr/>
              <a:t>‹#›</a:t>
            </a:fld>
            <a:endParaRPr/>
          </a:p>
        </p:txBody>
      </p:sp>
    </p:spTree>
    <p:extLst>
      <p:ext uri="{BB962C8B-B14F-4D97-AF65-F5344CB8AC3E}">
        <p14:creationId xmlns:p14="http://schemas.microsoft.com/office/powerpoint/2010/main" val="148722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969943" cy="1143000"/>
          </a:xfrm>
          <a:prstGeom prst="rect">
            <a:avLst/>
          </a:prstGeom>
        </p:spPr>
        <p:txBody>
          <a:bodyPr/>
          <a:lstStyle/>
          <a:p>
            <a:r>
              <a:rPr lang="en-US"/>
              <a:t>Click to edit Master title style</a:t>
            </a:r>
          </a:p>
        </p:txBody>
      </p:sp>
      <p:sp>
        <p:nvSpPr>
          <p:cNvPr id="3" name="Table Placeholder 2"/>
          <p:cNvSpPr>
            <a:spLocks noGrp="1"/>
          </p:cNvSpPr>
          <p:nvPr>
            <p:ph type="tbl" idx="1"/>
          </p:nvPr>
        </p:nvSpPr>
        <p:spPr>
          <a:xfrm>
            <a:off x="609441" y="1600201"/>
            <a:ext cx="10969943" cy="4525963"/>
          </a:xfrm>
        </p:spPr>
        <p:txBody>
          <a:bodyPr rtlCol="0">
            <a:normAutofit/>
          </a:bodyPr>
          <a:lstStyle/>
          <a:p>
            <a:pPr lvl="0"/>
            <a:endParaRPr lang="en-US" noProof="0"/>
          </a:p>
        </p:txBody>
      </p:sp>
      <p:sp>
        <p:nvSpPr>
          <p:cNvPr id="4" name="Date Placeholder 3"/>
          <p:cNvSpPr>
            <a:spLocks noGrp="1"/>
          </p:cNvSpPr>
          <p:nvPr>
            <p:ph type="dt" sz="half" idx="10"/>
          </p:nvPr>
        </p:nvSpPr>
        <p:spPr>
          <a:xfrm>
            <a:off x="609441" y="6356351"/>
            <a:ext cx="2844059" cy="365125"/>
          </a:xfrm>
          <a:prstGeom prst="rect">
            <a:avLst/>
          </a:prstGeom>
        </p:spPr>
        <p:txBody>
          <a:bodyPr/>
          <a:lstStyle>
            <a:lvl1pPr>
              <a:defRPr/>
            </a:lvl1pPr>
          </a:lstStyle>
          <a:p>
            <a:pPr>
              <a:defRPr/>
            </a:pPr>
            <a:endParaRPr lang="en-US" altLang="en-US"/>
          </a:p>
        </p:txBody>
      </p:sp>
      <p:sp>
        <p:nvSpPr>
          <p:cNvPr id="5" name="Footer Placeholder 4"/>
          <p:cNvSpPr>
            <a:spLocks noGrp="1"/>
          </p:cNvSpPr>
          <p:nvPr>
            <p:ph type="ftr" sz="quarter" idx="11"/>
          </p:nvPr>
        </p:nvSpPr>
        <p:spPr>
          <a:xfrm>
            <a:off x="4164515" y="6356351"/>
            <a:ext cx="3859795" cy="365125"/>
          </a:xfrm>
          <a:prstGeom prst="rect">
            <a:avLst/>
          </a:prstGeom>
        </p:spPr>
        <p:txBody>
          <a:bodyPr/>
          <a:lstStyle>
            <a:lvl1pPr>
              <a:defRPr/>
            </a:lvl1pPr>
          </a:lstStyle>
          <a:p>
            <a:pPr>
              <a:defRPr/>
            </a:pPr>
            <a:endParaRPr lang="en-US" altLang="en-US"/>
          </a:p>
        </p:txBody>
      </p:sp>
      <p:sp>
        <p:nvSpPr>
          <p:cNvPr id="6" name="Slide Number Placeholder 5"/>
          <p:cNvSpPr>
            <a:spLocks noGrp="1"/>
          </p:cNvSpPr>
          <p:nvPr>
            <p:ph type="sldNum" sz="quarter" idx="12"/>
          </p:nvPr>
        </p:nvSpPr>
        <p:spPr>
          <a:xfrm>
            <a:off x="8735325" y="6356351"/>
            <a:ext cx="2844059" cy="365125"/>
          </a:xfrm>
          <a:prstGeom prst="rect">
            <a:avLst/>
          </a:prstGeom>
        </p:spPr>
        <p:txBody>
          <a:bodyPr/>
          <a:lstStyle>
            <a:lvl1pPr>
              <a:defRPr/>
            </a:lvl1pPr>
          </a:lstStyle>
          <a:p>
            <a:pPr>
              <a:defRPr/>
            </a:pPr>
            <a:fld id="{DA392293-0A36-4519-A827-986945D063A5}" type="slidenum">
              <a:rPr lang="en-US" altLang="en-US"/>
              <a:pPr>
                <a:defRPr/>
              </a:pPr>
              <a:t>‹#›</a:t>
            </a:fld>
            <a:endParaRPr lang="en-US" altLang="en-US"/>
          </a:p>
        </p:txBody>
      </p:sp>
    </p:spTree>
    <p:extLst>
      <p:ext uri="{BB962C8B-B14F-4D97-AF65-F5344CB8AC3E}">
        <p14:creationId xmlns:p14="http://schemas.microsoft.com/office/powerpoint/2010/main" val="1798860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p:nvSpPr>
        <p:spPr>
          <a:xfrm>
            <a:off x="0" y="-1"/>
            <a:ext cx="12189873" cy="612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3" name="Rectangle 12"/>
          <p:cNvSpPr/>
          <p:nvPr/>
        </p:nvSpPr>
        <p:spPr>
          <a:xfrm>
            <a:off x="1" y="0"/>
            <a:ext cx="12188824" cy="54868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7" name="Rectangle 7"/>
          <p:cNvSpPr/>
          <p:nvPr/>
        </p:nvSpPr>
        <p:spPr bwMode="hidden">
          <a:xfrm>
            <a:off x="-10885" y="6300240"/>
            <a:ext cx="12204000" cy="52623"/>
          </a:xfrm>
          <a:prstGeom prst="rect">
            <a:avLst/>
          </a:pr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 name="Title Placeholder 1"/>
          <p:cNvSpPr>
            <a:spLocks noGrp="1"/>
          </p:cNvSpPr>
          <p:nvPr>
            <p:ph type="title"/>
          </p:nvPr>
        </p:nvSpPr>
        <p:spPr bwMode="white">
          <a:xfrm>
            <a:off x="1053852" y="0"/>
            <a:ext cx="10081120" cy="548680"/>
          </a:xfrm>
          <a:prstGeom prst="rect">
            <a:avLst/>
          </a:prstGeom>
        </p:spPr>
        <p:txBody>
          <a:bodyPr vert="horz" lIns="91440" tIns="45720" rIns="91440" bIns="45720" rtlCol="0" anchor="ctr">
            <a:normAutofit/>
          </a:bodyPr>
          <a:lstStyle/>
          <a:p>
            <a:r>
              <a:rPr lang="en-US" dirty="0"/>
              <a:t>Click to edit Master title style</a:t>
            </a:r>
            <a:endParaRPr dirty="0"/>
          </a:p>
        </p:txBody>
      </p:sp>
      <p:sp>
        <p:nvSpPr>
          <p:cNvPr id="3" name="Text Placeholder 2"/>
          <p:cNvSpPr>
            <a:spLocks noGrp="1"/>
          </p:cNvSpPr>
          <p:nvPr>
            <p:ph type="body" idx="1"/>
          </p:nvPr>
        </p:nvSpPr>
        <p:spPr>
          <a:xfrm>
            <a:off x="1053852" y="980728"/>
            <a:ext cx="10081120" cy="5620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Rectangle 12"/>
          <p:cNvSpPr/>
          <p:nvPr userDrawn="1"/>
        </p:nvSpPr>
        <p:spPr>
          <a:xfrm>
            <a:off x="4496" y="6352671"/>
            <a:ext cx="12188824" cy="504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Tree>
    <p:extLst>
      <p:ext uri="{BB962C8B-B14F-4D97-AF65-F5344CB8AC3E}">
        <p14:creationId xmlns:p14="http://schemas.microsoft.com/office/powerpoint/2010/main" val="42487699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1"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000" kern="1200">
          <a:solidFill>
            <a:schemeClr val="tx1"/>
          </a:solidFill>
          <a:latin typeface="Calibri" panose="020F0502020204030204" pitchFamily="34" charset="0"/>
          <a:ea typeface="+mn-ea"/>
          <a:cs typeface="+mn-cs"/>
        </a:defRPr>
      </a:lvl1pPr>
      <a:lvl2pPr marL="502920" indent="-223838" algn="l" defTabSz="914400" rtl="0" eaLnBrk="1" latinLnBrk="0" hangingPunct="1">
        <a:lnSpc>
          <a:spcPct val="90000"/>
        </a:lnSpc>
        <a:spcBef>
          <a:spcPts val="1000"/>
        </a:spcBef>
        <a:buSzPct val="90000"/>
        <a:buFont typeface="Arial" pitchFamily="34" charset="0"/>
        <a:buChar char="–"/>
        <a:defRPr sz="1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16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8" userDrawn="1">
          <p15:clr>
            <a:srgbClr val="F26B43"/>
          </p15:clr>
        </p15:guide>
        <p15:guide id="2" pos="66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p:cNvSpPr/>
          <p:nvPr/>
        </p:nvSpPr>
        <p:spPr>
          <a:xfrm>
            <a:off x="0" y="-1"/>
            <a:ext cx="12189873" cy="332657"/>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23" name="Rectangle 12"/>
          <p:cNvSpPr/>
          <p:nvPr userDrawn="1"/>
        </p:nvSpPr>
        <p:spPr>
          <a:xfrm>
            <a:off x="1" y="0"/>
            <a:ext cx="12188824" cy="18864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7" name="Rectangle 7"/>
          <p:cNvSpPr/>
          <p:nvPr/>
        </p:nvSpPr>
        <p:spPr bwMode="hidden">
          <a:xfrm>
            <a:off x="-10885" y="6745558"/>
            <a:ext cx="12204000" cy="119744"/>
          </a:xfrm>
          <a:prstGeom prst="rect">
            <a:avLst/>
          </a:prstGeom>
          <a:solidFill>
            <a:schemeClr val="bg2">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latin typeface="Calibri" panose="020F0502020204030204" pitchFamily="34" charset="0"/>
            </a:endParaRPr>
          </a:p>
        </p:txBody>
      </p:sp>
      <p:sp>
        <p:nvSpPr>
          <p:cNvPr id="3" name="Text Placeholder 2"/>
          <p:cNvSpPr>
            <a:spLocks noGrp="1"/>
          </p:cNvSpPr>
          <p:nvPr>
            <p:ph type="body" idx="1"/>
          </p:nvPr>
        </p:nvSpPr>
        <p:spPr>
          <a:xfrm>
            <a:off x="1053852" y="980728"/>
            <a:ext cx="10081120" cy="5620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2844920"/>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kern="1200">
          <a:solidFill>
            <a:schemeClr val="bg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800"/>
        </a:spcBef>
        <a:buSzPct val="100000"/>
        <a:buFont typeface="Arial" pitchFamily="34" charset="0"/>
        <a:buChar char="▪"/>
        <a:defRPr sz="2000" kern="1200">
          <a:solidFill>
            <a:schemeClr val="tx1"/>
          </a:solidFill>
          <a:latin typeface="Calibri" panose="020F0502020204030204" pitchFamily="34" charset="0"/>
          <a:ea typeface="+mn-ea"/>
          <a:cs typeface="+mn-cs"/>
        </a:defRPr>
      </a:lvl1pPr>
      <a:lvl2pPr marL="502920" indent="-223838" algn="l" defTabSz="914400" rtl="0" eaLnBrk="1" latinLnBrk="0" hangingPunct="1">
        <a:lnSpc>
          <a:spcPct val="90000"/>
        </a:lnSpc>
        <a:spcBef>
          <a:spcPts val="1000"/>
        </a:spcBef>
        <a:buSzPct val="90000"/>
        <a:buFont typeface="Arial" pitchFamily="34" charset="0"/>
        <a:buChar char="–"/>
        <a:defRPr sz="1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16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18">
          <p15:clr>
            <a:srgbClr val="F26B43"/>
          </p15:clr>
        </p15:guide>
        <p15:guide id="2" pos="6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amazon.com/gp/reader/0672330164/ref=sib_dp_pt#reader-link"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8" Type="http://schemas.openxmlformats.org/officeDocument/2006/relationships/hyperlink" Target="file:///C:\Users\sundarem\Desktop\CE2002\Revised\CE2002%20Final%20Delivery\17S2_CE2002_Chapt8a_BlackJackCase_V1.0.pptx#-1,1,PowerPoint Presentation" TargetMode="External"/><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6.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9.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21.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22.jp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30.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1.xml"/><Relationship Id="rId4" Type="http://schemas.openxmlformats.org/officeDocument/2006/relationships/image" Target="../media/image23.jp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0.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48.xml"/><Relationship Id="rId5" Type="http://schemas.openxmlformats.org/officeDocument/2006/relationships/image" Target="../media/image24.png"/><Relationship Id="rId4" Type="http://schemas.openxmlformats.org/officeDocument/2006/relationships/oleObject" Target="../embeddings/oleObject1.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tags" Target="../tags/tag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bwMode="white">
          <a:xfrm>
            <a:off x="1054100" y="4521477"/>
            <a:ext cx="10283762" cy="1080120"/>
          </a:xfrm>
          <a:prstGeom prst="rect">
            <a:avLst/>
          </a:prstGeom>
          <a:ln>
            <a:noFill/>
          </a:ln>
        </p:spPr>
        <p:txBody>
          <a:bodyPr vert="horz" lIns="91440" tIns="45720" rIns="91440" bIns="45720" rtlCol="0" anchor="ctr">
            <a:noAutofit/>
          </a:bodyPr>
          <a:lstStyle>
            <a:lvl1pPr algn="l" defTabSz="914400" rtl="0" eaLnBrk="1" latinLnBrk="0" hangingPunct="1">
              <a:lnSpc>
                <a:spcPct val="85000"/>
              </a:lnSpc>
              <a:spcBef>
                <a:spcPct val="0"/>
              </a:spcBef>
              <a:buNone/>
              <a:defRPr sz="6600" kern="1200">
                <a:solidFill>
                  <a:sysClr val="windowText" lastClr="000000"/>
                </a:solidFill>
                <a:latin typeface="Calibri" panose="020F0502020204030204" pitchFamily="34" charset="0"/>
                <a:ea typeface="+mj-ea"/>
                <a:cs typeface="+mj-cs"/>
              </a:defRPr>
            </a:lvl1pPr>
          </a:lstStyle>
          <a:p>
            <a:r>
              <a:rPr lang="en-US" sz="2800" b="1" dirty="0">
                <a:solidFill>
                  <a:schemeClr val="bg1"/>
                </a:solidFill>
              </a:rPr>
              <a:t>SC/CZ/CE2002 Object-Oriented Design &amp; Programming</a:t>
            </a:r>
            <a:br>
              <a:rPr lang="en-US" sz="2800" b="1" dirty="0">
                <a:solidFill>
                  <a:schemeClr val="bg1"/>
                </a:solidFill>
              </a:rPr>
            </a:br>
            <a:br>
              <a:rPr lang="en-US" sz="2800" b="1" dirty="0">
                <a:solidFill>
                  <a:schemeClr val="bg1"/>
                </a:solidFill>
              </a:rPr>
            </a:br>
            <a:r>
              <a:rPr lang="en-US" sz="4000" b="1" spc="50" dirty="0">
                <a:ln w="0"/>
                <a:solidFill>
                  <a:srgbClr val="FFFF00"/>
                </a:solidFill>
              </a:rPr>
              <a:t>Chapter 8: Modeling OO Application</a:t>
            </a:r>
            <a:br>
              <a:rPr lang="en-US" sz="2800" b="1" spc="50" dirty="0">
                <a:ln w="0"/>
                <a:solidFill>
                  <a:srgbClr val="FFFF00"/>
                </a:solidFill>
              </a:rPr>
            </a:br>
            <a:br>
              <a:rPr lang="en-US" sz="2800" b="1" spc="50" dirty="0">
                <a:ln w="0"/>
                <a:solidFill>
                  <a:srgbClr val="FFFF00"/>
                </a:solidFill>
              </a:rPr>
            </a:br>
            <a:endParaRPr lang="en-US" sz="2800" b="1" dirty="0">
              <a:solidFill>
                <a:srgbClr val="FFFF00"/>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73675" y="5626311"/>
            <a:ext cx="3232075" cy="1157083"/>
          </a:xfrm>
          <a:prstGeom prst="rect">
            <a:avLst/>
          </a:prstGeom>
        </p:spPr>
      </p:pic>
      <p:sp>
        <p:nvSpPr>
          <p:cNvPr id="6" name="Subtitle 2"/>
          <p:cNvSpPr txBox="1">
            <a:spLocks/>
          </p:cNvSpPr>
          <p:nvPr/>
        </p:nvSpPr>
        <p:spPr bwMode="white">
          <a:xfrm>
            <a:off x="1066987" y="5517232"/>
            <a:ext cx="8843849" cy="122413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0"/>
              </a:spcBef>
              <a:buSzPct val="100000"/>
              <a:buFont typeface="Arial" pitchFamily="34" charset="0"/>
              <a:buNone/>
              <a:defRPr sz="2000" kern="1200">
                <a:solidFill>
                  <a:schemeClr val="bg2"/>
                </a:solidFill>
                <a:latin typeface="+mn-lt"/>
                <a:ea typeface="+mn-ea"/>
                <a:cs typeface="+mn-cs"/>
              </a:defRPr>
            </a:lvl1pPr>
            <a:lvl2pPr marL="457200" indent="0" algn="ctr" defTabSz="914400" rtl="0" eaLnBrk="1" latinLnBrk="0" hangingPunct="1">
              <a:lnSpc>
                <a:spcPct val="90000"/>
              </a:lnSpc>
              <a:spcBef>
                <a:spcPts val="1000"/>
              </a:spcBef>
              <a:buSzPct val="90000"/>
              <a:buFont typeface="Arial"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800"/>
              </a:spcBef>
              <a:buSzPct val="100000"/>
              <a:buFont typeface="Arial" pitchFamily="34" charset="0"/>
              <a:buNone/>
              <a:defRPr sz="16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600"/>
              </a:spcBef>
              <a:buSzPct val="90000"/>
              <a:buFont typeface="Arial"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600"/>
              </a:spcBef>
              <a:buSzPct val="100000"/>
              <a:buFont typeface="Arial" pitchFamily="34" charset="0"/>
              <a:buNone/>
              <a:defRPr sz="1400" kern="1200">
                <a:solidFill>
                  <a:schemeClr val="tx1">
                    <a:tint val="75000"/>
                  </a:schemeClr>
                </a:solidFill>
                <a:latin typeface="+mn-lt"/>
                <a:ea typeface="+mn-ea"/>
                <a:cs typeface="+mn-cs"/>
              </a:defRPr>
            </a:lvl9pPr>
          </a:lstStyle>
          <a:p>
            <a:endParaRPr lang="en-GB" sz="2800" b="1" dirty="0">
              <a:solidFill>
                <a:schemeClr val="bg1"/>
              </a:solidFill>
              <a:latin typeface="Calibri" panose="020F0502020204030204" pitchFamily="34" charset="0"/>
            </a:endParaRPr>
          </a:p>
          <a:p>
            <a:r>
              <a:rPr lang="en-GB" sz="2400" b="1" dirty="0" err="1">
                <a:solidFill>
                  <a:schemeClr val="bg1"/>
                </a:solidFill>
                <a:latin typeface="Calibri" panose="020F0502020204030204" pitchFamily="34" charset="0"/>
              </a:rPr>
              <a:t>Dr.</a:t>
            </a:r>
            <a:r>
              <a:rPr lang="en-GB" sz="2400" b="1" dirty="0">
                <a:solidFill>
                  <a:schemeClr val="bg1"/>
                </a:solidFill>
                <a:latin typeface="Calibri" panose="020F0502020204030204" pitchFamily="34" charset="0"/>
              </a:rPr>
              <a:t> Li Fang</a:t>
            </a:r>
          </a:p>
          <a:p>
            <a:r>
              <a:rPr lang="en-US" sz="1800" dirty="0">
                <a:solidFill>
                  <a:schemeClr val="bg1"/>
                </a:solidFill>
                <a:latin typeface="Calibri" panose="020F0502020204030204" pitchFamily="34" charset="0"/>
              </a:rPr>
              <a:t>Senior Lecturer, </a:t>
            </a:r>
            <a:r>
              <a:rPr lang="en-SG" sz="1800" dirty="0">
                <a:solidFill>
                  <a:schemeClr val="bg1"/>
                </a:solidFill>
                <a:latin typeface="Calibri" panose="020F0502020204030204" pitchFamily="34" charset="0"/>
              </a:rPr>
              <a:t>College of Computing and Data Science</a:t>
            </a:r>
            <a:endParaRPr lang="en-GB" sz="180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3494264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54099" y="0"/>
            <a:ext cx="10080625" cy="548680"/>
          </a:xfrm>
        </p:spPr>
        <p:txBody>
          <a:bodyPr anchor="ctr">
            <a:normAutofit/>
          </a:bodyPr>
          <a:lstStyle/>
          <a:p>
            <a:r>
              <a:rPr lang="en-GB" b="1" dirty="0"/>
              <a:t>Objectives</a:t>
            </a:r>
            <a:endParaRPr lang="en-US" b="1" dirty="0"/>
          </a:p>
        </p:txBody>
      </p:sp>
      <p:sp>
        <p:nvSpPr>
          <p:cNvPr id="14" name="Content Placeholder 13"/>
          <p:cNvSpPr>
            <a:spLocks noGrp="1"/>
          </p:cNvSpPr>
          <p:nvPr>
            <p:ph idx="1"/>
          </p:nvPr>
        </p:nvSpPr>
        <p:spPr>
          <a:xfrm>
            <a:off x="1054100" y="981075"/>
            <a:ext cx="9504807" cy="4752181"/>
          </a:xfrm>
        </p:spPr>
        <p:txBody>
          <a:bodyPr anchor="t">
            <a:normAutofit/>
          </a:bodyPr>
          <a:lstStyle/>
          <a:p>
            <a:pPr marL="0" indent="0">
              <a:buNone/>
            </a:pPr>
            <a:r>
              <a:rPr lang="en-US" sz="2800" dirty="0"/>
              <a:t>By the end of this chapter, you should be able to:</a:t>
            </a:r>
          </a:p>
          <a:p>
            <a:pPr marL="360000" indent="-360000">
              <a:lnSpc>
                <a:spcPct val="100000"/>
              </a:lnSpc>
              <a:spcBef>
                <a:spcPts val="0"/>
              </a:spcBef>
              <a:buFont typeface="Wingdings" panose="05000000000000000000" pitchFamily="2" charset="2"/>
              <a:buChar char="§"/>
            </a:pPr>
            <a:r>
              <a:rPr lang="en-US" sz="2800" dirty="0"/>
              <a:t>Use Class and Sequence diagrams to model Object Oriented (OO) applications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30516" y="3015793"/>
            <a:ext cx="4545817" cy="3149858"/>
          </a:xfrm>
          <a:prstGeom prst="rect">
            <a:avLst/>
          </a:prstGeom>
          <a:ln>
            <a:noFill/>
          </a:ln>
          <a:effectLst>
            <a:softEdge rad="112500"/>
          </a:effectLst>
        </p:spPr>
      </p:pic>
    </p:spTree>
    <p:extLst>
      <p:ext uri="{BB962C8B-B14F-4D97-AF65-F5344CB8AC3E}">
        <p14:creationId xmlns:p14="http://schemas.microsoft.com/office/powerpoint/2010/main" val="5872627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b="1" dirty="0"/>
              <a:t>Modeling Real World Systems</a:t>
            </a:r>
          </a:p>
        </p:txBody>
      </p:sp>
      <p:sp>
        <p:nvSpPr>
          <p:cNvPr id="3075" name="Content Placeholder 2"/>
          <p:cNvSpPr>
            <a:spLocks noGrp="1"/>
          </p:cNvSpPr>
          <p:nvPr>
            <p:ph idx="1"/>
          </p:nvPr>
        </p:nvSpPr>
        <p:spPr>
          <a:xfrm>
            <a:off x="1054100" y="981076"/>
            <a:ext cx="5544368" cy="5328244"/>
          </a:xfrm>
        </p:spPr>
        <p:txBody>
          <a:bodyPr>
            <a:normAutofit/>
          </a:bodyPr>
          <a:lstStyle/>
          <a:p>
            <a:pPr marL="360000" indent="-360000" eaLnBrk="1" hangingPunct="1">
              <a:lnSpc>
                <a:spcPct val="100000"/>
              </a:lnSpc>
            </a:pPr>
            <a:r>
              <a:rPr lang="en-US" altLang="en-US" sz="2400" dirty="0"/>
              <a:t>Primary goals of OO is to model real-world systems in ways similar to ways people think.</a:t>
            </a:r>
          </a:p>
          <a:p>
            <a:pPr marL="360000" indent="-360000" eaLnBrk="1" hangingPunct="1">
              <a:lnSpc>
                <a:spcPct val="100000"/>
              </a:lnSpc>
            </a:pPr>
            <a:r>
              <a:rPr lang="en-US" altLang="en-US" sz="2400" dirty="0"/>
              <a:t>Identify objects – encapsulated data and </a:t>
            </a:r>
            <a:r>
              <a:rPr lang="en-US" altLang="en-US" sz="2400" dirty="0" err="1"/>
              <a:t>behaviours</a:t>
            </a:r>
            <a:r>
              <a:rPr lang="en-US" altLang="en-US" sz="2400" dirty="0"/>
              <a:t>:</a:t>
            </a:r>
          </a:p>
          <a:p>
            <a:pPr marL="720000" lvl="1" indent="-360000" eaLnBrk="1" hangingPunct="1">
              <a:lnSpc>
                <a:spcPct val="100000"/>
              </a:lnSpc>
              <a:spcBef>
                <a:spcPts val="0"/>
              </a:spcBef>
              <a:buFont typeface="Arial" panose="020B0604020202020204" pitchFamily="34" charset="0"/>
              <a:buChar char="•"/>
            </a:pPr>
            <a:r>
              <a:rPr lang="en-US" altLang="en-US" sz="2400" dirty="0"/>
              <a:t>Through identifying </a:t>
            </a:r>
            <a:r>
              <a:rPr lang="en-US" altLang="en-US" sz="2400" b="1" dirty="0">
                <a:solidFill>
                  <a:srgbClr val="00B050"/>
                </a:solidFill>
              </a:rPr>
              <a:t>nouns</a:t>
            </a:r>
            <a:r>
              <a:rPr lang="en-US" altLang="en-US" sz="2400" dirty="0"/>
              <a:t> and </a:t>
            </a:r>
            <a:r>
              <a:rPr lang="en-US" altLang="en-US" sz="2400" b="1" dirty="0">
                <a:solidFill>
                  <a:srgbClr val="00B050"/>
                </a:solidFill>
              </a:rPr>
              <a:t>verbs</a:t>
            </a:r>
            <a:r>
              <a:rPr lang="en-US" altLang="en-US" sz="2400" dirty="0"/>
              <a:t> in requirements statement.</a:t>
            </a:r>
          </a:p>
          <a:p>
            <a:pPr marL="360000" indent="-360000" eaLnBrk="1" hangingPunct="1">
              <a:lnSpc>
                <a:spcPct val="100000"/>
              </a:lnSpc>
            </a:pPr>
            <a:r>
              <a:rPr lang="en-US" altLang="en-US" sz="2400" dirty="0"/>
              <a:t>Model how objects interact with real-world objects.</a:t>
            </a:r>
          </a:p>
        </p:txBody>
      </p:sp>
      <p:graphicFrame>
        <p:nvGraphicFramePr>
          <p:cNvPr id="3" name="Diagram 2"/>
          <p:cNvGraphicFramePr/>
          <p:nvPr>
            <p:extLst>
              <p:ext uri="{D42A27DB-BD31-4B8C-83A1-F6EECF244321}">
                <p14:modId xmlns:p14="http://schemas.microsoft.com/office/powerpoint/2010/main" val="3331641644"/>
              </p:ext>
            </p:extLst>
          </p:nvPr>
        </p:nvGraphicFramePr>
        <p:xfrm>
          <a:off x="6238428" y="994566"/>
          <a:ext cx="5904656" cy="4868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4671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3"/>
          <p:cNvSpPr txBox="1">
            <a:spLocks noChangeArrowheads="1"/>
          </p:cNvSpPr>
          <p:nvPr/>
        </p:nvSpPr>
        <p:spPr bwMode="auto">
          <a:xfrm>
            <a:off x="1053852" y="980729"/>
            <a:ext cx="10080873" cy="5112568"/>
          </a:xfrm>
          <a:prstGeom prst="rect">
            <a:avLst/>
          </a:prstGeom>
          <a:solidFill>
            <a:schemeClr val="bg1"/>
          </a:solidFill>
          <a:ln>
            <a:noFill/>
          </a:ln>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rPr>
              <a:t>Identify Classes.</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rPr>
              <a:t>Add attributes and methods.</a:t>
            </a:r>
          </a:p>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rPr>
              <a:t>Add class relationship.</a:t>
            </a:r>
          </a:p>
          <a:p>
            <a:pPr marR="0" lvl="0" algn="l" defTabSz="914400" rtl="0" eaLnBrk="1" fontAlgn="base" latinLnBrk="0" hangingPunct="1">
              <a:lnSpc>
                <a:spcPct val="100000"/>
              </a:lnSpc>
              <a:spcBef>
                <a:spcPct val="20000"/>
              </a:spcBef>
              <a:spcAft>
                <a:spcPct val="0"/>
              </a:spcAft>
              <a:buClrTx/>
              <a:buSzTx/>
              <a:buFont typeface="Wingdings" panose="05000000000000000000" pitchFamily="2" charset="2"/>
              <a:buChar char="§"/>
              <a:tabLst/>
              <a:defRPr/>
            </a:pPr>
            <a:r>
              <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rPr>
              <a:t>Add multiplicities, </a:t>
            </a:r>
            <a:r>
              <a:rPr kumimoji="0" lang="en-US" altLang="en-US" sz="2400" b="0" i="0" u="none" strike="noStrike" kern="1200" cap="none" spc="0" normalizeH="0" baseline="0" noProof="0" dirty="0" err="1">
                <a:ln>
                  <a:noFill/>
                </a:ln>
                <a:solidFill>
                  <a:sysClr val="windowText" lastClr="000000"/>
                </a:solidFill>
                <a:effectLst/>
                <a:uLnTx/>
                <a:uFillTx/>
                <a:latin typeface="Calibri" panose="020F0502020204030204" pitchFamily="34" charset="0"/>
              </a:rPr>
              <a:t>etc</a:t>
            </a:r>
            <a:r>
              <a:rPr lang="en-US" altLang="en-US" sz="2400" dirty="0">
                <a:solidFill>
                  <a:sysClr val="windowText" lastClr="000000"/>
                </a:solidFill>
                <a:latin typeface="Calibri" panose="020F0502020204030204" pitchFamily="34" charset="0"/>
              </a:rPr>
              <a:t>.</a:t>
            </a:r>
            <a:endParaRPr kumimoji="0" lang="en-US" altLang="en-US" sz="2400" b="0" i="0" u="none" strike="noStrike" kern="1200" cap="none" spc="0" normalizeH="0" baseline="0" noProof="0" dirty="0">
              <a:ln>
                <a:noFill/>
              </a:ln>
              <a:solidFill>
                <a:sysClr val="windowText" lastClr="000000"/>
              </a:solidFill>
              <a:effectLst/>
              <a:uLnTx/>
              <a:uFillTx/>
              <a:latin typeface="Calibri" panose="020F0502020204030204" pitchFamily="34" charset="0"/>
            </a:endParaRPr>
          </a:p>
        </p:txBody>
      </p:sp>
      <p:sp>
        <p:nvSpPr>
          <p:cNvPr id="4" name="Rectangle 3"/>
          <p:cNvSpPr/>
          <p:nvPr/>
        </p:nvSpPr>
        <p:spPr>
          <a:xfrm>
            <a:off x="1197868" y="1484784"/>
            <a:ext cx="9793088" cy="2448272"/>
          </a:xfrm>
          <a:prstGeom prst="rect">
            <a:avLst/>
          </a:prstGeom>
          <a:solidFill>
            <a:schemeClr val="accent2">
              <a:lumMod val="20000"/>
              <a:lumOff val="8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98" name="Rectangle 2"/>
          <p:cNvSpPr>
            <a:spLocks noGrp="1" noChangeArrowheads="1"/>
          </p:cNvSpPr>
          <p:nvPr>
            <p:ph type="title"/>
          </p:nvPr>
        </p:nvSpPr>
        <p:spPr>
          <a:xfrm>
            <a:off x="1054100" y="-2182"/>
            <a:ext cx="9503792" cy="550862"/>
          </a:xfrm>
        </p:spPr>
        <p:txBody>
          <a:bodyPr/>
          <a:lstStyle/>
          <a:p>
            <a:pPr eaLnBrk="1" hangingPunct="1"/>
            <a:r>
              <a:rPr lang="en-US" altLang="en-US" b="1" dirty="0"/>
              <a:t>Modeling OO Application</a:t>
            </a:r>
          </a:p>
        </p:txBody>
      </p:sp>
      <p:grpSp>
        <p:nvGrpSpPr>
          <p:cNvPr id="43" name="Group 19"/>
          <p:cNvGrpSpPr>
            <a:grpSpLocks/>
          </p:cNvGrpSpPr>
          <p:nvPr/>
        </p:nvGrpSpPr>
        <p:grpSpPr bwMode="auto">
          <a:xfrm>
            <a:off x="1574552" y="1726400"/>
            <a:ext cx="8696324" cy="614363"/>
            <a:chOff x="904" y="1442"/>
            <a:chExt cx="5174" cy="387"/>
          </a:xfrm>
        </p:grpSpPr>
        <p:grpSp>
          <p:nvGrpSpPr>
            <p:cNvPr id="44" name="Group 8"/>
            <p:cNvGrpSpPr>
              <a:grpSpLocks/>
            </p:cNvGrpSpPr>
            <p:nvPr/>
          </p:nvGrpSpPr>
          <p:grpSpPr bwMode="auto">
            <a:xfrm>
              <a:off x="904" y="1462"/>
              <a:ext cx="432" cy="297"/>
              <a:chOff x="2037" y="2880"/>
              <a:chExt cx="432" cy="297"/>
            </a:xfrm>
          </p:grpSpPr>
          <p:sp>
            <p:nvSpPr>
              <p:cNvPr id="46" name="Oval 6"/>
              <p:cNvSpPr>
                <a:spLocks noChangeArrowheads="1"/>
              </p:cNvSpPr>
              <p:nvPr/>
            </p:nvSpPr>
            <p:spPr bwMode="auto">
              <a:xfrm>
                <a:off x="211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47" name="Line 7"/>
              <p:cNvSpPr>
                <a:spLocks noChangeShapeType="1"/>
              </p:cNvSpPr>
              <p:nvPr/>
            </p:nvSpPr>
            <p:spPr bwMode="auto">
              <a:xfrm>
                <a:off x="203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sp>
          <p:nvSpPr>
            <p:cNvPr id="45" name="Rectangle 16"/>
            <p:cNvSpPr>
              <a:spLocks noChangeArrowheads="1"/>
            </p:cNvSpPr>
            <p:nvPr/>
          </p:nvSpPr>
          <p:spPr bwMode="auto">
            <a:xfrm>
              <a:off x="1344" y="1442"/>
              <a:ext cx="473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defTabSz="914400" eaLnBrk="1" fontAlgn="base" latinLnBrk="0" hangingPunct="1">
                <a:lnSpc>
                  <a:spcPct val="100000"/>
                </a:lnSpc>
                <a:spcBef>
                  <a:spcPct val="20000"/>
                </a:spcBef>
                <a:spcAft>
                  <a:spcPct val="0"/>
                </a:spcAft>
                <a:buClrTx/>
                <a:buSzTx/>
                <a:buFontTx/>
                <a:buNone/>
                <a:tabLst/>
                <a:defRPr/>
              </a:pPr>
              <a:r>
                <a:rPr kumimoji="0" lang="en-US" altLang="en-US" sz="2400" b="1" i="0" u="none" strike="noStrike" kern="0" cap="none" spc="0" normalizeH="0" baseline="0" noProof="0" dirty="0">
                  <a:ln>
                    <a:noFill/>
                  </a:ln>
                  <a:solidFill>
                    <a:srgbClr val="00B050"/>
                  </a:solidFill>
                  <a:effectLst/>
                  <a:uLnTx/>
                  <a:uFillTx/>
                </a:rPr>
                <a:t>Entity – Persistent information tracked by System.</a:t>
              </a:r>
            </a:p>
          </p:txBody>
        </p:sp>
      </p:grpSp>
      <p:grpSp>
        <p:nvGrpSpPr>
          <p:cNvPr id="48" name="Group 20"/>
          <p:cNvGrpSpPr>
            <a:grpSpLocks/>
          </p:cNvGrpSpPr>
          <p:nvPr/>
        </p:nvGrpSpPr>
        <p:grpSpPr bwMode="auto">
          <a:xfrm>
            <a:off x="1599952" y="2468216"/>
            <a:ext cx="8196263" cy="622300"/>
            <a:chOff x="920" y="1923"/>
            <a:chExt cx="5163" cy="392"/>
          </a:xfrm>
        </p:grpSpPr>
        <p:grpSp>
          <p:nvGrpSpPr>
            <p:cNvPr id="49" name="Group 14"/>
            <p:cNvGrpSpPr>
              <a:grpSpLocks/>
            </p:cNvGrpSpPr>
            <p:nvPr/>
          </p:nvGrpSpPr>
          <p:grpSpPr bwMode="auto">
            <a:xfrm>
              <a:off x="920" y="1923"/>
              <a:ext cx="435" cy="288"/>
              <a:chOff x="3213" y="2544"/>
              <a:chExt cx="435" cy="288"/>
            </a:xfrm>
          </p:grpSpPr>
          <p:sp>
            <p:nvSpPr>
              <p:cNvPr id="51" name="Oval 4"/>
              <p:cNvSpPr>
                <a:spLocks noChangeArrowheads="1"/>
              </p:cNvSpPr>
              <p:nvPr/>
            </p:nvSpPr>
            <p:spPr bwMode="auto">
              <a:xfrm>
                <a:off x="3360" y="2544"/>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52" name="Line 12"/>
              <p:cNvSpPr>
                <a:spLocks noChangeShapeType="1"/>
              </p:cNvSpPr>
              <p:nvPr/>
            </p:nvSpPr>
            <p:spPr bwMode="auto">
              <a:xfrm>
                <a:off x="3213" y="2589"/>
                <a:ext cx="0" cy="219"/>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53" name="Line 13"/>
              <p:cNvSpPr>
                <a:spLocks noChangeShapeType="1"/>
              </p:cNvSpPr>
              <p:nvPr/>
            </p:nvSpPr>
            <p:spPr bwMode="auto">
              <a:xfrm rot="-5400000">
                <a:off x="3291" y="2616"/>
                <a:ext cx="0" cy="147"/>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sp>
          <p:nvSpPr>
            <p:cNvPr id="50" name="Rectangle 17"/>
            <p:cNvSpPr>
              <a:spLocks noChangeArrowheads="1"/>
            </p:cNvSpPr>
            <p:nvPr/>
          </p:nvSpPr>
          <p:spPr bwMode="auto">
            <a:xfrm>
              <a:off x="1349" y="1928"/>
              <a:ext cx="473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defTabSz="914400" eaLnBrk="1" fontAlgn="base" latinLnBrk="0" hangingPunct="1">
                <a:lnSpc>
                  <a:spcPct val="100000"/>
                </a:lnSpc>
                <a:spcBef>
                  <a:spcPct val="20000"/>
                </a:spcBef>
                <a:spcAft>
                  <a:spcPct val="0"/>
                </a:spcAft>
                <a:buClrTx/>
                <a:buSzTx/>
                <a:buFontTx/>
                <a:buNone/>
                <a:tabLst/>
                <a:defRPr/>
              </a:pPr>
              <a:r>
                <a:rPr kumimoji="0" lang="en-US" altLang="en-US" sz="2400" b="0" i="0" u="none" strike="noStrike" kern="0" cap="none" spc="0" normalizeH="0" baseline="0" noProof="0" dirty="0">
                  <a:ln>
                    <a:noFill/>
                  </a:ln>
                  <a:solidFill>
                    <a:prstClr val="black"/>
                  </a:solidFill>
                  <a:effectLst/>
                  <a:uLnTx/>
                  <a:uFillTx/>
                </a:rPr>
                <a:t>Boundary – Interaction between Actor and System.</a:t>
              </a:r>
            </a:p>
          </p:txBody>
        </p:sp>
      </p:grpSp>
      <p:grpSp>
        <p:nvGrpSpPr>
          <p:cNvPr id="54" name="Group 21"/>
          <p:cNvGrpSpPr>
            <a:grpSpLocks/>
          </p:cNvGrpSpPr>
          <p:nvPr/>
        </p:nvGrpSpPr>
        <p:grpSpPr bwMode="auto">
          <a:xfrm>
            <a:off x="1649165" y="3112741"/>
            <a:ext cx="8147050" cy="658812"/>
            <a:chOff x="951" y="2329"/>
            <a:chExt cx="5132" cy="415"/>
          </a:xfrm>
        </p:grpSpPr>
        <p:grpSp>
          <p:nvGrpSpPr>
            <p:cNvPr id="55" name="Group 11"/>
            <p:cNvGrpSpPr>
              <a:grpSpLocks/>
            </p:cNvGrpSpPr>
            <p:nvPr/>
          </p:nvGrpSpPr>
          <p:grpSpPr bwMode="auto">
            <a:xfrm>
              <a:off x="951" y="2329"/>
              <a:ext cx="288" cy="342"/>
              <a:chOff x="2736" y="2826"/>
              <a:chExt cx="288" cy="342"/>
            </a:xfrm>
          </p:grpSpPr>
          <p:sp>
            <p:nvSpPr>
              <p:cNvPr id="57" name="Oval 5"/>
              <p:cNvSpPr>
                <a:spLocks noChangeArrowheads="1"/>
              </p:cNvSpPr>
              <p:nvPr/>
            </p:nvSpPr>
            <p:spPr bwMode="auto">
              <a:xfrm>
                <a:off x="2736"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58" name="Line 9"/>
              <p:cNvSpPr>
                <a:spLocks noChangeShapeType="1"/>
              </p:cNvSpPr>
              <p:nvPr/>
            </p:nvSpPr>
            <p:spPr bwMode="auto">
              <a:xfrm flipV="1">
                <a:off x="2853" y="2826"/>
                <a:ext cx="57" cy="57"/>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sp>
            <p:nvSpPr>
              <p:cNvPr id="59" name="Line 10"/>
              <p:cNvSpPr>
                <a:spLocks noChangeShapeType="1"/>
              </p:cNvSpPr>
              <p:nvPr/>
            </p:nvSpPr>
            <p:spPr bwMode="auto">
              <a:xfrm>
                <a:off x="2853" y="2883"/>
                <a:ext cx="57" cy="57"/>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sp>
          <p:nvSpPr>
            <p:cNvPr id="56" name="Rectangle 18"/>
            <p:cNvSpPr>
              <a:spLocks noChangeArrowheads="1"/>
            </p:cNvSpPr>
            <p:nvPr/>
          </p:nvSpPr>
          <p:spPr bwMode="auto">
            <a:xfrm>
              <a:off x="1349" y="2357"/>
              <a:ext cx="4734"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marR="0" lvl="0" indent="-342900" defTabSz="914400" eaLnBrk="1" fontAlgn="base" latinLnBrk="0" hangingPunct="1">
                <a:lnSpc>
                  <a:spcPct val="100000"/>
                </a:lnSpc>
                <a:spcBef>
                  <a:spcPct val="20000"/>
                </a:spcBef>
                <a:spcAft>
                  <a:spcPct val="0"/>
                </a:spcAft>
                <a:buClrTx/>
                <a:buSzTx/>
                <a:buFontTx/>
                <a:buNone/>
                <a:tabLst/>
                <a:defRPr/>
              </a:pPr>
              <a:r>
                <a:rPr kumimoji="0" lang="en-US" altLang="en-US" sz="2400" b="0" i="0" u="none" strike="noStrike" kern="0" cap="none" spc="0" normalizeH="0" baseline="0" noProof="0" dirty="0">
                  <a:ln>
                    <a:noFill/>
                  </a:ln>
                  <a:solidFill>
                    <a:prstClr val="black"/>
                  </a:solidFill>
                  <a:effectLst/>
                  <a:uLnTx/>
                  <a:uFillTx/>
                </a:rPr>
                <a:t>Control – Logic to </a:t>
              </a:r>
              <a:r>
                <a:rPr kumimoji="0" lang="en-US" altLang="en-US" sz="2400" b="0" i="0" u="none" strike="noStrike" kern="0" cap="none" spc="0" normalizeH="0" baseline="0" noProof="0" dirty="0" err="1">
                  <a:ln>
                    <a:noFill/>
                  </a:ln>
                  <a:solidFill>
                    <a:prstClr val="black"/>
                  </a:solidFill>
                  <a:effectLst/>
                  <a:uLnTx/>
                  <a:uFillTx/>
                </a:rPr>
                <a:t>realise</a:t>
              </a:r>
              <a:r>
                <a:rPr kumimoji="0" lang="en-US" altLang="en-US" sz="2400" b="0" i="0" u="none" strike="noStrike" kern="0" cap="none" spc="0" normalizeH="0" baseline="0" noProof="0" dirty="0">
                  <a:ln>
                    <a:noFill/>
                  </a:ln>
                  <a:solidFill>
                    <a:prstClr val="black"/>
                  </a:solidFill>
                  <a:effectLst/>
                  <a:uLnTx/>
                  <a:uFillTx/>
                </a:rPr>
                <a:t> use case.</a:t>
              </a:r>
            </a:p>
          </p:txBody>
        </p:sp>
      </p:grpSp>
      <p:cxnSp>
        <p:nvCxnSpPr>
          <p:cNvPr id="60" name="Straight Connector 59"/>
          <p:cNvCxnSpPr/>
          <p:nvPr/>
        </p:nvCxnSpPr>
        <p:spPr>
          <a:xfrm>
            <a:off x="3864722" y="4460262"/>
            <a:ext cx="1116000" cy="0"/>
          </a:xfrm>
          <a:prstGeom prst="line">
            <a:avLst/>
          </a:prstGeom>
          <a:noFill/>
          <a:ln w="38100" cap="flat" cmpd="sng" algn="ctr">
            <a:solidFill>
              <a:srgbClr val="4F81BD">
                <a:shade val="95000"/>
                <a:satMod val="105000"/>
              </a:srgbClr>
            </a:solidFill>
            <a:prstDash val="dash"/>
          </a:ln>
          <a:effectLst/>
        </p:spPr>
      </p:cxnSp>
    </p:spTree>
    <p:custDataLst>
      <p:tags r:id="rId1"/>
    </p:custDataLst>
    <p:extLst>
      <p:ext uri="{BB962C8B-B14F-4D97-AF65-F5344CB8AC3E}">
        <p14:creationId xmlns:p14="http://schemas.microsoft.com/office/powerpoint/2010/main" val="14317108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uiExpand="1" build="p" animBg="1"/>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1054101" y="981076"/>
            <a:ext cx="10080624" cy="2519932"/>
          </a:xfrm>
          <a:solidFill>
            <a:schemeClr val="accent3">
              <a:lumMod val="20000"/>
              <a:lumOff val="80000"/>
            </a:schemeClr>
          </a:solidFill>
          <a:effectLst>
            <a:outerShdw blurRad="50800" dist="38100" dir="8100000" algn="tr" rotWithShape="0">
              <a:prstClr val="black">
                <a:alpha val="40000"/>
              </a:prstClr>
            </a:outerShdw>
          </a:effectLst>
        </p:spPr>
        <p:txBody>
          <a:bodyPr>
            <a:normAutofit/>
          </a:bodyPr>
          <a:lstStyle/>
          <a:p>
            <a:pPr eaLnBrk="1" hangingPunct="1"/>
            <a:r>
              <a:rPr lang="en-US" altLang="en-US" sz="2400" dirty="0"/>
              <a:t>Identify object </a:t>
            </a:r>
            <a:r>
              <a:rPr lang="en-US" altLang="en-US" sz="2400" dirty="0" err="1">
                <a:solidFill>
                  <a:srgbClr val="C00000"/>
                </a:solidFill>
              </a:rPr>
              <a:t>behaviours</a:t>
            </a:r>
            <a:r>
              <a:rPr lang="en-US" altLang="en-US" sz="2400" dirty="0"/>
              <a:t> and </a:t>
            </a:r>
            <a:r>
              <a:rPr lang="en-US" altLang="en-US" sz="2400" dirty="0">
                <a:solidFill>
                  <a:srgbClr val="C00000"/>
                </a:solidFill>
              </a:rPr>
              <a:t>interaction</a:t>
            </a:r>
            <a:r>
              <a:rPr lang="en-US" altLang="en-US" sz="2400" dirty="0"/>
              <a:t> through functional flow. </a:t>
            </a:r>
          </a:p>
          <a:p>
            <a:pPr eaLnBrk="1" hangingPunct="1"/>
            <a:r>
              <a:rPr lang="en-US" altLang="en-US" sz="2400" dirty="0"/>
              <a:t>Enhance classes details.</a:t>
            </a:r>
          </a:p>
          <a:p>
            <a:pPr eaLnBrk="1" hangingPunct="1"/>
            <a:r>
              <a:rPr lang="en-US" altLang="en-US" sz="2400" dirty="0"/>
              <a:t>Implement the model.</a:t>
            </a:r>
          </a:p>
          <a:p>
            <a:pPr eaLnBrk="1" hangingPunct="1"/>
            <a:r>
              <a:rPr lang="en-US" altLang="en-US" sz="2400" dirty="0"/>
              <a:t>Quality testing of application.</a:t>
            </a:r>
          </a:p>
        </p:txBody>
      </p:sp>
      <p:grpSp>
        <p:nvGrpSpPr>
          <p:cNvPr id="4" name="Group 3"/>
          <p:cNvGrpSpPr>
            <a:grpSpLocks/>
          </p:cNvGrpSpPr>
          <p:nvPr/>
        </p:nvGrpSpPr>
        <p:grpSpPr bwMode="auto">
          <a:xfrm>
            <a:off x="4694409" y="1358345"/>
            <a:ext cx="2264099" cy="702503"/>
            <a:chOff x="6086070" y="2260128"/>
            <a:chExt cx="2263575" cy="702419"/>
          </a:xfrm>
        </p:grpSpPr>
        <p:sp>
          <p:nvSpPr>
            <p:cNvPr id="5125" name="TextBox 1"/>
            <p:cNvSpPr txBox="1">
              <a:spLocks noChangeArrowheads="1"/>
            </p:cNvSpPr>
            <p:nvPr/>
          </p:nvSpPr>
          <p:spPr bwMode="auto">
            <a:xfrm>
              <a:off x="6738808" y="2260128"/>
              <a:ext cx="1610837" cy="646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SG" altLang="en-US" sz="1800" b="1" dirty="0">
                  <a:solidFill>
                    <a:schemeClr val="accent4">
                      <a:lumMod val="50000"/>
                    </a:schemeClr>
                  </a:solidFill>
                </a:rPr>
                <a:t>Discover more </a:t>
              </a:r>
            </a:p>
            <a:p>
              <a:pPr eaLnBrk="1" hangingPunct="1">
                <a:spcBef>
                  <a:spcPct val="0"/>
                </a:spcBef>
                <a:buFontTx/>
                <a:buNone/>
              </a:pPr>
              <a:r>
                <a:rPr lang="en-SG" altLang="en-US" sz="1800" b="1" dirty="0">
                  <a:solidFill>
                    <a:schemeClr val="accent4">
                      <a:lumMod val="50000"/>
                    </a:schemeClr>
                  </a:solidFill>
                </a:rPr>
                <a:t>methods</a:t>
              </a:r>
            </a:p>
          </p:txBody>
        </p:sp>
        <p:sp>
          <p:nvSpPr>
            <p:cNvPr id="3" name="Bent Arrow 2"/>
            <p:cNvSpPr/>
            <p:nvPr/>
          </p:nvSpPr>
          <p:spPr>
            <a:xfrm rot="10800000">
              <a:off x="6086070" y="2292702"/>
              <a:ext cx="634853" cy="669845"/>
            </a:xfrm>
            <a:prstGeom prst="bentArrow">
              <a:avLst/>
            </a:prstGeom>
            <a:solidFill>
              <a:schemeClr val="bg2">
                <a:lumMod val="75000"/>
              </a:schemeClr>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solidFill>
                  <a:schemeClr val="tx1"/>
                </a:solidFill>
              </a:endParaRPr>
            </a:p>
          </p:txBody>
        </p:sp>
      </p:grpSp>
      <p:sp>
        <p:nvSpPr>
          <p:cNvPr id="7" name="Rectangle 2"/>
          <p:cNvSpPr>
            <a:spLocks noGrp="1" noChangeArrowheads="1"/>
          </p:cNvSpPr>
          <p:nvPr>
            <p:ph type="title"/>
          </p:nvPr>
        </p:nvSpPr>
        <p:spPr>
          <a:xfrm>
            <a:off x="1054100" y="-2182"/>
            <a:ext cx="9503792" cy="550862"/>
          </a:xfrm>
        </p:spPr>
        <p:txBody>
          <a:bodyPr/>
          <a:lstStyle/>
          <a:p>
            <a:pPr eaLnBrk="1" hangingPunct="1"/>
            <a:r>
              <a:rPr lang="en-US" altLang="en-US" b="1" dirty="0"/>
              <a:t>Modeling OO Application</a:t>
            </a:r>
          </a:p>
        </p:txBody>
      </p:sp>
    </p:spTree>
    <p:custDataLst>
      <p:tags r:id="rId1"/>
    </p:custDataLst>
    <p:extLst>
      <p:ext uri="{BB962C8B-B14F-4D97-AF65-F5344CB8AC3E}">
        <p14:creationId xmlns:p14="http://schemas.microsoft.com/office/powerpoint/2010/main" val="32222241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b="1" dirty="0"/>
              <a:t>Software Development Process</a:t>
            </a:r>
          </a:p>
        </p:txBody>
      </p:sp>
      <p:sp>
        <p:nvSpPr>
          <p:cNvPr id="3" name="Rectangle 2"/>
          <p:cNvSpPr/>
          <p:nvPr/>
        </p:nvSpPr>
        <p:spPr>
          <a:xfrm>
            <a:off x="-2258516" y="1114426"/>
            <a:ext cx="1944216" cy="17015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Animation to be inserted</a:t>
            </a:r>
            <a:endParaRPr lang="en-GB" dirty="0"/>
          </a:p>
        </p:txBody>
      </p:sp>
    </p:spTree>
    <p:extLst>
      <p:ext uri="{BB962C8B-B14F-4D97-AF65-F5344CB8AC3E}">
        <p14:creationId xmlns:p14="http://schemas.microsoft.com/office/powerpoint/2010/main" val="403417543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661775" y="3179897"/>
            <a:ext cx="6104441" cy="1896778"/>
            <a:chOff x="5822619" y="5238538"/>
            <a:chExt cx="6104441" cy="1896778"/>
          </a:xfrm>
        </p:grpSpPr>
        <p:grpSp>
          <p:nvGrpSpPr>
            <p:cNvPr id="6" name="Group 5"/>
            <p:cNvGrpSpPr/>
            <p:nvPr/>
          </p:nvGrpSpPr>
          <p:grpSpPr>
            <a:xfrm>
              <a:off x="5822619" y="5238538"/>
              <a:ext cx="1440000" cy="612000"/>
              <a:chOff x="7969912" y="4416349"/>
              <a:chExt cx="1440000" cy="612000"/>
            </a:xfrm>
          </p:grpSpPr>
          <p:sp>
            <p:nvSpPr>
              <p:cNvPr id="5" name="Rectangle 4"/>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Professor</a:t>
                </a:r>
                <a:endParaRPr lang="en-GB" sz="1600" b="1" dirty="0">
                  <a:solidFill>
                    <a:schemeClr val="tx1"/>
                  </a:solidFill>
                  <a:latin typeface="Calibri" panose="020F0502020204030204" pitchFamily="34" charset="0"/>
                </a:endParaRPr>
              </a:p>
            </p:txBody>
          </p:sp>
        </p:grpSp>
        <p:grpSp>
          <p:nvGrpSpPr>
            <p:cNvPr id="36" name="Group 35"/>
            <p:cNvGrpSpPr/>
            <p:nvPr/>
          </p:nvGrpSpPr>
          <p:grpSpPr>
            <a:xfrm>
              <a:off x="8254652" y="5238538"/>
              <a:ext cx="1440000" cy="612000"/>
              <a:chOff x="7969912" y="4416349"/>
              <a:chExt cx="1440000" cy="612000"/>
            </a:xfrm>
          </p:grpSpPr>
          <p:sp>
            <p:nvSpPr>
              <p:cNvPr id="37" name="Rectangle 36"/>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37"/>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Student</a:t>
                </a:r>
                <a:endParaRPr lang="en-GB" sz="1600" b="1" dirty="0">
                  <a:solidFill>
                    <a:schemeClr val="tx1"/>
                  </a:solidFill>
                  <a:latin typeface="Calibri" panose="020F0502020204030204" pitchFamily="34" charset="0"/>
                </a:endParaRPr>
              </a:p>
            </p:txBody>
          </p:sp>
        </p:grpSp>
        <p:grpSp>
          <p:nvGrpSpPr>
            <p:cNvPr id="39" name="Group 38"/>
            <p:cNvGrpSpPr/>
            <p:nvPr/>
          </p:nvGrpSpPr>
          <p:grpSpPr>
            <a:xfrm>
              <a:off x="10487060" y="5238538"/>
              <a:ext cx="1440000" cy="612000"/>
              <a:chOff x="7969912" y="4416349"/>
              <a:chExt cx="1440000" cy="612000"/>
            </a:xfrm>
          </p:grpSpPr>
          <p:sp>
            <p:nvSpPr>
              <p:cNvPr id="40" name="Rectangle 39"/>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Course</a:t>
                </a:r>
                <a:endParaRPr lang="en-GB" sz="1600" b="1" dirty="0">
                  <a:solidFill>
                    <a:schemeClr val="tx1"/>
                  </a:solidFill>
                  <a:latin typeface="Calibri" panose="020F0502020204030204" pitchFamily="34" charset="0"/>
                </a:endParaRPr>
              </a:p>
            </p:txBody>
          </p:sp>
        </p:grpSp>
        <p:grpSp>
          <p:nvGrpSpPr>
            <p:cNvPr id="42" name="Group 41"/>
            <p:cNvGrpSpPr/>
            <p:nvPr/>
          </p:nvGrpSpPr>
          <p:grpSpPr>
            <a:xfrm>
              <a:off x="8254652" y="6523316"/>
              <a:ext cx="1440000" cy="612000"/>
              <a:chOff x="7969912" y="4416349"/>
              <a:chExt cx="1440000" cy="612000"/>
            </a:xfrm>
          </p:grpSpPr>
          <p:sp>
            <p:nvSpPr>
              <p:cNvPr id="43" name="Rectangle 42"/>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Result</a:t>
                </a:r>
                <a:endParaRPr lang="en-GB" sz="1600" b="1" dirty="0">
                  <a:solidFill>
                    <a:schemeClr val="tx1"/>
                  </a:solidFill>
                  <a:latin typeface="Calibri" panose="020F0502020204030204" pitchFamily="34" charset="0"/>
                </a:endParaRPr>
              </a:p>
            </p:txBody>
          </p:sp>
        </p:grpSp>
      </p:grpSp>
      <p:sp>
        <p:nvSpPr>
          <p:cNvPr id="7171" name="Title 1"/>
          <p:cNvSpPr>
            <a:spLocks noGrp="1"/>
          </p:cNvSpPr>
          <p:nvPr>
            <p:ph type="title"/>
          </p:nvPr>
        </p:nvSpPr>
        <p:spPr/>
        <p:txBody>
          <a:bodyPr/>
          <a:lstStyle/>
          <a:p>
            <a:r>
              <a:rPr lang="en-US" altLang="en-US" b="1" dirty="0"/>
              <a:t>A Short Example</a:t>
            </a:r>
          </a:p>
        </p:txBody>
      </p:sp>
      <p:sp>
        <p:nvSpPr>
          <p:cNvPr id="57" name="Content Placeholder 2"/>
          <p:cNvSpPr txBox="1">
            <a:spLocks/>
          </p:cNvSpPr>
          <p:nvPr/>
        </p:nvSpPr>
        <p:spPr bwMode="auto">
          <a:xfrm>
            <a:off x="1053852" y="981076"/>
            <a:ext cx="10080873" cy="1074310"/>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ysClr val="windowText" lastClr="000000"/>
                </a:solidFill>
                <a:effectLst/>
                <a:uLnTx/>
                <a:uFillTx/>
                <a:latin typeface="Calibri" panose="020F0502020204030204" pitchFamily="34" charset="0"/>
              </a:rPr>
              <a:t>“……..A professor is a mentor to at least 1 student. He/she can check the course results of his/her mentees, which the students have registered…..”</a:t>
            </a:r>
          </a:p>
        </p:txBody>
      </p:sp>
      <p:cxnSp>
        <p:nvCxnSpPr>
          <p:cNvPr id="58" name="Straight Connector 57"/>
          <p:cNvCxnSpPr/>
          <p:nvPr/>
        </p:nvCxnSpPr>
        <p:spPr>
          <a:xfrm>
            <a:off x="1896740" y="1302668"/>
            <a:ext cx="1008000" cy="0"/>
          </a:xfrm>
          <a:prstGeom prst="line">
            <a:avLst/>
          </a:prstGeom>
          <a:noFill/>
          <a:ln w="28575" cap="flat" cmpd="sng" algn="ctr">
            <a:solidFill>
              <a:srgbClr val="FF0000"/>
            </a:solidFill>
            <a:prstDash val="solid"/>
          </a:ln>
          <a:effectLst/>
        </p:spPr>
      </p:cxnSp>
      <p:cxnSp>
        <p:nvCxnSpPr>
          <p:cNvPr id="59" name="Straight Connector 58"/>
          <p:cNvCxnSpPr/>
          <p:nvPr/>
        </p:nvCxnSpPr>
        <p:spPr>
          <a:xfrm flipV="1">
            <a:off x="3332708" y="1302668"/>
            <a:ext cx="817488" cy="4192"/>
          </a:xfrm>
          <a:prstGeom prst="line">
            <a:avLst/>
          </a:prstGeom>
          <a:noFill/>
          <a:ln w="28575" cap="flat" cmpd="sng" algn="ctr">
            <a:solidFill>
              <a:srgbClr val="FF0000"/>
            </a:solidFill>
            <a:prstDash val="solid"/>
          </a:ln>
          <a:effectLst/>
        </p:spPr>
      </p:cxnSp>
      <p:cxnSp>
        <p:nvCxnSpPr>
          <p:cNvPr id="60" name="Straight Connector 59"/>
          <p:cNvCxnSpPr/>
          <p:nvPr/>
        </p:nvCxnSpPr>
        <p:spPr>
          <a:xfrm flipV="1">
            <a:off x="5275402" y="1317745"/>
            <a:ext cx="972000" cy="13432"/>
          </a:xfrm>
          <a:prstGeom prst="line">
            <a:avLst/>
          </a:prstGeom>
          <a:noFill/>
          <a:ln w="28575" cap="flat" cmpd="sng" algn="ctr">
            <a:solidFill>
              <a:srgbClr val="FF0000"/>
            </a:solidFill>
            <a:prstDash val="solid"/>
          </a:ln>
          <a:effectLst/>
        </p:spPr>
      </p:cxnSp>
      <p:cxnSp>
        <p:nvCxnSpPr>
          <p:cNvPr id="61" name="Straight Connector 60"/>
          <p:cNvCxnSpPr/>
          <p:nvPr/>
        </p:nvCxnSpPr>
        <p:spPr>
          <a:xfrm flipV="1">
            <a:off x="8661300" y="1318372"/>
            <a:ext cx="612000" cy="2813"/>
          </a:xfrm>
          <a:prstGeom prst="line">
            <a:avLst/>
          </a:prstGeom>
          <a:noFill/>
          <a:ln w="28575" cap="flat" cmpd="sng" algn="ctr">
            <a:solidFill>
              <a:srgbClr val="FF0000"/>
            </a:solidFill>
            <a:prstDash val="solid"/>
          </a:ln>
          <a:effectLst/>
        </p:spPr>
      </p:cxnSp>
      <p:cxnSp>
        <p:nvCxnSpPr>
          <p:cNvPr id="62" name="Straight Connector 61"/>
          <p:cNvCxnSpPr/>
          <p:nvPr/>
        </p:nvCxnSpPr>
        <p:spPr>
          <a:xfrm flipV="1">
            <a:off x="9392627" y="1310147"/>
            <a:ext cx="648000" cy="0"/>
          </a:xfrm>
          <a:prstGeom prst="line">
            <a:avLst/>
          </a:prstGeom>
          <a:noFill/>
          <a:ln w="28575" cap="flat" cmpd="sng" algn="ctr">
            <a:solidFill>
              <a:srgbClr val="FF0000"/>
            </a:solidFill>
            <a:prstDash val="solid"/>
          </a:ln>
          <a:effectLst/>
        </p:spPr>
      </p:cxnSp>
      <p:cxnSp>
        <p:nvCxnSpPr>
          <p:cNvPr id="63" name="Straight Connector 62"/>
          <p:cNvCxnSpPr/>
          <p:nvPr/>
        </p:nvCxnSpPr>
        <p:spPr>
          <a:xfrm>
            <a:off x="2232047" y="1628800"/>
            <a:ext cx="1100661" cy="0"/>
          </a:xfrm>
          <a:prstGeom prst="line">
            <a:avLst/>
          </a:prstGeom>
          <a:noFill/>
          <a:ln w="28575" cap="flat" cmpd="sng" algn="ctr">
            <a:solidFill>
              <a:srgbClr val="FF0000"/>
            </a:solidFill>
            <a:prstDash val="solid"/>
          </a:ln>
          <a:effectLst/>
        </p:spPr>
      </p:cxnSp>
      <p:sp>
        <p:nvSpPr>
          <p:cNvPr id="65" name="TextBox 64"/>
          <p:cNvSpPr txBox="1">
            <a:spLocks noChangeArrowheads="1"/>
          </p:cNvSpPr>
          <p:nvPr/>
        </p:nvSpPr>
        <p:spPr bwMode="auto">
          <a:xfrm>
            <a:off x="2886778" y="3411199"/>
            <a:ext cx="840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name</a:t>
            </a:r>
          </a:p>
        </p:txBody>
      </p:sp>
      <p:sp>
        <p:nvSpPr>
          <p:cNvPr id="66" name="TextBox 65"/>
          <p:cNvSpPr txBox="1">
            <a:spLocks noChangeArrowheads="1"/>
          </p:cNvSpPr>
          <p:nvPr/>
        </p:nvSpPr>
        <p:spPr bwMode="auto">
          <a:xfrm>
            <a:off x="5312478" y="3420591"/>
            <a:ext cx="840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name</a:t>
            </a:r>
          </a:p>
        </p:txBody>
      </p:sp>
      <p:sp>
        <p:nvSpPr>
          <p:cNvPr id="67" name="TextBox 66"/>
          <p:cNvSpPr txBox="1">
            <a:spLocks noChangeArrowheads="1"/>
          </p:cNvSpPr>
          <p:nvPr/>
        </p:nvSpPr>
        <p:spPr bwMode="auto">
          <a:xfrm>
            <a:off x="7342295" y="3420591"/>
            <a:ext cx="14884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a:t>
            </a:r>
            <a:r>
              <a:rPr lang="en-US" altLang="en-US" sz="1800" dirty="0" err="1">
                <a:solidFill>
                  <a:prstClr val="black"/>
                </a:solidFill>
              </a:rPr>
              <a:t>courseName</a:t>
            </a:r>
            <a:endParaRPr lang="en-US" altLang="en-US" sz="1800" dirty="0">
              <a:solidFill>
                <a:prstClr val="black"/>
              </a:solidFill>
            </a:endParaRPr>
          </a:p>
        </p:txBody>
      </p:sp>
      <p:grpSp>
        <p:nvGrpSpPr>
          <p:cNvPr id="69" name="Group 68"/>
          <p:cNvGrpSpPr>
            <a:grpSpLocks/>
          </p:cNvGrpSpPr>
          <p:nvPr/>
        </p:nvGrpSpPr>
        <p:grpSpPr bwMode="auto">
          <a:xfrm>
            <a:off x="2975678" y="2528416"/>
            <a:ext cx="5411788" cy="2482850"/>
            <a:chOff x="1677988" y="3300484"/>
            <a:chExt cx="5411788" cy="2483572"/>
          </a:xfrm>
        </p:grpSpPr>
        <p:grpSp>
          <p:nvGrpSpPr>
            <p:cNvPr id="70" name="Group 45"/>
            <p:cNvGrpSpPr>
              <a:grpSpLocks/>
            </p:cNvGrpSpPr>
            <p:nvPr/>
          </p:nvGrpSpPr>
          <p:grpSpPr bwMode="auto">
            <a:xfrm>
              <a:off x="1677988" y="3314772"/>
              <a:ext cx="685800" cy="471488"/>
              <a:chOff x="2037" y="2880"/>
              <a:chExt cx="432" cy="297"/>
            </a:xfrm>
          </p:grpSpPr>
          <p:sp>
            <p:nvSpPr>
              <p:cNvPr id="80" name="Oval 46"/>
              <p:cNvSpPr>
                <a:spLocks noChangeArrowheads="1"/>
              </p:cNvSpPr>
              <p:nvPr/>
            </p:nvSpPr>
            <p:spPr bwMode="auto">
              <a:xfrm>
                <a:off x="211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81" name="Line 47"/>
              <p:cNvSpPr>
                <a:spLocks noChangeShapeType="1"/>
              </p:cNvSpPr>
              <p:nvPr/>
            </p:nvSpPr>
            <p:spPr bwMode="auto">
              <a:xfrm>
                <a:off x="203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71" name="Group 45"/>
            <p:cNvGrpSpPr>
              <a:grpSpLocks/>
            </p:cNvGrpSpPr>
            <p:nvPr/>
          </p:nvGrpSpPr>
          <p:grpSpPr bwMode="auto">
            <a:xfrm>
              <a:off x="4135438" y="3314772"/>
              <a:ext cx="685800" cy="471488"/>
              <a:chOff x="2077" y="2880"/>
              <a:chExt cx="432" cy="297"/>
            </a:xfrm>
          </p:grpSpPr>
          <p:sp>
            <p:nvSpPr>
              <p:cNvPr id="78" name="Oval 46"/>
              <p:cNvSpPr>
                <a:spLocks noChangeArrowheads="1"/>
              </p:cNvSpPr>
              <p:nvPr/>
            </p:nvSpPr>
            <p:spPr bwMode="auto">
              <a:xfrm>
                <a:off x="215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79" name="Line 47"/>
              <p:cNvSpPr>
                <a:spLocks noChangeShapeType="1"/>
              </p:cNvSpPr>
              <p:nvPr/>
            </p:nvSpPr>
            <p:spPr bwMode="auto">
              <a:xfrm>
                <a:off x="207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72" name="Group 45"/>
            <p:cNvGrpSpPr>
              <a:grpSpLocks/>
            </p:cNvGrpSpPr>
            <p:nvPr/>
          </p:nvGrpSpPr>
          <p:grpSpPr bwMode="auto">
            <a:xfrm>
              <a:off x="6403976" y="3300484"/>
              <a:ext cx="685800" cy="471488"/>
              <a:chOff x="1815" y="2880"/>
              <a:chExt cx="432" cy="297"/>
            </a:xfrm>
          </p:grpSpPr>
          <p:sp>
            <p:nvSpPr>
              <p:cNvPr id="76" name="Oval 46"/>
              <p:cNvSpPr>
                <a:spLocks noChangeArrowheads="1"/>
              </p:cNvSpPr>
              <p:nvPr/>
            </p:nvSpPr>
            <p:spPr bwMode="auto">
              <a:xfrm>
                <a:off x="1890"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77" name="Line 47"/>
              <p:cNvSpPr>
                <a:spLocks noChangeShapeType="1"/>
              </p:cNvSpPr>
              <p:nvPr/>
            </p:nvSpPr>
            <p:spPr bwMode="auto">
              <a:xfrm>
                <a:off x="1815"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73" name="Group 45"/>
            <p:cNvGrpSpPr>
              <a:grpSpLocks/>
            </p:cNvGrpSpPr>
            <p:nvPr/>
          </p:nvGrpSpPr>
          <p:grpSpPr bwMode="auto">
            <a:xfrm>
              <a:off x="5337175" y="5312568"/>
              <a:ext cx="685800" cy="471488"/>
              <a:chOff x="2037" y="2880"/>
              <a:chExt cx="432" cy="297"/>
            </a:xfrm>
          </p:grpSpPr>
          <p:sp>
            <p:nvSpPr>
              <p:cNvPr id="74" name="Oval 46"/>
              <p:cNvSpPr>
                <a:spLocks noChangeArrowheads="1"/>
              </p:cNvSpPr>
              <p:nvPr/>
            </p:nvSpPr>
            <p:spPr bwMode="auto">
              <a:xfrm>
                <a:off x="211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75" name="Line 47"/>
              <p:cNvSpPr>
                <a:spLocks noChangeShapeType="1"/>
              </p:cNvSpPr>
              <p:nvPr/>
            </p:nvSpPr>
            <p:spPr bwMode="auto">
              <a:xfrm>
                <a:off x="203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grpSp>
        <p:nvGrpSpPr>
          <p:cNvPr id="20" name="Group 19"/>
          <p:cNvGrpSpPr/>
          <p:nvPr/>
        </p:nvGrpSpPr>
        <p:grpSpPr>
          <a:xfrm>
            <a:off x="2656806" y="3179897"/>
            <a:ext cx="6104441" cy="2193318"/>
            <a:chOff x="-2114500" y="1628800"/>
            <a:chExt cx="6104441" cy="2193318"/>
          </a:xfrm>
        </p:grpSpPr>
        <p:grpSp>
          <p:nvGrpSpPr>
            <p:cNvPr id="17" name="Group 16"/>
            <p:cNvGrpSpPr/>
            <p:nvPr/>
          </p:nvGrpSpPr>
          <p:grpSpPr>
            <a:xfrm>
              <a:off x="-2114500" y="1628800"/>
              <a:ext cx="6104441" cy="2193318"/>
              <a:chOff x="-2114500" y="1628800"/>
              <a:chExt cx="6104441" cy="2193318"/>
            </a:xfrm>
          </p:grpSpPr>
          <p:cxnSp>
            <p:nvCxnSpPr>
              <p:cNvPr id="9" name="Straight Connector 8"/>
              <p:cNvCxnSpPr>
                <a:endCxn id="53" idx="1"/>
              </p:cNvCxnSpPr>
              <p:nvPr/>
            </p:nvCxnSpPr>
            <p:spPr>
              <a:xfrm>
                <a:off x="-674500" y="1929500"/>
                <a:ext cx="3224441" cy="5300"/>
              </a:xfrm>
              <a:prstGeom prst="line">
                <a:avLst/>
              </a:prstGeom>
            </p:spPr>
            <p:style>
              <a:lnRef idx="2">
                <a:schemeClr val="dk1"/>
              </a:lnRef>
              <a:fillRef idx="0">
                <a:schemeClr val="dk1"/>
              </a:fillRef>
              <a:effectRef idx="1">
                <a:schemeClr val="dk1"/>
              </a:effectRef>
              <a:fontRef idx="minor">
                <a:schemeClr val="tx1"/>
              </a:fontRef>
            </p:style>
          </p:cxnSp>
          <p:sp>
            <p:nvSpPr>
              <p:cNvPr id="86" name="Isosceles Triangle 85"/>
              <p:cNvSpPr/>
              <p:nvPr/>
            </p:nvSpPr>
            <p:spPr bwMode="auto">
              <a:xfrm rot="13636352">
                <a:off x="-516285" y="2779289"/>
                <a:ext cx="296862" cy="1143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nvGrpSpPr>
              <p:cNvPr id="16" name="Group 15"/>
              <p:cNvGrpSpPr/>
              <p:nvPr/>
            </p:nvGrpSpPr>
            <p:grpSpPr>
              <a:xfrm>
                <a:off x="-2114500" y="1628800"/>
                <a:ext cx="6104441" cy="2193318"/>
                <a:chOff x="-2114500" y="1628800"/>
                <a:chExt cx="6104441" cy="2193318"/>
              </a:xfrm>
            </p:grpSpPr>
            <p:grpSp>
              <p:nvGrpSpPr>
                <p:cNvPr id="15" name="Group 14"/>
                <p:cNvGrpSpPr/>
                <p:nvPr/>
              </p:nvGrpSpPr>
              <p:grpSpPr>
                <a:xfrm>
                  <a:off x="-2114500" y="1628800"/>
                  <a:ext cx="6104441" cy="2193318"/>
                  <a:chOff x="-2114500" y="1244190"/>
                  <a:chExt cx="6104441" cy="2193318"/>
                </a:xfrm>
              </p:grpSpPr>
              <p:grpSp>
                <p:nvGrpSpPr>
                  <p:cNvPr id="46" name="Group 45"/>
                  <p:cNvGrpSpPr/>
                  <p:nvPr/>
                </p:nvGrpSpPr>
                <p:grpSpPr>
                  <a:xfrm>
                    <a:off x="-2114500" y="1244190"/>
                    <a:ext cx="6104441" cy="2193318"/>
                    <a:chOff x="5822619" y="5238538"/>
                    <a:chExt cx="6104441" cy="2193318"/>
                  </a:xfrm>
                </p:grpSpPr>
                <p:grpSp>
                  <p:nvGrpSpPr>
                    <p:cNvPr id="47" name="Group 46"/>
                    <p:cNvGrpSpPr/>
                    <p:nvPr/>
                  </p:nvGrpSpPr>
                  <p:grpSpPr>
                    <a:xfrm>
                      <a:off x="5822619" y="5238538"/>
                      <a:ext cx="1440000" cy="612000"/>
                      <a:chOff x="7969912" y="4416349"/>
                      <a:chExt cx="1440000" cy="612000"/>
                    </a:xfrm>
                  </p:grpSpPr>
                  <p:sp>
                    <p:nvSpPr>
                      <p:cNvPr id="83" name="Rectangle 82"/>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4" name="Rectangle 83"/>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Professor</a:t>
                        </a:r>
                        <a:endParaRPr lang="en-GB" sz="1600" b="1" dirty="0">
                          <a:solidFill>
                            <a:schemeClr val="tx1"/>
                          </a:solidFill>
                          <a:latin typeface="Calibri" panose="020F0502020204030204" pitchFamily="34" charset="0"/>
                        </a:endParaRPr>
                      </a:p>
                    </p:txBody>
                  </p:sp>
                </p:grpSp>
                <p:grpSp>
                  <p:nvGrpSpPr>
                    <p:cNvPr id="48" name="Group 47"/>
                    <p:cNvGrpSpPr/>
                    <p:nvPr/>
                  </p:nvGrpSpPr>
                  <p:grpSpPr>
                    <a:xfrm>
                      <a:off x="8254652" y="5238538"/>
                      <a:ext cx="1440000" cy="612000"/>
                      <a:chOff x="7969912" y="4416349"/>
                      <a:chExt cx="1440000" cy="612000"/>
                    </a:xfrm>
                  </p:grpSpPr>
                  <p:sp>
                    <p:nvSpPr>
                      <p:cNvPr id="55" name="Rectangle 54"/>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2" name="Rectangle 81"/>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Student</a:t>
                        </a:r>
                        <a:endParaRPr lang="en-GB" sz="1600" b="1" dirty="0">
                          <a:solidFill>
                            <a:schemeClr val="tx1"/>
                          </a:solidFill>
                          <a:latin typeface="Calibri" panose="020F0502020204030204" pitchFamily="34" charset="0"/>
                        </a:endParaRPr>
                      </a:p>
                    </p:txBody>
                  </p:sp>
                </p:grpSp>
                <p:grpSp>
                  <p:nvGrpSpPr>
                    <p:cNvPr id="49" name="Group 48"/>
                    <p:cNvGrpSpPr/>
                    <p:nvPr/>
                  </p:nvGrpSpPr>
                  <p:grpSpPr>
                    <a:xfrm>
                      <a:off x="10487060" y="5238538"/>
                      <a:ext cx="1440000" cy="612000"/>
                      <a:chOff x="7969912" y="4416349"/>
                      <a:chExt cx="1440000" cy="612000"/>
                    </a:xfrm>
                  </p:grpSpPr>
                  <p:sp>
                    <p:nvSpPr>
                      <p:cNvPr id="53" name="Rectangle 52"/>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Rectangle 53"/>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Course</a:t>
                        </a:r>
                        <a:endParaRPr lang="en-GB" sz="1600" b="1" dirty="0">
                          <a:solidFill>
                            <a:schemeClr val="tx1"/>
                          </a:solidFill>
                          <a:latin typeface="Calibri" panose="020F0502020204030204" pitchFamily="34" charset="0"/>
                        </a:endParaRPr>
                      </a:p>
                    </p:txBody>
                  </p:sp>
                </p:grpSp>
                <p:grpSp>
                  <p:nvGrpSpPr>
                    <p:cNvPr id="50" name="Group 49"/>
                    <p:cNvGrpSpPr/>
                    <p:nvPr/>
                  </p:nvGrpSpPr>
                  <p:grpSpPr>
                    <a:xfrm>
                      <a:off x="8254652" y="6523315"/>
                      <a:ext cx="1440000" cy="908541"/>
                      <a:chOff x="7969912" y="4416348"/>
                      <a:chExt cx="1440000" cy="908541"/>
                    </a:xfrm>
                  </p:grpSpPr>
                  <p:sp>
                    <p:nvSpPr>
                      <p:cNvPr id="51" name="Rectangle 50"/>
                      <p:cNvSpPr/>
                      <p:nvPr/>
                    </p:nvSpPr>
                    <p:spPr>
                      <a:xfrm>
                        <a:off x="7969912" y="4416348"/>
                        <a:ext cx="1440000" cy="908541"/>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ectangle 51"/>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Result</a:t>
                        </a:r>
                        <a:endParaRPr lang="en-GB" sz="1600" b="1" dirty="0">
                          <a:solidFill>
                            <a:schemeClr val="tx1"/>
                          </a:solidFill>
                          <a:latin typeface="Calibri" panose="020F0502020204030204" pitchFamily="34" charset="0"/>
                        </a:endParaRPr>
                      </a:p>
                    </p:txBody>
                  </p:sp>
                </p:grpSp>
              </p:grpSp>
              <p:sp>
                <p:nvSpPr>
                  <p:cNvPr id="85" name="Folded Corner 84"/>
                  <p:cNvSpPr/>
                  <p:nvPr/>
                </p:nvSpPr>
                <p:spPr bwMode="auto">
                  <a:xfrm rot="16200000">
                    <a:off x="-1191121" y="1760142"/>
                    <a:ext cx="447675" cy="1481137"/>
                  </a:xfrm>
                  <a:prstGeom prst="foldedCorner">
                    <a:avLst>
                      <a:gd name="adj" fmla="val 50000"/>
                    </a:avLst>
                  </a:prstGeom>
                  <a:solidFill>
                    <a:schemeClr val="bg2">
                      <a:lumMod val="90000"/>
                    </a:schemeClr>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dirty="0"/>
                  </a:p>
                </p:txBody>
              </p:sp>
              <p:sp>
                <p:nvSpPr>
                  <p:cNvPr id="87" name="TextBox 86"/>
                  <p:cNvSpPr txBox="1"/>
                  <p:nvPr/>
                </p:nvSpPr>
                <p:spPr bwMode="auto">
                  <a:xfrm>
                    <a:off x="-1712466" y="2241600"/>
                    <a:ext cx="1352551" cy="523220"/>
                  </a:xfrm>
                  <a:prstGeom prst="rect">
                    <a:avLst/>
                  </a:prstGeom>
                  <a:noFill/>
                </p:spPr>
                <p:txBody>
                  <a:bodyPr wrap="square">
                    <a:spAutoFit/>
                  </a:bodyPr>
                  <a:lstStyle/>
                  <a:p>
                    <a:pPr>
                      <a:defRPr/>
                    </a:pPr>
                    <a:r>
                      <a:rPr lang="en-US" sz="1400" dirty="0">
                        <a:latin typeface="Calibri" panose="020F0502020204030204" pitchFamily="34" charset="0"/>
                      </a:rPr>
                      <a:t>as Student Record</a:t>
                    </a:r>
                    <a:endParaRPr lang="en-GB" sz="1400" dirty="0">
                      <a:latin typeface="Calibri" panose="020F0502020204030204" pitchFamily="34" charset="0"/>
                    </a:endParaRPr>
                  </a:p>
                </p:txBody>
              </p:sp>
              <p:cxnSp>
                <p:nvCxnSpPr>
                  <p:cNvPr id="88" name="Straight Connector 87"/>
                  <p:cNvCxnSpPr/>
                  <p:nvPr/>
                </p:nvCxnSpPr>
                <p:spPr bwMode="auto">
                  <a:xfrm flipH="1">
                    <a:off x="-325872" y="1845654"/>
                    <a:ext cx="648000" cy="55016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89" name="Straight Arrow Connector 88"/>
                <p:cNvCxnSpPr/>
                <p:nvPr/>
              </p:nvCxnSpPr>
              <p:spPr bwMode="auto">
                <a:xfrm flipV="1">
                  <a:off x="1739232" y="2265546"/>
                  <a:ext cx="846254" cy="673114"/>
                </a:xfrm>
                <a:prstGeom prst="straightConnector1">
                  <a:avLst/>
                </a:prstGeom>
                <a:ln w="25400">
                  <a:solidFill>
                    <a:schemeClr val="tx1"/>
                  </a:solidFill>
                  <a:headEnd w="lg" len="lg"/>
                  <a:tailEnd type="arrow" w="lg" len="lg"/>
                </a:ln>
              </p:spPr>
              <p:style>
                <a:lnRef idx="1">
                  <a:schemeClr val="accent1"/>
                </a:lnRef>
                <a:fillRef idx="0">
                  <a:schemeClr val="accent1"/>
                </a:fillRef>
                <a:effectRef idx="0">
                  <a:schemeClr val="accent1"/>
                </a:effectRef>
                <a:fontRef idx="minor">
                  <a:schemeClr val="tx1"/>
                </a:fontRef>
              </p:style>
            </p:cxnSp>
          </p:grpSp>
          <p:cxnSp>
            <p:nvCxnSpPr>
              <p:cNvPr id="14" name="Straight Connector 13"/>
              <p:cNvCxnSpPr>
                <a:endCxn id="52" idx="0"/>
              </p:cNvCxnSpPr>
              <p:nvPr/>
            </p:nvCxnSpPr>
            <p:spPr>
              <a:xfrm flipH="1">
                <a:off x="1037533" y="2247952"/>
                <a:ext cx="16567" cy="678326"/>
              </a:xfrm>
              <a:prstGeom prst="line">
                <a:avLst/>
              </a:prstGeom>
            </p:spPr>
            <p:style>
              <a:lnRef idx="3">
                <a:schemeClr val="dk1"/>
              </a:lnRef>
              <a:fillRef idx="0">
                <a:schemeClr val="dk1"/>
              </a:fillRef>
              <a:effectRef idx="2">
                <a:schemeClr val="dk1"/>
              </a:effectRef>
              <a:fontRef idx="minor">
                <a:schemeClr val="tx1"/>
              </a:fontRef>
            </p:style>
          </p:cxnSp>
        </p:grpSp>
        <p:sp>
          <p:nvSpPr>
            <p:cNvPr id="19" name="TextBox 18"/>
            <p:cNvSpPr txBox="1"/>
            <p:nvPr/>
          </p:nvSpPr>
          <p:spPr>
            <a:xfrm>
              <a:off x="-650248" y="1679600"/>
              <a:ext cx="628296" cy="246221"/>
            </a:xfrm>
            <a:prstGeom prst="rect">
              <a:avLst/>
            </a:prstGeom>
            <a:noFill/>
          </p:spPr>
          <p:txBody>
            <a:bodyPr wrap="square" rtlCol="0">
              <a:spAutoFit/>
            </a:bodyPr>
            <a:lstStyle/>
            <a:p>
              <a:r>
                <a:rPr lang="en-US" sz="1000" dirty="0">
                  <a:latin typeface="Calibri" panose="020F0502020204030204" pitchFamily="34" charset="0"/>
                </a:rPr>
                <a:t>mentor</a:t>
              </a:r>
              <a:endParaRPr lang="en-GB" sz="1000" dirty="0">
                <a:latin typeface="Calibri" panose="020F0502020204030204" pitchFamily="34" charset="0"/>
              </a:endParaRPr>
            </a:p>
          </p:txBody>
        </p:sp>
        <p:sp>
          <p:nvSpPr>
            <p:cNvPr id="90" name="TextBox 89"/>
            <p:cNvSpPr txBox="1"/>
            <p:nvPr/>
          </p:nvSpPr>
          <p:spPr>
            <a:xfrm>
              <a:off x="-307224" y="1916832"/>
              <a:ext cx="628296" cy="246221"/>
            </a:xfrm>
            <a:prstGeom prst="rect">
              <a:avLst/>
            </a:prstGeom>
            <a:noFill/>
          </p:spPr>
          <p:txBody>
            <a:bodyPr wrap="square" rtlCol="0">
              <a:spAutoFit/>
            </a:bodyPr>
            <a:lstStyle/>
            <a:p>
              <a:r>
                <a:rPr lang="en-US" sz="1000" dirty="0">
                  <a:latin typeface="Calibri" panose="020F0502020204030204" pitchFamily="34" charset="0"/>
                </a:rPr>
                <a:t>mentee</a:t>
              </a:r>
              <a:endParaRPr lang="en-GB" sz="1000" dirty="0">
                <a:latin typeface="Calibri" panose="020F0502020204030204" pitchFamily="34" charset="0"/>
              </a:endParaRPr>
            </a:p>
          </p:txBody>
        </p:sp>
        <p:sp>
          <p:nvSpPr>
            <p:cNvPr id="91" name="TextBox 90"/>
            <p:cNvSpPr txBox="1"/>
            <p:nvPr/>
          </p:nvSpPr>
          <p:spPr>
            <a:xfrm>
              <a:off x="1925024" y="1942232"/>
              <a:ext cx="628296" cy="246221"/>
            </a:xfrm>
            <a:prstGeom prst="rect">
              <a:avLst/>
            </a:prstGeom>
            <a:noFill/>
          </p:spPr>
          <p:txBody>
            <a:bodyPr wrap="square" rtlCol="0">
              <a:spAutoFit/>
            </a:bodyPr>
            <a:lstStyle/>
            <a:p>
              <a:r>
                <a:rPr lang="en-US" sz="1000" dirty="0">
                  <a:latin typeface="Calibri" panose="020F0502020204030204" pitchFamily="34" charset="0"/>
                </a:rPr>
                <a:t>register</a:t>
              </a:r>
              <a:endParaRPr lang="en-GB" sz="1000" dirty="0">
                <a:latin typeface="Calibri" panose="020F0502020204030204" pitchFamily="34" charset="0"/>
              </a:endParaRPr>
            </a:p>
          </p:txBody>
        </p:sp>
        <p:sp>
          <p:nvSpPr>
            <p:cNvPr id="92" name="TextBox 91"/>
            <p:cNvSpPr txBox="1"/>
            <p:nvPr/>
          </p:nvSpPr>
          <p:spPr>
            <a:xfrm>
              <a:off x="425556" y="2678723"/>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93" name="TextBox 92"/>
            <p:cNvSpPr txBox="1"/>
            <p:nvPr/>
          </p:nvSpPr>
          <p:spPr>
            <a:xfrm>
              <a:off x="-6492" y="16669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94" name="TextBox 93"/>
            <p:cNvSpPr txBox="1"/>
            <p:nvPr/>
          </p:nvSpPr>
          <p:spPr>
            <a:xfrm>
              <a:off x="-665832" y="1942232"/>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95" name="TextBox 94"/>
            <p:cNvSpPr txBox="1"/>
            <p:nvPr/>
          </p:nvSpPr>
          <p:spPr>
            <a:xfrm>
              <a:off x="1734400" y="16796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96" name="TextBox 95"/>
            <p:cNvSpPr txBox="1"/>
            <p:nvPr/>
          </p:nvSpPr>
          <p:spPr>
            <a:xfrm>
              <a:off x="2225756" y="16669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grpSp>
      <p:sp>
        <p:nvSpPr>
          <p:cNvPr id="68" name="TextBox 67"/>
          <p:cNvSpPr txBox="1">
            <a:spLocks noChangeArrowheads="1"/>
          </p:cNvSpPr>
          <p:nvPr/>
        </p:nvSpPr>
        <p:spPr bwMode="auto">
          <a:xfrm>
            <a:off x="5272145" y="4727103"/>
            <a:ext cx="10620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Char char="-"/>
            </a:pPr>
            <a:r>
              <a:rPr lang="en-US" altLang="en-US" sz="1800" dirty="0">
                <a:solidFill>
                  <a:prstClr val="black"/>
                </a:solidFill>
              </a:rPr>
              <a:t>grade</a:t>
            </a:r>
          </a:p>
          <a:p>
            <a:pPr eaLnBrk="1" fontAlgn="base" hangingPunct="1">
              <a:spcBef>
                <a:spcPct val="0"/>
              </a:spcBef>
              <a:spcAft>
                <a:spcPct val="0"/>
              </a:spcAft>
              <a:buFontTx/>
              <a:buChar char="-"/>
            </a:pPr>
            <a:r>
              <a:rPr lang="en-US" altLang="en-US" sz="1800" dirty="0" err="1">
                <a:solidFill>
                  <a:prstClr val="black"/>
                </a:solidFill>
              </a:rPr>
              <a:t>semYr</a:t>
            </a:r>
            <a:endParaRPr lang="en-US" altLang="en-US" sz="1800" dirty="0">
              <a:solidFill>
                <a:prstClr val="black"/>
              </a:solidFill>
            </a:endParaRPr>
          </a:p>
        </p:txBody>
      </p:sp>
    </p:spTree>
    <p:extLst>
      <p:ext uri="{BB962C8B-B14F-4D97-AF65-F5344CB8AC3E}">
        <p14:creationId xmlns:p14="http://schemas.microsoft.com/office/powerpoint/2010/main" val="4220702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a:xfrm>
            <a:off x="1054100" y="0"/>
            <a:ext cx="11134725" cy="538335"/>
          </a:xfrm>
        </p:spPr>
        <p:txBody>
          <a:bodyPr/>
          <a:lstStyle/>
          <a:p>
            <a:pPr algn="l"/>
            <a:r>
              <a:rPr lang="en-US" altLang="en-US" b="1" dirty="0"/>
              <a:t>A Short Example</a:t>
            </a:r>
          </a:p>
        </p:txBody>
      </p:sp>
      <p:sp>
        <p:nvSpPr>
          <p:cNvPr id="51" name="Content Placeholder 2"/>
          <p:cNvSpPr txBox="1">
            <a:spLocks/>
          </p:cNvSpPr>
          <p:nvPr/>
        </p:nvSpPr>
        <p:spPr bwMode="auto">
          <a:xfrm>
            <a:off x="1053851" y="980729"/>
            <a:ext cx="10080873" cy="1107158"/>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000" b="0" i="0" u="none" strike="noStrike" kern="1200" cap="none" spc="0" normalizeH="0" baseline="0" noProof="0" dirty="0">
                <a:ln>
                  <a:noFill/>
                </a:ln>
                <a:solidFill>
                  <a:sysClr val="windowText" lastClr="000000"/>
                </a:solidFill>
                <a:effectLst/>
                <a:uLnTx/>
                <a:uFillTx/>
                <a:latin typeface="Calibri" panose="020F0502020204030204" pitchFamily="34" charset="0"/>
              </a:rPr>
              <a:t>“……..A professor is a mentor to least 1 student. He/she can check the course results of his/her mentees, which the students have registered…..”</a:t>
            </a:r>
          </a:p>
        </p:txBody>
      </p:sp>
      <p:cxnSp>
        <p:nvCxnSpPr>
          <p:cNvPr id="52" name="Straight Connector 51"/>
          <p:cNvCxnSpPr/>
          <p:nvPr/>
        </p:nvCxnSpPr>
        <p:spPr>
          <a:xfrm>
            <a:off x="6094412" y="1340768"/>
            <a:ext cx="4752000" cy="0"/>
          </a:xfrm>
          <a:prstGeom prst="line">
            <a:avLst/>
          </a:prstGeom>
          <a:noFill/>
          <a:ln w="28575" cap="flat" cmpd="sng" algn="ctr">
            <a:solidFill>
              <a:srgbClr val="FF0000"/>
            </a:solidFill>
            <a:prstDash val="solid"/>
          </a:ln>
          <a:effectLst/>
        </p:spPr>
      </p:cxnSp>
      <p:cxnSp>
        <p:nvCxnSpPr>
          <p:cNvPr id="53" name="Straight Connector 52"/>
          <p:cNvCxnSpPr/>
          <p:nvPr/>
        </p:nvCxnSpPr>
        <p:spPr>
          <a:xfrm>
            <a:off x="1460638" y="1628800"/>
            <a:ext cx="4896000" cy="0"/>
          </a:xfrm>
          <a:prstGeom prst="line">
            <a:avLst/>
          </a:prstGeom>
          <a:noFill/>
          <a:ln w="28575" cap="flat" cmpd="sng" algn="ctr">
            <a:solidFill>
              <a:srgbClr val="FF0000"/>
            </a:solidFill>
            <a:prstDash val="solid"/>
          </a:ln>
          <a:effectLst/>
        </p:spPr>
      </p:cxnSp>
      <p:grpSp>
        <p:nvGrpSpPr>
          <p:cNvPr id="59" name="Group 58"/>
          <p:cNvGrpSpPr/>
          <p:nvPr/>
        </p:nvGrpSpPr>
        <p:grpSpPr>
          <a:xfrm>
            <a:off x="2661775" y="3179897"/>
            <a:ext cx="6104441" cy="1896778"/>
            <a:chOff x="5822619" y="5238538"/>
            <a:chExt cx="6104441" cy="1896778"/>
          </a:xfrm>
        </p:grpSpPr>
        <p:grpSp>
          <p:nvGrpSpPr>
            <p:cNvPr id="83" name="Group 82"/>
            <p:cNvGrpSpPr/>
            <p:nvPr/>
          </p:nvGrpSpPr>
          <p:grpSpPr>
            <a:xfrm>
              <a:off x="5822619" y="5238538"/>
              <a:ext cx="1440000" cy="612000"/>
              <a:chOff x="7969912" y="4416349"/>
              <a:chExt cx="1440000" cy="612000"/>
            </a:xfrm>
          </p:grpSpPr>
          <p:sp>
            <p:nvSpPr>
              <p:cNvPr id="93" name="Rectangle 92"/>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ectangle 93"/>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Professor</a:t>
                </a:r>
                <a:endParaRPr lang="en-GB" sz="1600" b="1" dirty="0">
                  <a:solidFill>
                    <a:schemeClr val="tx1"/>
                  </a:solidFill>
                  <a:latin typeface="Calibri" panose="020F0502020204030204" pitchFamily="34" charset="0"/>
                </a:endParaRPr>
              </a:p>
            </p:txBody>
          </p:sp>
        </p:grpSp>
        <p:grpSp>
          <p:nvGrpSpPr>
            <p:cNvPr id="84" name="Group 83"/>
            <p:cNvGrpSpPr/>
            <p:nvPr/>
          </p:nvGrpSpPr>
          <p:grpSpPr>
            <a:xfrm>
              <a:off x="8254652" y="5238538"/>
              <a:ext cx="1440000" cy="612000"/>
              <a:chOff x="7969912" y="4416349"/>
              <a:chExt cx="1440000" cy="612000"/>
            </a:xfrm>
          </p:grpSpPr>
          <p:sp>
            <p:nvSpPr>
              <p:cNvPr id="91" name="Rectangle 90"/>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2" name="Rectangle 91"/>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Student</a:t>
                </a:r>
                <a:endParaRPr lang="en-GB" sz="1600" b="1" dirty="0">
                  <a:solidFill>
                    <a:schemeClr val="tx1"/>
                  </a:solidFill>
                  <a:latin typeface="Calibri" panose="020F0502020204030204" pitchFamily="34" charset="0"/>
                </a:endParaRPr>
              </a:p>
            </p:txBody>
          </p:sp>
        </p:grpSp>
        <p:grpSp>
          <p:nvGrpSpPr>
            <p:cNvPr id="85" name="Group 84"/>
            <p:cNvGrpSpPr/>
            <p:nvPr/>
          </p:nvGrpSpPr>
          <p:grpSpPr>
            <a:xfrm>
              <a:off x="10487060" y="5238538"/>
              <a:ext cx="1440000" cy="612000"/>
              <a:chOff x="7969912" y="4416349"/>
              <a:chExt cx="1440000" cy="612000"/>
            </a:xfrm>
          </p:grpSpPr>
          <p:sp>
            <p:nvSpPr>
              <p:cNvPr id="89" name="Rectangle 88"/>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0" name="Rectangle 89"/>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Course</a:t>
                </a:r>
                <a:endParaRPr lang="en-GB" sz="1600" b="1" dirty="0">
                  <a:solidFill>
                    <a:schemeClr val="tx1"/>
                  </a:solidFill>
                  <a:latin typeface="Calibri" panose="020F0502020204030204" pitchFamily="34" charset="0"/>
                </a:endParaRPr>
              </a:p>
            </p:txBody>
          </p:sp>
        </p:grpSp>
        <p:grpSp>
          <p:nvGrpSpPr>
            <p:cNvPr id="86" name="Group 85"/>
            <p:cNvGrpSpPr/>
            <p:nvPr/>
          </p:nvGrpSpPr>
          <p:grpSpPr>
            <a:xfrm>
              <a:off x="8254652" y="6523316"/>
              <a:ext cx="1440000" cy="612000"/>
              <a:chOff x="7969912" y="4416349"/>
              <a:chExt cx="1440000" cy="612000"/>
            </a:xfrm>
          </p:grpSpPr>
          <p:sp>
            <p:nvSpPr>
              <p:cNvPr id="87" name="Rectangle 86"/>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8" name="Rectangle 87"/>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Result</a:t>
                </a:r>
                <a:endParaRPr lang="en-GB" sz="1600" b="1" dirty="0">
                  <a:solidFill>
                    <a:schemeClr val="tx1"/>
                  </a:solidFill>
                  <a:latin typeface="Calibri" panose="020F0502020204030204" pitchFamily="34" charset="0"/>
                </a:endParaRPr>
              </a:p>
            </p:txBody>
          </p:sp>
        </p:grpSp>
      </p:grpSp>
      <p:sp>
        <p:nvSpPr>
          <p:cNvPr id="95" name="TextBox 94"/>
          <p:cNvSpPr txBox="1">
            <a:spLocks noChangeArrowheads="1"/>
          </p:cNvSpPr>
          <p:nvPr/>
        </p:nvSpPr>
        <p:spPr bwMode="auto">
          <a:xfrm>
            <a:off x="2886778" y="3411199"/>
            <a:ext cx="840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name</a:t>
            </a:r>
          </a:p>
        </p:txBody>
      </p:sp>
      <p:sp>
        <p:nvSpPr>
          <p:cNvPr id="96" name="TextBox 95"/>
          <p:cNvSpPr txBox="1">
            <a:spLocks noChangeArrowheads="1"/>
          </p:cNvSpPr>
          <p:nvPr/>
        </p:nvSpPr>
        <p:spPr bwMode="auto">
          <a:xfrm>
            <a:off x="5312478" y="3420591"/>
            <a:ext cx="8402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name</a:t>
            </a:r>
          </a:p>
        </p:txBody>
      </p:sp>
      <p:sp>
        <p:nvSpPr>
          <p:cNvPr id="97" name="TextBox 96"/>
          <p:cNvSpPr txBox="1">
            <a:spLocks noChangeArrowheads="1"/>
          </p:cNvSpPr>
          <p:nvPr/>
        </p:nvSpPr>
        <p:spPr bwMode="auto">
          <a:xfrm>
            <a:off x="7342295" y="3420591"/>
            <a:ext cx="148842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None/>
            </a:pPr>
            <a:r>
              <a:rPr lang="en-US" altLang="en-US" sz="1800" dirty="0">
                <a:solidFill>
                  <a:prstClr val="black"/>
                </a:solidFill>
              </a:rPr>
              <a:t>- </a:t>
            </a:r>
            <a:r>
              <a:rPr lang="en-US" altLang="en-US" sz="1800" dirty="0" err="1">
                <a:solidFill>
                  <a:prstClr val="black"/>
                </a:solidFill>
              </a:rPr>
              <a:t>courseName</a:t>
            </a:r>
            <a:endParaRPr lang="en-US" altLang="en-US" sz="1800" dirty="0">
              <a:solidFill>
                <a:prstClr val="black"/>
              </a:solidFill>
            </a:endParaRPr>
          </a:p>
        </p:txBody>
      </p:sp>
      <p:grpSp>
        <p:nvGrpSpPr>
          <p:cNvPr id="98" name="Group 97"/>
          <p:cNvGrpSpPr>
            <a:grpSpLocks/>
          </p:cNvGrpSpPr>
          <p:nvPr/>
        </p:nvGrpSpPr>
        <p:grpSpPr bwMode="auto">
          <a:xfrm>
            <a:off x="2975678" y="2528416"/>
            <a:ext cx="5411788" cy="2482850"/>
            <a:chOff x="1677988" y="3300484"/>
            <a:chExt cx="5411788" cy="2483572"/>
          </a:xfrm>
        </p:grpSpPr>
        <p:grpSp>
          <p:nvGrpSpPr>
            <p:cNvPr id="99" name="Group 45"/>
            <p:cNvGrpSpPr>
              <a:grpSpLocks/>
            </p:cNvGrpSpPr>
            <p:nvPr/>
          </p:nvGrpSpPr>
          <p:grpSpPr bwMode="auto">
            <a:xfrm>
              <a:off x="1677988" y="3314772"/>
              <a:ext cx="685800" cy="471488"/>
              <a:chOff x="2037" y="2880"/>
              <a:chExt cx="432" cy="297"/>
            </a:xfrm>
          </p:grpSpPr>
          <p:sp>
            <p:nvSpPr>
              <p:cNvPr id="109" name="Oval 46"/>
              <p:cNvSpPr>
                <a:spLocks noChangeArrowheads="1"/>
              </p:cNvSpPr>
              <p:nvPr/>
            </p:nvSpPr>
            <p:spPr bwMode="auto">
              <a:xfrm>
                <a:off x="211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110" name="Line 47"/>
              <p:cNvSpPr>
                <a:spLocks noChangeShapeType="1"/>
              </p:cNvSpPr>
              <p:nvPr/>
            </p:nvSpPr>
            <p:spPr bwMode="auto">
              <a:xfrm>
                <a:off x="203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100" name="Group 45"/>
            <p:cNvGrpSpPr>
              <a:grpSpLocks/>
            </p:cNvGrpSpPr>
            <p:nvPr/>
          </p:nvGrpSpPr>
          <p:grpSpPr bwMode="auto">
            <a:xfrm>
              <a:off x="4135438" y="3314772"/>
              <a:ext cx="685800" cy="471488"/>
              <a:chOff x="2077" y="2880"/>
              <a:chExt cx="432" cy="297"/>
            </a:xfrm>
          </p:grpSpPr>
          <p:sp>
            <p:nvSpPr>
              <p:cNvPr id="107" name="Oval 46"/>
              <p:cNvSpPr>
                <a:spLocks noChangeArrowheads="1"/>
              </p:cNvSpPr>
              <p:nvPr/>
            </p:nvSpPr>
            <p:spPr bwMode="auto">
              <a:xfrm>
                <a:off x="215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108" name="Line 47"/>
              <p:cNvSpPr>
                <a:spLocks noChangeShapeType="1"/>
              </p:cNvSpPr>
              <p:nvPr/>
            </p:nvSpPr>
            <p:spPr bwMode="auto">
              <a:xfrm>
                <a:off x="207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101" name="Group 45"/>
            <p:cNvGrpSpPr>
              <a:grpSpLocks/>
            </p:cNvGrpSpPr>
            <p:nvPr/>
          </p:nvGrpSpPr>
          <p:grpSpPr bwMode="auto">
            <a:xfrm>
              <a:off x="6403976" y="3300484"/>
              <a:ext cx="685800" cy="471488"/>
              <a:chOff x="1815" y="2880"/>
              <a:chExt cx="432" cy="297"/>
            </a:xfrm>
          </p:grpSpPr>
          <p:sp>
            <p:nvSpPr>
              <p:cNvPr id="105" name="Oval 46"/>
              <p:cNvSpPr>
                <a:spLocks noChangeArrowheads="1"/>
              </p:cNvSpPr>
              <p:nvPr/>
            </p:nvSpPr>
            <p:spPr bwMode="auto">
              <a:xfrm>
                <a:off x="1890"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106" name="Line 47"/>
              <p:cNvSpPr>
                <a:spLocks noChangeShapeType="1"/>
              </p:cNvSpPr>
              <p:nvPr/>
            </p:nvSpPr>
            <p:spPr bwMode="auto">
              <a:xfrm>
                <a:off x="1815"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nvGrpSpPr>
            <p:cNvPr id="102" name="Group 45"/>
            <p:cNvGrpSpPr>
              <a:grpSpLocks/>
            </p:cNvGrpSpPr>
            <p:nvPr/>
          </p:nvGrpSpPr>
          <p:grpSpPr bwMode="auto">
            <a:xfrm>
              <a:off x="5337175" y="5312568"/>
              <a:ext cx="685800" cy="471488"/>
              <a:chOff x="2037" y="2880"/>
              <a:chExt cx="432" cy="297"/>
            </a:xfrm>
          </p:grpSpPr>
          <p:sp>
            <p:nvSpPr>
              <p:cNvPr id="103" name="Oval 46"/>
              <p:cNvSpPr>
                <a:spLocks noChangeArrowheads="1"/>
              </p:cNvSpPr>
              <p:nvPr/>
            </p:nvSpPr>
            <p:spPr bwMode="auto">
              <a:xfrm>
                <a:off x="2112" y="2880"/>
                <a:ext cx="288" cy="288"/>
              </a:xfrm>
              <a:prstGeom prst="ellipse">
                <a:avLst/>
              </a:prstGeom>
              <a:noFill/>
              <a:ln w="25400">
                <a:solidFill>
                  <a:sysClr val="windowText" lastClr="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prstClr val="black"/>
                  </a:solidFill>
                  <a:effectLst/>
                  <a:uLnTx/>
                  <a:uFillTx/>
                </a:endParaRPr>
              </a:p>
            </p:txBody>
          </p:sp>
          <p:sp>
            <p:nvSpPr>
              <p:cNvPr id="104" name="Line 47"/>
              <p:cNvSpPr>
                <a:spLocks noChangeShapeType="1"/>
              </p:cNvSpPr>
              <p:nvPr/>
            </p:nvSpPr>
            <p:spPr bwMode="auto">
              <a:xfrm>
                <a:off x="2037" y="3177"/>
                <a:ext cx="432" cy="0"/>
              </a:xfrm>
              <a:prstGeom prst="line">
                <a:avLst/>
              </a:prstGeom>
              <a:noFill/>
              <a:ln w="25400">
                <a:solidFill>
                  <a:sysClr val="windowText" lastClr="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ndParaRPr>
              </a:p>
            </p:txBody>
          </p:sp>
        </p:grpSp>
      </p:grpSp>
      <p:grpSp>
        <p:nvGrpSpPr>
          <p:cNvPr id="111" name="Group 110"/>
          <p:cNvGrpSpPr/>
          <p:nvPr/>
        </p:nvGrpSpPr>
        <p:grpSpPr>
          <a:xfrm>
            <a:off x="2656806" y="3179897"/>
            <a:ext cx="6104441" cy="1896778"/>
            <a:chOff x="-2114500" y="1628800"/>
            <a:chExt cx="6104441" cy="1896778"/>
          </a:xfrm>
        </p:grpSpPr>
        <p:grpSp>
          <p:nvGrpSpPr>
            <p:cNvPr id="112" name="Group 111"/>
            <p:cNvGrpSpPr/>
            <p:nvPr/>
          </p:nvGrpSpPr>
          <p:grpSpPr>
            <a:xfrm>
              <a:off x="-2114500" y="1628800"/>
              <a:ext cx="6104441" cy="1896778"/>
              <a:chOff x="-2114500" y="1628800"/>
              <a:chExt cx="6104441" cy="1896778"/>
            </a:xfrm>
          </p:grpSpPr>
          <p:cxnSp>
            <p:nvCxnSpPr>
              <p:cNvPr id="121" name="Straight Connector 120"/>
              <p:cNvCxnSpPr>
                <a:endCxn id="137" idx="1"/>
              </p:cNvCxnSpPr>
              <p:nvPr/>
            </p:nvCxnSpPr>
            <p:spPr>
              <a:xfrm>
                <a:off x="-674500" y="1929500"/>
                <a:ext cx="3224441" cy="5300"/>
              </a:xfrm>
              <a:prstGeom prst="line">
                <a:avLst/>
              </a:prstGeom>
            </p:spPr>
            <p:style>
              <a:lnRef idx="2">
                <a:schemeClr val="dk1"/>
              </a:lnRef>
              <a:fillRef idx="0">
                <a:schemeClr val="dk1"/>
              </a:fillRef>
              <a:effectRef idx="1">
                <a:schemeClr val="dk1"/>
              </a:effectRef>
              <a:fontRef idx="minor">
                <a:schemeClr val="tx1"/>
              </a:fontRef>
            </p:style>
          </p:cxnSp>
          <p:sp>
            <p:nvSpPr>
              <p:cNvPr id="122" name="Isosceles Triangle 121"/>
              <p:cNvSpPr/>
              <p:nvPr/>
            </p:nvSpPr>
            <p:spPr bwMode="auto">
              <a:xfrm rot="13636352">
                <a:off x="-516285" y="2779289"/>
                <a:ext cx="296862" cy="1143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p>
            </p:txBody>
          </p:sp>
          <p:grpSp>
            <p:nvGrpSpPr>
              <p:cNvPr id="123" name="Group 122"/>
              <p:cNvGrpSpPr/>
              <p:nvPr/>
            </p:nvGrpSpPr>
            <p:grpSpPr>
              <a:xfrm>
                <a:off x="-2114500" y="1628800"/>
                <a:ext cx="6104441" cy="1896778"/>
                <a:chOff x="-2114500" y="1628800"/>
                <a:chExt cx="6104441" cy="1896778"/>
              </a:xfrm>
            </p:grpSpPr>
            <p:grpSp>
              <p:nvGrpSpPr>
                <p:cNvPr id="125" name="Group 124"/>
                <p:cNvGrpSpPr/>
                <p:nvPr/>
              </p:nvGrpSpPr>
              <p:grpSpPr>
                <a:xfrm>
                  <a:off x="-2114500" y="1628800"/>
                  <a:ext cx="6104441" cy="1896778"/>
                  <a:chOff x="-2114500" y="1244190"/>
                  <a:chExt cx="6104441" cy="1896778"/>
                </a:xfrm>
              </p:grpSpPr>
              <p:grpSp>
                <p:nvGrpSpPr>
                  <p:cNvPr id="127" name="Group 126"/>
                  <p:cNvGrpSpPr/>
                  <p:nvPr/>
                </p:nvGrpSpPr>
                <p:grpSpPr>
                  <a:xfrm>
                    <a:off x="-2114500" y="1244190"/>
                    <a:ext cx="6104441" cy="1896778"/>
                    <a:chOff x="5822619" y="5238538"/>
                    <a:chExt cx="6104441" cy="1896778"/>
                  </a:xfrm>
                </p:grpSpPr>
                <p:grpSp>
                  <p:nvGrpSpPr>
                    <p:cNvPr id="131" name="Group 130"/>
                    <p:cNvGrpSpPr/>
                    <p:nvPr/>
                  </p:nvGrpSpPr>
                  <p:grpSpPr>
                    <a:xfrm>
                      <a:off x="5822619" y="5238538"/>
                      <a:ext cx="1440000" cy="612000"/>
                      <a:chOff x="7969912" y="4416349"/>
                      <a:chExt cx="1440000" cy="612000"/>
                    </a:xfrm>
                  </p:grpSpPr>
                  <p:sp>
                    <p:nvSpPr>
                      <p:cNvPr id="141" name="Rectangle 140"/>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2" name="Rectangle 141"/>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Professor</a:t>
                        </a:r>
                        <a:endParaRPr lang="en-GB" sz="1600" b="1" dirty="0">
                          <a:solidFill>
                            <a:schemeClr val="tx1"/>
                          </a:solidFill>
                          <a:latin typeface="Calibri" panose="020F0502020204030204" pitchFamily="34" charset="0"/>
                        </a:endParaRPr>
                      </a:p>
                    </p:txBody>
                  </p:sp>
                </p:grpSp>
                <p:grpSp>
                  <p:nvGrpSpPr>
                    <p:cNvPr id="132" name="Group 131"/>
                    <p:cNvGrpSpPr/>
                    <p:nvPr/>
                  </p:nvGrpSpPr>
                  <p:grpSpPr>
                    <a:xfrm>
                      <a:off x="8254652" y="5238538"/>
                      <a:ext cx="1440000" cy="612000"/>
                      <a:chOff x="7969912" y="4416349"/>
                      <a:chExt cx="1440000" cy="612000"/>
                    </a:xfrm>
                  </p:grpSpPr>
                  <p:sp>
                    <p:nvSpPr>
                      <p:cNvPr id="139" name="Rectangle 138"/>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0" name="Rectangle 139"/>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Student</a:t>
                        </a:r>
                        <a:endParaRPr lang="en-GB" sz="1600" b="1" dirty="0">
                          <a:solidFill>
                            <a:schemeClr val="tx1"/>
                          </a:solidFill>
                          <a:latin typeface="Calibri" panose="020F0502020204030204" pitchFamily="34" charset="0"/>
                        </a:endParaRPr>
                      </a:p>
                    </p:txBody>
                  </p:sp>
                </p:grpSp>
                <p:grpSp>
                  <p:nvGrpSpPr>
                    <p:cNvPr id="133" name="Group 132"/>
                    <p:cNvGrpSpPr/>
                    <p:nvPr/>
                  </p:nvGrpSpPr>
                  <p:grpSpPr>
                    <a:xfrm>
                      <a:off x="10487060" y="5238538"/>
                      <a:ext cx="1440000" cy="612000"/>
                      <a:chOff x="7969912" y="4416349"/>
                      <a:chExt cx="1440000" cy="612000"/>
                    </a:xfrm>
                  </p:grpSpPr>
                  <p:sp>
                    <p:nvSpPr>
                      <p:cNvPr id="137" name="Rectangle 136"/>
                      <p:cNvSpPr/>
                      <p:nvPr/>
                    </p:nvSpPr>
                    <p:spPr>
                      <a:xfrm>
                        <a:off x="7969912" y="4416349"/>
                        <a:ext cx="1440000" cy="612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ectangle 137"/>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Course</a:t>
                        </a:r>
                        <a:endParaRPr lang="en-GB" sz="1600" b="1" dirty="0">
                          <a:solidFill>
                            <a:schemeClr val="tx1"/>
                          </a:solidFill>
                          <a:latin typeface="Calibri" panose="020F0502020204030204" pitchFamily="34" charset="0"/>
                        </a:endParaRPr>
                      </a:p>
                    </p:txBody>
                  </p:sp>
                </p:grpSp>
                <p:grpSp>
                  <p:nvGrpSpPr>
                    <p:cNvPr id="134" name="Group 133"/>
                    <p:cNvGrpSpPr/>
                    <p:nvPr/>
                  </p:nvGrpSpPr>
                  <p:grpSpPr>
                    <a:xfrm>
                      <a:off x="8254652" y="6523315"/>
                      <a:ext cx="1440000" cy="612001"/>
                      <a:chOff x="7969912" y="4416348"/>
                      <a:chExt cx="1440000" cy="612001"/>
                    </a:xfrm>
                  </p:grpSpPr>
                  <p:sp>
                    <p:nvSpPr>
                      <p:cNvPr id="135" name="Rectangle 134"/>
                      <p:cNvSpPr/>
                      <p:nvPr/>
                    </p:nvSpPr>
                    <p:spPr>
                      <a:xfrm>
                        <a:off x="7969912" y="4416348"/>
                        <a:ext cx="1440000" cy="612001"/>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6" name="Rectangle 135"/>
                      <p:cNvSpPr/>
                      <p:nvPr/>
                    </p:nvSpPr>
                    <p:spPr>
                      <a:xfrm>
                        <a:off x="7969912" y="4429049"/>
                        <a:ext cx="1440000" cy="288000"/>
                      </a:xfrm>
                      <a:prstGeom prst="rect">
                        <a:avLst/>
                      </a:prstGeom>
                      <a:solidFill>
                        <a:schemeClr val="bg2">
                          <a:lumMod val="9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alibri" panose="020F0502020204030204" pitchFamily="34" charset="0"/>
                          </a:rPr>
                          <a:t>Result</a:t>
                        </a:r>
                        <a:endParaRPr lang="en-GB" sz="1600" b="1" dirty="0">
                          <a:solidFill>
                            <a:schemeClr val="tx1"/>
                          </a:solidFill>
                          <a:latin typeface="Calibri" panose="020F0502020204030204" pitchFamily="34" charset="0"/>
                        </a:endParaRPr>
                      </a:p>
                    </p:txBody>
                  </p:sp>
                </p:grpSp>
              </p:grpSp>
              <p:sp>
                <p:nvSpPr>
                  <p:cNvPr id="128" name="Folded Corner 127"/>
                  <p:cNvSpPr/>
                  <p:nvPr/>
                </p:nvSpPr>
                <p:spPr bwMode="auto">
                  <a:xfrm rot="16200000">
                    <a:off x="-1191121" y="1760142"/>
                    <a:ext cx="447675" cy="1481137"/>
                  </a:xfrm>
                  <a:prstGeom prst="foldedCorner">
                    <a:avLst>
                      <a:gd name="adj" fmla="val 50000"/>
                    </a:avLst>
                  </a:prstGeom>
                  <a:solidFill>
                    <a:schemeClr val="bg2">
                      <a:lumMod val="90000"/>
                    </a:schemeClr>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dirty="0"/>
                  </a:p>
                </p:txBody>
              </p:sp>
              <p:sp>
                <p:nvSpPr>
                  <p:cNvPr id="129" name="TextBox 128"/>
                  <p:cNvSpPr txBox="1"/>
                  <p:nvPr/>
                </p:nvSpPr>
                <p:spPr bwMode="auto">
                  <a:xfrm>
                    <a:off x="-1712466" y="2241600"/>
                    <a:ext cx="1352551" cy="523220"/>
                  </a:xfrm>
                  <a:prstGeom prst="rect">
                    <a:avLst/>
                  </a:prstGeom>
                  <a:noFill/>
                </p:spPr>
                <p:txBody>
                  <a:bodyPr wrap="square">
                    <a:spAutoFit/>
                  </a:bodyPr>
                  <a:lstStyle/>
                  <a:p>
                    <a:pPr>
                      <a:defRPr/>
                    </a:pPr>
                    <a:r>
                      <a:rPr lang="en-US" sz="1400" dirty="0">
                        <a:latin typeface="Calibri" panose="020F0502020204030204" pitchFamily="34" charset="0"/>
                      </a:rPr>
                      <a:t>as Student Record</a:t>
                    </a:r>
                    <a:endParaRPr lang="en-GB" sz="1400" dirty="0">
                      <a:latin typeface="Calibri" panose="020F0502020204030204" pitchFamily="34" charset="0"/>
                    </a:endParaRPr>
                  </a:p>
                </p:txBody>
              </p:sp>
              <p:cxnSp>
                <p:nvCxnSpPr>
                  <p:cNvPr id="130" name="Straight Connector 129"/>
                  <p:cNvCxnSpPr/>
                  <p:nvPr/>
                </p:nvCxnSpPr>
                <p:spPr bwMode="auto">
                  <a:xfrm flipH="1">
                    <a:off x="-325872" y="1845654"/>
                    <a:ext cx="648000" cy="550162"/>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6" name="Straight Arrow Connector 125"/>
                <p:cNvCxnSpPr/>
                <p:nvPr/>
              </p:nvCxnSpPr>
              <p:spPr bwMode="auto">
                <a:xfrm flipV="1">
                  <a:off x="1739232" y="2265546"/>
                  <a:ext cx="846254" cy="673114"/>
                </a:xfrm>
                <a:prstGeom prst="straightConnector1">
                  <a:avLst/>
                </a:prstGeom>
                <a:ln w="25400">
                  <a:solidFill>
                    <a:schemeClr val="tx1"/>
                  </a:solidFill>
                  <a:headEnd w="lg" len="lg"/>
                  <a:tailEnd type="arrow" w="lg" len="lg"/>
                </a:ln>
              </p:spPr>
              <p:style>
                <a:lnRef idx="1">
                  <a:schemeClr val="accent1"/>
                </a:lnRef>
                <a:fillRef idx="0">
                  <a:schemeClr val="accent1"/>
                </a:fillRef>
                <a:effectRef idx="0">
                  <a:schemeClr val="accent1"/>
                </a:effectRef>
                <a:fontRef idx="minor">
                  <a:schemeClr val="tx1"/>
                </a:fontRef>
              </p:style>
            </p:cxnSp>
          </p:grpSp>
          <p:cxnSp>
            <p:nvCxnSpPr>
              <p:cNvPr id="124" name="Straight Connector 123"/>
              <p:cNvCxnSpPr>
                <a:endCxn id="136" idx="0"/>
              </p:cNvCxnSpPr>
              <p:nvPr/>
            </p:nvCxnSpPr>
            <p:spPr>
              <a:xfrm flipH="1">
                <a:off x="1037533" y="2247952"/>
                <a:ext cx="16567" cy="678326"/>
              </a:xfrm>
              <a:prstGeom prst="line">
                <a:avLst/>
              </a:prstGeom>
            </p:spPr>
            <p:style>
              <a:lnRef idx="3">
                <a:schemeClr val="dk1"/>
              </a:lnRef>
              <a:fillRef idx="0">
                <a:schemeClr val="dk1"/>
              </a:fillRef>
              <a:effectRef idx="2">
                <a:schemeClr val="dk1"/>
              </a:effectRef>
              <a:fontRef idx="minor">
                <a:schemeClr val="tx1"/>
              </a:fontRef>
            </p:style>
          </p:cxnSp>
        </p:grpSp>
        <p:sp>
          <p:nvSpPr>
            <p:cNvPr id="113" name="TextBox 112"/>
            <p:cNvSpPr txBox="1"/>
            <p:nvPr/>
          </p:nvSpPr>
          <p:spPr>
            <a:xfrm>
              <a:off x="-650248" y="1679600"/>
              <a:ext cx="628296" cy="246221"/>
            </a:xfrm>
            <a:prstGeom prst="rect">
              <a:avLst/>
            </a:prstGeom>
            <a:noFill/>
          </p:spPr>
          <p:txBody>
            <a:bodyPr wrap="square" rtlCol="0">
              <a:spAutoFit/>
            </a:bodyPr>
            <a:lstStyle/>
            <a:p>
              <a:r>
                <a:rPr lang="en-US" sz="1000" dirty="0">
                  <a:latin typeface="Calibri" panose="020F0502020204030204" pitchFamily="34" charset="0"/>
                </a:rPr>
                <a:t>mentor</a:t>
              </a:r>
              <a:endParaRPr lang="en-GB" sz="1000" dirty="0">
                <a:latin typeface="Calibri" panose="020F0502020204030204" pitchFamily="34" charset="0"/>
              </a:endParaRPr>
            </a:p>
          </p:txBody>
        </p:sp>
        <p:sp>
          <p:nvSpPr>
            <p:cNvPr id="114" name="TextBox 113"/>
            <p:cNvSpPr txBox="1"/>
            <p:nvPr/>
          </p:nvSpPr>
          <p:spPr>
            <a:xfrm>
              <a:off x="-307224" y="1916832"/>
              <a:ext cx="628296" cy="246221"/>
            </a:xfrm>
            <a:prstGeom prst="rect">
              <a:avLst/>
            </a:prstGeom>
            <a:noFill/>
          </p:spPr>
          <p:txBody>
            <a:bodyPr wrap="square" rtlCol="0">
              <a:spAutoFit/>
            </a:bodyPr>
            <a:lstStyle/>
            <a:p>
              <a:r>
                <a:rPr lang="en-US" sz="1000" dirty="0">
                  <a:latin typeface="Calibri" panose="020F0502020204030204" pitchFamily="34" charset="0"/>
                </a:rPr>
                <a:t>mentee</a:t>
              </a:r>
              <a:endParaRPr lang="en-GB" sz="1000" dirty="0">
                <a:latin typeface="Calibri" panose="020F0502020204030204" pitchFamily="34" charset="0"/>
              </a:endParaRPr>
            </a:p>
          </p:txBody>
        </p:sp>
        <p:sp>
          <p:nvSpPr>
            <p:cNvPr id="115" name="TextBox 114"/>
            <p:cNvSpPr txBox="1"/>
            <p:nvPr/>
          </p:nvSpPr>
          <p:spPr>
            <a:xfrm>
              <a:off x="1925024" y="1942232"/>
              <a:ext cx="628296" cy="246221"/>
            </a:xfrm>
            <a:prstGeom prst="rect">
              <a:avLst/>
            </a:prstGeom>
            <a:noFill/>
          </p:spPr>
          <p:txBody>
            <a:bodyPr wrap="square" rtlCol="0">
              <a:spAutoFit/>
            </a:bodyPr>
            <a:lstStyle/>
            <a:p>
              <a:r>
                <a:rPr lang="en-US" sz="1000" dirty="0">
                  <a:latin typeface="Calibri" panose="020F0502020204030204" pitchFamily="34" charset="0"/>
                </a:rPr>
                <a:t>register</a:t>
              </a:r>
              <a:endParaRPr lang="en-GB" sz="1000" dirty="0">
                <a:latin typeface="Calibri" panose="020F0502020204030204" pitchFamily="34" charset="0"/>
              </a:endParaRPr>
            </a:p>
          </p:txBody>
        </p:sp>
        <p:sp>
          <p:nvSpPr>
            <p:cNvPr id="116" name="TextBox 115"/>
            <p:cNvSpPr txBox="1"/>
            <p:nvPr/>
          </p:nvSpPr>
          <p:spPr>
            <a:xfrm>
              <a:off x="425556" y="2678723"/>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117" name="TextBox 116"/>
            <p:cNvSpPr txBox="1"/>
            <p:nvPr/>
          </p:nvSpPr>
          <p:spPr>
            <a:xfrm>
              <a:off x="-6492" y="16669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118" name="TextBox 117"/>
            <p:cNvSpPr txBox="1"/>
            <p:nvPr/>
          </p:nvSpPr>
          <p:spPr>
            <a:xfrm>
              <a:off x="-665832" y="1942232"/>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119" name="TextBox 118"/>
            <p:cNvSpPr txBox="1"/>
            <p:nvPr/>
          </p:nvSpPr>
          <p:spPr>
            <a:xfrm>
              <a:off x="1734400" y="16796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sp>
          <p:nvSpPr>
            <p:cNvPr id="120" name="TextBox 119"/>
            <p:cNvSpPr txBox="1"/>
            <p:nvPr/>
          </p:nvSpPr>
          <p:spPr>
            <a:xfrm>
              <a:off x="2225756" y="1666900"/>
              <a:ext cx="628296" cy="246221"/>
            </a:xfrm>
            <a:prstGeom prst="rect">
              <a:avLst/>
            </a:prstGeom>
            <a:noFill/>
          </p:spPr>
          <p:txBody>
            <a:bodyPr wrap="square" rtlCol="0">
              <a:spAutoFit/>
            </a:bodyPr>
            <a:lstStyle/>
            <a:p>
              <a:r>
                <a:rPr lang="en-US" sz="1000" dirty="0">
                  <a:latin typeface="Calibri" panose="020F0502020204030204" pitchFamily="34" charset="0"/>
                </a:rPr>
                <a:t>1..*</a:t>
              </a:r>
              <a:endParaRPr lang="en-GB" sz="1000" dirty="0">
                <a:latin typeface="Calibri" panose="020F0502020204030204" pitchFamily="34" charset="0"/>
              </a:endParaRPr>
            </a:p>
          </p:txBody>
        </p:sp>
      </p:grpSp>
      <p:sp>
        <p:nvSpPr>
          <p:cNvPr id="143" name="TextBox 142"/>
          <p:cNvSpPr txBox="1">
            <a:spLocks noChangeArrowheads="1"/>
          </p:cNvSpPr>
          <p:nvPr/>
        </p:nvSpPr>
        <p:spPr bwMode="auto">
          <a:xfrm>
            <a:off x="5272145" y="4727103"/>
            <a:ext cx="100546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85750" indent="-28575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fontAlgn="base" hangingPunct="1">
              <a:spcBef>
                <a:spcPct val="0"/>
              </a:spcBef>
              <a:spcAft>
                <a:spcPct val="0"/>
              </a:spcAft>
              <a:buFontTx/>
              <a:buChar char="-"/>
            </a:pPr>
            <a:r>
              <a:rPr lang="en-US" altLang="en-US" sz="1800" dirty="0">
                <a:solidFill>
                  <a:prstClr val="black"/>
                </a:solidFill>
              </a:rPr>
              <a:t>grade</a:t>
            </a:r>
          </a:p>
        </p:txBody>
      </p:sp>
    </p:spTree>
    <p:extLst>
      <p:ext uri="{BB962C8B-B14F-4D97-AF65-F5344CB8AC3E}">
        <p14:creationId xmlns:p14="http://schemas.microsoft.com/office/powerpoint/2010/main" val="25949470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p:bldP spid="96" grpId="0"/>
      <p:bldP spid="97" grpId="0"/>
      <p:bldP spid="14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1054967" y="0"/>
            <a:ext cx="11134725" cy="537767"/>
          </a:xfrm>
        </p:spPr>
        <p:txBody>
          <a:bodyPr/>
          <a:lstStyle/>
          <a:p>
            <a:r>
              <a:rPr lang="en-US" altLang="en-US" b="1" dirty="0"/>
              <a:t>A Short Example</a:t>
            </a:r>
          </a:p>
        </p:txBody>
      </p:sp>
      <p:sp>
        <p:nvSpPr>
          <p:cNvPr id="35" name="Content Placeholder 2"/>
          <p:cNvSpPr txBox="1">
            <a:spLocks/>
          </p:cNvSpPr>
          <p:nvPr/>
        </p:nvSpPr>
        <p:spPr bwMode="auto">
          <a:xfrm>
            <a:off x="162445" y="798235"/>
            <a:ext cx="3213224" cy="949305"/>
          </a:xfrm>
          <a:prstGeom prst="rect">
            <a:avLst/>
          </a:prstGeom>
          <a:solidFill>
            <a:schemeClr val="accent5">
              <a:lumMod val="40000"/>
              <a:lumOff val="60000"/>
            </a:schemeClr>
          </a:solidFill>
          <a:ln>
            <a:noFill/>
          </a:ln>
          <a:effectLst>
            <a:outerShdw blurRad="63500" sx="102000" sy="102000" algn="ctr" rotWithShape="0">
              <a:prstClr val="black">
                <a:alpha val="40000"/>
              </a:prstClr>
            </a:outerShdw>
          </a:effec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kumimoji="0" lang="en-US" altLang="en-US" sz="1600" b="0" i="0" u="none" strike="noStrike" kern="1200" cap="none" spc="0" normalizeH="0" baseline="0" noProof="0" dirty="0">
                <a:ln>
                  <a:noFill/>
                </a:ln>
                <a:solidFill>
                  <a:sysClr val="windowText" lastClr="000000"/>
                </a:solidFill>
                <a:effectLst/>
                <a:uLnTx/>
                <a:uFillTx/>
                <a:latin typeface="Calibri" panose="020F0502020204030204" pitchFamily="34" charset="0"/>
              </a:rPr>
              <a:t>“He/she can check the course results of his/her mentees, which the students have registered…..”</a:t>
            </a:r>
          </a:p>
        </p:txBody>
      </p:sp>
      <p:pic>
        <p:nvPicPr>
          <p:cNvPr id="43" name="Picture 16"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513" y="19050"/>
            <a:ext cx="58007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Group 17"/>
          <p:cNvGrpSpPr>
            <a:grpSpLocks/>
          </p:cNvGrpSpPr>
          <p:nvPr/>
        </p:nvGrpSpPr>
        <p:grpSpPr bwMode="auto">
          <a:xfrm>
            <a:off x="3676649" y="692696"/>
            <a:ext cx="4973638" cy="1239763"/>
            <a:chOff x="2304371" y="33923"/>
            <a:chExt cx="4974595" cy="1239799"/>
          </a:xfrm>
        </p:grpSpPr>
        <p:cxnSp>
          <p:nvCxnSpPr>
            <p:cNvPr id="19" name="Straight Connector 18"/>
            <p:cNvCxnSpPr/>
            <p:nvPr/>
          </p:nvCxnSpPr>
          <p:spPr>
            <a:xfrm rot="16200000">
              <a:off x="4793257" y="-2173965"/>
              <a:ext cx="0" cy="494601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304371" y="97425"/>
              <a:ext cx="1152747" cy="311158"/>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sp>
          <p:nvSpPr>
            <p:cNvPr id="21" name="Rectangle 20"/>
            <p:cNvSpPr/>
            <p:nvPr/>
          </p:nvSpPr>
          <p:spPr>
            <a:xfrm>
              <a:off x="2304371" y="97425"/>
              <a:ext cx="1152747" cy="215906"/>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r>
                <a:rPr lang="en-US" sz="1200" b="1" dirty="0">
                  <a:solidFill>
                    <a:schemeClr val="tx1"/>
                  </a:solidFill>
                  <a:latin typeface="Calibri" panose="020F0502020204030204" pitchFamily="34" charset="0"/>
                </a:rPr>
                <a:t>Professor</a:t>
              </a:r>
              <a:endParaRPr lang="en-GB" sz="1200" b="1" dirty="0">
                <a:solidFill>
                  <a:schemeClr val="tx1"/>
                </a:solidFill>
                <a:latin typeface="Calibri" panose="020F0502020204030204" pitchFamily="34" charset="0"/>
              </a:endParaRPr>
            </a:p>
          </p:txBody>
        </p:sp>
        <p:sp>
          <p:nvSpPr>
            <p:cNvPr id="22" name="Rectangle 21"/>
            <p:cNvSpPr/>
            <p:nvPr/>
          </p:nvSpPr>
          <p:spPr>
            <a:xfrm>
              <a:off x="4351053" y="97425"/>
              <a:ext cx="936805" cy="350847"/>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sp>
          <p:nvSpPr>
            <p:cNvPr id="23" name="Rectangle 22"/>
            <p:cNvSpPr/>
            <p:nvPr/>
          </p:nvSpPr>
          <p:spPr>
            <a:xfrm>
              <a:off x="4351053" y="97425"/>
              <a:ext cx="936805" cy="215906"/>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r>
                <a:rPr lang="en-US" sz="1200" b="1" dirty="0">
                  <a:solidFill>
                    <a:schemeClr val="tx1"/>
                  </a:solidFill>
                  <a:latin typeface="Calibri" panose="020F0502020204030204" pitchFamily="34" charset="0"/>
                </a:rPr>
                <a:t>Student</a:t>
              </a:r>
              <a:endParaRPr lang="en-GB" sz="1200" b="1" dirty="0">
                <a:solidFill>
                  <a:schemeClr val="tx1"/>
                </a:solidFill>
                <a:latin typeface="Calibri" panose="020F0502020204030204" pitchFamily="34" charset="0"/>
              </a:endParaRPr>
            </a:p>
          </p:txBody>
        </p:sp>
        <p:sp>
          <p:nvSpPr>
            <p:cNvPr id="24" name="Rectangle 23"/>
            <p:cNvSpPr/>
            <p:nvPr/>
          </p:nvSpPr>
          <p:spPr>
            <a:xfrm>
              <a:off x="6343748" y="97425"/>
              <a:ext cx="935218" cy="342908"/>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sp>
          <p:nvSpPr>
            <p:cNvPr id="25" name="Rectangle 24"/>
            <p:cNvSpPr/>
            <p:nvPr/>
          </p:nvSpPr>
          <p:spPr>
            <a:xfrm>
              <a:off x="6343748" y="97425"/>
              <a:ext cx="935218" cy="215906"/>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r>
                <a:rPr lang="en-US" sz="1200" b="1" dirty="0">
                  <a:solidFill>
                    <a:schemeClr val="tx1"/>
                  </a:solidFill>
                  <a:latin typeface="Calibri" panose="020F0502020204030204" pitchFamily="34" charset="0"/>
                </a:rPr>
                <a:t>Course</a:t>
              </a:r>
              <a:endParaRPr lang="en-GB" sz="1200" b="1" dirty="0">
                <a:solidFill>
                  <a:schemeClr val="tx1"/>
                </a:solidFill>
                <a:latin typeface="Calibri" panose="020F0502020204030204" pitchFamily="34" charset="0"/>
              </a:endParaRPr>
            </a:p>
          </p:txBody>
        </p:sp>
        <p:cxnSp>
          <p:nvCxnSpPr>
            <p:cNvPr id="26" name="Straight Arrow Connector 25"/>
            <p:cNvCxnSpPr/>
            <p:nvPr/>
          </p:nvCxnSpPr>
          <p:spPr>
            <a:xfrm flipV="1">
              <a:off x="5294209" y="448272"/>
              <a:ext cx="1049539" cy="684232"/>
            </a:xfrm>
            <a:prstGeom prst="straightConnector1">
              <a:avLst/>
            </a:prstGeom>
            <a:ln w="25400">
              <a:solidFill>
                <a:schemeClr val="tx1"/>
              </a:solidFill>
              <a:headEnd w="lg" len="lg"/>
              <a:tailEnd type="arrow" w="lg" len="lg"/>
            </a:ln>
          </p:spPr>
          <p:style>
            <a:lnRef idx="1">
              <a:schemeClr val="accent1"/>
            </a:lnRef>
            <a:fillRef idx="0">
              <a:schemeClr val="accent1"/>
            </a:fillRef>
            <a:effectRef idx="0">
              <a:schemeClr val="accent1"/>
            </a:effectRef>
            <a:fontRef idx="minor">
              <a:schemeClr val="tx1"/>
            </a:fontRef>
          </p:style>
        </p:cxnSp>
        <p:grpSp>
          <p:nvGrpSpPr>
            <p:cNvPr id="27" name="Group 9219"/>
            <p:cNvGrpSpPr>
              <a:grpSpLocks/>
            </p:cNvGrpSpPr>
            <p:nvPr/>
          </p:nvGrpSpPr>
          <p:grpSpPr bwMode="auto">
            <a:xfrm>
              <a:off x="2439335" y="826034"/>
              <a:ext cx="1481422" cy="447688"/>
              <a:chOff x="1707815" y="1354354"/>
              <a:chExt cx="1481422" cy="447688"/>
            </a:xfrm>
          </p:grpSpPr>
          <p:sp>
            <p:nvSpPr>
              <p:cNvPr id="51" name="Folded Corner 50"/>
              <p:cNvSpPr/>
              <p:nvPr/>
            </p:nvSpPr>
            <p:spPr>
              <a:xfrm rot="16200000">
                <a:off x="2224682" y="837487"/>
                <a:ext cx="447688" cy="1481422"/>
              </a:xfrm>
              <a:prstGeom prst="foldedCorner">
                <a:avLst>
                  <a:gd name="adj" fmla="val 50000"/>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dirty="0">
                  <a:latin typeface="Calibri" panose="020F0502020204030204" pitchFamily="34" charset="0"/>
                </a:endParaRPr>
              </a:p>
            </p:txBody>
          </p:sp>
          <p:sp>
            <p:nvSpPr>
              <p:cNvPr id="52" name="Isosceles Triangle 51"/>
              <p:cNvSpPr/>
              <p:nvPr/>
            </p:nvSpPr>
            <p:spPr>
              <a:xfrm rot="13636352">
                <a:off x="2891548" y="1458380"/>
                <a:ext cx="296871" cy="11432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latin typeface="Calibri" panose="020F0502020204030204" pitchFamily="34" charset="0"/>
                </a:endParaRPr>
              </a:p>
            </p:txBody>
          </p:sp>
          <p:sp>
            <p:nvSpPr>
              <p:cNvPr id="53" name="TextBox 52"/>
              <p:cNvSpPr txBox="1"/>
              <p:nvPr/>
            </p:nvSpPr>
            <p:spPr>
              <a:xfrm>
                <a:off x="1707815" y="1509407"/>
                <a:ext cx="1352811" cy="277007"/>
              </a:xfrm>
              <a:prstGeom prst="rect">
                <a:avLst/>
              </a:prstGeom>
              <a:noFill/>
            </p:spPr>
            <p:txBody>
              <a:bodyPr wrap="square">
                <a:spAutoFit/>
              </a:bodyPr>
              <a:lstStyle/>
              <a:p>
                <a:pPr>
                  <a:defRPr/>
                </a:pPr>
                <a:r>
                  <a:rPr lang="en-US" sz="1200" dirty="0">
                    <a:latin typeface="Calibri" panose="020F0502020204030204" pitchFamily="34" charset="0"/>
                  </a:rPr>
                  <a:t>as Student Record</a:t>
                </a:r>
                <a:endParaRPr lang="en-GB" sz="1200" dirty="0">
                  <a:latin typeface="Calibri" panose="020F0502020204030204" pitchFamily="34" charset="0"/>
                </a:endParaRPr>
              </a:p>
            </p:txBody>
          </p:sp>
        </p:grpSp>
        <p:cxnSp>
          <p:nvCxnSpPr>
            <p:cNvPr id="28" name="Straight Connector 27"/>
            <p:cNvCxnSpPr>
              <a:endCxn id="52" idx="3"/>
            </p:cNvCxnSpPr>
            <p:nvPr/>
          </p:nvCxnSpPr>
          <p:spPr>
            <a:xfrm flipH="1">
              <a:off x="3813493" y="448272"/>
              <a:ext cx="558200" cy="500171"/>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371694" y="821346"/>
              <a:ext cx="936805" cy="368410"/>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sp>
          <p:nvSpPr>
            <p:cNvPr id="30" name="Rectangle 29"/>
            <p:cNvSpPr/>
            <p:nvPr/>
          </p:nvSpPr>
          <p:spPr>
            <a:xfrm>
              <a:off x="4371694" y="838250"/>
              <a:ext cx="936805" cy="215906"/>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r>
                <a:rPr lang="en-US" sz="1200" b="1" dirty="0">
                  <a:solidFill>
                    <a:schemeClr val="tx1"/>
                  </a:solidFill>
                  <a:latin typeface="Calibri" panose="020F0502020204030204" pitchFamily="34" charset="0"/>
                </a:rPr>
                <a:t>Result</a:t>
              </a:r>
              <a:endParaRPr lang="en-GB" sz="1200" b="1" dirty="0">
                <a:solidFill>
                  <a:schemeClr val="tx1"/>
                </a:solidFill>
                <a:latin typeface="Calibri" panose="020F0502020204030204" pitchFamily="34" charset="0"/>
              </a:endParaRPr>
            </a:p>
          </p:txBody>
        </p:sp>
        <p:sp>
          <p:nvSpPr>
            <p:cNvPr id="31" name="TextBox 30"/>
            <p:cNvSpPr txBox="1"/>
            <p:nvPr/>
          </p:nvSpPr>
          <p:spPr>
            <a:xfrm>
              <a:off x="5540319" y="257766"/>
              <a:ext cx="773262" cy="261945"/>
            </a:xfrm>
            <a:prstGeom prst="rect">
              <a:avLst/>
            </a:prstGeom>
            <a:noFill/>
          </p:spPr>
          <p:txBody>
            <a:bodyPr>
              <a:spAutoFit/>
            </a:bodyPr>
            <a:lstStyle/>
            <a:p>
              <a:pPr>
                <a:defRPr/>
              </a:pPr>
              <a:r>
                <a:rPr lang="en-US" sz="1100" dirty="0">
                  <a:latin typeface="Calibri" panose="020F0502020204030204" pitchFamily="34" charset="0"/>
                </a:rPr>
                <a:t>register</a:t>
              </a:r>
              <a:endParaRPr lang="en-GB" sz="1100" dirty="0">
                <a:latin typeface="Calibri" panose="020F0502020204030204" pitchFamily="34" charset="0"/>
              </a:endParaRPr>
            </a:p>
          </p:txBody>
        </p:sp>
        <p:sp>
          <p:nvSpPr>
            <p:cNvPr id="32" name="TextBox 31"/>
            <p:cNvSpPr txBox="1"/>
            <p:nvPr/>
          </p:nvSpPr>
          <p:spPr>
            <a:xfrm>
              <a:off x="3714293" y="267292"/>
              <a:ext cx="771673" cy="261945"/>
            </a:xfrm>
            <a:prstGeom prst="rect">
              <a:avLst/>
            </a:prstGeom>
            <a:noFill/>
          </p:spPr>
          <p:txBody>
            <a:bodyPr>
              <a:spAutoFit/>
            </a:bodyPr>
            <a:lstStyle/>
            <a:p>
              <a:pPr>
                <a:defRPr/>
              </a:pPr>
              <a:r>
                <a:rPr lang="en-US" sz="1100" dirty="0">
                  <a:latin typeface="Calibri" panose="020F0502020204030204" pitchFamily="34" charset="0"/>
                </a:rPr>
                <a:t>mentee</a:t>
              </a:r>
              <a:endParaRPr lang="en-GB" sz="1100" dirty="0">
                <a:latin typeface="Calibri" panose="020F0502020204030204" pitchFamily="34" charset="0"/>
              </a:endParaRPr>
            </a:p>
          </p:txBody>
        </p:sp>
        <p:sp>
          <p:nvSpPr>
            <p:cNvPr id="33" name="TextBox 32"/>
            <p:cNvSpPr txBox="1"/>
            <p:nvPr/>
          </p:nvSpPr>
          <p:spPr>
            <a:xfrm>
              <a:off x="3399957" y="43448"/>
              <a:ext cx="773262" cy="261944"/>
            </a:xfrm>
            <a:prstGeom prst="rect">
              <a:avLst/>
            </a:prstGeom>
            <a:noFill/>
          </p:spPr>
          <p:txBody>
            <a:bodyPr>
              <a:spAutoFit/>
            </a:bodyPr>
            <a:lstStyle/>
            <a:p>
              <a:pPr>
                <a:defRPr/>
              </a:pPr>
              <a:r>
                <a:rPr lang="en-US" sz="1100" dirty="0">
                  <a:latin typeface="Calibri" panose="020F0502020204030204" pitchFamily="34" charset="0"/>
                </a:rPr>
                <a:t>mentor</a:t>
              </a:r>
              <a:endParaRPr lang="en-GB" sz="1100" dirty="0">
                <a:latin typeface="Calibri" panose="020F0502020204030204" pitchFamily="34" charset="0"/>
              </a:endParaRPr>
            </a:p>
          </p:txBody>
        </p:sp>
        <p:sp>
          <p:nvSpPr>
            <p:cNvPr id="34" name="TextBox 33"/>
            <p:cNvSpPr txBox="1"/>
            <p:nvPr/>
          </p:nvSpPr>
          <p:spPr>
            <a:xfrm>
              <a:off x="3426206" y="267292"/>
              <a:ext cx="773261" cy="261945"/>
            </a:xfrm>
            <a:prstGeom prst="rect">
              <a:avLst/>
            </a:prstGeom>
            <a:noFill/>
          </p:spPr>
          <p:txBody>
            <a:bodyPr>
              <a:spAutoFit/>
            </a:bodyPr>
            <a:lstStyle/>
            <a:p>
              <a:pPr>
                <a:defRPr/>
              </a:pPr>
              <a:r>
                <a:rPr lang="en-US" sz="1100" dirty="0">
                  <a:latin typeface="Calibri" panose="020F0502020204030204" pitchFamily="34" charset="0"/>
                </a:rPr>
                <a:t>1</a:t>
              </a:r>
              <a:endParaRPr lang="en-GB" sz="1100" dirty="0">
                <a:latin typeface="Calibri" panose="020F0502020204030204" pitchFamily="34" charset="0"/>
              </a:endParaRPr>
            </a:p>
          </p:txBody>
        </p:sp>
        <p:sp>
          <p:nvSpPr>
            <p:cNvPr id="48" name="TextBox 47"/>
            <p:cNvSpPr txBox="1"/>
            <p:nvPr/>
          </p:nvSpPr>
          <p:spPr>
            <a:xfrm>
              <a:off x="6021424" y="33923"/>
              <a:ext cx="771673" cy="261944"/>
            </a:xfrm>
            <a:prstGeom prst="rect">
              <a:avLst/>
            </a:prstGeom>
            <a:noFill/>
          </p:spPr>
          <p:txBody>
            <a:bodyPr>
              <a:spAutoFit/>
            </a:bodyPr>
            <a:lstStyle/>
            <a:p>
              <a:pPr>
                <a:defRPr/>
              </a:pPr>
              <a:r>
                <a:rPr lang="en-US" sz="1100" dirty="0">
                  <a:latin typeface="Calibri" panose="020F0502020204030204" pitchFamily="34" charset="0"/>
                </a:rPr>
                <a:t>1..*</a:t>
              </a:r>
              <a:endParaRPr lang="en-GB" sz="1100" dirty="0">
                <a:latin typeface="Calibri" panose="020F0502020204030204" pitchFamily="34" charset="0"/>
              </a:endParaRPr>
            </a:p>
          </p:txBody>
        </p:sp>
        <p:sp>
          <p:nvSpPr>
            <p:cNvPr id="49" name="TextBox 48"/>
            <p:cNvSpPr txBox="1"/>
            <p:nvPr/>
          </p:nvSpPr>
          <p:spPr>
            <a:xfrm>
              <a:off x="4050957" y="43448"/>
              <a:ext cx="771673" cy="261944"/>
            </a:xfrm>
            <a:prstGeom prst="rect">
              <a:avLst/>
            </a:prstGeom>
            <a:noFill/>
          </p:spPr>
          <p:txBody>
            <a:bodyPr>
              <a:spAutoFit/>
            </a:bodyPr>
            <a:lstStyle/>
            <a:p>
              <a:pPr>
                <a:defRPr/>
              </a:pPr>
              <a:r>
                <a:rPr lang="en-US" sz="1100" dirty="0">
                  <a:latin typeface="Calibri" panose="020F0502020204030204" pitchFamily="34" charset="0"/>
                </a:rPr>
                <a:t>1..*</a:t>
              </a:r>
              <a:endParaRPr lang="en-GB" sz="1100" dirty="0">
                <a:latin typeface="Calibri" panose="020F0502020204030204" pitchFamily="34" charset="0"/>
              </a:endParaRPr>
            </a:p>
          </p:txBody>
        </p:sp>
        <p:sp>
          <p:nvSpPr>
            <p:cNvPr id="50" name="TextBox 49"/>
            <p:cNvSpPr txBox="1"/>
            <p:nvPr/>
          </p:nvSpPr>
          <p:spPr>
            <a:xfrm>
              <a:off x="5229109" y="43448"/>
              <a:ext cx="771673" cy="261944"/>
            </a:xfrm>
            <a:prstGeom prst="rect">
              <a:avLst/>
            </a:prstGeom>
            <a:noFill/>
          </p:spPr>
          <p:txBody>
            <a:bodyPr>
              <a:spAutoFit/>
            </a:bodyPr>
            <a:lstStyle/>
            <a:p>
              <a:pPr>
                <a:defRPr/>
              </a:pPr>
              <a:r>
                <a:rPr lang="en-US" sz="1100" dirty="0">
                  <a:latin typeface="Calibri" panose="020F0502020204030204" pitchFamily="34" charset="0"/>
                </a:rPr>
                <a:t>1..*</a:t>
              </a:r>
              <a:endParaRPr lang="en-GB" sz="1100" dirty="0">
                <a:latin typeface="Calibri" panose="020F0502020204030204" pitchFamily="34" charset="0"/>
              </a:endParaRPr>
            </a:p>
          </p:txBody>
        </p:sp>
      </p:grpSp>
      <p:sp>
        <p:nvSpPr>
          <p:cNvPr id="54" name="Rectangle 53"/>
          <p:cNvSpPr/>
          <p:nvPr/>
        </p:nvSpPr>
        <p:spPr>
          <a:xfrm>
            <a:off x="4348162" y="2645619"/>
            <a:ext cx="684212" cy="431800"/>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err="1">
                <a:solidFill>
                  <a:schemeClr val="tx1"/>
                </a:solidFill>
                <a:latin typeface="Calibri" panose="020F0502020204030204" pitchFamily="34" charset="0"/>
              </a:rPr>
              <a:t>AppMgr</a:t>
            </a:r>
            <a:endParaRPr lang="en-GB" sz="1000" dirty="0">
              <a:solidFill>
                <a:schemeClr val="tx1"/>
              </a:solidFill>
              <a:latin typeface="Calibri" panose="020F0502020204030204" pitchFamily="34" charset="0"/>
            </a:endParaRPr>
          </a:p>
        </p:txBody>
      </p:sp>
      <p:grpSp>
        <p:nvGrpSpPr>
          <p:cNvPr id="55" name="Group 54"/>
          <p:cNvGrpSpPr>
            <a:grpSpLocks/>
          </p:cNvGrpSpPr>
          <p:nvPr/>
        </p:nvGrpSpPr>
        <p:grpSpPr bwMode="auto">
          <a:xfrm>
            <a:off x="6846887" y="2645619"/>
            <a:ext cx="3482975" cy="3498663"/>
            <a:chOff x="5475396" y="2237323"/>
            <a:chExt cx="3483416" cy="3498129"/>
          </a:xfrm>
        </p:grpSpPr>
        <p:sp>
          <p:nvSpPr>
            <p:cNvPr id="56" name="Rectangle 55"/>
            <p:cNvSpPr/>
            <p:nvPr/>
          </p:nvSpPr>
          <p:spPr>
            <a:xfrm>
              <a:off x="5475396" y="2237323"/>
              <a:ext cx="1187600" cy="431734"/>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student : Student</a:t>
              </a:r>
              <a:endParaRPr lang="en-GB" sz="1000" dirty="0">
                <a:solidFill>
                  <a:schemeClr val="tx1"/>
                </a:solidFill>
                <a:latin typeface="Calibri" panose="020F0502020204030204" pitchFamily="34" charset="0"/>
              </a:endParaRPr>
            </a:p>
          </p:txBody>
        </p:sp>
        <p:sp>
          <p:nvSpPr>
            <p:cNvPr id="57" name="Rectangle 56"/>
            <p:cNvSpPr/>
            <p:nvPr/>
          </p:nvSpPr>
          <p:spPr>
            <a:xfrm>
              <a:off x="6812240" y="2237323"/>
              <a:ext cx="935155" cy="431734"/>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result : Result</a:t>
              </a:r>
              <a:endParaRPr lang="en-GB" sz="1000" dirty="0">
                <a:solidFill>
                  <a:schemeClr val="tx1"/>
                </a:solidFill>
                <a:latin typeface="Calibri" panose="020F0502020204030204" pitchFamily="34" charset="0"/>
              </a:endParaRPr>
            </a:p>
          </p:txBody>
        </p:sp>
        <p:sp>
          <p:nvSpPr>
            <p:cNvPr id="58" name="Rectangle 57"/>
            <p:cNvSpPr/>
            <p:nvPr/>
          </p:nvSpPr>
          <p:spPr>
            <a:xfrm>
              <a:off x="7879175" y="2237323"/>
              <a:ext cx="1079637" cy="431734"/>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course : Course</a:t>
              </a:r>
              <a:endParaRPr lang="en-GB" sz="1000" dirty="0">
                <a:solidFill>
                  <a:schemeClr val="tx1"/>
                </a:solidFill>
                <a:latin typeface="Calibri" panose="020F0502020204030204" pitchFamily="34" charset="0"/>
              </a:endParaRPr>
            </a:p>
          </p:txBody>
        </p:sp>
        <p:cxnSp>
          <p:nvCxnSpPr>
            <p:cNvPr id="59" name="Straight Connector 58"/>
            <p:cNvCxnSpPr/>
            <p:nvPr/>
          </p:nvCxnSpPr>
          <p:spPr>
            <a:xfrm flipH="1">
              <a:off x="6067608" y="2711913"/>
              <a:ext cx="9526" cy="3023539"/>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flipH="1">
              <a:off x="7266323" y="2681755"/>
              <a:ext cx="9526" cy="302354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flipH="1">
              <a:off x="8414230" y="2670644"/>
              <a:ext cx="9526" cy="302353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2" name="Group 61"/>
          <p:cNvGrpSpPr>
            <a:grpSpLocks/>
          </p:cNvGrpSpPr>
          <p:nvPr/>
        </p:nvGrpSpPr>
        <p:grpSpPr bwMode="auto">
          <a:xfrm>
            <a:off x="3059112" y="2852936"/>
            <a:ext cx="1636712" cy="423862"/>
            <a:chOff x="1687810" y="2671029"/>
            <a:chExt cx="1635771" cy="425332"/>
          </a:xfrm>
        </p:grpSpPr>
        <p:cxnSp>
          <p:nvCxnSpPr>
            <p:cNvPr id="63" name="Straight Arrow Connector 62"/>
            <p:cNvCxnSpPr/>
            <p:nvPr/>
          </p:nvCxnSpPr>
          <p:spPr>
            <a:xfrm>
              <a:off x="1687810" y="3083617"/>
              <a:ext cx="1583414" cy="12744"/>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a:off x="3314061" y="2671029"/>
              <a:ext cx="9520" cy="396658"/>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65" name="Group 64"/>
          <p:cNvGrpSpPr>
            <a:grpSpLocks/>
          </p:cNvGrpSpPr>
          <p:nvPr/>
        </p:nvGrpSpPr>
        <p:grpSpPr bwMode="auto">
          <a:xfrm>
            <a:off x="4643437" y="2657425"/>
            <a:ext cx="2082800" cy="3519360"/>
            <a:chOff x="3271520" y="2237323"/>
            <a:chExt cx="2082800" cy="3518561"/>
          </a:xfrm>
        </p:grpSpPr>
        <p:sp>
          <p:nvSpPr>
            <p:cNvPr id="66" name="Rectangle 65"/>
            <p:cNvSpPr/>
            <p:nvPr/>
          </p:nvSpPr>
          <p:spPr>
            <a:xfrm>
              <a:off x="3271520" y="2804552"/>
              <a:ext cx="107950" cy="2951332"/>
            </a:xfrm>
            <a:prstGeom prst="rect">
              <a:avLst/>
            </a:prstGeom>
            <a:solidFill>
              <a:srgbClr val="00B0F0"/>
            </a:solidFill>
            <a:ln w="190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sp>
          <p:nvSpPr>
            <p:cNvPr id="67" name="Rectangle 66"/>
            <p:cNvSpPr/>
            <p:nvPr/>
          </p:nvSpPr>
          <p:spPr>
            <a:xfrm>
              <a:off x="3911282" y="2237323"/>
              <a:ext cx="1443038" cy="431702"/>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professor : Professor</a:t>
              </a:r>
              <a:endParaRPr lang="en-GB" sz="1000" dirty="0">
                <a:solidFill>
                  <a:schemeClr val="tx1"/>
                </a:solidFill>
                <a:latin typeface="Calibri" panose="020F0502020204030204" pitchFamily="34" charset="0"/>
              </a:endParaRPr>
            </a:p>
          </p:txBody>
        </p:sp>
        <p:cxnSp>
          <p:nvCxnSpPr>
            <p:cNvPr id="68" name="Straight Arrow Connector 67"/>
            <p:cNvCxnSpPr/>
            <p:nvPr/>
          </p:nvCxnSpPr>
          <p:spPr>
            <a:xfrm>
              <a:off x="3354070" y="3008723"/>
              <a:ext cx="1260475" cy="12697"/>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4633595" y="2681722"/>
              <a:ext cx="11112" cy="3023313"/>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3474720" y="2804552"/>
              <a:ext cx="1595437" cy="261879"/>
            </a:xfrm>
            <a:prstGeom prst="rect">
              <a:avLst/>
            </a:prstGeom>
            <a:noFill/>
          </p:spPr>
          <p:txBody>
            <a:bodyPr>
              <a:spAutoFit/>
            </a:bodyPr>
            <a:lstStyle/>
            <a:p>
              <a:pPr>
                <a:defRPr/>
              </a:pPr>
              <a:r>
                <a:rPr lang="en-US" sz="1100" dirty="0" err="1">
                  <a:latin typeface="Calibri" panose="020F0502020204030204" pitchFamily="34" charset="0"/>
                </a:rPr>
                <a:t>getMentees</a:t>
              </a:r>
              <a:r>
                <a:rPr lang="en-US" sz="1100" dirty="0">
                  <a:latin typeface="Calibri" panose="020F0502020204030204" pitchFamily="34" charset="0"/>
                </a:rPr>
                <a:t>()</a:t>
              </a:r>
              <a:endParaRPr lang="en-GB" sz="1100" dirty="0">
                <a:latin typeface="Calibri" panose="020F0502020204030204" pitchFamily="34" charset="0"/>
              </a:endParaRPr>
            </a:p>
          </p:txBody>
        </p:sp>
        <p:sp>
          <p:nvSpPr>
            <p:cNvPr id="71" name="Rectangle 70"/>
            <p:cNvSpPr/>
            <p:nvPr/>
          </p:nvSpPr>
          <p:spPr>
            <a:xfrm>
              <a:off x="4581207" y="3039197"/>
              <a:ext cx="107950" cy="142843"/>
            </a:xfrm>
            <a:prstGeom prst="rect">
              <a:avLst/>
            </a:prstGeom>
            <a:solidFill>
              <a:srgbClr val="00B0F0"/>
            </a:solidFill>
            <a:ln w="952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endParaRPr lang="en-GB" sz="1000" dirty="0">
                <a:solidFill>
                  <a:schemeClr val="tx1"/>
                </a:solidFill>
                <a:latin typeface="Calibri" panose="020F0502020204030204" pitchFamily="34" charset="0"/>
              </a:endParaRPr>
            </a:p>
          </p:txBody>
        </p:sp>
      </p:grpSp>
      <p:grpSp>
        <p:nvGrpSpPr>
          <p:cNvPr id="72" name="Group 71"/>
          <p:cNvGrpSpPr>
            <a:grpSpLocks/>
          </p:cNvGrpSpPr>
          <p:nvPr/>
        </p:nvGrpSpPr>
        <p:grpSpPr bwMode="auto">
          <a:xfrm>
            <a:off x="3027362" y="3023047"/>
            <a:ext cx="7177086" cy="3056855"/>
            <a:chOff x="1656079" y="2613839"/>
            <a:chExt cx="7177563" cy="3057733"/>
          </a:xfrm>
        </p:grpSpPr>
        <p:cxnSp>
          <p:nvCxnSpPr>
            <p:cNvPr id="73" name="Straight Arrow Connector 72"/>
            <p:cNvCxnSpPr/>
            <p:nvPr/>
          </p:nvCxnSpPr>
          <p:spPr>
            <a:xfrm flipH="1" flipV="1">
              <a:off x="1687831" y="5671572"/>
              <a:ext cx="1544740" cy="0"/>
            </a:xfrm>
            <a:prstGeom prst="straightConnector1">
              <a:avLst/>
            </a:prstGeom>
            <a:ln w="25400">
              <a:solidFill>
                <a:schemeClr val="tx1"/>
              </a:solidFill>
              <a:prstDash val="sysDash"/>
              <a:headEnd w="lg" len="lg"/>
              <a:tailEnd type="arrow" w="lg" len="lg"/>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1656079" y="2613839"/>
              <a:ext cx="1595543" cy="262012"/>
            </a:xfrm>
            <a:prstGeom prst="rect">
              <a:avLst/>
            </a:prstGeom>
            <a:noFill/>
          </p:spPr>
          <p:txBody>
            <a:bodyPr>
              <a:spAutoFit/>
            </a:bodyPr>
            <a:lstStyle/>
            <a:p>
              <a:pPr>
                <a:defRPr/>
              </a:pPr>
              <a:r>
                <a:rPr lang="en-US" sz="1100" dirty="0" err="1">
                  <a:latin typeface="Calibri" panose="020F0502020204030204" pitchFamily="34" charset="0"/>
                </a:rPr>
                <a:t>showMenteeResults</a:t>
              </a:r>
              <a:r>
                <a:rPr lang="en-US" sz="1100" dirty="0">
                  <a:latin typeface="Calibri" panose="020F0502020204030204" pitchFamily="34" charset="0"/>
                </a:rPr>
                <a:t>()</a:t>
              </a:r>
              <a:endParaRPr lang="en-GB" sz="1100" dirty="0">
                <a:latin typeface="Calibri" panose="020F0502020204030204" pitchFamily="34" charset="0"/>
              </a:endParaRPr>
            </a:p>
          </p:txBody>
        </p:sp>
        <p:grpSp>
          <p:nvGrpSpPr>
            <p:cNvPr id="75" name="Group 43"/>
            <p:cNvGrpSpPr>
              <a:grpSpLocks/>
            </p:cNvGrpSpPr>
            <p:nvPr/>
          </p:nvGrpSpPr>
          <p:grpSpPr bwMode="auto">
            <a:xfrm>
              <a:off x="2214916" y="3251239"/>
              <a:ext cx="6618726" cy="2407628"/>
              <a:chOff x="2214916" y="3251239"/>
              <a:chExt cx="6618726" cy="2407628"/>
            </a:xfrm>
          </p:grpSpPr>
          <p:cxnSp>
            <p:nvCxnSpPr>
              <p:cNvPr id="76" name="Straight Arrow Connector 75"/>
              <p:cNvCxnSpPr/>
              <p:nvPr/>
            </p:nvCxnSpPr>
            <p:spPr>
              <a:xfrm>
                <a:off x="3373868" y="3799521"/>
                <a:ext cx="2664002" cy="12704"/>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3373868" y="4707058"/>
                <a:ext cx="3853118" cy="12704"/>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p:nvPr/>
            </p:nvCxnSpPr>
            <p:spPr>
              <a:xfrm>
                <a:off x="3384981" y="5084863"/>
                <a:ext cx="5004133" cy="12704"/>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3373868" y="5314853"/>
                <a:ext cx="3853118" cy="12704"/>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16200000">
                <a:off x="5845769" y="278613"/>
                <a:ext cx="0" cy="59757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a:off x="5845769" y="2594582"/>
                <a:ext cx="0" cy="597574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6200000">
                <a:off x="5845769" y="896380"/>
                <a:ext cx="0" cy="5975747"/>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16200000">
                <a:off x="5898955" y="2012947"/>
                <a:ext cx="0" cy="561536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2869009" y="3251239"/>
                <a:ext cx="0" cy="2340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8822530" y="3255430"/>
                <a:ext cx="0" cy="23406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Rectangle 85"/>
              <p:cNvSpPr/>
              <p:nvPr/>
            </p:nvSpPr>
            <p:spPr>
              <a:xfrm>
                <a:off x="3100800" y="4100339"/>
                <a:ext cx="5616948" cy="1394450"/>
              </a:xfrm>
              <a:prstGeom prst="rect">
                <a:avLst/>
              </a:prstGeom>
              <a:noFill/>
              <a:ln w="19050"/>
            </p:spPr>
            <p:style>
              <a:lnRef idx="2">
                <a:schemeClr val="dk1"/>
              </a:lnRef>
              <a:fillRef idx="1">
                <a:schemeClr val="lt1"/>
              </a:fillRef>
              <a:effectRef idx="0">
                <a:schemeClr val="dk1"/>
              </a:effectRef>
              <a:fontRef idx="minor">
                <a:schemeClr val="dk1"/>
              </a:fontRef>
            </p:style>
            <p:txBody>
              <a:bodyPr anchor="ctr"/>
              <a:lstStyle/>
              <a:p>
                <a:pPr algn="ctr">
                  <a:defRPr/>
                </a:pPr>
                <a:endParaRPr lang="en-GB">
                  <a:latin typeface="Calibri" panose="020F0502020204030204" pitchFamily="34" charset="0"/>
                </a:endParaRPr>
              </a:p>
            </p:txBody>
          </p:sp>
          <p:sp>
            <p:nvSpPr>
              <p:cNvPr id="87" name="TextBox 86"/>
              <p:cNvSpPr txBox="1"/>
              <p:nvPr/>
            </p:nvSpPr>
            <p:spPr>
              <a:xfrm>
                <a:off x="3291313" y="3335713"/>
                <a:ext cx="1595543" cy="260425"/>
              </a:xfrm>
              <a:prstGeom prst="rect">
                <a:avLst/>
              </a:prstGeom>
              <a:noFill/>
            </p:spPr>
            <p:txBody>
              <a:bodyPr>
                <a:spAutoFit/>
              </a:bodyPr>
              <a:lstStyle/>
              <a:p>
                <a:pPr>
                  <a:defRPr/>
                </a:pPr>
                <a:r>
                  <a:rPr lang="en-US" sz="1100" dirty="0">
                    <a:latin typeface="Calibri" panose="020F0502020204030204" pitchFamily="34" charset="0"/>
                  </a:rPr>
                  <a:t>[</a:t>
                </a:r>
                <a:r>
                  <a:rPr lang="en-US" sz="1100" dirty="0" err="1">
                    <a:latin typeface="Calibri" panose="020F0502020204030204" pitchFamily="34" charset="0"/>
                  </a:rPr>
                  <a:t>foreach</a:t>
                </a:r>
                <a:r>
                  <a:rPr lang="en-US" sz="1100" dirty="0">
                    <a:latin typeface="Calibri" panose="020F0502020204030204" pitchFamily="34" charset="0"/>
                  </a:rPr>
                  <a:t> student]</a:t>
                </a:r>
                <a:endParaRPr lang="en-GB" sz="1100" dirty="0">
                  <a:latin typeface="Calibri" panose="020F0502020204030204" pitchFamily="34" charset="0"/>
                </a:endParaRPr>
              </a:p>
            </p:txBody>
          </p:sp>
          <p:sp>
            <p:nvSpPr>
              <p:cNvPr id="88" name="TextBox 87"/>
              <p:cNvSpPr txBox="1"/>
              <p:nvPr/>
            </p:nvSpPr>
            <p:spPr>
              <a:xfrm>
                <a:off x="4653478" y="3529568"/>
                <a:ext cx="1595543" cy="262012"/>
              </a:xfrm>
              <a:prstGeom prst="rect">
                <a:avLst/>
              </a:prstGeom>
              <a:noFill/>
            </p:spPr>
            <p:txBody>
              <a:bodyPr>
                <a:spAutoFit/>
              </a:bodyPr>
              <a:lstStyle/>
              <a:p>
                <a:pPr>
                  <a:defRPr/>
                </a:pPr>
                <a:r>
                  <a:rPr lang="en-US" sz="1100" dirty="0" err="1">
                    <a:latin typeface="Calibri" panose="020F0502020204030204" pitchFamily="34" charset="0"/>
                  </a:rPr>
                  <a:t>getResults</a:t>
                </a:r>
                <a:r>
                  <a:rPr lang="en-US" sz="1100" dirty="0">
                    <a:latin typeface="Calibri" panose="020F0502020204030204" pitchFamily="34" charset="0"/>
                  </a:rPr>
                  <a:t>()</a:t>
                </a:r>
                <a:endParaRPr lang="en-GB" sz="1100" dirty="0">
                  <a:latin typeface="Calibri" panose="020F0502020204030204" pitchFamily="34" charset="0"/>
                </a:endParaRPr>
              </a:p>
            </p:txBody>
          </p:sp>
          <p:sp>
            <p:nvSpPr>
              <p:cNvPr id="89" name="TextBox 88"/>
              <p:cNvSpPr txBox="1"/>
              <p:nvPr/>
            </p:nvSpPr>
            <p:spPr>
              <a:xfrm>
                <a:off x="3443723" y="4342527"/>
                <a:ext cx="1595543" cy="262013"/>
              </a:xfrm>
              <a:prstGeom prst="rect">
                <a:avLst/>
              </a:prstGeom>
              <a:noFill/>
            </p:spPr>
            <p:txBody>
              <a:bodyPr>
                <a:spAutoFit/>
              </a:bodyPr>
              <a:lstStyle/>
              <a:p>
                <a:pPr>
                  <a:defRPr/>
                </a:pPr>
                <a:r>
                  <a:rPr lang="en-US" sz="1100" dirty="0">
                    <a:latin typeface="Calibri" panose="020F0502020204030204" pitchFamily="34" charset="0"/>
                  </a:rPr>
                  <a:t>[</a:t>
                </a:r>
                <a:r>
                  <a:rPr lang="en-US" sz="1100" dirty="0" err="1">
                    <a:latin typeface="Calibri" panose="020F0502020204030204" pitchFamily="34" charset="0"/>
                  </a:rPr>
                  <a:t>foreach</a:t>
                </a:r>
                <a:r>
                  <a:rPr lang="en-US" sz="1100" dirty="0">
                    <a:latin typeface="Calibri" panose="020F0502020204030204" pitchFamily="34" charset="0"/>
                  </a:rPr>
                  <a:t> result]</a:t>
                </a:r>
                <a:endParaRPr lang="en-GB" sz="1100" dirty="0">
                  <a:latin typeface="Calibri" panose="020F0502020204030204" pitchFamily="34" charset="0"/>
                </a:endParaRPr>
              </a:p>
            </p:txBody>
          </p:sp>
          <p:sp>
            <p:nvSpPr>
              <p:cNvPr id="90" name="TextBox 89"/>
              <p:cNvSpPr txBox="1"/>
              <p:nvPr/>
            </p:nvSpPr>
            <p:spPr>
              <a:xfrm>
                <a:off x="4907495" y="4486585"/>
                <a:ext cx="1595543" cy="262013"/>
              </a:xfrm>
              <a:prstGeom prst="rect">
                <a:avLst/>
              </a:prstGeom>
              <a:noFill/>
            </p:spPr>
            <p:txBody>
              <a:bodyPr>
                <a:spAutoFit/>
              </a:bodyPr>
              <a:lstStyle/>
              <a:p>
                <a:pPr>
                  <a:defRPr/>
                </a:pPr>
                <a:r>
                  <a:rPr lang="en-US" sz="1100" dirty="0" err="1">
                    <a:latin typeface="Calibri" panose="020F0502020204030204" pitchFamily="34" charset="0"/>
                  </a:rPr>
                  <a:t>getCourse</a:t>
                </a:r>
                <a:r>
                  <a:rPr lang="en-US" sz="1100" dirty="0">
                    <a:latin typeface="Calibri" panose="020F0502020204030204" pitchFamily="34" charset="0"/>
                  </a:rPr>
                  <a:t>()</a:t>
                </a:r>
                <a:endParaRPr lang="en-GB" sz="1100" dirty="0">
                  <a:latin typeface="Calibri" panose="020F0502020204030204" pitchFamily="34" charset="0"/>
                </a:endParaRPr>
              </a:p>
            </p:txBody>
          </p:sp>
          <p:sp>
            <p:nvSpPr>
              <p:cNvPr id="91" name="TextBox 90"/>
              <p:cNvSpPr txBox="1"/>
              <p:nvPr/>
            </p:nvSpPr>
            <p:spPr>
              <a:xfrm>
                <a:off x="4907495" y="5054428"/>
                <a:ext cx="1595543" cy="262013"/>
              </a:xfrm>
              <a:prstGeom prst="rect">
                <a:avLst/>
              </a:prstGeom>
              <a:noFill/>
            </p:spPr>
            <p:txBody>
              <a:bodyPr>
                <a:spAutoFit/>
              </a:bodyPr>
              <a:lstStyle/>
              <a:p>
                <a:pPr>
                  <a:defRPr/>
                </a:pPr>
                <a:r>
                  <a:rPr lang="en-US" sz="1100" dirty="0" err="1">
                    <a:latin typeface="Calibri" panose="020F0502020204030204" pitchFamily="34" charset="0"/>
                  </a:rPr>
                  <a:t>getGrade</a:t>
                </a:r>
                <a:r>
                  <a:rPr lang="en-US" sz="1100" dirty="0">
                    <a:latin typeface="Calibri" panose="020F0502020204030204" pitchFamily="34" charset="0"/>
                  </a:rPr>
                  <a:t>()</a:t>
                </a:r>
                <a:endParaRPr lang="en-GB" sz="1100" dirty="0">
                  <a:latin typeface="Calibri" panose="020F0502020204030204" pitchFamily="34" charset="0"/>
                </a:endParaRPr>
              </a:p>
            </p:txBody>
          </p:sp>
          <p:sp>
            <p:nvSpPr>
              <p:cNvPr id="92" name="TextBox 91"/>
              <p:cNvSpPr txBox="1"/>
              <p:nvPr/>
            </p:nvSpPr>
            <p:spPr>
              <a:xfrm>
                <a:off x="5313922" y="4805382"/>
                <a:ext cx="1595543" cy="262013"/>
              </a:xfrm>
              <a:prstGeom prst="rect">
                <a:avLst/>
              </a:prstGeom>
              <a:noFill/>
            </p:spPr>
            <p:txBody>
              <a:bodyPr>
                <a:spAutoFit/>
              </a:bodyPr>
              <a:lstStyle/>
              <a:p>
                <a:pPr>
                  <a:defRPr/>
                </a:pPr>
                <a:r>
                  <a:rPr lang="en-US" sz="1100" dirty="0" err="1">
                    <a:latin typeface="Calibri" panose="020F0502020204030204" pitchFamily="34" charset="0"/>
                  </a:rPr>
                  <a:t>getCourseName</a:t>
                </a:r>
                <a:r>
                  <a:rPr lang="en-US" sz="1100" dirty="0">
                    <a:latin typeface="Calibri" panose="020F0502020204030204" pitchFamily="34" charset="0"/>
                  </a:rPr>
                  <a:t>()</a:t>
                </a:r>
                <a:endParaRPr lang="en-GB" sz="1100" dirty="0">
                  <a:latin typeface="Calibri" panose="020F0502020204030204" pitchFamily="34" charset="0"/>
                </a:endParaRPr>
              </a:p>
            </p:txBody>
          </p:sp>
          <p:sp>
            <p:nvSpPr>
              <p:cNvPr id="93" name="TextBox 92"/>
              <p:cNvSpPr txBox="1"/>
              <p:nvPr/>
            </p:nvSpPr>
            <p:spPr>
              <a:xfrm>
                <a:off x="2214916" y="5396855"/>
                <a:ext cx="1595543" cy="262012"/>
              </a:xfrm>
              <a:prstGeom prst="rect">
                <a:avLst/>
              </a:prstGeom>
              <a:noFill/>
            </p:spPr>
            <p:txBody>
              <a:bodyPr>
                <a:spAutoFit/>
              </a:bodyPr>
              <a:lstStyle/>
              <a:p>
                <a:pPr>
                  <a:defRPr/>
                </a:pPr>
                <a:r>
                  <a:rPr lang="en-US" sz="1100" dirty="0">
                    <a:latin typeface="Calibri" panose="020F0502020204030204" pitchFamily="34" charset="0"/>
                  </a:rPr>
                  <a:t>output</a:t>
                </a:r>
                <a:endParaRPr lang="en-GB" sz="1100" dirty="0">
                  <a:latin typeface="Calibri" panose="020F0502020204030204" pitchFamily="34" charset="0"/>
                </a:endParaRPr>
              </a:p>
            </p:txBody>
          </p:sp>
          <p:sp>
            <p:nvSpPr>
              <p:cNvPr id="94" name="Rectangle 93"/>
              <p:cNvSpPr/>
              <p:nvPr/>
            </p:nvSpPr>
            <p:spPr>
              <a:xfrm>
                <a:off x="6025169" y="3801173"/>
                <a:ext cx="107957" cy="144504"/>
              </a:xfrm>
              <a:prstGeom prst="rect">
                <a:avLst/>
              </a:prstGeom>
              <a:solidFill>
                <a:srgbClr val="00B0F0"/>
              </a:solidFill>
              <a:ln w="952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endParaRPr lang="en-GB" sz="1000" dirty="0">
                  <a:solidFill>
                    <a:schemeClr val="tx1"/>
                  </a:solidFill>
                  <a:latin typeface="Calibri" panose="020F0502020204030204" pitchFamily="34" charset="0"/>
                </a:endParaRPr>
              </a:p>
            </p:txBody>
          </p:sp>
          <p:sp>
            <p:nvSpPr>
              <p:cNvPr id="95" name="Rectangle 94"/>
              <p:cNvSpPr/>
              <p:nvPr/>
            </p:nvSpPr>
            <p:spPr>
              <a:xfrm>
                <a:off x="7212698" y="4726114"/>
                <a:ext cx="107957" cy="144505"/>
              </a:xfrm>
              <a:prstGeom prst="rect">
                <a:avLst/>
              </a:prstGeom>
              <a:solidFill>
                <a:srgbClr val="00B0F0"/>
              </a:solidFill>
              <a:ln w="952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endParaRPr lang="en-GB" sz="1000" dirty="0">
                  <a:solidFill>
                    <a:schemeClr val="tx1"/>
                  </a:solidFill>
                  <a:latin typeface="Calibri" panose="020F0502020204030204" pitchFamily="34" charset="0"/>
                </a:endParaRPr>
              </a:p>
            </p:txBody>
          </p:sp>
          <p:sp>
            <p:nvSpPr>
              <p:cNvPr id="96" name="Rectangle 95"/>
              <p:cNvSpPr/>
              <p:nvPr/>
            </p:nvSpPr>
            <p:spPr>
              <a:xfrm>
                <a:off x="7223811" y="5324381"/>
                <a:ext cx="107957" cy="144505"/>
              </a:xfrm>
              <a:prstGeom prst="rect">
                <a:avLst/>
              </a:prstGeom>
              <a:solidFill>
                <a:srgbClr val="00B0F0"/>
              </a:solidFill>
              <a:ln w="952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endParaRPr lang="en-GB" sz="1000" dirty="0">
                  <a:solidFill>
                    <a:schemeClr val="tx1"/>
                  </a:solidFill>
                  <a:latin typeface="Calibri" panose="020F0502020204030204" pitchFamily="34" charset="0"/>
                </a:endParaRPr>
              </a:p>
            </p:txBody>
          </p:sp>
          <p:sp>
            <p:nvSpPr>
              <p:cNvPr id="97" name="Rectangle 96"/>
              <p:cNvSpPr/>
              <p:nvPr/>
            </p:nvSpPr>
            <p:spPr>
              <a:xfrm>
                <a:off x="8351011" y="5084863"/>
                <a:ext cx="107957" cy="144505"/>
              </a:xfrm>
              <a:prstGeom prst="rect">
                <a:avLst/>
              </a:prstGeom>
              <a:solidFill>
                <a:srgbClr val="00B0F0"/>
              </a:solidFill>
              <a:ln w="9525">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endParaRPr lang="en-GB" sz="1000" dirty="0">
                  <a:solidFill>
                    <a:schemeClr val="tx1"/>
                  </a:solidFill>
                  <a:latin typeface="Calibri" panose="020F0502020204030204" pitchFamily="34" charset="0"/>
                </a:endParaRPr>
              </a:p>
            </p:txBody>
          </p:sp>
          <p:grpSp>
            <p:nvGrpSpPr>
              <p:cNvPr id="98" name="Group 35"/>
              <p:cNvGrpSpPr>
                <a:grpSpLocks/>
              </p:cNvGrpSpPr>
              <p:nvPr/>
            </p:nvGrpSpPr>
            <p:grpSpPr bwMode="auto">
              <a:xfrm>
                <a:off x="2853133" y="3266482"/>
                <a:ext cx="547723" cy="215962"/>
                <a:chOff x="2853133" y="3266482"/>
                <a:chExt cx="547723" cy="215962"/>
              </a:xfrm>
            </p:grpSpPr>
            <p:sp>
              <p:nvSpPr>
                <p:cNvPr id="102" name="Snip Single Corner Rectangle 101"/>
                <p:cNvSpPr/>
                <p:nvPr/>
              </p:nvSpPr>
              <p:spPr>
                <a:xfrm flipV="1">
                  <a:off x="2865834" y="3266482"/>
                  <a:ext cx="304820" cy="184203"/>
                </a:xfrm>
                <a:prstGeom prst="snip1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800" dirty="0">
                    <a:solidFill>
                      <a:schemeClr val="tx1"/>
                    </a:solidFill>
                    <a:latin typeface="Calibri" panose="020F0502020204030204" pitchFamily="34" charset="0"/>
                  </a:endParaRPr>
                </a:p>
              </p:txBody>
            </p:sp>
            <p:sp>
              <p:nvSpPr>
                <p:cNvPr id="103" name="TextBox 102"/>
                <p:cNvSpPr txBox="1"/>
                <p:nvPr/>
              </p:nvSpPr>
              <p:spPr>
                <a:xfrm>
                  <a:off x="2853133" y="3266482"/>
                  <a:ext cx="547723" cy="215962"/>
                </a:xfrm>
                <a:prstGeom prst="rect">
                  <a:avLst/>
                </a:prstGeom>
                <a:noFill/>
              </p:spPr>
              <p:txBody>
                <a:bodyPr>
                  <a:spAutoFit/>
                </a:bodyPr>
                <a:lstStyle/>
                <a:p>
                  <a:pPr>
                    <a:defRPr/>
                  </a:pPr>
                  <a:r>
                    <a:rPr lang="en-US" sz="800" b="1" dirty="0">
                      <a:latin typeface="Calibri" panose="020F0502020204030204" pitchFamily="34" charset="0"/>
                    </a:rPr>
                    <a:t>loop</a:t>
                  </a:r>
                  <a:endParaRPr lang="en-GB" sz="800" b="1" dirty="0">
                    <a:latin typeface="Calibri" panose="020F0502020204030204" pitchFamily="34" charset="0"/>
                  </a:endParaRPr>
                </a:p>
              </p:txBody>
            </p:sp>
          </p:grpSp>
          <p:grpSp>
            <p:nvGrpSpPr>
              <p:cNvPr id="99" name="Group 125"/>
              <p:cNvGrpSpPr>
                <a:grpSpLocks/>
              </p:cNvGrpSpPr>
              <p:nvPr/>
            </p:nvGrpSpPr>
            <p:grpSpPr bwMode="auto">
              <a:xfrm>
                <a:off x="3086511" y="4100339"/>
                <a:ext cx="547724" cy="214374"/>
                <a:chOff x="2852831" y="3013219"/>
                <a:chExt cx="547724" cy="214374"/>
              </a:xfrm>
            </p:grpSpPr>
            <p:sp>
              <p:nvSpPr>
                <p:cNvPr id="100" name="Snip Single Corner Rectangle 99"/>
                <p:cNvSpPr/>
                <p:nvPr/>
              </p:nvSpPr>
              <p:spPr>
                <a:xfrm flipV="1">
                  <a:off x="2865532" y="3028463"/>
                  <a:ext cx="304820" cy="182615"/>
                </a:xfrm>
                <a:prstGeom prst="snip1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800" dirty="0">
                    <a:solidFill>
                      <a:schemeClr val="tx1"/>
                    </a:solidFill>
                    <a:latin typeface="Calibri" panose="020F0502020204030204" pitchFamily="34" charset="0"/>
                  </a:endParaRPr>
                </a:p>
              </p:txBody>
            </p:sp>
            <p:sp>
              <p:nvSpPr>
                <p:cNvPr id="101" name="TextBox 100"/>
                <p:cNvSpPr txBox="1"/>
                <p:nvPr/>
              </p:nvSpPr>
              <p:spPr>
                <a:xfrm>
                  <a:off x="2852831" y="3013219"/>
                  <a:ext cx="547724" cy="214374"/>
                </a:xfrm>
                <a:prstGeom prst="rect">
                  <a:avLst/>
                </a:prstGeom>
                <a:noFill/>
              </p:spPr>
              <p:txBody>
                <a:bodyPr>
                  <a:spAutoFit/>
                </a:bodyPr>
                <a:lstStyle/>
                <a:p>
                  <a:pPr>
                    <a:defRPr/>
                  </a:pPr>
                  <a:r>
                    <a:rPr lang="en-US" sz="800" b="1" dirty="0">
                      <a:latin typeface="Calibri" panose="020F0502020204030204" pitchFamily="34" charset="0"/>
                    </a:rPr>
                    <a:t>loop</a:t>
                  </a:r>
                  <a:endParaRPr lang="en-GB" sz="800" b="1" dirty="0">
                    <a:latin typeface="Calibri" panose="020F0502020204030204" pitchFamily="34" charset="0"/>
                  </a:endParaRPr>
                </a:p>
              </p:txBody>
            </p:sp>
          </p:grpSp>
        </p:grpSp>
      </p:grpSp>
      <p:grpSp>
        <p:nvGrpSpPr>
          <p:cNvPr id="104" name="Group 103"/>
          <p:cNvGrpSpPr>
            <a:grpSpLocks/>
          </p:cNvGrpSpPr>
          <p:nvPr/>
        </p:nvGrpSpPr>
        <p:grpSpPr bwMode="auto">
          <a:xfrm>
            <a:off x="1485900" y="1988840"/>
            <a:ext cx="8099425" cy="4211991"/>
            <a:chOff x="114444" y="1723774"/>
            <a:chExt cx="8100000" cy="4212049"/>
          </a:xfrm>
        </p:grpSpPr>
        <p:cxnSp>
          <p:nvCxnSpPr>
            <p:cNvPr id="105" name="Straight Connector 104"/>
            <p:cNvCxnSpPr/>
            <p:nvPr/>
          </p:nvCxnSpPr>
          <p:spPr>
            <a:xfrm flipH="1">
              <a:off x="1951311" y="2319094"/>
              <a:ext cx="82556" cy="27305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122382" y="1723774"/>
              <a:ext cx="0" cy="42120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Group 22"/>
            <p:cNvGrpSpPr>
              <a:grpSpLocks/>
            </p:cNvGrpSpPr>
            <p:nvPr/>
          </p:nvGrpSpPr>
          <p:grpSpPr bwMode="auto">
            <a:xfrm>
              <a:off x="124603" y="1726582"/>
              <a:ext cx="1552126" cy="247450"/>
              <a:chOff x="124275" y="1352502"/>
              <a:chExt cx="1552126" cy="247450"/>
            </a:xfrm>
          </p:grpSpPr>
          <p:sp>
            <p:nvSpPr>
              <p:cNvPr id="122" name="Snip Single Corner Rectangle 121"/>
              <p:cNvSpPr/>
              <p:nvPr/>
            </p:nvSpPr>
            <p:spPr>
              <a:xfrm flipV="1">
                <a:off x="123641" y="1352869"/>
                <a:ext cx="1552685" cy="236541"/>
              </a:xfrm>
              <a:prstGeom prst="snip1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en-GB" dirty="0">
                  <a:latin typeface="Calibri" panose="020F0502020204030204" pitchFamily="34" charset="0"/>
                </a:endParaRPr>
              </a:p>
            </p:txBody>
          </p:sp>
          <p:sp>
            <p:nvSpPr>
              <p:cNvPr id="123" name="TextBox 122"/>
              <p:cNvSpPr txBox="1"/>
              <p:nvPr/>
            </p:nvSpPr>
            <p:spPr>
              <a:xfrm>
                <a:off x="136342" y="1354457"/>
                <a:ext cx="1476480" cy="246065"/>
              </a:xfrm>
              <a:prstGeom prst="rect">
                <a:avLst/>
              </a:prstGeom>
              <a:noFill/>
            </p:spPr>
            <p:txBody>
              <a:bodyPr>
                <a:spAutoFit/>
              </a:bodyPr>
              <a:lstStyle/>
              <a:p>
                <a:pPr>
                  <a:defRPr/>
                </a:pPr>
                <a:r>
                  <a:rPr lang="en-US" sz="1000" b="1" dirty="0" err="1">
                    <a:latin typeface="Calibri" panose="020F0502020204030204" pitchFamily="34" charset="0"/>
                  </a:rPr>
                  <a:t>Sd</a:t>
                </a:r>
                <a:r>
                  <a:rPr lang="en-US" sz="1000" dirty="0">
                    <a:latin typeface="Calibri" panose="020F0502020204030204" pitchFamily="34" charset="0"/>
                  </a:rPr>
                  <a:t> check mentee result</a:t>
                </a:r>
                <a:endParaRPr lang="en-GB" sz="1000" dirty="0">
                  <a:latin typeface="Calibri" panose="020F0502020204030204" pitchFamily="34" charset="0"/>
                </a:endParaRPr>
              </a:p>
            </p:txBody>
          </p:sp>
        </p:grpSp>
        <p:cxnSp>
          <p:nvCxnSpPr>
            <p:cNvPr id="108" name="Straight Connector 107"/>
            <p:cNvCxnSpPr/>
            <p:nvPr/>
          </p:nvCxnSpPr>
          <p:spPr>
            <a:xfrm rot="16200000">
              <a:off x="4164444" y="-2323051"/>
              <a:ext cx="0" cy="810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Rectangle 108"/>
            <p:cNvSpPr/>
            <p:nvPr/>
          </p:nvSpPr>
          <p:spPr>
            <a:xfrm>
              <a:off x="812993" y="2833450"/>
              <a:ext cx="107958" cy="3024035"/>
            </a:xfrm>
            <a:prstGeom prst="rect">
              <a:avLst/>
            </a:prstGeom>
            <a:solidFill>
              <a:srgbClr val="00B0F0"/>
            </a:solidFill>
            <a:ln w="190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cxnSp>
          <p:nvCxnSpPr>
            <p:cNvPr id="110" name="Straight Arrow Connector 109"/>
            <p:cNvCxnSpPr/>
            <p:nvPr/>
          </p:nvCxnSpPr>
          <p:spPr>
            <a:xfrm flipV="1">
              <a:off x="930476" y="2947927"/>
              <a:ext cx="647746" cy="7938"/>
            </a:xfrm>
            <a:prstGeom prst="straightConnector1">
              <a:avLst/>
            </a:prstGeom>
            <a:ln w="1905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flipH="1">
              <a:off x="1648077" y="2558809"/>
              <a:ext cx="9526" cy="396880"/>
            </a:xfrm>
            <a:prstGeom prst="line">
              <a:avLst/>
            </a:prstGeom>
            <a:ln w="190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12" name="Rectangle 111"/>
            <p:cNvSpPr/>
            <p:nvPr/>
          </p:nvSpPr>
          <p:spPr>
            <a:xfrm>
              <a:off x="1197195" y="2209555"/>
              <a:ext cx="936691" cy="334967"/>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b="1" dirty="0">
                  <a:solidFill>
                    <a:schemeClr val="tx1"/>
                  </a:solidFill>
                  <a:latin typeface="Calibri" panose="020F0502020204030204" pitchFamily="34" charset="0"/>
                </a:rPr>
                <a:t>: </a:t>
              </a:r>
              <a:r>
                <a:rPr lang="en-US" sz="1000" b="1" dirty="0" err="1">
                  <a:solidFill>
                    <a:schemeClr val="tx1"/>
                  </a:solidFill>
                  <a:latin typeface="Calibri" panose="020F0502020204030204" pitchFamily="34" charset="0"/>
                </a:rPr>
                <a:t>SelectForm</a:t>
              </a:r>
              <a:endParaRPr lang="en-GB" sz="1000" b="1" dirty="0">
                <a:solidFill>
                  <a:schemeClr val="tx1"/>
                </a:solidFill>
                <a:latin typeface="Calibri" panose="020F0502020204030204" pitchFamily="34" charset="0"/>
              </a:endParaRPr>
            </a:p>
          </p:txBody>
        </p:sp>
        <p:sp>
          <p:nvSpPr>
            <p:cNvPr id="113" name="Oval 112"/>
            <p:cNvSpPr/>
            <p:nvPr/>
          </p:nvSpPr>
          <p:spPr>
            <a:xfrm>
              <a:off x="812993" y="2260355"/>
              <a:ext cx="107958" cy="107951"/>
            </a:xfrm>
            <a:prstGeom prst="ellipse">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a:latin typeface="Calibri" panose="020F0502020204030204" pitchFamily="34" charset="0"/>
              </a:endParaRPr>
            </a:p>
          </p:txBody>
        </p:sp>
        <p:cxnSp>
          <p:nvCxnSpPr>
            <p:cNvPr id="114" name="Straight Connector 113"/>
            <p:cNvCxnSpPr/>
            <p:nvPr/>
          </p:nvCxnSpPr>
          <p:spPr>
            <a:xfrm>
              <a:off x="874910" y="2377832"/>
              <a:ext cx="0" cy="1317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rot="5400000">
              <a:off x="876166" y="2357985"/>
              <a:ext cx="0" cy="13177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6" name="Group 9242"/>
            <p:cNvGrpSpPr>
              <a:grpSpLocks/>
            </p:cNvGrpSpPr>
            <p:nvPr/>
          </p:nvGrpSpPr>
          <p:grpSpPr bwMode="auto">
            <a:xfrm>
              <a:off x="762000" y="2489200"/>
              <a:ext cx="222629" cy="144000"/>
              <a:chOff x="294640" y="1005840"/>
              <a:chExt cx="222629" cy="216123"/>
            </a:xfrm>
          </p:grpSpPr>
          <p:cxnSp>
            <p:nvCxnSpPr>
              <p:cNvPr id="120" name="Straight Connector 119"/>
              <p:cNvCxnSpPr/>
              <p:nvPr/>
            </p:nvCxnSpPr>
            <p:spPr>
              <a:xfrm flipV="1">
                <a:off x="294829" y="1005477"/>
                <a:ext cx="107958" cy="2168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409137" y="1005477"/>
                <a:ext cx="107958" cy="2072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TextBox 116"/>
            <p:cNvSpPr txBox="1"/>
            <p:nvPr/>
          </p:nvSpPr>
          <p:spPr>
            <a:xfrm>
              <a:off x="944765" y="2731900"/>
              <a:ext cx="600118" cy="261941"/>
            </a:xfrm>
            <a:prstGeom prst="rect">
              <a:avLst/>
            </a:prstGeom>
            <a:noFill/>
          </p:spPr>
          <p:txBody>
            <a:bodyPr>
              <a:spAutoFit/>
            </a:bodyPr>
            <a:lstStyle/>
            <a:p>
              <a:pPr>
                <a:defRPr/>
              </a:pPr>
              <a:r>
                <a:rPr lang="en-US" sz="1100" dirty="0">
                  <a:latin typeface="Calibri" panose="020F0502020204030204" pitchFamily="34" charset="0"/>
                </a:rPr>
                <a:t>select</a:t>
              </a:r>
              <a:endParaRPr lang="en-GB" sz="1100" dirty="0">
                <a:latin typeface="Calibri" panose="020F0502020204030204" pitchFamily="34" charset="0"/>
              </a:endParaRPr>
            </a:p>
          </p:txBody>
        </p:sp>
        <p:sp>
          <p:nvSpPr>
            <p:cNvPr id="118" name="TextBox 117"/>
            <p:cNvSpPr txBox="1"/>
            <p:nvPr/>
          </p:nvSpPr>
          <p:spPr>
            <a:xfrm>
              <a:off x="508171" y="2611197"/>
              <a:ext cx="725540" cy="261940"/>
            </a:xfrm>
            <a:prstGeom prst="rect">
              <a:avLst/>
            </a:prstGeom>
            <a:noFill/>
          </p:spPr>
          <p:txBody>
            <a:bodyPr>
              <a:spAutoFit/>
            </a:bodyPr>
            <a:lstStyle/>
            <a:p>
              <a:pPr>
                <a:defRPr/>
              </a:pPr>
              <a:r>
                <a:rPr lang="en-US" sz="1100" dirty="0">
                  <a:latin typeface="Calibri" panose="020F0502020204030204" pitchFamily="34" charset="0"/>
                </a:rPr>
                <a:t>Professor</a:t>
              </a:r>
              <a:endParaRPr lang="en-GB" sz="1100" dirty="0">
                <a:latin typeface="Calibri" panose="020F0502020204030204" pitchFamily="34" charset="0"/>
              </a:endParaRPr>
            </a:p>
          </p:txBody>
        </p:sp>
        <p:sp>
          <p:nvSpPr>
            <p:cNvPr id="119" name="Rectangle 118"/>
            <p:cNvSpPr/>
            <p:nvPr/>
          </p:nvSpPr>
          <p:spPr>
            <a:xfrm>
              <a:off x="1584572" y="2852500"/>
              <a:ext cx="107958" cy="3024042"/>
            </a:xfrm>
            <a:prstGeom prst="rect">
              <a:avLst/>
            </a:prstGeom>
            <a:solidFill>
              <a:srgbClr val="00B0F0"/>
            </a:solidFill>
            <a:ln w="19050">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defRPr/>
              </a:pPr>
              <a:endParaRPr lang="en-GB">
                <a:latin typeface="Calibri" panose="020F0502020204030204" pitchFamily="34" charset="0"/>
              </a:endParaRPr>
            </a:p>
          </p:txBody>
        </p:sp>
      </p:grpSp>
      <p:sp>
        <p:nvSpPr>
          <p:cNvPr id="124" name="Rectangle 123"/>
          <p:cNvSpPr/>
          <p:nvPr/>
        </p:nvSpPr>
        <p:spPr>
          <a:xfrm>
            <a:off x="5283199" y="2647206"/>
            <a:ext cx="1443038" cy="431800"/>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mentor : Professor</a:t>
            </a:r>
          </a:p>
        </p:txBody>
      </p:sp>
      <p:sp>
        <p:nvSpPr>
          <p:cNvPr id="125" name="Rectangle 124"/>
          <p:cNvSpPr/>
          <p:nvPr/>
        </p:nvSpPr>
        <p:spPr>
          <a:xfrm>
            <a:off x="6837362" y="2642444"/>
            <a:ext cx="1223962" cy="431800"/>
          </a:xfrm>
          <a:prstGeom prst="rect">
            <a:avLst/>
          </a:prstGeom>
          <a:solidFill>
            <a:srgbClr val="00B0F0"/>
          </a:solidFill>
          <a:ln>
            <a:solidFill>
              <a:schemeClr val="tx1"/>
            </a:solidFill>
          </a:ln>
        </p:spPr>
        <p:style>
          <a:lnRef idx="2">
            <a:schemeClr val="accent5">
              <a:shade val="50000"/>
            </a:schemeClr>
          </a:lnRef>
          <a:fillRef idx="1">
            <a:schemeClr val="accent5"/>
          </a:fillRef>
          <a:effectRef idx="0">
            <a:schemeClr val="accent5"/>
          </a:effectRef>
          <a:fontRef idx="minor">
            <a:schemeClr val="lt1"/>
          </a:fontRef>
        </p:style>
        <p:txBody>
          <a:bodyPr/>
          <a:lstStyle/>
          <a:p>
            <a:pPr algn="ctr">
              <a:defRPr/>
            </a:pPr>
            <a:r>
              <a:rPr lang="en-US" sz="1000" dirty="0">
                <a:solidFill>
                  <a:schemeClr val="tx1"/>
                </a:solidFill>
                <a:latin typeface="Calibri" panose="020F0502020204030204" pitchFamily="34" charset="0"/>
              </a:rPr>
              <a:t>mentee : Student</a:t>
            </a:r>
          </a:p>
        </p:txBody>
      </p:sp>
      <p:grpSp>
        <p:nvGrpSpPr>
          <p:cNvPr id="9225" name="Group 9224"/>
          <p:cNvGrpSpPr/>
          <p:nvPr/>
        </p:nvGrpSpPr>
        <p:grpSpPr>
          <a:xfrm>
            <a:off x="4224337" y="2217564"/>
            <a:ext cx="6478587" cy="936104"/>
            <a:chOff x="4224337" y="1916832"/>
            <a:chExt cx="6478587" cy="936104"/>
          </a:xfrm>
        </p:grpSpPr>
        <p:grpSp>
          <p:nvGrpSpPr>
            <p:cNvPr id="9224" name="Group 9223"/>
            <p:cNvGrpSpPr/>
            <p:nvPr/>
          </p:nvGrpSpPr>
          <p:grpSpPr>
            <a:xfrm>
              <a:off x="4224337" y="1916832"/>
              <a:ext cx="6478587" cy="923449"/>
              <a:chOff x="4224337" y="1916832"/>
              <a:chExt cx="6478587" cy="923449"/>
            </a:xfrm>
          </p:grpSpPr>
          <p:grpSp>
            <p:nvGrpSpPr>
              <p:cNvPr id="9223" name="Group 9222"/>
              <p:cNvGrpSpPr/>
              <p:nvPr/>
            </p:nvGrpSpPr>
            <p:grpSpPr>
              <a:xfrm>
                <a:off x="4224337" y="1916832"/>
                <a:ext cx="6478587" cy="923449"/>
                <a:chOff x="4224337" y="2403870"/>
                <a:chExt cx="6478587" cy="923449"/>
              </a:xfrm>
            </p:grpSpPr>
            <p:sp>
              <p:nvSpPr>
                <p:cNvPr id="4" name="Rectangle 3"/>
                <p:cNvSpPr/>
                <p:nvPr/>
              </p:nvSpPr>
              <p:spPr>
                <a:xfrm>
                  <a:off x="4224337" y="2403870"/>
                  <a:ext cx="6478587" cy="901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p:cNvSpPr/>
                <p:nvPr/>
              </p:nvSpPr>
              <p:spPr>
                <a:xfrm>
                  <a:off x="4471516" y="2660352"/>
                  <a:ext cx="414000" cy="412800"/>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6" name="Oval 125"/>
                <p:cNvSpPr/>
                <p:nvPr/>
              </p:nvSpPr>
              <p:spPr>
                <a:xfrm>
                  <a:off x="5824428" y="2671584"/>
                  <a:ext cx="414000" cy="412800"/>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7" name="Oval 126"/>
                <p:cNvSpPr/>
                <p:nvPr/>
              </p:nvSpPr>
              <p:spPr>
                <a:xfrm>
                  <a:off x="7246540" y="2682448"/>
                  <a:ext cx="414000" cy="412800"/>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8" name="Oval 127"/>
                <p:cNvSpPr/>
                <p:nvPr/>
              </p:nvSpPr>
              <p:spPr>
                <a:xfrm>
                  <a:off x="8462436" y="2667392"/>
                  <a:ext cx="414000" cy="412800"/>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9" name="Oval 128"/>
                <p:cNvSpPr/>
                <p:nvPr/>
              </p:nvSpPr>
              <p:spPr>
                <a:xfrm>
                  <a:off x="9599324" y="2667392"/>
                  <a:ext cx="414000" cy="412800"/>
                </a:xfrm>
                <a:prstGeom prst="ellipse">
                  <a:avLst/>
                </a:prstGeom>
                <a:solidFill>
                  <a:schemeClr val="bg2">
                    <a:lumMod val="7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p:cNvCxnSpPr/>
                <p:nvPr/>
              </p:nvCxnSpPr>
              <p:spPr>
                <a:xfrm flipV="1">
                  <a:off x="4636081" y="2601086"/>
                  <a:ext cx="138906" cy="61467"/>
                </a:xfrm>
                <a:prstGeom prst="line">
                  <a:avLst/>
                </a:prstGeom>
              </p:spPr>
              <p:style>
                <a:lnRef idx="2">
                  <a:schemeClr val="dk1"/>
                </a:lnRef>
                <a:fillRef idx="0">
                  <a:schemeClr val="dk1"/>
                </a:fillRef>
                <a:effectRef idx="1">
                  <a:schemeClr val="dk1"/>
                </a:effectRef>
                <a:fontRef idx="minor">
                  <a:schemeClr val="tx1"/>
                </a:fontRef>
              </p:style>
            </p:cxnSp>
            <p:sp>
              <p:nvSpPr>
                <p:cNvPr id="9216" name="TextBox 9215"/>
                <p:cNvSpPr txBox="1"/>
                <p:nvPr/>
              </p:nvSpPr>
              <p:spPr>
                <a:xfrm>
                  <a:off x="4409122" y="3046030"/>
                  <a:ext cx="833437" cy="246221"/>
                </a:xfrm>
                <a:prstGeom prst="rect">
                  <a:avLst/>
                </a:prstGeom>
                <a:noFill/>
              </p:spPr>
              <p:txBody>
                <a:bodyPr wrap="square" rtlCol="0">
                  <a:spAutoFit/>
                </a:bodyPr>
                <a:lstStyle/>
                <a:p>
                  <a:r>
                    <a:rPr lang="en-US" sz="1000" dirty="0">
                      <a:latin typeface="Calibri" panose="020F0502020204030204" pitchFamily="34" charset="0"/>
                    </a:rPr>
                    <a:t>App </a:t>
                  </a:r>
                  <a:r>
                    <a:rPr lang="en-US" sz="1000" dirty="0" err="1">
                      <a:latin typeface="Calibri" panose="020F0502020204030204" pitchFamily="34" charset="0"/>
                    </a:rPr>
                    <a:t>Mgr</a:t>
                  </a:r>
                  <a:endParaRPr lang="en-GB" sz="1000" dirty="0">
                    <a:latin typeface="Calibri" panose="020F0502020204030204" pitchFamily="34" charset="0"/>
                  </a:endParaRPr>
                </a:p>
              </p:txBody>
            </p:sp>
            <p:sp>
              <p:nvSpPr>
                <p:cNvPr id="136" name="TextBox 135"/>
                <p:cNvSpPr txBox="1"/>
                <p:nvPr/>
              </p:nvSpPr>
              <p:spPr>
                <a:xfrm>
                  <a:off x="5374332" y="3068960"/>
                  <a:ext cx="1290389" cy="246221"/>
                </a:xfrm>
                <a:prstGeom prst="rect">
                  <a:avLst/>
                </a:prstGeom>
                <a:noFill/>
              </p:spPr>
              <p:txBody>
                <a:bodyPr wrap="square" rtlCol="0">
                  <a:spAutoFit/>
                </a:bodyPr>
                <a:lstStyle/>
                <a:p>
                  <a:r>
                    <a:rPr lang="en-US" sz="1000" dirty="0">
                      <a:latin typeface="Calibri" panose="020F0502020204030204" pitchFamily="34" charset="0"/>
                    </a:rPr>
                    <a:t>professor : Professor</a:t>
                  </a:r>
                  <a:endParaRPr lang="en-GB" sz="1000" dirty="0">
                    <a:latin typeface="Calibri" panose="020F0502020204030204" pitchFamily="34" charset="0"/>
                  </a:endParaRPr>
                </a:p>
              </p:txBody>
            </p:sp>
            <p:sp>
              <p:nvSpPr>
                <p:cNvPr id="138" name="TextBox 137"/>
                <p:cNvSpPr txBox="1"/>
                <p:nvPr/>
              </p:nvSpPr>
              <p:spPr>
                <a:xfrm>
                  <a:off x="8209605" y="3081098"/>
                  <a:ext cx="1290389" cy="246221"/>
                </a:xfrm>
                <a:prstGeom prst="rect">
                  <a:avLst/>
                </a:prstGeom>
                <a:noFill/>
              </p:spPr>
              <p:txBody>
                <a:bodyPr wrap="square" rtlCol="0">
                  <a:spAutoFit/>
                </a:bodyPr>
                <a:lstStyle/>
                <a:p>
                  <a:r>
                    <a:rPr lang="en-US" sz="1000" dirty="0">
                      <a:latin typeface="Calibri" panose="020F0502020204030204" pitchFamily="34" charset="0"/>
                    </a:rPr>
                    <a:t>result : Result</a:t>
                  </a:r>
                  <a:endParaRPr lang="en-GB" sz="1000" dirty="0">
                    <a:latin typeface="Calibri" panose="020F0502020204030204" pitchFamily="34" charset="0"/>
                  </a:endParaRPr>
                </a:p>
              </p:txBody>
            </p:sp>
            <p:sp>
              <p:nvSpPr>
                <p:cNvPr id="139" name="TextBox 138"/>
                <p:cNvSpPr txBox="1"/>
                <p:nvPr/>
              </p:nvSpPr>
              <p:spPr>
                <a:xfrm>
                  <a:off x="9340527" y="3068960"/>
                  <a:ext cx="1290389" cy="246221"/>
                </a:xfrm>
                <a:prstGeom prst="rect">
                  <a:avLst/>
                </a:prstGeom>
                <a:noFill/>
              </p:spPr>
              <p:txBody>
                <a:bodyPr wrap="square" rtlCol="0">
                  <a:spAutoFit/>
                </a:bodyPr>
                <a:lstStyle/>
                <a:p>
                  <a:r>
                    <a:rPr lang="en-US" sz="1000" dirty="0">
                      <a:latin typeface="Calibri" panose="020F0502020204030204" pitchFamily="34" charset="0"/>
                    </a:rPr>
                    <a:t>course : Course</a:t>
                  </a:r>
                  <a:endParaRPr lang="en-GB" sz="1000" dirty="0">
                    <a:latin typeface="Calibri" panose="020F0502020204030204" pitchFamily="34" charset="0"/>
                  </a:endParaRPr>
                </a:p>
              </p:txBody>
            </p:sp>
            <p:cxnSp>
              <p:nvCxnSpPr>
                <p:cNvPr id="142" name="Straight Connector 141"/>
                <p:cNvCxnSpPr/>
                <p:nvPr/>
              </p:nvCxnSpPr>
              <p:spPr>
                <a:xfrm flipV="1">
                  <a:off x="6996648" y="3121253"/>
                  <a:ext cx="927602" cy="491"/>
                </a:xfrm>
                <a:prstGeom prst="line">
                  <a:avLst/>
                </a:prstGeom>
              </p:spPr>
              <p:style>
                <a:lnRef idx="3">
                  <a:schemeClr val="dk1"/>
                </a:lnRef>
                <a:fillRef idx="0">
                  <a:schemeClr val="dk1"/>
                </a:fillRef>
                <a:effectRef idx="2">
                  <a:schemeClr val="dk1"/>
                </a:effectRef>
                <a:fontRef idx="minor">
                  <a:schemeClr val="tx1"/>
                </a:fontRef>
              </p:style>
            </p:cxnSp>
            <p:cxnSp>
              <p:nvCxnSpPr>
                <p:cNvPr id="143" name="Straight Connector 142"/>
                <p:cNvCxnSpPr/>
                <p:nvPr/>
              </p:nvCxnSpPr>
              <p:spPr>
                <a:xfrm flipV="1">
                  <a:off x="5590356" y="3101925"/>
                  <a:ext cx="962769" cy="11358"/>
                </a:xfrm>
                <a:prstGeom prst="line">
                  <a:avLst/>
                </a:prstGeom>
              </p:spPr>
              <p:style>
                <a:lnRef idx="3">
                  <a:schemeClr val="dk1"/>
                </a:lnRef>
                <a:fillRef idx="0">
                  <a:schemeClr val="dk1"/>
                </a:fillRef>
                <a:effectRef idx="2">
                  <a:schemeClr val="dk1"/>
                </a:effectRef>
                <a:fontRef idx="minor">
                  <a:schemeClr val="tx1"/>
                </a:fontRef>
              </p:style>
            </p:cxnSp>
            <p:cxnSp>
              <p:nvCxnSpPr>
                <p:cNvPr id="147" name="Straight Connector 146"/>
                <p:cNvCxnSpPr/>
                <p:nvPr/>
              </p:nvCxnSpPr>
              <p:spPr>
                <a:xfrm>
                  <a:off x="4625494" y="2675052"/>
                  <a:ext cx="138906" cy="61467"/>
                </a:xfrm>
                <a:prstGeom prst="line">
                  <a:avLst/>
                </a:prstGeom>
              </p:spPr>
              <p:style>
                <a:lnRef idx="2">
                  <a:schemeClr val="dk1"/>
                </a:lnRef>
                <a:fillRef idx="0">
                  <a:schemeClr val="dk1"/>
                </a:fillRef>
                <a:effectRef idx="1">
                  <a:schemeClr val="dk1"/>
                </a:effectRef>
                <a:fontRef idx="minor">
                  <a:schemeClr val="tx1"/>
                </a:fontRef>
              </p:style>
            </p:cxnSp>
          </p:grpSp>
          <p:cxnSp>
            <p:nvCxnSpPr>
              <p:cNvPr id="132" name="Straight Connector 131"/>
              <p:cNvCxnSpPr/>
              <p:nvPr/>
            </p:nvCxnSpPr>
            <p:spPr>
              <a:xfrm>
                <a:off x="8177252" y="2607239"/>
                <a:ext cx="966656" cy="7366"/>
              </a:xfrm>
              <a:prstGeom prst="line">
                <a:avLst/>
              </a:prstGeom>
            </p:spPr>
            <p:style>
              <a:lnRef idx="3">
                <a:schemeClr val="dk1"/>
              </a:lnRef>
              <a:fillRef idx="0">
                <a:schemeClr val="dk1"/>
              </a:fillRef>
              <a:effectRef idx="2">
                <a:schemeClr val="dk1"/>
              </a:effectRef>
              <a:fontRef idx="minor">
                <a:schemeClr val="tx1"/>
              </a:fontRef>
            </p:style>
          </p:cxnSp>
          <p:cxnSp>
            <p:nvCxnSpPr>
              <p:cNvPr id="133" name="Straight Connector 132"/>
              <p:cNvCxnSpPr/>
              <p:nvPr/>
            </p:nvCxnSpPr>
            <p:spPr>
              <a:xfrm flipV="1">
                <a:off x="9266956" y="2609515"/>
                <a:ext cx="1062906" cy="10463"/>
              </a:xfrm>
              <a:prstGeom prst="line">
                <a:avLst/>
              </a:prstGeom>
            </p:spPr>
            <p:style>
              <a:lnRef idx="3">
                <a:schemeClr val="dk1"/>
              </a:lnRef>
              <a:fillRef idx="0">
                <a:schemeClr val="dk1"/>
              </a:fillRef>
              <a:effectRef idx="2">
                <a:schemeClr val="dk1"/>
              </a:effectRef>
              <a:fontRef idx="minor">
                <a:schemeClr val="tx1"/>
              </a:fontRef>
            </p:style>
          </p:cxnSp>
        </p:grpSp>
        <p:sp>
          <p:nvSpPr>
            <p:cNvPr id="137" name="TextBox 136"/>
            <p:cNvSpPr txBox="1"/>
            <p:nvPr/>
          </p:nvSpPr>
          <p:spPr>
            <a:xfrm>
              <a:off x="6892255" y="2606715"/>
              <a:ext cx="1290389" cy="246221"/>
            </a:xfrm>
            <a:prstGeom prst="rect">
              <a:avLst/>
            </a:prstGeom>
            <a:noFill/>
          </p:spPr>
          <p:txBody>
            <a:bodyPr wrap="square" rtlCol="0">
              <a:spAutoFit/>
            </a:bodyPr>
            <a:lstStyle/>
            <a:p>
              <a:r>
                <a:rPr lang="en-US" sz="1000" dirty="0">
                  <a:latin typeface="Calibri" panose="020F0502020204030204" pitchFamily="34" charset="0"/>
                </a:rPr>
                <a:t>student : Student</a:t>
              </a:r>
              <a:endParaRPr lang="en-GB" sz="1000" dirty="0">
                <a:latin typeface="Calibri" panose="020F0502020204030204" pitchFamily="34" charset="0"/>
              </a:endParaRPr>
            </a:p>
          </p:txBody>
        </p:sp>
      </p:grpSp>
      <p:sp>
        <p:nvSpPr>
          <p:cNvPr id="151" name="TextBox 150"/>
          <p:cNvSpPr txBox="1">
            <a:spLocks noChangeArrowheads="1"/>
          </p:cNvSpPr>
          <p:nvPr/>
        </p:nvSpPr>
        <p:spPr bwMode="auto">
          <a:xfrm>
            <a:off x="5472845" y="2948758"/>
            <a:ext cx="1176925"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r>
              <a:rPr lang="en-SG" altLang="en-US" sz="1000" dirty="0">
                <a:latin typeface="Calibri" panose="020F0502020204030204" pitchFamily="34" charset="0"/>
              </a:rPr>
              <a:t>mentor : Professor</a:t>
            </a:r>
          </a:p>
        </p:txBody>
      </p:sp>
      <p:sp>
        <p:nvSpPr>
          <p:cNvPr id="152" name="TextBox 151"/>
          <p:cNvSpPr txBox="1">
            <a:spLocks noChangeArrowheads="1"/>
          </p:cNvSpPr>
          <p:nvPr/>
        </p:nvSpPr>
        <p:spPr bwMode="auto">
          <a:xfrm>
            <a:off x="6900788" y="2967808"/>
            <a:ext cx="1109599" cy="2462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Garamond" panose="02020404030301010803" pitchFamily="18" charset="0"/>
              </a:defRPr>
            </a:lvl1pPr>
            <a:lvl2pPr marL="742950" indent="-285750" eaLnBrk="0" hangingPunct="0">
              <a:defRPr>
                <a:solidFill>
                  <a:schemeClr val="tx1"/>
                </a:solidFill>
                <a:latin typeface="Garamond" panose="02020404030301010803" pitchFamily="18" charset="0"/>
              </a:defRPr>
            </a:lvl2pPr>
            <a:lvl3pPr marL="1143000" indent="-228600" eaLnBrk="0" hangingPunct="0">
              <a:defRPr>
                <a:solidFill>
                  <a:schemeClr val="tx1"/>
                </a:solidFill>
                <a:latin typeface="Garamond" panose="02020404030301010803" pitchFamily="18" charset="0"/>
              </a:defRPr>
            </a:lvl3pPr>
            <a:lvl4pPr marL="1600200" indent="-228600" eaLnBrk="0" hangingPunct="0">
              <a:defRPr>
                <a:solidFill>
                  <a:schemeClr val="tx1"/>
                </a:solidFill>
                <a:latin typeface="Garamond" panose="02020404030301010803" pitchFamily="18" charset="0"/>
              </a:defRPr>
            </a:lvl4pPr>
            <a:lvl5pPr marL="2057400" indent="-228600" eaLnBrk="0" hangingPunct="0">
              <a:defRPr>
                <a:solidFill>
                  <a:schemeClr val="tx1"/>
                </a:solidFill>
                <a:latin typeface="Garamond" panose="02020404030301010803" pitchFamily="18" charset="0"/>
              </a:defRPr>
            </a:lvl5pPr>
            <a:lvl6pPr marL="2514600" indent="-228600" eaLnBrk="0" fontAlgn="base" hangingPunct="0">
              <a:spcBef>
                <a:spcPct val="0"/>
              </a:spcBef>
              <a:spcAft>
                <a:spcPct val="0"/>
              </a:spcAft>
              <a:defRPr>
                <a:solidFill>
                  <a:schemeClr val="tx1"/>
                </a:solidFill>
                <a:latin typeface="Garamond" panose="02020404030301010803" pitchFamily="18" charset="0"/>
              </a:defRPr>
            </a:lvl6pPr>
            <a:lvl7pPr marL="2971800" indent="-228600" eaLnBrk="0" fontAlgn="base" hangingPunct="0">
              <a:spcBef>
                <a:spcPct val="0"/>
              </a:spcBef>
              <a:spcAft>
                <a:spcPct val="0"/>
              </a:spcAft>
              <a:defRPr>
                <a:solidFill>
                  <a:schemeClr val="tx1"/>
                </a:solidFill>
                <a:latin typeface="Garamond" panose="02020404030301010803" pitchFamily="18" charset="0"/>
              </a:defRPr>
            </a:lvl7pPr>
            <a:lvl8pPr marL="3429000" indent="-228600" eaLnBrk="0" fontAlgn="base" hangingPunct="0">
              <a:spcBef>
                <a:spcPct val="0"/>
              </a:spcBef>
              <a:spcAft>
                <a:spcPct val="0"/>
              </a:spcAft>
              <a:defRPr>
                <a:solidFill>
                  <a:schemeClr val="tx1"/>
                </a:solidFill>
                <a:latin typeface="Garamond" panose="02020404030301010803" pitchFamily="18" charset="0"/>
              </a:defRPr>
            </a:lvl8pPr>
            <a:lvl9pPr marL="3886200" indent="-228600" eaLnBrk="0" fontAlgn="base" hangingPunct="0">
              <a:spcBef>
                <a:spcPct val="0"/>
              </a:spcBef>
              <a:spcAft>
                <a:spcPct val="0"/>
              </a:spcAft>
              <a:defRPr>
                <a:solidFill>
                  <a:schemeClr val="tx1"/>
                </a:solidFill>
                <a:latin typeface="Garamond" panose="02020404030301010803" pitchFamily="18" charset="0"/>
              </a:defRPr>
            </a:lvl9pPr>
          </a:lstStyle>
          <a:p>
            <a:pPr eaLnBrk="1" hangingPunct="1"/>
            <a:r>
              <a:rPr lang="en-SG" altLang="en-US" sz="1000" dirty="0">
                <a:latin typeface="Calibri" panose="020F0502020204030204" pitchFamily="34" charset="0"/>
              </a:rPr>
              <a:t>mentee : Student</a:t>
            </a:r>
          </a:p>
        </p:txBody>
      </p:sp>
    </p:spTree>
    <p:extLst>
      <p:ext uri="{BB962C8B-B14F-4D97-AF65-F5344CB8AC3E}">
        <p14:creationId xmlns:p14="http://schemas.microsoft.com/office/powerpoint/2010/main" val="3076154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22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124" grpId="0" animBg="1"/>
      <p:bldP spid="125" grpId="0" animBg="1"/>
      <p:bldP spid="151" grpId="0" animBg="1"/>
      <p:bldP spid="1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054100" y="0"/>
            <a:ext cx="11134725" cy="536577"/>
          </a:xfrm>
        </p:spPr>
        <p:txBody>
          <a:bodyPr/>
          <a:lstStyle/>
          <a:p>
            <a:r>
              <a:rPr lang="en-US" altLang="en-US" b="1" dirty="0"/>
              <a:t>A Short Example</a:t>
            </a:r>
          </a:p>
        </p:txBody>
      </p:sp>
      <p:sp>
        <p:nvSpPr>
          <p:cNvPr id="11" name="TextBox 10"/>
          <p:cNvSpPr txBox="1">
            <a:spLocks noChangeArrowheads="1"/>
          </p:cNvSpPr>
          <p:nvPr/>
        </p:nvSpPr>
        <p:spPr bwMode="auto">
          <a:xfrm>
            <a:off x="7822604" y="3284984"/>
            <a:ext cx="7377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dirty="0">
                <a:solidFill>
                  <a:srgbClr val="FF0000"/>
                </a:solidFill>
              </a:rPr>
              <a:t>x N</a:t>
            </a:r>
          </a:p>
        </p:txBody>
      </p:sp>
      <p:sp>
        <p:nvSpPr>
          <p:cNvPr id="10246" name="Content Placeholder 2"/>
          <p:cNvSpPr txBox="1">
            <a:spLocks/>
          </p:cNvSpPr>
          <p:nvPr/>
        </p:nvSpPr>
        <p:spPr bwMode="auto">
          <a:xfrm>
            <a:off x="1066799" y="836713"/>
            <a:ext cx="10080625" cy="816664"/>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dirty="0"/>
              <a:t>“……..A professor is a mentor to least 1 student. He/she can check the course results of his/her mentees, which the students have registered…..”</a:t>
            </a:r>
          </a:p>
        </p:txBody>
      </p:sp>
      <p:pic>
        <p:nvPicPr>
          <p:cNvPr id="1024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80" y="2060848"/>
            <a:ext cx="7110623" cy="3960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5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215" y="4339704"/>
            <a:ext cx="4287861" cy="16560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106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6" name="Title 1"/>
          <p:cNvSpPr>
            <a:spLocks noGrp="1"/>
          </p:cNvSpPr>
          <p:nvPr>
            <p:ph type="title"/>
          </p:nvPr>
        </p:nvSpPr>
        <p:spPr>
          <a:xfrm>
            <a:off x="1054100" y="0"/>
            <a:ext cx="10080625" cy="533399"/>
          </a:xfrm>
        </p:spPr>
        <p:txBody>
          <a:bodyPr/>
          <a:lstStyle/>
          <a:p>
            <a:r>
              <a:rPr lang="en-US" altLang="en-US" b="1" dirty="0"/>
              <a:t>A Short Example</a:t>
            </a:r>
          </a:p>
        </p:txBody>
      </p:sp>
      <p:cxnSp>
        <p:nvCxnSpPr>
          <p:cNvPr id="18" name="Straight Connector 17"/>
          <p:cNvCxnSpPr/>
          <p:nvPr/>
        </p:nvCxnSpPr>
        <p:spPr>
          <a:xfrm flipH="1">
            <a:off x="3473450" y="2319338"/>
            <a:ext cx="82550" cy="27305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a:spLocks noChangeArrowheads="1"/>
          </p:cNvSpPr>
          <p:nvPr/>
        </p:nvSpPr>
        <p:spPr bwMode="auto">
          <a:xfrm>
            <a:off x="9936732" y="3330575"/>
            <a:ext cx="7377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b="1">
                <a:solidFill>
                  <a:srgbClr val="FF0000"/>
                </a:solidFill>
              </a:rPr>
              <a:t>x N</a:t>
            </a:r>
          </a:p>
        </p:txBody>
      </p:sp>
      <p:sp>
        <p:nvSpPr>
          <p:cNvPr id="11270" name="Content Placeholder 2"/>
          <p:cNvSpPr txBox="1">
            <a:spLocks/>
          </p:cNvSpPr>
          <p:nvPr/>
        </p:nvSpPr>
        <p:spPr bwMode="auto">
          <a:xfrm>
            <a:off x="1054099" y="849313"/>
            <a:ext cx="10080625" cy="779487"/>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a:lstStyle>
            <a:lvl1pPr marL="342900" indent="-342900"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dirty="0"/>
              <a:t>“……..A professor is a mentor to least 1 student. He/she can check the course results of his/her mentees, which the students have registered…..”</a:t>
            </a:r>
          </a:p>
        </p:txBody>
      </p:sp>
      <p:pic>
        <p:nvPicPr>
          <p:cNvPr id="1024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928" y="1768358"/>
            <a:ext cx="7956000" cy="443085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79203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054100" y="1"/>
            <a:ext cx="10080625" cy="548679"/>
          </a:xfrm>
        </p:spPr>
        <p:txBody>
          <a:bodyPr>
            <a:normAutofit/>
          </a:bodyPr>
          <a:lstStyle/>
          <a:p>
            <a:pPr eaLnBrk="1" hangingPunct="1"/>
            <a:r>
              <a:rPr lang="en-US" altLang="en-US" b="1" dirty="0"/>
              <a:t>Case Study: A Blackjack Example</a:t>
            </a:r>
            <a:endParaRPr lang="en-US" altLang="en-US" sz="1400" b="1" dirty="0"/>
          </a:p>
        </p:txBody>
      </p:sp>
      <p:pic>
        <p:nvPicPr>
          <p:cNvPr id="12291" name="Picture 2" descr="Object-Oriented Thought Process, The (3rd Edition)">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9912" y="2059801"/>
            <a:ext cx="3429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1054100" y="981075"/>
            <a:ext cx="10080625" cy="461665"/>
          </a:xfrm>
          <a:prstGeom prst="rect">
            <a:avLst/>
          </a:prstGeom>
        </p:spPr>
        <p:txBody>
          <a:bodyPr wrap="square">
            <a:spAutoFit/>
          </a:bodyPr>
          <a:lstStyle/>
          <a:p>
            <a:r>
              <a:rPr lang="en-US" altLang="en-US" sz="2400" dirty="0">
                <a:latin typeface="Calibri" panose="020F0502020204030204" pitchFamily="34" charset="0"/>
              </a:rPr>
              <a:t>Adapted from “</a:t>
            </a:r>
            <a:r>
              <a:rPr lang="en-US" altLang="en-US" sz="2400" i="1" dirty="0">
                <a:latin typeface="Calibri" panose="020F0502020204030204" pitchFamily="34" charset="0"/>
              </a:rPr>
              <a:t>The Object-Oriented Thought Process</a:t>
            </a:r>
            <a:r>
              <a:rPr lang="en-US" altLang="en-US" sz="2400" dirty="0">
                <a:latin typeface="Calibri" panose="020F0502020204030204" pitchFamily="34" charset="0"/>
              </a:rPr>
              <a:t>”.</a:t>
            </a:r>
            <a:endParaRPr lang="en-GB" sz="2400" dirty="0">
              <a:latin typeface="Calibri" panose="020F0502020204030204" pitchFamily="34" charset="0"/>
            </a:endParaRPr>
          </a:p>
        </p:txBody>
      </p:sp>
    </p:spTree>
    <p:extLst>
      <p:ext uri="{BB962C8B-B14F-4D97-AF65-F5344CB8AC3E}">
        <p14:creationId xmlns:p14="http://schemas.microsoft.com/office/powerpoint/2010/main" val="18774420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1053853" y="0"/>
            <a:ext cx="10081120" cy="541071"/>
          </a:xfrm>
        </p:spPr>
        <p:txBody>
          <a:bodyPr rtlCol="0">
            <a:normAutofit/>
          </a:bodyPr>
          <a:lstStyle/>
          <a:p>
            <a:pPr>
              <a:defRPr/>
            </a:pPr>
            <a:r>
              <a:rPr lang="en-US" b="1" dirty="0"/>
              <a:t>Blackjack Requirement</a:t>
            </a:r>
          </a:p>
        </p:txBody>
      </p:sp>
      <p:grpSp>
        <p:nvGrpSpPr>
          <p:cNvPr id="13316" name="Group 7"/>
          <p:cNvGrpSpPr>
            <a:grpSpLocks noChangeAspect="1"/>
          </p:cNvGrpSpPr>
          <p:nvPr/>
        </p:nvGrpSpPr>
        <p:grpSpPr bwMode="auto">
          <a:xfrm>
            <a:off x="4613939" y="693344"/>
            <a:ext cx="4830595" cy="5544000"/>
            <a:chOff x="1189121" y="223838"/>
            <a:chExt cx="5965658" cy="6846457"/>
          </a:xfrm>
        </p:grpSpPr>
        <p:grpSp>
          <p:nvGrpSpPr>
            <p:cNvPr id="13337" name="Group 5"/>
            <p:cNvGrpSpPr>
              <a:grpSpLocks/>
            </p:cNvGrpSpPr>
            <p:nvPr/>
          </p:nvGrpSpPr>
          <p:grpSpPr bwMode="auto">
            <a:xfrm>
              <a:off x="1211679" y="223838"/>
              <a:ext cx="5919080" cy="5150267"/>
              <a:chOff x="1211679" y="223838"/>
              <a:chExt cx="5919080" cy="5150267"/>
            </a:xfrm>
          </p:grpSpPr>
          <p:pic>
            <p:nvPicPr>
              <p:cNvPr id="133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679" y="223838"/>
                <a:ext cx="5902083" cy="425190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4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1204" y="3860387"/>
                <a:ext cx="5909555" cy="151371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33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9121" y="5309937"/>
              <a:ext cx="5965658" cy="176035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Oval 10"/>
          <p:cNvSpPr/>
          <p:nvPr/>
        </p:nvSpPr>
        <p:spPr>
          <a:xfrm>
            <a:off x="5086960" y="992303"/>
            <a:ext cx="652160" cy="2735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4" name="Oval 13"/>
          <p:cNvSpPr/>
          <p:nvPr/>
        </p:nvSpPr>
        <p:spPr>
          <a:xfrm>
            <a:off x="5752883" y="990022"/>
            <a:ext cx="569885" cy="22654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5" name="Oval 14"/>
          <p:cNvSpPr/>
          <p:nvPr/>
        </p:nvSpPr>
        <p:spPr>
          <a:xfrm>
            <a:off x="8320433" y="1038186"/>
            <a:ext cx="654959" cy="2212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6" name="Oval 15"/>
          <p:cNvSpPr/>
          <p:nvPr/>
        </p:nvSpPr>
        <p:spPr>
          <a:xfrm>
            <a:off x="6593829" y="1336901"/>
            <a:ext cx="477372" cy="2284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7" name="Oval 16"/>
          <p:cNvSpPr/>
          <p:nvPr/>
        </p:nvSpPr>
        <p:spPr>
          <a:xfrm>
            <a:off x="7630390" y="1178751"/>
            <a:ext cx="785812" cy="25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8" name="Oval 17"/>
          <p:cNvSpPr/>
          <p:nvPr/>
        </p:nvSpPr>
        <p:spPr>
          <a:xfrm>
            <a:off x="5447001" y="1712634"/>
            <a:ext cx="648072" cy="24534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19" name="Oval 18"/>
          <p:cNvSpPr/>
          <p:nvPr/>
        </p:nvSpPr>
        <p:spPr>
          <a:xfrm>
            <a:off x="7864265" y="1520891"/>
            <a:ext cx="385748" cy="27507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0" name="Oval 19"/>
          <p:cNvSpPr/>
          <p:nvPr/>
        </p:nvSpPr>
        <p:spPr>
          <a:xfrm>
            <a:off x="8670485" y="1565392"/>
            <a:ext cx="664947" cy="20998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1" name="Oval 20"/>
          <p:cNvSpPr/>
          <p:nvPr/>
        </p:nvSpPr>
        <p:spPr>
          <a:xfrm>
            <a:off x="4510896" y="1196753"/>
            <a:ext cx="610680" cy="22406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2" name="Oval 21"/>
          <p:cNvSpPr/>
          <p:nvPr/>
        </p:nvSpPr>
        <p:spPr>
          <a:xfrm>
            <a:off x="8250013" y="2397738"/>
            <a:ext cx="600215" cy="1928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3" name="Oval 22"/>
          <p:cNvSpPr/>
          <p:nvPr/>
        </p:nvSpPr>
        <p:spPr>
          <a:xfrm>
            <a:off x="4589179" y="2883793"/>
            <a:ext cx="785813" cy="2571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4" name="Oval 23"/>
          <p:cNvSpPr/>
          <p:nvPr/>
        </p:nvSpPr>
        <p:spPr>
          <a:xfrm>
            <a:off x="4731608" y="2709397"/>
            <a:ext cx="686410" cy="18469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5" name="Oval 24"/>
          <p:cNvSpPr/>
          <p:nvPr/>
        </p:nvSpPr>
        <p:spPr>
          <a:xfrm>
            <a:off x="8621627" y="4293097"/>
            <a:ext cx="468315" cy="23261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6" name="Oval 25"/>
          <p:cNvSpPr/>
          <p:nvPr/>
        </p:nvSpPr>
        <p:spPr>
          <a:xfrm>
            <a:off x="5812100" y="4422540"/>
            <a:ext cx="1219076" cy="3028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7" name="Oval 26"/>
          <p:cNvSpPr/>
          <p:nvPr/>
        </p:nvSpPr>
        <p:spPr>
          <a:xfrm>
            <a:off x="5591016" y="5310168"/>
            <a:ext cx="731912" cy="2466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sp>
        <p:nvSpPr>
          <p:cNvPr id="28" name="Oval 27"/>
          <p:cNvSpPr/>
          <p:nvPr/>
        </p:nvSpPr>
        <p:spPr>
          <a:xfrm>
            <a:off x="4589180" y="6037624"/>
            <a:ext cx="425772" cy="240839"/>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itchFamily="34" charset="0"/>
            </a:endParaRPr>
          </a:p>
        </p:txBody>
      </p:sp>
      <p:cxnSp>
        <p:nvCxnSpPr>
          <p:cNvPr id="3" name="Straight Connector 2"/>
          <p:cNvCxnSpPr/>
          <p:nvPr/>
        </p:nvCxnSpPr>
        <p:spPr>
          <a:xfrm>
            <a:off x="4582904" y="836712"/>
            <a:ext cx="230400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pic>
        <p:nvPicPr>
          <p:cNvPr id="29" name="Picture 28"/>
          <p:cNvPicPr>
            <a:picLocks noChangeAspect="1"/>
          </p:cNvPicPr>
          <p:nvPr/>
        </p:nvPicPr>
        <p:blipFill rotWithShape="1">
          <a:blip r:embed="rId6" cstate="print">
            <a:extLst>
              <a:ext uri="{28A0092B-C50C-407E-A947-70E740481C1C}">
                <a14:useLocalDpi xmlns:a14="http://schemas.microsoft.com/office/drawing/2010/main" val="0"/>
              </a:ext>
            </a:extLst>
          </a:blip>
          <a:srcRect r="43051"/>
          <a:stretch/>
        </p:blipFill>
        <p:spPr>
          <a:xfrm>
            <a:off x="1047464" y="862612"/>
            <a:ext cx="2317693" cy="2511975"/>
          </a:xfrm>
          <a:prstGeom prst="rect">
            <a:avLst/>
          </a:prstGeom>
          <a:ln>
            <a:noFill/>
          </a:ln>
          <a:effectLst>
            <a:softEdge rad="112500"/>
          </a:effectLst>
        </p:spPr>
      </p:pic>
      <p:pic>
        <p:nvPicPr>
          <p:cNvPr id="30" name="Picture 7"/>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1141" b="6054"/>
          <a:stretch/>
        </p:blipFill>
        <p:spPr bwMode="auto">
          <a:xfrm>
            <a:off x="765820" y="3393320"/>
            <a:ext cx="2880980" cy="291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Rounded Rectangle 1">
            <a:hlinkClick r:id="rId8" action="ppaction://hlinkpres?slideindex=1&amp;slidetitle=PowerPoint Presentation"/>
          </p:cNvPr>
          <p:cNvSpPr/>
          <p:nvPr/>
        </p:nvSpPr>
        <p:spPr>
          <a:xfrm>
            <a:off x="9623464" y="4811873"/>
            <a:ext cx="2375604" cy="1225752"/>
          </a:xfrm>
          <a:prstGeom prst="roundRect">
            <a:avLst/>
          </a:prstGeom>
          <a:solidFill>
            <a:schemeClr val="accent3">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rPr>
              <a:t>Click here to view the presentation Blackjack</a:t>
            </a:r>
            <a:endParaRPr lang="en-GB" b="1" dirty="0">
              <a:latin typeface="Calibri" panose="020F0502020204030204" pitchFamily="34" charset="0"/>
            </a:endParaRPr>
          </a:p>
        </p:txBody>
      </p:sp>
    </p:spTree>
    <p:extLst>
      <p:ext uri="{BB962C8B-B14F-4D97-AF65-F5344CB8AC3E}">
        <p14:creationId xmlns:p14="http://schemas.microsoft.com/office/powerpoint/2010/main" val="17436849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6" y="639763"/>
            <a:ext cx="6791325" cy="555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Title 1"/>
          <p:cNvSpPr>
            <a:spLocks noGrp="1"/>
          </p:cNvSpPr>
          <p:nvPr>
            <p:ph type="title"/>
          </p:nvPr>
        </p:nvSpPr>
        <p:spPr>
          <a:xfrm>
            <a:off x="1054099" y="0"/>
            <a:ext cx="10080625" cy="532247"/>
          </a:xfrm>
        </p:spPr>
        <p:txBody>
          <a:bodyPr/>
          <a:lstStyle/>
          <a:p>
            <a:pPr eaLnBrk="1" hangingPunct="1"/>
            <a:r>
              <a:rPr lang="en-US" altLang="en-US" b="1" dirty="0"/>
              <a:t>Class Diagram</a:t>
            </a:r>
          </a:p>
        </p:txBody>
      </p:sp>
      <p:sp>
        <p:nvSpPr>
          <p:cNvPr id="5" name="Diamond 4"/>
          <p:cNvSpPr/>
          <p:nvPr/>
        </p:nvSpPr>
        <p:spPr>
          <a:xfrm>
            <a:off x="6896101" y="5335933"/>
            <a:ext cx="320675" cy="160338"/>
          </a:xfrm>
          <a:prstGeom prst="diamond">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Garamond" pitchFamily="18" charset="0"/>
              </a:defRPr>
            </a:lvl1pPr>
            <a:lvl2pPr marL="742950" indent="-285750" eaLnBrk="0" hangingPunct="0">
              <a:defRPr>
                <a:solidFill>
                  <a:schemeClr val="tx1"/>
                </a:solidFill>
                <a:latin typeface="Garamond" pitchFamily="18" charset="0"/>
              </a:defRPr>
            </a:lvl2pPr>
            <a:lvl3pPr marL="1143000" indent="-228600" eaLnBrk="0" hangingPunct="0">
              <a:defRPr>
                <a:solidFill>
                  <a:schemeClr val="tx1"/>
                </a:solidFill>
                <a:latin typeface="Garamond" pitchFamily="18" charset="0"/>
              </a:defRPr>
            </a:lvl3pPr>
            <a:lvl4pPr marL="1600200" indent="-228600" eaLnBrk="0" hangingPunct="0">
              <a:defRPr>
                <a:solidFill>
                  <a:schemeClr val="tx1"/>
                </a:solidFill>
                <a:latin typeface="Garamond" pitchFamily="18" charset="0"/>
              </a:defRPr>
            </a:lvl4pPr>
            <a:lvl5pPr marL="2057400" indent="-228600" eaLnBrk="0" hangingPunct="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4341" name="TextBox 5"/>
          <p:cNvSpPr txBox="1">
            <a:spLocks noChangeArrowheads="1"/>
          </p:cNvSpPr>
          <p:nvPr/>
        </p:nvSpPr>
        <p:spPr bwMode="auto">
          <a:xfrm>
            <a:off x="6110288" y="5445224"/>
            <a:ext cx="39305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52</a:t>
            </a:r>
          </a:p>
        </p:txBody>
      </p:sp>
      <p:sp>
        <p:nvSpPr>
          <p:cNvPr id="14342" name="TextBox 6"/>
          <p:cNvSpPr txBox="1">
            <a:spLocks noChangeArrowheads="1"/>
          </p:cNvSpPr>
          <p:nvPr/>
        </p:nvSpPr>
        <p:spPr bwMode="auto">
          <a:xfrm>
            <a:off x="6764483" y="3324825"/>
            <a:ext cx="51167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dirty="0"/>
              <a:t>deals</a:t>
            </a:r>
          </a:p>
        </p:txBody>
      </p:sp>
      <p:sp>
        <p:nvSpPr>
          <p:cNvPr id="14343" name="TextBox 8"/>
          <p:cNvSpPr txBox="1">
            <a:spLocks noChangeArrowheads="1"/>
          </p:cNvSpPr>
          <p:nvPr/>
        </p:nvSpPr>
        <p:spPr bwMode="auto">
          <a:xfrm>
            <a:off x="5265041" y="1632205"/>
            <a:ext cx="6297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dirty="0"/>
              <a:t>&lt; show</a:t>
            </a:r>
          </a:p>
        </p:txBody>
      </p:sp>
      <p:sp>
        <p:nvSpPr>
          <p:cNvPr id="14369" name="TextBox 7"/>
          <p:cNvSpPr txBox="1">
            <a:spLocks noChangeArrowheads="1"/>
          </p:cNvSpPr>
          <p:nvPr/>
        </p:nvSpPr>
        <p:spPr bwMode="auto">
          <a:xfrm>
            <a:off x="4310119" y="2516052"/>
            <a:ext cx="55278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dirty="0"/>
              <a:t> show</a:t>
            </a:r>
          </a:p>
        </p:txBody>
      </p:sp>
      <p:sp>
        <p:nvSpPr>
          <p:cNvPr id="13" name="Isosceles Triangle 12"/>
          <p:cNvSpPr/>
          <p:nvPr/>
        </p:nvSpPr>
        <p:spPr>
          <a:xfrm>
            <a:off x="5281644" y="1702170"/>
            <a:ext cx="160422" cy="160421"/>
          </a:xfrm>
          <a:prstGeom prst="triangle">
            <a:avLst/>
          </a:prstGeom>
          <a:solidFill>
            <a:srgbClr val="002060"/>
          </a:solidFill>
          <a:ln w="19050">
            <a:solidFill>
              <a:srgbClr val="002060"/>
            </a:solidFill>
          </a:ln>
          <a:scene3d>
            <a:camera prst="orthographicFront">
              <a:rot lat="0" lon="0" rev="54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alibri" panose="020F0502020204030204" pitchFamily="34" charset="0"/>
            </a:endParaRPr>
          </a:p>
        </p:txBody>
      </p:sp>
      <p:sp>
        <p:nvSpPr>
          <p:cNvPr id="14" name="Isosceles Triangle 13"/>
          <p:cNvSpPr/>
          <p:nvPr/>
        </p:nvSpPr>
        <p:spPr>
          <a:xfrm>
            <a:off x="6607759" y="3391717"/>
            <a:ext cx="160422" cy="160421"/>
          </a:xfrm>
          <a:prstGeom prst="triangle">
            <a:avLst/>
          </a:prstGeom>
          <a:solidFill>
            <a:srgbClr val="002060"/>
          </a:solidFill>
          <a:ln w="19050">
            <a:solidFill>
              <a:srgbClr val="002060"/>
            </a:solidFill>
          </a:ln>
          <a:scene3d>
            <a:camera prst="orthographicFront">
              <a:rot lat="0" lon="0" rev="540000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alibri" panose="020F0502020204030204" pitchFamily="34" charset="0"/>
            </a:endParaRPr>
          </a:p>
        </p:txBody>
      </p:sp>
      <p:sp>
        <p:nvSpPr>
          <p:cNvPr id="14347" name="TextBox 14"/>
          <p:cNvSpPr txBox="1">
            <a:spLocks noChangeArrowheads="1"/>
          </p:cNvSpPr>
          <p:nvPr/>
        </p:nvSpPr>
        <p:spPr bwMode="auto">
          <a:xfrm>
            <a:off x="6246813" y="2348880"/>
            <a:ext cx="50045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a:t>1..*</a:t>
            </a:r>
          </a:p>
        </p:txBody>
      </p:sp>
      <p:sp>
        <p:nvSpPr>
          <p:cNvPr id="14348" name="TextBox 15"/>
          <p:cNvSpPr txBox="1">
            <a:spLocks noChangeArrowheads="1"/>
          </p:cNvSpPr>
          <p:nvPr/>
        </p:nvSpPr>
        <p:spPr bwMode="auto">
          <a:xfrm>
            <a:off x="5965825" y="2576479"/>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1</a:t>
            </a:r>
          </a:p>
        </p:txBody>
      </p:sp>
      <p:sp>
        <p:nvSpPr>
          <p:cNvPr id="14349" name="TextBox 17"/>
          <p:cNvSpPr txBox="1">
            <a:spLocks noChangeArrowheads="1"/>
          </p:cNvSpPr>
          <p:nvPr/>
        </p:nvSpPr>
        <p:spPr bwMode="auto">
          <a:xfrm>
            <a:off x="5661025" y="1844824"/>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1</a:t>
            </a:r>
          </a:p>
        </p:txBody>
      </p:sp>
      <p:sp>
        <p:nvSpPr>
          <p:cNvPr id="14350" name="TextBox 18"/>
          <p:cNvSpPr txBox="1">
            <a:spLocks noChangeArrowheads="1"/>
          </p:cNvSpPr>
          <p:nvPr/>
        </p:nvSpPr>
        <p:spPr bwMode="auto">
          <a:xfrm>
            <a:off x="5180012" y="1844824"/>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1</a:t>
            </a:r>
          </a:p>
        </p:txBody>
      </p:sp>
      <p:sp>
        <p:nvSpPr>
          <p:cNvPr id="14351" name="TextBox 19"/>
          <p:cNvSpPr txBox="1">
            <a:spLocks noChangeArrowheads="1"/>
          </p:cNvSpPr>
          <p:nvPr/>
        </p:nvSpPr>
        <p:spPr bwMode="auto">
          <a:xfrm>
            <a:off x="5364162" y="2586806"/>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1</a:t>
            </a:r>
          </a:p>
        </p:txBody>
      </p:sp>
      <p:sp>
        <p:nvSpPr>
          <p:cNvPr id="14352" name="TextBox 20"/>
          <p:cNvSpPr txBox="1">
            <a:spLocks noChangeArrowheads="1"/>
          </p:cNvSpPr>
          <p:nvPr/>
        </p:nvSpPr>
        <p:spPr bwMode="auto">
          <a:xfrm>
            <a:off x="3955504" y="2276872"/>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b="1" dirty="0"/>
              <a:t>1</a:t>
            </a:r>
          </a:p>
        </p:txBody>
      </p:sp>
      <p:grpSp>
        <p:nvGrpSpPr>
          <p:cNvPr id="14353" name="Group 21"/>
          <p:cNvGrpSpPr>
            <a:grpSpLocks/>
          </p:cNvGrpSpPr>
          <p:nvPr/>
        </p:nvGrpSpPr>
        <p:grpSpPr bwMode="auto">
          <a:xfrm>
            <a:off x="6157913" y="2564908"/>
            <a:ext cx="776110" cy="362739"/>
            <a:chOff x="2879558" y="2621546"/>
            <a:chExt cx="775960" cy="362617"/>
          </a:xfrm>
        </p:grpSpPr>
        <p:sp>
          <p:nvSpPr>
            <p:cNvPr id="14367" name="TextBox 22"/>
            <p:cNvSpPr txBox="1">
              <a:spLocks noChangeArrowheads="1"/>
            </p:cNvSpPr>
            <p:nvPr/>
          </p:nvSpPr>
          <p:spPr bwMode="auto">
            <a:xfrm>
              <a:off x="2879558" y="2707257"/>
              <a:ext cx="775960" cy="276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dirty="0"/>
                <a:t> give card</a:t>
              </a:r>
            </a:p>
          </p:txBody>
        </p:sp>
        <p:sp>
          <p:nvSpPr>
            <p:cNvPr id="24" name="Isosceles Triangle 23"/>
            <p:cNvSpPr/>
            <p:nvPr/>
          </p:nvSpPr>
          <p:spPr>
            <a:xfrm>
              <a:off x="3303594" y="2621546"/>
              <a:ext cx="160422" cy="160421"/>
            </a:xfrm>
            <a:prstGeom prst="triangle">
              <a:avLst/>
            </a:prstGeom>
            <a:solidFill>
              <a:srgbClr val="002060"/>
            </a:solidFill>
            <a:ln w="19050">
              <a:solidFill>
                <a:srgbClr val="00206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200">
                <a:latin typeface="Calibri" panose="020F0502020204030204" pitchFamily="34" charset="0"/>
              </a:endParaRPr>
            </a:p>
          </p:txBody>
        </p:sp>
      </p:grpSp>
      <p:grpSp>
        <p:nvGrpSpPr>
          <p:cNvPr id="4" name="Group 45"/>
          <p:cNvGrpSpPr>
            <a:grpSpLocks/>
          </p:cNvGrpSpPr>
          <p:nvPr/>
        </p:nvGrpSpPr>
        <p:grpSpPr bwMode="auto">
          <a:xfrm>
            <a:off x="3359150" y="4757713"/>
            <a:ext cx="685800" cy="471487"/>
            <a:chOff x="1675564" y="989597"/>
            <a:chExt cx="685800" cy="471488"/>
          </a:xfrm>
        </p:grpSpPr>
        <p:sp>
          <p:nvSpPr>
            <p:cNvPr id="14365" name="Oval 23"/>
            <p:cNvSpPr>
              <a:spLocks noChangeArrowheads="1"/>
            </p:cNvSpPr>
            <p:nvPr/>
          </p:nvSpPr>
          <p:spPr bwMode="auto">
            <a:xfrm>
              <a:off x="1794627" y="989597"/>
              <a:ext cx="457200" cy="457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4366" name="Line 24"/>
            <p:cNvSpPr>
              <a:spLocks noChangeShapeType="1"/>
            </p:cNvSpPr>
            <p:nvPr/>
          </p:nvSpPr>
          <p:spPr bwMode="auto">
            <a:xfrm>
              <a:off x="1675564" y="1461085"/>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6" name="Group 48"/>
          <p:cNvGrpSpPr>
            <a:grpSpLocks/>
          </p:cNvGrpSpPr>
          <p:nvPr/>
        </p:nvGrpSpPr>
        <p:grpSpPr bwMode="auto">
          <a:xfrm>
            <a:off x="9166225" y="3645024"/>
            <a:ext cx="685800" cy="471487"/>
            <a:chOff x="1675564" y="989597"/>
            <a:chExt cx="685800" cy="471488"/>
          </a:xfrm>
        </p:grpSpPr>
        <p:sp>
          <p:nvSpPr>
            <p:cNvPr id="14363" name="Oval 23"/>
            <p:cNvSpPr>
              <a:spLocks noChangeArrowheads="1"/>
            </p:cNvSpPr>
            <p:nvPr/>
          </p:nvSpPr>
          <p:spPr bwMode="auto">
            <a:xfrm>
              <a:off x="1794627" y="989597"/>
              <a:ext cx="457200" cy="457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4364" name="Line 24"/>
            <p:cNvSpPr>
              <a:spLocks noChangeShapeType="1"/>
            </p:cNvSpPr>
            <p:nvPr/>
          </p:nvSpPr>
          <p:spPr bwMode="auto">
            <a:xfrm>
              <a:off x="1675564" y="1461085"/>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7" name="Group 51"/>
          <p:cNvGrpSpPr>
            <a:grpSpLocks/>
          </p:cNvGrpSpPr>
          <p:nvPr/>
        </p:nvGrpSpPr>
        <p:grpSpPr bwMode="auto">
          <a:xfrm>
            <a:off x="2605087" y="1196752"/>
            <a:ext cx="685800" cy="471488"/>
            <a:chOff x="1675564" y="989597"/>
            <a:chExt cx="685800" cy="471488"/>
          </a:xfrm>
        </p:grpSpPr>
        <p:sp>
          <p:nvSpPr>
            <p:cNvPr id="14361" name="Oval 23"/>
            <p:cNvSpPr>
              <a:spLocks noChangeArrowheads="1"/>
            </p:cNvSpPr>
            <p:nvPr/>
          </p:nvSpPr>
          <p:spPr bwMode="auto">
            <a:xfrm>
              <a:off x="1794627" y="989597"/>
              <a:ext cx="457200" cy="457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4362" name="Line 24"/>
            <p:cNvSpPr>
              <a:spLocks noChangeShapeType="1"/>
            </p:cNvSpPr>
            <p:nvPr/>
          </p:nvSpPr>
          <p:spPr bwMode="auto">
            <a:xfrm>
              <a:off x="1675564" y="1461085"/>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grpSp>
        <p:nvGrpSpPr>
          <p:cNvPr id="8" name="Group 54"/>
          <p:cNvGrpSpPr>
            <a:grpSpLocks/>
          </p:cNvGrpSpPr>
          <p:nvPr/>
        </p:nvGrpSpPr>
        <p:grpSpPr bwMode="auto">
          <a:xfrm>
            <a:off x="7850187" y="1124744"/>
            <a:ext cx="685800" cy="471487"/>
            <a:chOff x="1675564" y="989597"/>
            <a:chExt cx="685800" cy="471488"/>
          </a:xfrm>
        </p:grpSpPr>
        <p:sp>
          <p:nvSpPr>
            <p:cNvPr id="14359" name="Oval 23"/>
            <p:cNvSpPr>
              <a:spLocks noChangeArrowheads="1"/>
            </p:cNvSpPr>
            <p:nvPr/>
          </p:nvSpPr>
          <p:spPr bwMode="auto">
            <a:xfrm>
              <a:off x="1794627" y="989597"/>
              <a:ext cx="457200" cy="4572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p>
          </p:txBody>
        </p:sp>
        <p:sp>
          <p:nvSpPr>
            <p:cNvPr id="14360" name="Line 24"/>
            <p:cNvSpPr>
              <a:spLocks noChangeShapeType="1"/>
            </p:cNvSpPr>
            <p:nvPr/>
          </p:nvSpPr>
          <p:spPr bwMode="auto">
            <a:xfrm>
              <a:off x="1675564" y="1461085"/>
              <a:ext cx="6858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GB">
                <a:latin typeface="Calibri" panose="020F0502020204030204" pitchFamily="34" charset="0"/>
              </a:endParaRPr>
            </a:p>
          </p:txBody>
        </p:sp>
      </p:grpSp>
      <p:sp>
        <p:nvSpPr>
          <p:cNvPr id="2" name="Rectangle 1"/>
          <p:cNvSpPr/>
          <p:nvPr/>
        </p:nvSpPr>
        <p:spPr>
          <a:xfrm>
            <a:off x="2682939" y="2949331"/>
            <a:ext cx="2101850" cy="11303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SG">
              <a:latin typeface="Calibri" panose="020F0502020204030204" pitchFamily="34" charset="0"/>
            </a:endParaRPr>
          </a:p>
        </p:txBody>
      </p:sp>
      <p:sp>
        <p:nvSpPr>
          <p:cNvPr id="35" name="Isosceles Triangle 34"/>
          <p:cNvSpPr/>
          <p:nvPr/>
        </p:nvSpPr>
        <p:spPr bwMode="auto">
          <a:xfrm flipV="1">
            <a:off x="4271062" y="2571595"/>
            <a:ext cx="160453" cy="160475"/>
          </a:xfrm>
          <a:prstGeom prst="triangle">
            <a:avLst/>
          </a:prstGeom>
          <a:solidFill>
            <a:srgbClr val="002060"/>
          </a:solidFill>
          <a:ln w="19050">
            <a:solidFill>
              <a:srgbClr val="002060"/>
            </a:solidFill>
          </a:ln>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latin typeface="Calibri" panose="020F0502020204030204" pitchFamily="34" charset="0"/>
            </a:endParaRPr>
          </a:p>
        </p:txBody>
      </p:sp>
    </p:spTree>
    <p:extLst>
      <p:ext uri="{BB962C8B-B14F-4D97-AF65-F5344CB8AC3E}">
        <p14:creationId xmlns:p14="http://schemas.microsoft.com/office/powerpoint/2010/main" val="12757866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054099" y="0"/>
            <a:ext cx="10080625" cy="548680"/>
          </a:xfrm>
        </p:spPr>
        <p:txBody>
          <a:bodyPr anchor="ctr">
            <a:normAutofit/>
          </a:bodyPr>
          <a:lstStyle/>
          <a:p>
            <a:r>
              <a:rPr lang="en-GB" b="1" dirty="0"/>
              <a:t>Objectives</a:t>
            </a:r>
            <a:endParaRPr lang="en-US" b="1" dirty="0"/>
          </a:p>
        </p:txBody>
      </p:sp>
      <p:sp>
        <p:nvSpPr>
          <p:cNvPr id="14" name="Content Placeholder 13"/>
          <p:cNvSpPr>
            <a:spLocks noGrp="1"/>
          </p:cNvSpPr>
          <p:nvPr>
            <p:ph idx="1"/>
          </p:nvPr>
        </p:nvSpPr>
        <p:spPr>
          <a:xfrm>
            <a:off x="1053852" y="981075"/>
            <a:ext cx="10080872" cy="4968205"/>
          </a:xfrm>
        </p:spPr>
        <p:txBody>
          <a:bodyPr anchor="t">
            <a:normAutofit/>
          </a:bodyPr>
          <a:lstStyle/>
          <a:p>
            <a:pPr marL="0" indent="0">
              <a:buNone/>
            </a:pPr>
            <a:r>
              <a:rPr lang="en-US" sz="2800" dirty="0"/>
              <a:t>By the end of this chapter, you should be able to:</a:t>
            </a:r>
          </a:p>
          <a:p>
            <a:pPr>
              <a:buFont typeface="Wingdings" panose="05000000000000000000" pitchFamily="2" charset="2"/>
              <a:buChar char="§"/>
            </a:pPr>
            <a:r>
              <a:rPr lang="en-US" sz="2800" dirty="0"/>
              <a:t>Explain the steps in creating a design case study to implement a blackjack game in java</a:t>
            </a:r>
          </a:p>
          <a:p>
            <a:pPr>
              <a:buFont typeface="Wingdings" panose="05000000000000000000" pitchFamily="2" charset="2"/>
              <a:buChar char="§"/>
            </a:pPr>
            <a:r>
              <a:rPr lang="en-US" altLang="zh-TW" sz="2800" dirty="0"/>
              <a:t>Design a java software application based on the game of blackjack</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18548" y="3186568"/>
            <a:ext cx="4545817" cy="3149858"/>
          </a:xfrm>
          <a:prstGeom prst="rect">
            <a:avLst/>
          </a:prstGeom>
          <a:ln>
            <a:noFill/>
          </a:ln>
          <a:effectLst>
            <a:softEdge rad="112500"/>
          </a:effectLst>
        </p:spPr>
      </p:pic>
    </p:spTree>
    <p:extLst>
      <p:ext uri="{BB962C8B-B14F-4D97-AF65-F5344CB8AC3E}">
        <p14:creationId xmlns:p14="http://schemas.microsoft.com/office/powerpoint/2010/main" val="20016657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dirty="0"/>
              <a:t>Design Case Study</a:t>
            </a:r>
          </a:p>
        </p:txBody>
      </p:sp>
      <p:sp>
        <p:nvSpPr>
          <p:cNvPr id="5123" name="Rectangle 3"/>
          <p:cNvSpPr>
            <a:spLocks noGrp="1" noChangeArrowheads="1"/>
          </p:cNvSpPr>
          <p:nvPr>
            <p:ph idx="1"/>
          </p:nvPr>
        </p:nvSpPr>
        <p:spPr>
          <a:xfrm>
            <a:off x="1053852" y="968829"/>
            <a:ext cx="10081120" cy="5196475"/>
          </a:xfrm>
          <a:noFill/>
          <a:effectLst/>
        </p:spPr>
        <p:txBody>
          <a:bodyPr/>
          <a:lstStyle/>
          <a:p>
            <a:pPr eaLnBrk="1" hangingPunct="1"/>
            <a:r>
              <a:rPr lang="en-US" altLang="en-US" dirty="0"/>
              <a:t>An example of a blackjack.</a:t>
            </a:r>
          </a:p>
          <a:p>
            <a:pPr eaLnBrk="1" hangingPunct="1"/>
            <a:r>
              <a:rPr lang="en-US" altLang="en-US" dirty="0"/>
              <a:t>A blackjack is also known as twenty one.</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3707" y="2348880"/>
            <a:ext cx="5181409" cy="3456000"/>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123341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239383" y="980728"/>
            <a:ext cx="4647350" cy="1815852"/>
          </a:xfrm>
          <a:prstGeom prst="rect">
            <a:avLst/>
          </a:prstGeom>
          <a:solidFill>
            <a:srgbClr val="FFFFFF">
              <a:shade val="85000"/>
            </a:srgbClr>
          </a:solidFill>
          <a:ln w="101600" cap="sq">
            <a:solidFill>
              <a:srgbClr val="FDFDFD"/>
            </a:solidFill>
            <a:miter lim="800000"/>
          </a:ln>
          <a:effectLst>
            <a:outerShdw blurRad="57150" dist="37500" dir="7560000" sy="98000" kx="110000" ky="200000" algn="tl" rotWithShape="0">
              <a:srgbClr val="000000">
                <a:alpha val="20000"/>
              </a:srgbClr>
            </a:outerShdw>
          </a:effectLst>
          <a:scene3d>
            <a:camera prst="perspectiveRelaxed">
              <a:rot lat="18960000" lon="0" rev="0"/>
            </a:camera>
            <a:lightRig rig="twoPt" dir="t">
              <a:rot lat="0" lon="0" rev="7200000"/>
            </a:lightRig>
          </a:scene3d>
          <a:sp3d prstMaterial="matte">
            <a:bevelT w="22860" h="12700"/>
            <a:contourClr>
              <a:srgbClr val="FFFFFF"/>
            </a:contourClr>
          </a:sp3d>
        </p:spPr>
      </p:pic>
      <p:sp>
        <p:nvSpPr>
          <p:cNvPr id="6" name="Freeform 5"/>
          <p:cNvSpPr/>
          <p:nvPr/>
        </p:nvSpPr>
        <p:spPr>
          <a:xfrm>
            <a:off x="5553177" y="2599392"/>
            <a:ext cx="4439169" cy="2741997"/>
          </a:xfrm>
          <a:custGeom>
            <a:avLst/>
            <a:gdLst>
              <a:gd name="connsiteX0" fmla="*/ 0 w 4439169"/>
              <a:gd name="connsiteY0" fmla="*/ 0 h 2741997"/>
              <a:gd name="connsiteX1" fmla="*/ 4439169 w 4439169"/>
              <a:gd name="connsiteY1" fmla="*/ 0 h 2741997"/>
              <a:gd name="connsiteX2" fmla="*/ 4439169 w 4439169"/>
              <a:gd name="connsiteY2" fmla="*/ 2741997 h 2741997"/>
              <a:gd name="connsiteX3" fmla="*/ 0 w 4439169"/>
              <a:gd name="connsiteY3" fmla="*/ 2741997 h 2741997"/>
              <a:gd name="connsiteX4" fmla="*/ 0 w 4439169"/>
              <a:gd name="connsiteY4" fmla="*/ 0 h 2741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9169" h="2741997">
                <a:moveTo>
                  <a:pt x="0" y="0"/>
                </a:moveTo>
                <a:lnTo>
                  <a:pt x="4439169" y="0"/>
                </a:lnTo>
                <a:lnTo>
                  <a:pt x="4439169" y="2741997"/>
                </a:lnTo>
                <a:lnTo>
                  <a:pt x="0" y="27419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altLang="en-US" sz="2800" kern="1200" dirty="0">
                <a:latin typeface="Calibri" panose="020F0502020204030204" pitchFamily="34" charset="0"/>
              </a:rPr>
              <a:t>The requirement is to design a java software application based on the game of blackjack.</a:t>
            </a:r>
            <a:endParaRPr lang="en-GB" sz="2800" kern="1200" dirty="0">
              <a:latin typeface="Calibri" panose="020F0502020204030204" pitchFamily="34" charset="0"/>
            </a:endParaRPr>
          </a:p>
        </p:txBody>
      </p:sp>
      <p:sp>
        <p:nvSpPr>
          <p:cNvPr id="7" name="Half Frame 6"/>
          <p:cNvSpPr/>
          <p:nvPr/>
        </p:nvSpPr>
        <p:spPr>
          <a:xfrm>
            <a:off x="5161509" y="2208060"/>
            <a:ext cx="1066115" cy="1066391"/>
          </a:xfrm>
          <a:prstGeom prst="halfFrame">
            <a:avLst>
              <a:gd name="adj1" fmla="val 25770"/>
              <a:gd name="adj2" fmla="val 25770"/>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8" name="Half Frame 7"/>
          <p:cNvSpPr/>
          <p:nvPr/>
        </p:nvSpPr>
        <p:spPr>
          <a:xfrm rot="5400000">
            <a:off x="9348639" y="2208198"/>
            <a:ext cx="1066391" cy="1066115"/>
          </a:xfrm>
          <a:prstGeom prst="halfFrame">
            <a:avLst>
              <a:gd name="adj1" fmla="val 25770"/>
              <a:gd name="adj2" fmla="val 25770"/>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9" name="Half Frame 8"/>
          <p:cNvSpPr/>
          <p:nvPr/>
        </p:nvSpPr>
        <p:spPr>
          <a:xfrm rot="16200000">
            <a:off x="5161371" y="4667002"/>
            <a:ext cx="1066391" cy="1066115"/>
          </a:xfrm>
          <a:prstGeom prst="halfFrame">
            <a:avLst>
              <a:gd name="adj1" fmla="val 25770"/>
              <a:gd name="adj2" fmla="val 25770"/>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10" name="Half Frame 9"/>
          <p:cNvSpPr/>
          <p:nvPr/>
        </p:nvSpPr>
        <p:spPr>
          <a:xfrm rot="10800000">
            <a:off x="9348777" y="4666864"/>
            <a:ext cx="1066115" cy="1066391"/>
          </a:xfrm>
          <a:prstGeom prst="halfFrame">
            <a:avLst>
              <a:gd name="adj1" fmla="val 25770"/>
              <a:gd name="adj2" fmla="val 25770"/>
            </a:avLst>
          </a:prstGeom>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SG"/>
          </a:p>
        </p:txBody>
      </p:sp>
      <p:sp>
        <p:nvSpPr>
          <p:cNvPr id="6146" name="Rectangle 2"/>
          <p:cNvSpPr>
            <a:spLocks noGrp="1" noChangeArrowheads="1"/>
          </p:cNvSpPr>
          <p:nvPr>
            <p:ph type="title"/>
          </p:nvPr>
        </p:nvSpPr>
        <p:spPr/>
        <p:txBody>
          <a:bodyPr/>
          <a:lstStyle/>
          <a:p>
            <a:pPr eaLnBrk="1" hangingPunct="1"/>
            <a:r>
              <a:rPr lang="en-US" altLang="en-US"/>
              <a:t>Requirements		</a:t>
            </a:r>
          </a:p>
        </p:txBody>
      </p:sp>
      <p:sp>
        <p:nvSpPr>
          <p:cNvPr id="2" name="Rectangle 1"/>
          <p:cNvSpPr/>
          <p:nvPr/>
        </p:nvSpPr>
        <p:spPr>
          <a:xfrm>
            <a:off x="15325" y="5763060"/>
            <a:ext cx="3725403" cy="553998"/>
          </a:xfrm>
          <a:prstGeom prst="rect">
            <a:avLst/>
          </a:prstGeom>
        </p:spPr>
        <p:txBody>
          <a:bodyPr wrap="square">
            <a:spAutoFit/>
          </a:bodyPr>
          <a:lstStyle/>
          <a:p>
            <a:r>
              <a:rPr lang="en-US" sz="1000" dirty="0">
                <a:latin typeface="Calibri" panose="020F0502020204030204" pitchFamily="34" charset="0"/>
              </a:rPr>
              <a:t>Solitaire. Retrieved December 16, 2016 from</a:t>
            </a:r>
            <a:endParaRPr lang="en-GB" sz="1000" dirty="0">
              <a:latin typeface="Calibri" panose="020F0502020204030204" pitchFamily="34" charset="0"/>
            </a:endParaRPr>
          </a:p>
          <a:p>
            <a:r>
              <a:rPr lang="en-GB" sz="1000" dirty="0">
                <a:latin typeface="Calibri" panose="020F0502020204030204" pitchFamily="34" charset="0"/>
              </a:rPr>
              <a:t>https://upload.wikimedia.org/wikipedia/commons/1/13/Spider_%28solitaire%29.jpg.</a:t>
            </a:r>
          </a:p>
        </p:txBody>
      </p:sp>
    </p:spTree>
    <p:custDataLst>
      <p:tags r:id="rId1"/>
    </p:custDataLst>
    <p:extLst>
      <p:ext uri="{BB962C8B-B14F-4D97-AF65-F5344CB8AC3E}">
        <p14:creationId xmlns:p14="http://schemas.microsoft.com/office/powerpoint/2010/main" val="2587210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ltLang="en-US" dirty="0"/>
              <a:t>Blackjack Rules		</a:t>
            </a:r>
          </a:p>
        </p:txBody>
      </p:sp>
      <p:sp>
        <p:nvSpPr>
          <p:cNvPr id="7171" name="Rectangle 3"/>
          <p:cNvSpPr>
            <a:spLocks noGrp="1" noChangeArrowheads="1"/>
          </p:cNvSpPr>
          <p:nvPr>
            <p:ph idx="1"/>
          </p:nvPr>
        </p:nvSpPr>
        <p:spPr>
          <a:xfrm>
            <a:off x="1053852" y="2594959"/>
            <a:ext cx="10081120" cy="1668083"/>
          </a:xfrm>
          <a:solidFill>
            <a:schemeClr val="accent6">
              <a:lumMod val="20000"/>
              <a:lumOff val="80000"/>
            </a:schemeClr>
          </a:solidFill>
          <a:ln>
            <a:noFill/>
          </a:ln>
          <a:effectLst>
            <a:outerShdw blurRad="63500" sx="102000" sy="102000" algn="ctr" rotWithShape="0">
              <a:prstClr val="black">
                <a:alpha val="40000"/>
              </a:prstClr>
            </a:outerShdw>
          </a:effectLst>
        </p:spPr>
        <p:txBody>
          <a:bodyPr/>
          <a:lstStyle/>
          <a:p>
            <a:pPr eaLnBrk="1" hangingPunct="1">
              <a:buClr>
                <a:schemeClr val="tx1"/>
              </a:buClr>
            </a:pPr>
            <a:r>
              <a:rPr lang="en-US" altLang="en-US" dirty="0"/>
              <a:t>In the game </a:t>
            </a:r>
            <a:r>
              <a:rPr lang="en-US" altLang="en-US" dirty="0">
                <a:solidFill>
                  <a:srgbClr val="C00000"/>
                </a:solidFill>
              </a:rPr>
              <a:t>one or more individual players </a:t>
            </a:r>
            <a:r>
              <a:rPr lang="en-US" altLang="en-US" dirty="0"/>
              <a:t>play against the dealer or house.</a:t>
            </a:r>
          </a:p>
          <a:p>
            <a:pPr eaLnBrk="1" hangingPunct="1">
              <a:buClr>
                <a:schemeClr val="tx1"/>
              </a:buClr>
            </a:pPr>
            <a:r>
              <a:rPr lang="en-US" altLang="en-US" dirty="0"/>
              <a:t>A player plays </a:t>
            </a:r>
            <a:r>
              <a:rPr lang="en-US" altLang="en-US" dirty="0">
                <a:solidFill>
                  <a:srgbClr val="C00000"/>
                </a:solidFill>
              </a:rPr>
              <a:t>against the dealer</a:t>
            </a:r>
            <a:r>
              <a:rPr lang="en-US" altLang="en-US" dirty="0"/>
              <a:t> and not against each other.</a:t>
            </a:r>
          </a:p>
        </p:txBody>
      </p:sp>
    </p:spTree>
    <p:custDataLst>
      <p:tags r:id="rId1"/>
    </p:custDataLst>
    <p:extLst>
      <p:ext uri="{BB962C8B-B14F-4D97-AF65-F5344CB8AC3E}">
        <p14:creationId xmlns:p14="http://schemas.microsoft.com/office/powerpoint/2010/main" val="329333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7"/>
          <p:cNvSpPr/>
          <p:nvPr/>
        </p:nvSpPr>
        <p:spPr>
          <a:xfrm>
            <a:off x="1053852" y="932781"/>
            <a:ext cx="2954086" cy="1920155"/>
          </a:xfrm>
          <a:custGeom>
            <a:avLst/>
            <a:gdLst>
              <a:gd name="connsiteX0" fmla="*/ 320032 w 2954086"/>
              <a:gd name="connsiteY0" fmla="*/ 0 h 1920155"/>
              <a:gd name="connsiteX1" fmla="*/ 2634054 w 2954086"/>
              <a:gd name="connsiteY1" fmla="*/ 0 h 1920155"/>
              <a:gd name="connsiteX2" fmla="*/ 2954086 w 2954086"/>
              <a:gd name="connsiteY2" fmla="*/ 320032 h 1920155"/>
              <a:gd name="connsiteX3" fmla="*/ 2954086 w 2954086"/>
              <a:gd name="connsiteY3" fmla="*/ 1920155 h 1920155"/>
              <a:gd name="connsiteX4" fmla="*/ 2954086 w 2954086"/>
              <a:gd name="connsiteY4" fmla="*/ 1920155 h 1920155"/>
              <a:gd name="connsiteX5" fmla="*/ 0 w 2954086"/>
              <a:gd name="connsiteY5" fmla="*/ 1920155 h 1920155"/>
              <a:gd name="connsiteX6" fmla="*/ 0 w 2954086"/>
              <a:gd name="connsiteY6" fmla="*/ 1920155 h 1920155"/>
              <a:gd name="connsiteX7" fmla="*/ 0 w 2954086"/>
              <a:gd name="connsiteY7" fmla="*/ 320032 h 1920155"/>
              <a:gd name="connsiteX8" fmla="*/ 320032 w 2954086"/>
              <a:gd name="connsiteY8" fmla="*/ 0 h 1920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086" h="1920155">
                <a:moveTo>
                  <a:pt x="320032" y="0"/>
                </a:moveTo>
                <a:lnTo>
                  <a:pt x="2634054" y="0"/>
                </a:lnTo>
                <a:cubicBezTo>
                  <a:pt x="2810803" y="0"/>
                  <a:pt x="2954086" y="143283"/>
                  <a:pt x="2954086" y="320032"/>
                </a:cubicBezTo>
                <a:lnTo>
                  <a:pt x="2954086" y="1920155"/>
                </a:lnTo>
                <a:lnTo>
                  <a:pt x="2954086" y="1920155"/>
                </a:lnTo>
                <a:lnTo>
                  <a:pt x="0" y="1920155"/>
                </a:lnTo>
                <a:lnTo>
                  <a:pt x="0" y="1920155"/>
                </a:lnTo>
                <a:lnTo>
                  <a:pt x="0" y="320032"/>
                </a:lnTo>
                <a:cubicBezTo>
                  <a:pt x="0" y="143283"/>
                  <a:pt x="143283" y="0"/>
                  <a:pt x="320032" y="0"/>
                </a:cubicBezTo>
                <a:close/>
              </a:path>
            </a:pathLst>
          </a:custGeom>
          <a:solidFill>
            <a:schemeClr val="accent3">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1">
            <a:scrgbClr r="0" g="0" b="0"/>
          </a:fillRef>
          <a:effectRef idx="0">
            <a:scrgbClr r="0" g="0" b="0"/>
          </a:effectRef>
          <a:fontRef idx="minor">
            <a:schemeClr val="lt1"/>
          </a:fontRef>
        </p:style>
        <p:txBody>
          <a:bodyPr spcFirstLastPara="0" vert="horz" wrap="square" lIns="177554" tIns="121674" rIns="177554" bIns="27940" numCol="1" spcCol="1270" anchor="ctr" anchorCtr="0">
            <a:noAutofit/>
          </a:bodyPr>
          <a:lstStyle/>
          <a:p>
            <a:pPr lvl="0" algn="ctr" defTabSz="977900">
              <a:lnSpc>
                <a:spcPct val="90000"/>
              </a:lnSpc>
              <a:spcBef>
                <a:spcPct val="0"/>
              </a:spcBef>
              <a:spcAft>
                <a:spcPct val="35000"/>
              </a:spcAft>
            </a:pPr>
            <a:r>
              <a:rPr lang="en-US" altLang="en-US" sz="2200" kern="1200" dirty="0">
                <a:solidFill>
                  <a:schemeClr val="bg1"/>
                </a:solidFill>
                <a:latin typeface="Calibri" panose="020F0502020204030204" pitchFamily="34" charset="0"/>
              </a:rPr>
              <a:t>The blackjack winner`s card value will be equal to 21.</a:t>
            </a:r>
            <a:endParaRPr lang="en-GB" sz="2200" kern="1200" dirty="0">
              <a:solidFill>
                <a:schemeClr val="bg1"/>
              </a:solidFill>
              <a:latin typeface="Calibri" panose="020F0502020204030204" pitchFamily="34" charset="0"/>
            </a:endParaRPr>
          </a:p>
        </p:txBody>
      </p:sp>
      <p:sp>
        <p:nvSpPr>
          <p:cNvPr id="8194" name="Rectangle 2"/>
          <p:cNvSpPr>
            <a:spLocks noGrp="1" noChangeArrowheads="1"/>
          </p:cNvSpPr>
          <p:nvPr>
            <p:ph type="title"/>
          </p:nvPr>
        </p:nvSpPr>
        <p:spPr/>
        <p:txBody>
          <a:bodyPr/>
          <a:lstStyle/>
          <a:p>
            <a:pPr eaLnBrk="1" hangingPunct="1"/>
            <a:r>
              <a:rPr lang="en-US" altLang="en-US"/>
              <a:t>Goal of Game</a:t>
            </a:r>
          </a:p>
        </p:txBody>
      </p:sp>
      <p:pic>
        <p:nvPicPr>
          <p:cNvPr id="6" name="Picture 5"/>
          <p:cNvPicPr>
            <a:picLocks noChangeAspect="1"/>
          </p:cNvPicPr>
          <p:nvPr/>
        </p:nvPicPr>
        <p:blipFill rotWithShape="1">
          <a:blip r:embed="rId4" cstate="print">
            <a:extLst>
              <a:ext uri="{28A0092B-C50C-407E-A947-70E740481C1C}">
                <a14:useLocalDpi xmlns:a14="http://schemas.microsoft.com/office/drawing/2010/main" val="0"/>
              </a:ext>
            </a:extLst>
          </a:blip>
          <a:srcRect t="16090" r="43094"/>
          <a:stretch/>
        </p:blipFill>
        <p:spPr>
          <a:xfrm>
            <a:off x="8162241" y="1145012"/>
            <a:ext cx="2468676" cy="24280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Freeform 6"/>
          <p:cNvSpPr/>
          <p:nvPr/>
        </p:nvSpPr>
        <p:spPr>
          <a:xfrm>
            <a:off x="3731654" y="2660004"/>
            <a:ext cx="2954086" cy="1920155"/>
          </a:xfrm>
          <a:custGeom>
            <a:avLst/>
            <a:gdLst>
              <a:gd name="connsiteX0" fmla="*/ 320032 w 2954086"/>
              <a:gd name="connsiteY0" fmla="*/ 0 h 1920155"/>
              <a:gd name="connsiteX1" fmla="*/ 2634054 w 2954086"/>
              <a:gd name="connsiteY1" fmla="*/ 0 h 1920155"/>
              <a:gd name="connsiteX2" fmla="*/ 2954086 w 2954086"/>
              <a:gd name="connsiteY2" fmla="*/ 320032 h 1920155"/>
              <a:gd name="connsiteX3" fmla="*/ 2954086 w 2954086"/>
              <a:gd name="connsiteY3" fmla="*/ 1920155 h 1920155"/>
              <a:gd name="connsiteX4" fmla="*/ 2954086 w 2954086"/>
              <a:gd name="connsiteY4" fmla="*/ 1920155 h 1920155"/>
              <a:gd name="connsiteX5" fmla="*/ 0 w 2954086"/>
              <a:gd name="connsiteY5" fmla="*/ 1920155 h 1920155"/>
              <a:gd name="connsiteX6" fmla="*/ 0 w 2954086"/>
              <a:gd name="connsiteY6" fmla="*/ 1920155 h 1920155"/>
              <a:gd name="connsiteX7" fmla="*/ 0 w 2954086"/>
              <a:gd name="connsiteY7" fmla="*/ 320032 h 1920155"/>
              <a:gd name="connsiteX8" fmla="*/ 320032 w 2954086"/>
              <a:gd name="connsiteY8" fmla="*/ 0 h 1920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086" h="1920155">
                <a:moveTo>
                  <a:pt x="320032" y="0"/>
                </a:moveTo>
                <a:lnTo>
                  <a:pt x="2634054" y="0"/>
                </a:lnTo>
                <a:cubicBezTo>
                  <a:pt x="2810803" y="0"/>
                  <a:pt x="2954086" y="143283"/>
                  <a:pt x="2954086" y="320032"/>
                </a:cubicBezTo>
                <a:lnTo>
                  <a:pt x="2954086" y="1920155"/>
                </a:lnTo>
                <a:lnTo>
                  <a:pt x="2954086" y="1920155"/>
                </a:lnTo>
                <a:lnTo>
                  <a:pt x="0" y="1920155"/>
                </a:lnTo>
                <a:lnTo>
                  <a:pt x="0" y="1920155"/>
                </a:lnTo>
                <a:lnTo>
                  <a:pt x="0" y="320032"/>
                </a:lnTo>
                <a:cubicBezTo>
                  <a:pt x="0" y="143283"/>
                  <a:pt x="143283" y="0"/>
                  <a:pt x="320032" y="0"/>
                </a:cubicBezTo>
                <a:close/>
              </a:path>
            </a:pathLst>
          </a:cu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1">
            <a:scrgbClr r="0" g="0" b="0"/>
          </a:fillRef>
          <a:effectRef idx="0">
            <a:scrgbClr r="0" g="0" b="0"/>
          </a:effectRef>
          <a:fontRef idx="minor">
            <a:schemeClr val="lt1"/>
          </a:fontRef>
        </p:style>
        <p:txBody>
          <a:bodyPr spcFirstLastPara="0" vert="horz" wrap="square" lIns="177554" tIns="121674" rIns="177553" bIns="27939" numCol="1" spcCol="1270" anchor="ctr" anchorCtr="0">
            <a:noAutofit/>
          </a:bodyPr>
          <a:lstStyle/>
          <a:p>
            <a:pPr lvl="0" algn="ctr" defTabSz="977900">
              <a:lnSpc>
                <a:spcPct val="90000"/>
              </a:lnSpc>
              <a:spcBef>
                <a:spcPct val="0"/>
              </a:spcBef>
              <a:spcAft>
                <a:spcPct val="35000"/>
              </a:spcAft>
            </a:pPr>
            <a:r>
              <a:rPr lang="en-US" altLang="en-US" sz="2200" kern="1200" dirty="0">
                <a:latin typeface="Calibri" panose="020F0502020204030204" pitchFamily="34" charset="0"/>
              </a:rPr>
              <a:t>The player draws cards from the deck until the sum of the face value of all the cards is equal to 21.</a:t>
            </a:r>
            <a:endParaRPr lang="en-GB" sz="2200" kern="1200" dirty="0">
              <a:latin typeface="Calibri" panose="020F0502020204030204" pitchFamily="34" charset="0"/>
            </a:endParaRPr>
          </a:p>
        </p:txBody>
      </p:sp>
      <p:sp>
        <p:nvSpPr>
          <p:cNvPr id="9" name="Freeform 8"/>
          <p:cNvSpPr/>
          <p:nvPr/>
        </p:nvSpPr>
        <p:spPr>
          <a:xfrm>
            <a:off x="6456210" y="4326734"/>
            <a:ext cx="2954086" cy="1920155"/>
          </a:xfrm>
          <a:custGeom>
            <a:avLst/>
            <a:gdLst>
              <a:gd name="connsiteX0" fmla="*/ 320032 w 2954086"/>
              <a:gd name="connsiteY0" fmla="*/ 0 h 1920155"/>
              <a:gd name="connsiteX1" fmla="*/ 2634054 w 2954086"/>
              <a:gd name="connsiteY1" fmla="*/ 0 h 1920155"/>
              <a:gd name="connsiteX2" fmla="*/ 2954086 w 2954086"/>
              <a:gd name="connsiteY2" fmla="*/ 320032 h 1920155"/>
              <a:gd name="connsiteX3" fmla="*/ 2954086 w 2954086"/>
              <a:gd name="connsiteY3" fmla="*/ 1920155 h 1920155"/>
              <a:gd name="connsiteX4" fmla="*/ 2954086 w 2954086"/>
              <a:gd name="connsiteY4" fmla="*/ 1920155 h 1920155"/>
              <a:gd name="connsiteX5" fmla="*/ 0 w 2954086"/>
              <a:gd name="connsiteY5" fmla="*/ 1920155 h 1920155"/>
              <a:gd name="connsiteX6" fmla="*/ 0 w 2954086"/>
              <a:gd name="connsiteY6" fmla="*/ 1920155 h 1920155"/>
              <a:gd name="connsiteX7" fmla="*/ 0 w 2954086"/>
              <a:gd name="connsiteY7" fmla="*/ 320032 h 1920155"/>
              <a:gd name="connsiteX8" fmla="*/ 320032 w 2954086"/>
              <a:gd name="connsiteY8" fmla="*/ 0 h 1920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54086" h="1920155">
                <a:moveTo>
                  <a:pt x="320032" y="0"/>
                </a:moveTo>
                <a:lnTo>
                  <a:pt x="2634054" y="0"/>
                </a:lnTo>
                <a:cubicBezTo>
                  <a:pt x="2810803" y="0"/>
                  <a:pt x="2954086" y="143283"/>
                  <a:pt x="2954086" y="320032"/>
                </a:cubicBezTo>
                <a:lnTo>
                  <a:pt x="2954086" y="1920155"/>
                </a:lnTo>
                <a:lnTo>
                  <a:pt x="2954086" y="1920155"/>
                </a:lnTo>
                <a:lnTo>
                  <a:pt x="0" y="1920155"/>
                </a:lnTo>
                <a:lnTo>
                  <a:pt x="0" y="1920155"/>
                </a:lnTo>
                <a:lnTo>
                  <a:pt x="0" y="320032"/>
                </a:lnTo>
                <a:cubicBezTo>
                  <a:pt x="0" y="143283"/>
                  <a:pt x="143283" y="0"/>
                  <a:pt x="320032" y="0"/>
                </a:cubicBezTo>
                <a:close/>
              </a:path>
            </a:pathLst>
          </a:cu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rgbClr r="0" g="0" b="0"/>
          </a:lnRef>
          <a:fillRef idx="1">
            <a:scrgbClr r="0" g="0" b="0"/>
          </a:fillRef>
          <a:effectRef idx="0">
            <a:scrgbClr r="0" g="0" b="0"/>
          </a:effectRef>
          <a:fontRef idx="minor">
            <a:schemeClr val="lt1"/>
          </a:fontRef>
        </p:style>
        <p:txBody>
          <a:bodyPr spcFirstLastPara="0" vert="horz" wrap="square" lIns="177553" tIns="121674" rIns="177554" bIns="27939" numCol="1" spcCol="1270" anchor="ctr" anchorCtr="0">
            <a:noAutofit/>
          </a:bodyPr>
          <a:lstStyle/>
          <a:p>
            <a:pPr lvl="0" algn="ctr" defTabSz="977900">
              <a:lnSpc>
                <a:spcPct val="90000"/>
              </a:lnSpc>
              <a:spcBef>
                <a:spcPct val="0"/>
              </a:spcBef>
              <a:spcAft>
                <a:spcPct val="35000"/>
              </a:spcAft>
            </a:pPr>
            <a:r>
              <a:rPr lang="en-US" altLang="en-US" sz="2200" kern="1200" dirty="0">
                <a:solidFill>
                  <a:schemeClr val="bg1"/>
                </a:solidFill>
                <a:latin typeface="Calibri" panose="020F0502020204030204" pitchFamily="34" charset="0"/>
              </a:rPr>
              <a:t>The player loses if his/her card value is over 21.</a:t>
            </a:r>
            <a:endParaRPr lang="en-GB" sz="2200" kern="1200" dirty="0">
              <a:solidFill>
                <a:schemeClr val="bg1"/>
              </a:solidFill>
              <a:latin typeface="Calibri" panose="020F0502020204030204" pitchFamily="34" charset="0"/>
            </a:endParaRPr>
          </a:p>
        </p:txBody>
      </p:sp>
    </p:spTree>
    <p:custDataLst>
      <p:tags r:id="rId1"/>
    </p:custDataLst>
    <p:extLst>
      <p:ext uri="{BB962C8B-B14F-4D97-AF65-F5344CB8AC3E}">
        <p14:creationId xmlns:p14="http://schemas.microsoft.com/office/powerpoint/2010/main" val="3358654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dirty="0"/>
              <a:t>Dealer’s Role</a:t>
            </a:r>
          </a:p>
        </p:txBody>
      </p:sp>
      <p:sp>
        <p:nvSpPr>
          <p:cNvPr id="9219" name="Rectangle 3"/>
          <p:cNvSpPr>
            <a:spLocks noGrp="1" noChangeArrowheads="1"/>
          </p:cNvSpPr>
          <p:nvPr>
            <p:ph idx="1"/>
          </p:nvPr>
        </p:nvSpPr>
        <p:spPr>
          <a:xfrm>
            <a:off x="1053852" y="968829"/>
            <a:ext cx="6552728" cy="5632713"/>
          </a:xfrm>
        </p:spPr>
        <p:txBody>
          <a:bodyPr/>
          <a:lstStyle/>
          <a:p>
            <a:pPr eaLnBrk="1" hangingPunct="1"/>
            <a:r>
              <a:rPr lang="en-US" altLang="en-US" dirty="0"/>
              <a:t>The player plays against the dealer.</a:t>
            </a:r>
          </a:p>
          <a:p>
            <a:pPr eaLnBrk="1" hangingPunct="1"/>
            <a:r>
              <a:rPr lang="en-US" altLang="en-US" dirty="0"/>
              <a:t>The dealer:</a:t>
            </a:r>
          </a:p>
          <a:p>
            <a:pPr lvl="1">
              <a:buClr>
                <a:schemeClr val="tx1"/>
              </a:buClr>
              <a:buFont typeface="Arial" panose="020B0604020202020204" pitchFamily="34" charset="0"/>
              <a:buChar char="•"/>
            </a:pPr>
            <a:r>
              <a:rPr lang="en-US" altLang="en-US" dirty="0"/>
              <a:t>Deals with the cards. </a:t>
            </a:r>
          </a:p>
          <a:p>
            <a:pPr lvl="1">
              <a:buClr>
                <a:schemeClr val="tx1"/>
              </a:buClr>
              <a:buFont typeface="Arial" panose="020B0604020202020204" pitchFamily="34" charset="0"/>
              <a:buChar char="•"/>
            </a:pPr>
            <a:r>
              <a:rPr lang="en-US" altLang="en-US" dirty="0"/>
              <a:t>Presents a player with additional cards if requested. </a:t>
            </a:r>
          </a:p>
          <a:p>
            <a:pPr lvl="1">
              <a:buClr>
                <a:schemeClr val="tx1"/>
              </a:buClr>
              <a:buFont typeface="Arial" panose="020B0604020202020204" pitchFamily="34" charset="0"/>
              <a:buChar char="•"/>
            </a:pPr>
            <a:r>
              <a:rPr lang="en-US" altLang="en-US" dirty="0"/>
              <a:t>Shows all or part of a hand. </a:t>
            </a:r>
          </a:p>
          <a:p>
            <a:pPr lvl="1">
              <a:buClr>
                <a:schemeClr val="tx1"/>
              </a:buClr>
              <a:buFont typeface="Arial" panose="020B0604020202020204" pitchFamily="34" charset="0"/>
              <a:buChar char="•"/>
            </a:pPr>
            <a:r>
              <a:rPr lang="en-US" altLang="en-US" dirty="0"/>
              <a:t>Calculates the value of all or part of a hand.</a:t>
            </a:r>
          </a:p>
          <a:p>
            <a:pPr lvl="1">
              <a:buClr>
                <a:schemeClr val="tx1"/>
              </a:buClr>
              <a:buFont typeface="Arial" panose="020B0604020202020204" pitchFamily="34" charset="0"/>
              <a:buChar char="•"/>
            </a:pPr>
            <a:r>
              <a:rPr lang="en-US" altLang="en-US" dirty="0"/>
              <a:t>Calculates the number of cards in a hand. </a:t>
            </a:r>
          </a:p>
          <a:p>
            <a:pPr lvl="1">
              <a:buClr>
                <a:schemeClr val="tx1"/>
              </a:buClr>
              <a:buFont typeface="Arial" panose="020B0604020202020204" pitchFamily="34" charset="0"/>
              <a:buChar char="•"/>
            </a:pPr>
            <a:r>
              <a:rPr lang="en-US" altLang="en-US" dirty="0"/>
              <a:t>Determines a winner and start a new hand.</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8540" y="2024844"/>
            <a:ext cx="4210362" cy="2808312"/>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1057634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41884" y="1784539"/>
            <a:ext cx="9505056" cy="276309"/>
          </a:xfrm>
          <a:prstGeom prst="rect">
            <a:avLst/>
          </a:prstGeom>
          <a:solidFill>
            <a:srgbClr val="FFC0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p:cNvSpPr/>
          <p:nvPr/>
        </p:nvSpPr>
        <p:spPr>
          <a:xfrm>
            <a:off x="1341884" y="4797152"/>
            <a:ext cx="9505056" cy="276309"/>
          </a:xfrm>
          <a:prstGeom prst="rect">
            <a:avLst/>
          </a:prstGeom>
          <a:solidFill>
            <a:srgbClr val="FFC000"/>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242" name="Rectangle 2"/>
          <p:cNvSpPr>
            <a:spLocks noGrp="1" noChangeArrowheads="1"/>
          </p:cNvSpPr>
          <p:nvPr>
            <p:ph type="title"/>
          </p:nvPr>
        </p:nvSpPr>
        <p:spPr/>
        <p:txBody>
          <a:bodyPr/>
          <a:lstStyle/>
          <a:p>
            <a:pPr eaLnBrk="1" hangingPunct="1"/>
            <a:r>
              <a:rPr lang="en-US" altLang="en-US"/>
              <a:t>Card</a:t>
            </a:r>
          </a:p>
        </p:txBody>
      </p:sp>
      <p:sp>
        <p:nvSpPr>
          <p:cNvPr id="10243" name="Rectangle 3"/>
          <p:cNvSpPr>
            <a:spLocks noGrp="1" noChangeArrowheads="1"/>
          </p:cNvSpPr>
          <p:nvPr>
            <p:ph idx="1"/>
          </p:nvPr>
        </p:nvSpPr>
        <p:spPr>
          <a:xfrm>
            <a:off x="1053852" y="1931860"/>
            <a:ext cx="10081120" cy="2994281"/>
          </a:xfrm>
          <a:solidFill>
            <a:schemeClr val="bg1">
              <a:lumMod val="95000"/>
            </a:schemeClr>
          </a:solidFill>
          <a:effectLst>
            <a:outerShdw blurRad="63500" sx="102000" sy="102000" algn="ctr" rotWithShape="0">
              <a:prstClr val="black">
                <a:alpha val="40000"/>
              </a:prstClr>
            </a:outerShdw>
          </a:effectLst>
        </p:spPr>
        <p:txBody>
          <a:bodyPr>
            <a:normAutofit/>
          </a:bodyPr>
          <a:lstStyle/>
          <a:p>
            <a:pPr algn="ctr" eaLnBrk="1" hangingPunct="1"/>
            <a:endParaRPr lang="en-US" altLang="en-US" dirty="0"/>
          </a:p>
          <a:p>
            <a:pPr marL="0" indent="0" algn="ctr" eaLnBrk="1" hangingPunct="1">
              <a:buNone/>
            </a:pPr>
            <a:r>
              <a:rPr lang="en-US" altLang="en-US" dirty="0"/>
              <a:t>A card must know what its </a:t>
            </a:r>
            <a:r>
              <a:rPr lang="en-US" altLang="en-US" dirty="0">
                <a:solidFill>
                  <a:srgbClr val="C00000"/>
                </a:solidFill>
              </a:rPr>
              <a:t>face value </a:t>
            </a:r>
            <a:r>
              <a:rPr lang="en-US" altLang="en-US" dirty="0"/>
              <a:t>is, and be able to report the value. The </a:t>
            </a:r>
            <a:r>
              <a:rPr lang="en-US" altLang="en-US" dirty="0">
                <a:solidFill>
                  <a:srgbClr val="C00000"/>
                </a:solidFill>
              </a:rPr>
              <a:t>suit </a:t>
            </a:r>
            <a:r>
              <a:rPr lang="en-US" altLang="en-US" dirty="0"/>
              <a:t>of the card is of no importance. All cards must be a member of a </a:t>
            </a:r>
            <a:r>
              <a:rPr lang="en-US" altLang="en-US" dirty="0">
                <a:solidFill>
                  <a:srgbClr val="C00000"/>
                </a:solidFill>
              </a:rPr>
              <a:t>deck of cards</a:t>
            </a:r>
            <a:r>
              <a:rPr lang="en-US" altLang="en-US" dirty="0"/>
              <a:t>. There are </a:t>
            </a:r>
            <a:r>
              <a:rPr lang="en-US" altLang="en-US" dirty="0">
                <a:solidFill>
                  <a:srgbClr val="C00000"/>
                </a:solidFill>
              </a:rPr>
              <a:t>52 cards in a deck</a:t>
            </a:r>
            <a:r>
              <a:rPr lang="en-US" altLang="en-US" dirty="0"/>
              <a:t>. This deck must have the functionality to deal with the next card as well and report on how many cards are there in the deck.</a:t>
            </a:r>
          </a:p>
        </p:txBody>
      </p:sp>
    </p:spTree>
    <p:custDataLst>
      <p:tags r:id="rId1"/>
    </p:custDataLst>
    <p:extLst>
      <p:ext uri="{BB962C8B-B14F-4D97-AF65-F5344CB8AC3E}">
        <p14:creationId xmlns:p14="http://schemas.microsoft.com/office/powerpoint/2010/main" val="3676194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ltLang="en-US"/>
              <a:t>Player</a:t>
            </a:r>
          </a:p>
        </p:txBody>
      </p:sp>
      <p:sp>
        <p:nvSpPr>
          <p:cNvPr id="11267" name="Rectangle 3"/>
          <p:cNvSpPr>
            <a:spLocks noGrp="1" noChangeArrowheads="1"/>
          </p:cNvSpPr>
          <p:nvPr>
            <p:ph idx="1"/>
          </p:nvPr>
        </p:nvSpPr>
        <p:spPr>
          <a:xfrm>
            <a:off x="1053852" y="968829"/>
            <a:ext cx="10081120" cy="5632713"/>
          </a:xfrm>
        </p:spPr>
        <p:txBody>
          <a:bodyPr>
            <a:normAutofit/>
          </a:bodyPr>
          <a:lstStyle/>
          <a:p>
            <a:pPr eaLnBrk="1" hangingPunct="1"/>
            <a:r>
              <a:rPr lang="en-US" altLang="en-US" dirty="0"/>
              <a:t>During the game, a </a:t>
            </a:r>
            <a:r>
              <a:rPr lang="en-US" altLang="en-US" dirty="0">
                <a:solidFill>
                  <a:srgbClr val="C00000"/>
                </a:solidFill>
              </a:rPr>
              <a:t>player can request </a:t>
            </a:r>
            <a:r>
              <a:rPr lang="en-US" altLang="en-US" dirty="0"/>
              <a:t>that a card be dealt to his hand.</a:t>
            </a:r>
          </a:p>
          <a:p>
            <a:pPr eaLnBrk="1" hangingPunct="1"/>
            <a:r>
              <a:rPr lang="en-US" altLang="en-US" dirty="0"/>
              <a:t>The player must be able to </a:t>
            </a:r>
            <a:r>
              <a:rPr lang="en-US" altLang="en-US" dirty="0">
                <a:solidFill>
                  <a:srgbClr val="C00000"/>
                </a:solidFill>
              </a:rPr>
              <a:t>display the hand</a:t>
            </a:r>
            <a:r>
              <a:rPr lang="en-US" altLang="en-US" dirty="0"/>
              <a:t>, </a:t>
            </a:r>
            <a:r>
              <a:rPr lang="en-US" altLang="en-US" dirty="0">
                <a:solidFill>
                  <a:srgbClr val="FF0000"/>
                </a:solidFill>
              </a:rPr>
              <a:t>c</a:t>
            </a:r>
            <a:r>
              <a:rPr lang="en-US" altLang="en-US" dirty="0">
                <a:solidFill>
                  <a:srgbClr val="C00000"/>
                </a:solidFill>
              </a:rPr>
              <a:t>alculate the face value </a:t>
            </a:r>
            <a:r>
              <a:rPr lang="en-US" altLang="en-US" dirty="0"/>
              <a:t>of the hand, and determine the number of cards in the hand. </a:t>
            </a:r>
            <a:r>
              <a:rPr lang="en-US" altLang="en-US" dirty="0">
                <a:solidFill>
                  <a:srgbClr val="C00000"/>
                </a:solidFill>
              </a:rPr>
              <a:t>The player responds to the dealers request for a new card </a:t>
            </a:r>
            <a:r>
              <a:rPr lang="en-US" altLang="en-US" dirty="0"/>
              <a:t>or start a new game.</a:t>
            </a:r>
          </a:p>
        </p:txBody>
      </p:sp>
      <p:pic>
        <p:nvPicPr>
          <p:cNvPr id="46082"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191491" y="3645024"/>
            <a:ext cx="3886488" cy="2592288"/>
          </a:xfrm>
          <a:prstGeom prst="rect">
            <a:avLst/>
          </a:prstGeom>
          <a:ln>
            <a:noFill/>
          </a:ln>
          <a:effectLst>
            <a:softEdge rad="112500"/>
          </a:effectLst>
          <a:extLst>
            <a:ext uri="{909E8E84-426E-40dd-AFC4-6F175D3DCCD1}">
              <a14:hiddenFill xmlns="" xmlns:a14="http://schemas.microsoft.com/office/drawing/2010/main">
                <a:solidFill>
                  <a:srgbClr val="FFFFFF"/>
                </a:solidFill>
              </a14:hiddenFill>
            </a:ext>
          </a:extLst>
        </p:spPr>
      </p:pic>
      <p:sp>
        <p:nvSpPr>
          <p:cNvPr id="7" name="Right Arrow 6"/>
          <p:cNvSpPr/>
          <p:nvPr/>
        </p:nvSpPr>
        <p:spPr>
          <a:xfrm rot="10800000" flipH="1">
            <a:off x="3718148" y="5013200"/>
            <a:ext cx="360040" cy="216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p:cNvSpPr txBox="1"/>
          <p:nvPr/>
        </p:nvSpPr>
        <p:spPr>
          <a:xfrm>
            <a:off x="2903086" y="4936534"/>
            <a:ext cx="1271627" cy="369332"/>
          </a:xfrm>
          <a:prstGeom prst="rect">
            <a:avLst/>
          </a:prstGeom>
          <a:noFill/>
        </p:spPr>
        <p:txBody>
          <a:bodyPr wrap="square" rtlCol="0">
            <a:spAutoFit/>
          </a:bodyPr>
          <a:lstStyle/>
          <a:p>
            <a:r>
              <a:rPr lang="en-US" b="1" dirty="0">
                <a:latin typeface="Calibri" panose="020F0502020204030204" pitchFamily="34" charset="0"/>
              </a:rPr>
              <a:t>Players</a:t>
            </a:r>
            <a:endParaRPr lang="en-GB" b="1" dirty="0">
              <a:latin typeface="Calibri" panose="020F0502020204030204" pitchFamily="34" charset="0"/>
            </a:endParaRPr>
          </a:p>
        </p:txBody>
      </p:sp>
      <p:sp>
        <p:nvSpPr>
          <p:cNvPr id="9" name="TextBox 8"/>
          <p:cNvSpPr txBox="1"/>
          <p:nvPr/>
        </p:nvSpPr>
        <p:spPr>
          <a:xfrm>
            <a:off x="8543455" y="5378580"/>
            <a:ext cx="1271627" cy="369332"/>
          </a:xfrm>
          <a:prstGeom prst="rect">
            <a:avLst/>
          </a:prstGeom>
          <a:noFill/>
        </p:spPr>
        <p:txBody>
          <a:bodyPr wrap="square" rtlCol="0">
            <a:spAutoFit/>
          </a:bodyPr>
          <a:lstStyle/>
          <a:p>
            <a:r>
              <a:rPr lang="en-US" b="1" dirty="0">
                <a:latin typeface="Calibri" panose="020F0502020204030204" pitchFamily="34" charset="0"/>
              </a:rPr>
              <a:t>Dealer</a:t>
            </a:r>
            <a:endParaRPr lang="en-GB" b="1" dirty="0">
              <a:latin typeface="Calibri" panose="020F0502020204030204" pitchFamily="34" charset="0"/>
            </a:endParaRPr>
          </a:p>
        </p:txBody>
      </p:sp>
      <p:sp>
        <p:nvSpPr>
          <p:cNvPr id="10" name="Right Arrow 9"/>
          <p:cNvSpPr/>
          <p:nvPr/>
        </p:nvSpPr>
        <p:spPr>
          <a:xfrm rot="10800000">
            <a:off x="8135153" y="5455246"/>
            <a:ext cx="360040" cy="216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ustDataLst>
      <p:tags r:id="rId1"/>
    </p:custDataLst>
    <p:extLst>
      <p:ext uri="{BB962C8B-B14F-4D97-AF65-F5344CB8AC3E}">
        <p14:creationId xmlns:p14="http://schemas.microsoft.com/office/powerpoint/2010/main" val="2090634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nip Same Side Corner Rectangle 5"/>
          <p:cNvSpPr/>
          <p:nvPr/>
        </p:nvSpPr>
        <p:spPr>
          <a:xfrm flipV="1">
            <a:off x="2133972" y="2492896"/>
            <a:ext cx="7920880" cy="1368152"/>
          </a:xfrm>
          <a:prstGeom prst="snip2SameRect">
            <a:avLst/>
          </a:prstGeom>
          <a:solidFill>
            <a:schemeClr val="bg2">
              <a:lumMod val="25000"/>
            </a:schemeClr>
          </a:solidFill>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5" name="Snip Same Side Corner Rectangle 4"/>
          <p:cNvSpPr/>
          <p:nvPr/>
        </p:nvSpPr>
        <p:spPr>
          <a:xfrm flipV="1">
            <a:off x="1504412" y="2276872"/>
            <a:ext cx="9180000" cy="1368152"/>
          </a:xfrm>
          <a:prstGeom prst="snip2SameRect">
            <a:avLst/>
          </a:prstGeom>
          <a:solidFill>
            <a:schemeClr val="bg2">
              <a:lumMod val="25000"/>
            </a:schemeClr>
          </a:solidFill>
          <a:effectLst>
            <a:outerShdw blurRad="50800" dist="38100" dir="5400000" algn="t"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2290" name="Rectangle 2"/>
          <p:cNvSpPr>
            <a:spLocks noGrp="1" noChangeArrowheads="1"/>
          </p:cNvSpPr>
          <p:nvPr>
            <p:ph type="title"/>
          </p:nvPr>
        </p:nvSpPr>
        <p:spPr/>
        <p:txBody>
          <a:bodyPr/>
          <a:lstStyle/>
          <a:p>
            <a:pPr eaLnBrk="1" hangingPunct="1"/>
            <a:r>
              <a:rPr lang="en-US" altLang="en-US"/>
              <a:t>Card</a:t>
            </a:r>
          </a:p>
        </p:txBody>
      </p:sp>
      <p:sp>
        <p:nvSpPr>
          <p:cNvPr id="12291" name="Rectangle 3"/>
          <p:cNvSpPr>
            <a:spLocks noGrp="1" noChangeArrowheads="1"/>
          </p:cNvSpPr>
          <p:nvPr>
            <p:ph idx="1"/>
          </p:nvPr>
        </p:nvSpPr>
        <p:spPr>
          <a:xfrm>
            <a:off x="1054100" y="981075"/>
            <a:ext cx="10081120" cy="2532179"/>
          </a:xfrm>
          <a:prstGeom prst="roundRect">
            <a:avLst/>
          </a:prstGeom>
          <a:solidFill>
            <a:schemeClr val="accent4">
              <a:lumMod val="20000"/>
              <a:lumOff val="80000"/>
            </a:schemeClr>
          </a:solidFill>
          <a:effectLst>
            <a:outerShdw blurRad="63500" sx="102000" sy="102000" algn="ctr" rotWithShape="0">
              <a:prstClr val="black">
                <a:alpha val="40000"/>
              </a:prstClr>
            </a:outerShdw>
          </a:effectLst>
        </p:spPr>
        <p:txBody>
          <a:bodyPr>
            <a:normAutofit lnSpcReduction="10000"/>
          </a:bodyPr>
          <a:lstStyle/>
          <a:p>
            <a:pPr eaLnBrk="1" hangingPunct="1">
              <a:buClr>
                <a:schemeClr val="tx1"/>
              </a:buClr>
            </a:pPr>
            <a:r>
              <a:rPr lang="en-US" altLang="en-US" dirty="0"/>
              <a:t>Each card has its own </a:t>
            </a:r>
            <a:r>
              <a:rPr lang="en-US" altLang="en-US" dirty="0">
                <a:solidFill>
                  <a:srgbClr val="FF0000"/>
                </a:solidFill>
              </a:rPr>
              <a:t>face value</a:t>
            </a:r>
            <a:r>
              <a:rPr lang="en-US" altLang="en-US" dirty="0"/>
              <a:t>.</a:t>
            </a:r>
          </a:p>
          <a:p>
            <a:pPr eaLnBrk="1" hangingPunct="1">
              <a:buClr>
                <a:schemeClr val="tx1"/>
              </a:buClr>
            </a:pPr>
            <a:r>
              <a:rPr lang="en-US" altLang="en-US" dirty="0">
                <a:solidFill>
                  <a:srgbClr val="FF0000"/>
                </a:solidFill>
              </a:rPr>
              <a:t>Suits</a:t>
            </a:r>
            <a:r>
              <a:rPr lang="en-US" altLang="en-US" dirty="0"/>
              <a:t> are no factor in this game.</a:t>
            </a:r>
          </a:p>
          <a:p>
            <a:pPr eaLnBrk="1" hangingPunct="1">
              <a:buClr>
                <a:schemeClr val="tx1"/>
              </a:buClr>
            </a:pPr>
            <a:r>
              <a:rPr lang="en-US" altLang="en-US" dirty="0"/>
              <a:t>Aces count as 1 or 11.</a:t>
            </a:r>
          </a:p>
          <a:p>
            <a:pPr eaLnBrk="1" hangingPunct="1">
              <a:buClr>
                <a:schemeClr val="tx1"/>
              </a:buClr>
            </a:pPr>
            <a:r>
              <a:rPr lang="en-US" altLang="en-US" dirty="0"/>
              <a:t>Jack, Queen, King count as 10.</a:t>
            </a:r>
          </a:p>
          <a:p>
            <a:pPr eaLnBrk="1" hangingPunct="1">
              <a:buClr>
                <a:schemeClr val="tx1"/>
              </a:buClr>
            </a:pPr>
            <a:r>
              <a:rPr lang="en-US" altLang="en-US" dirty="0"/>
              <a:t>The rest of the cards represent their face value.</a:t>
            </a:r>
          </a:p>
        </p:txBody>
      </p:sp>
    </p:spTree>
    <p:custDataLst>
      <p:tags r:id="rId1"/>
    </p:custDataLst>
    <p:extLst>
      <p:ext uri="{BB962C8B-B14F-4D97-AF65-F5344CB8AC3E}">
        <p14:creationId xmlns:p14="http://schemas.microsoft.com/office/powerpoint/2010/main" val="292706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8" name="Picture 7"/>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141" b="6054"/>
          <a:stretch/>
        </p:blipFill>
        <p:spPr bwMode="auto">
          <a:xfrm>
            <a:off x="4457591" y="2995888"/>
            <a:ext cx="3273642" cy="33134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3314" name="Rectangle 2"/>
          <p:cNvSpPr>
            <a:spLocks noGrp="1" noChangeArrowheads="1"/>
          </p:cNvSpPr>
          <p:nvPr>
            <p:ph type="title"/>
          </p:nvPr>
        </p:nvSpPr>
        <p:spPr/>
        <p:txBody>
          <a:bodyPr/>
          <a:lstStyle/>
          <a:p>
            <a:pPr eaLnBrk="1" hangingPunct="1"/>
            <a:r>
              <a:rPr lang="en-US" altLang="en-US"/>
              <a:t>Rules</a:t>
            </a:r>
          </a:p>
        </p:txBody>
      </p:sp>
      <p:sp>
        <p:nvSpPr>
          <p:cNvPr id="13315" name="Rectangle 3"/>
          <p:cNvSpPr>
            <a:spLocks noGrp="1" noChangeArrowheads="1"/>
          </p:cNvSpPr>
          <p:nvPr>
            <p:ph idx="1"/>
          </p:nvPr>
        </p:nvSpPr>
        <p:spPr/>
        <p:txBody>
          <a:bodyPr>
            <a:normAutofit/>
          </a:bodyPr>
          <a:lstStyle/>
          <a:p>
            <a:pPr eaLnBrk="1" hangingPunct="1"/>
            <a:r>
              <a:rPr lang="en-US" altLang="en-US" dirty="0"/>
              <a:t>If the sum of the face value of the player’s card is closer to 21 than the sum of the face value of the dealer’s cards, the </a:t>
            </a:r>
            <a:r>
              <a:rPr lang="en-US" altLang="en-US" dirty="0">
                <a:solidFill>
                  <a:srgbClr val="C00000"/>
                </a:solidFill>
              </a:rPr>
              <a:t>player wins an amount equal to the bet that was made</a:t>
            </a:r>
            <a:r>
              <a:rPr lang="en-US" altLang="en-US" dirty="0"/>
              <a:t>. If the player wins with a blackjack,</a:t>
            </a:r>
            <a:r>
              <a:rPr lang="en-US" altLang="en-US" dirty="0">
                <a:solidFill>
                  <a:srgbClr val="FF3300"/>
                </a:solidFill>
              </a:rPr>
              <a:t> </a:t>
            </a:r>
            <a:r>
              <a:rPr lang="en-US" altLang="en-US" dirty="0">
                <a:solidFill>
                  <a:srgbClr val="C00000"/>
                </a:solidFill>
              </a:rPr>
              <a:t>the player wins 3:2 times the bet made</a:t>
            </a:r>
            <a:r>
              <a:rPr lang="en-US" altLang="en-US" dirty="0"/>
              <a:t>. Over 21 is not considered a win.</a:t>
            </a:r>
          </a:p>
        </p:txBody>
      </p:sp>
    </p:spTree>
    <p:custDataLst>
      <p:tags r:id="rId1"/>
    </p:custDataLst>
    <p:extLst>
      <p:ext uri="{BB962C8B-B14F-4D97-AF65-F5344CB8AC3E}">
        <p14:creationId xmlns:p14="http://schemas.microsoft.com/office/powerpoint/2010/main" val="261558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ltLang="en-US"/>
              <a:t>Draw	</a:t>
            </a:r>
          </a:p>
        </p:txBody>
      </p:sp>
      <p:sp>
        <p:nvSpPr>
          <p:cNvPr id="14339" name="Rectangle 3"/>
          <p:cNvSpPr>
            <a:spLocks noGrp="1" noChangeArrowheads="1"/>
          </p:cNvSpPr>
          <p:nvPr>
            <p:ph idx="1"/>
          </p:nvPr>
        </p:nvSpPr>
        <p:spPr>
          <a:xfrm>
            <a:off x="1053852" y="980728"/>
            <a:ext cx="10081120" cy="1872208"/>
          </a:xfrm>
          <a:solidFill>
            <a:schemeClr val="accent3">
              <a:lumMod val="20000"/>
              <a:lumOff val="80000"/>
            </a:schemeClr>
          </a:solidFill>
          <a:effectLst>
            <a:outerShdw blurRad="63500" sx="102000" sy="102000" algn="ctr" rotWithShape="0">
              <a:prstClr val="black">
                <a:alpha val="40000"/>
              </a:prstClr>
            </a:outerShdw>
          </a:effectLst>
        </p:spPr>
        <p:txBody>
          <a:bodyPr>
            <a:normAutofit/>
          </a:bodyPr>
          <a:lstStyle/>
          <a:p>
            <a:pPr eaLnBrk="1" hangingPunct="1"/>
            <a:endParaRPr lang="en-US" altLang="en-US" dirty="0"/>
          </a:p>
          <a:p>
            <a:pPr eaLnBrk="1" hangingPunct="1"/>
            <a:r>
              <a:rPr lang="en-US" altLang="en-US" dirty="0"/>
              <a:t>If the player and dealer have identical scores and </a:t>
            </a:r>
            <a:r>
              <a:rPr lang="en-US" altLang="en-US" dirty="0">
                <a:solidFill>
                  <a:srgbClr val="C00000"/>
                </a:solidFill>
              </a:rPr>
              <a:t>at least 17</a:t>
            </a:r>
            <a:r>
              <a:rPr lang="en-US" altLang="en-US" dirty="0"/>
              <a:t>, it is considered a draw and the player retains the bet.</a:t>
            </a:r>
          </a:p>
          <a:p>
            <a:pPr eaLnBrk="1" hangingPunct="1"/>
            <a:endParaRPr lang="en-US" altLang="en-US" dirty="0"/>
          </a:p>
        </p:txBody>
      </p:sp>
    </p:spTree>
    <p:custDataLst>
      <p:tags r:id="rId1"/>
    </p:custDataLst>
    <p:extLst>
      <p:ext uri="{BB962C8B-B14F-4D97-AF65-F5344CB8AC3E}">
        <p14:creationId xmlns:p14="http://schemas.microsoft.com/office/powerpoint/2010/main" val="738289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TW" sz="4000" b="1" dirty="0">
                <a:solidFill>
                  <a:schemeClr val="bg1"/>
                </a:solidFill>
                <a:ea typeface="PMingLiU" panose="02020500000000000000" pitchFamily="18" charset="-120"/>
                <a:cs typeface="Times New Roman" panose="02020603050405020304" pitchFamily="18" charset="0"/>
              </a:rPr>
              <a:t>Topic 2: Steps in Designing a Case Study</a:t>
            </a:r>
            <a:endParaRPr lang="en-GB" sz="4000" dirty="0">
              <a:solidFill>
                <a:schemeClr val="bg1"/>
              </a:solidFill>
            </a:endParaRPr>
          </a:p>
        </p:txBody>
      </p:sp>
    </p:spTree>
    <p:extLst>
      <p:ext uri="{BB962C8B-B14F-4D97-AF65-F5344CB8AC3E}">
        <p14:creationId xmlns:p14="http://schemas.microsoft.com/office/powerpoint/2010/main" val="1832250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ltLang="en-US" dirty="0"/>
              <a:t>Next Step</a:t>
            </a:r>
          </a:p>
        </p:txBody>
      </p:sp>
      <p:grpSp>
        <p:nvGrpSpPr>
          <p:cNvPr id="3" name="Group 2"/>
          <p:cNvGrpSpPr/>
          <p:nvPr/>
        </p:nvGrpSpPr>
        <p:grpSpPr>
          <a:xfrm>
            <a:off x="2584167" y="1844824"/>
            <a:ext cx="7020490" cy="2531689"/>
            <a:chOff x="2170266" y="1844824"/>
            <a:chExt cx="7020490" cy="2531689"/>
          </a:xfrm>
        </p:grpSpPr>
        <p:sp>
          <p:nvSpPr>
            <p:cNvPr id="4" name="Rectangle 3"/>
            <p:cNvSpPr txBox="1">
              <a:spLocks noChangeArrowheads="1"/>
            </p:cNvSpPr>
            <p:nvPr/>
          </p:nvSpPr>
          <p:spPr>
            <a:xfrm>
              <a:off x="5567049" y="1844825"/>
              <a:ext cx="3623707" cy="2520280"/>
            </a:xfrm>
            <a:prstGeom prst="snip1Rect">
              <a:avLst/>
            </a:prstGeom>
            <a:solidFill>
              <a:schemeClr val="accent3">
                <a:lumMod val="60000"/>
                <a:lumOff val="40000"/>
              </a:schemeClr>
            </a:solidFill>
            <a:effectLst>
              <a:outerShdw blurRad="63500" sx="102000" sy="102000" algn="ctr" rotWithShape="0">
                <a:prstClr val="black">
                  <a:alpha val="40000"/>
                </a:prstClr>
              </a:outerShdw>
            </a:effectLst>
          </p:spPr>
          <p:txBody>
            <a:bodyPr vert="horz" lIns="91440" tIns="45720" rIns="91440" bIns="45720" rtlCol="0" anchor="ctr">
              <a:normAutofit/>
            </a:bodyPr>
            <a:lstStyle>
              <a:lvl1pPr marL="360000" indent="-360000" algn="l" defTabSz="914400" rtl="0" eaLnBrk="1" latinLnBrk="0" hangingPunct="1">
                <a:lnSpc>
                  <a:spcPct val="100000"/>
                </a:lnSpc>
                <a:spcBef>
                  <a:spcPts val="0"/>
                </a:spcBef>
                <a:buSzPct val="100000"/>
                <a:buFont typeface="Arial" pitchFamily="34" charset="0"/>
                <a:buChar char="▪"/>
                <a:defRPr sz="2800" kern="1200">
                  <a:solidFill>
                    <a:schemeClr val="tx1"/>
                  </a:solidFill>
                  <a:latin typeface="Calibri" panose="020F0502020204030204" pitchFamily="34" charset="0"/>
                  <a:ea typeface="+mn-ea"/>
                  <a:cs typeface="+mn-cs"/>
                </a:defRPr>
              </a:lvl1pPr>
              <a:lvl2pPr marL="720000" indent="-360000" algn="l" defTabSz="914400" rtl="0" eaLnBrk="1" latinLnBrk="0" hangingPunct="1">
                <a:lnSpc>
                  <a:spcPct val="100000"/>
                </a:lnSpc>
                <a:spcBef>
                  <a:spcPts val="0"/>
                </a:spcBef>
                <a:buSzPct val="90000"/>
                <a:buFont typeface="Arial" pitchFamily="34" charset="0"/>
                <a:buChar char="–"/>
                <a:defRPr sz="2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28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28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28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baseline="0">
                  <a:solidFill>
                    <a:schemeClr val="tx1"/>
                  </a:solidFill>
                  <a:latin typeface="+mn-lt"/>
                  <a:ea typeface="+mn-ea"/>
                  <a:cs typeface="+mn-cs"/>
                </a:defRPr>
              </a:lvl9pPr>
            </a:lstStyle>
            <a:p>
              <a:r>
                <a:rPr lang="en-US" altLang="en-US" sz="2400" dirty="0"/>
                <a:t>Start identifying classes that will be used.</a:t>
              </a:r>
            </a:p>
          </p:txBody>
        </p:sp>
        <p:sp>
          <p:nvSpPr>
            <p:cNvPr id="5" name="Freeform 4"/>
            <p:cNvSpPr/>
            <p:nvPr/>
          </p:nvSpPr>
          <p:spPr>
            <a:xfrm>
              <a:off x="2170266" y="1844824"/>
              <a:ext cx="3387476" cy="2531689"/>
            </a:xfrm>
            <a:custGeom>
              <a:avLst/>
              <a:gdLst>
                <a:gd name="connsiteX0" fmla="*/ 0 w 2009420"/>
                <a:gd name="connsiteY0" fmla="*/ 0 h 3827833"/>
                <a:gd name="connsiteX1" fmla="*/ 1172162 w 2009420"/>
                <a:gd name="connsiteY1" fmla="*/ 0 h 3827833"/>
                <a:gd name="connsiteX2" fmla="*/ 1172162 w 2009420"/>
                <a:gd name="connsiteY2" fmla="*/ 0 h 3827833"/>
                <a:gd name="connsiteX3" fmla="*/ 1674517 w 2009420"/>
                <a:gd name="connsiteY3" fmla="*/ 0 h 3827833"/>
                <a:gd name="connsiteX4" fmla="*/ 2009420 w 2009420"/>
                <a:gd name="connsiteY4" fmla="*/ 0 h 3827833"/>
                <a:gd name="connsiteX5" fmla="*/ 2009420 w 2009420"/>
                <a:gd name="connsiteY5" fmla="*/ 2232903 h 3827833"/>
                <a:gd name="connsiteX6" fmla="*/ 2260598 w 2009420"/>
                <a:gd name="connsiteY6" fmla="*/ 2711254 h 3827833"/>
                <a:gd name="connsiteX7" fmla="*/ 2009420 w 2009420"/>
                <a:gd name="connsiteY7" fmla="*/ 3189861 h 3827833"/>
                <a:gd name="connsiteX8" fmla="*/ 2009420 w 2009420"/>
                <a:gd name="connsiteY8" fmla="*/ 3827833 h 3827833"/>
                <a:gd name="connsiteX9" fmla="*/ 1674517 w 2009420"/>
                <a:gd name="connsiteY9" fmla="*/ 3827833 h 3827833"/>
                <a:gd name="connsiteX10" fmla="*/ 1172162 w 2009420"/>
                <a:gd name="connsiteY10" fmla="*/ 3827833 h 3827833"/>
                <a:gd name="connsiteX11" fmla="*/ 1172162 w 2009420"/>
                <a:gd name="connsiteY11" fmla="*/ 3827833 h 3827833"/>
                <a:gd name="connsiteX12" fmla="*/ 0 w 2009420"/>
                <a:gd name="connsiteY12" fmla="*/ 3827833 h 3827833"/>
                <a:gd name="connsiteX13" fmla="*/ 0 w 2009420"/>
                <a:gd name="connsiteY13" fmla="*/ 3189861 h 3827833"/>
                <a:gd name="connsiteX14" fmla="*/ 0 w 2009420"/>
                <a:gd name="connsiteY14" fmla="*/ 2232903 h 3827833"/>
                <a:gd name="connsiteX15" fmla="*/ 0 w 2009420"/>
                <a:gd name="connsiteY15" fmla="*/ 2232903 h 3827833"/>
                <a:gd name="connsiteX16" fmla="*/ 0 w 2009420"/>
                <a:gd name="connsiteY16" fmla="*/ 0 h 3827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09420" h="3827833">
                  <a:moveTo>
                    <a:pt x="0" y="0"/>
                  </a:moveTo>
                  <a:lnTo>
                    <a:pt x="1172162" y="0"/>
                  </a:lnTo>
                  <a:lnTo>
                    <a:pt x="1172162" y="0"/>
                  </a:lnTo>
                  <a:lnTo>
                    <a:pt x="1674517" y="0"/>
                  </a:lnTo>
                  <a:lnTo>
                    <a:pt x="2009420" y="0"/>
                  </a:lnTo>
                  <a:lnTo>
                    <a:pt x="2009420" y="2232903"/>
                  </a:lnTo>
                  <a:lnTo>
                    <a:pt x="2260598" y="2711254"/>
                  </a:lnTo>
                  <a:lnTo>
                    <a:pt x="2009420" y="3189861"/>
                  </a:lnTo>
                  <a:lnTo>
                    <a:pt x="2009420" y="3827833"/>
                  </a:lnTo>
                  <a:lnTo>
                    <a:pt x="1674517" y="3827833"/>
                  </a:lnTo>
                  <a:lnTo>
                    <a:pt x="1172162" y="3827833"/>
                  </a:lnTo>
                  <a:lnTo>
                    <a:pt x="1172162" y="3827833"/>
                  </a:lnTo>
                  <a:lnTo>
                    <a:pt x="0" y="3827833"/>
                  </a:lnTo>
                  <a:lnTo>
                    <a:pt x="0" y="3189861"/>
                  </a:lnTo>
                  <a:lnTo>
                    <a:pt x="0" y="2232903"/>
                  </a:lnTo>
                  <a:lnTo>
                    <a:pt x="0" y="2232903"/>
                  </a:lnTo>
                  <a:lnTo>
                    <a:pt x="0" y="0"/>
                  </a:lnTo>
                  <a:close/>
                </a:path>
              </a:pathLst>
            </a:custGeom>
            <a:solidFill>
              <a:schemeClr val="accent5">
                <a:lumMod val="60000"/>
                <a:lumOff val="40000"/>
              </a:schemeClr>
            </a:solidFill>
            <a:effectLst>
              <a:outerShdw blurRad="63500" sx="102000" sy="102000" algn="ctr" rotWithShape="0">
                <a:prstClr val="black">
                  <a:alpha val="40000"/>
                </a:prstClr>
              </a:outerShdw>
            </a:effectLst>
          </p:spPr>
          <p:txBody>
            <a:bodyPr vert="horz" lIns="91440" tIns="45720" rIns="91440" bIns="45720" rtlCol="0" anchor="ctr">
              <a:normAutofit/>
            </a:bodyPr>
            <a:lstStyle/>
            <a:p>
              <a:pPr marL="360000" indent="-360000">
                <a:buSzPct val="100000"/>
                <a:buFont typeface="Arial" pitchFamily="34" charset="0"/>
                <a:buChar char="▪"/>
              </a:pPr>
              <a:r>
                <a:rPr lang="en-US" sz="2400" dirty="0">
                  <a:latin typeface="Calibri" panose="020F0502020204030204" pitchFamily="34" charset="0"/>
                </a:rPr>
                <a:t>Study the requirements again so that you understand them clearly.</a:t>
              </a:r>
            </a:p>
          </p:txBody>
        </p:sp>
      </p:grpSp>
    </p:spTree>
    <p:custDataLst>
      <p:tags r:id="rId1"/>
    </p:custDataLst>
    <p:extLst>
      <p:ext uri="{BB962C8B-B14F-4D97-AF65-F5344CB8AC3E}">
        <p14:creationId xmlns:p14="http://schemas.microsoft.com/office/powerpoint/2010/main" val="1389134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tLang="en-US" dirty="0"/>
              <a:t>Blackjack CRC </a:t>
            </a:r>
          </a:p>
        </p:txBody>
      </p:sp>
      <p:sp>
        <p:nvSpPr>
          <p:cNvPr id="17411" name="Rectangle 3"/>
          <p:cNvSpPr>
            <a:spLocks noGrp="1" noChangeArrowheads="1"/>
          </p:cNvSpPr>
          <p:nvPr>
            <p:ph idx="1"/>
          </p:nvPr>
        </p:nvSpPr>
        <p:spPr>
          <a:xfrm>
            <a:off x="1053852" y="980728"/>
            <a:ext cx="10081119" cy="2411003"/>
          </a:xfrm>
          <a:solidFill>
            <a:schemeClr val="accent4">
              <a:lumMod val="20000"/>
              <a:lumOff val="80000"/>
            </a:schemeClr>
          </a:solidFill>
          <a:effectLst>
            <a:outerShdw blurRad="63500" sx="102000" sy="102000" algn="ctr" rotWithShape="0">
              <a:prstClr val="black">
                <a:alpha val="40000"/>
              </a:prstClr>
            </a:outerShdw>
          </a:effectLst>
        </p:spPr>
        <p:txBody>
          <a:bodyPr anchor="ctr">
            <a:normAutofit/>
          </a:bodyPr>
          <a:lstStyle/>
          <a:p>
            <a:r>
              <a:rPr lang="en-US" sz="2400" dirty="0"/>
              <a:t>First of all, it’s important for you to know that the first time you start creating CRC cards, they will be changed.</a:t>
            </a:r>
          </a:p>
          <a:p>
            <a:pPr eaLnBrk="1" hangingPunct="1"/>
            <a:r>
              <a:rPr lang="en-US" altLang="en-US" sz="2400" dirty="0"/>
              <a:t>Why? Not all the classes you think you’ll need, will make it to the final cut.</a:t>
            </a:r>
          </a:p>
        </p:txBody>
      </p:sp>
    </p:spTree>
    <p:custDataLst>
      <p:tags r:id="rId1"/>
    </p:custDataLst>
    <p:extLst>
      <p:ext uri="{BB962C8B-B14F-4D97-AF65-F5344CB8AC3E}">
        <p14:creationId xmlns:p14="http://schemas.microsoft.com/office/powerpoint/2010/main" val="3837425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tLang="en-US" dirty="0"/>
              <a:t>Nouns</a:t>
            </a:r>
          </a:p>
        </p:txBody>
      </p:sp>
      <p:sp>
        <p:nvSpPr>
          <p:cNvPr id="18435" name="Rectangle 3"/>
          <p:cNvSpPr>
            <a:spLocks noGrp="1" noChangeArrowheads="1"/>
          </p:cNvSpPr>
          <p:nvPr>
            <p:ph idx="1"/>
          </p:nvPr>
        </p:nvSpPr>
        <p:spPr>
          <a:xfrm>
            <a:off x="1053852" y="968829"/>
            <a:ext cx="10081120" cy="1452059"/>
          </a:xfrm>
          <a:solidFill>
            <a:schemeClr val="accent6">
              <a:lumMod val="20000"/>
              <a:lumOff val="80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Make a list of all the nouns that you’ll be using to play blackjack.</a:t>
            </a:r>
          </a:p>
        </p:txBody>
      </p:sp>
    </p:spTree>
    <p:custDataLst>
      <p:tags r:id="rId1"/>
    </p:custDataLst>
    <p:extLst>
      <p:ext uri="{BB962C8B-B14F-4D97-AF65-F5344CB8AC3E}">
        <p14:creationId xmlns:p14="http://schemas.microsoft.com/office/powerpoint/2010/main" val="3658792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tLang="en-US"/>
              <a:t>Identify Nouns	</a:t>
            </a:r>
          </a:p>
        </p:txBody>
      </p:sp>
      <p:sp>
        <p:nvSpPr>
          <p:cNvPr id="19459" name="Rectangle 4"/>
          <p:cNvSpPr>
            <a:spLocks noGrp="1" noChangeArrowheads="1"/>
          </p:cNvSpPr>
          <p:nvPr>
            <p:ph idx="1"/>
          </p:nvPr>
        </p:nvSpPr>
        <p:spPr>
          <a:xfrm>
            <a:off x="1053852" y="975906"/>
            <a:ext cx="4896544" cy="4757350"/>
          </a:xfrm>
          <a:solidFill>
            <a:schemeClr val="bg1">
              <a:lumMod val="95000"/>
            </a:schemeClr>
          </a:solidFill>
          <a:effectLst>
            <a:outerShdw blurRad="50800" dist="38100" dir="10800000" algn="r" rotWithShape="0">
              <a:prstClr val="black">
                <a:alpha val="40000"/>
              </a:prstClr>
            </a:outerShdw>
          </a:effectLst>
        </p:spPr>
        <p:txBody>
          <a:bodyPr>
            <a:normAutofit lnSpcReduction="10000"/>
          </a:bodyPr>
          <a:lstStyle/>
          <a:p>
            <a:pPr eaLnBrk="1" hangingPunct="1"/>
            <a:r>
              <a:rPr lang="en-US" altLang="en-US" dirty="0"/>
              <a:t>Game</a:t>
            </a:r>
          </a:p>
          <a:p>
            <a:pPr eaLnBrk="1" hangingPunct="1"/>
            <a:r>
              <a:rPr lang="en-US" altLang="en-US" dirty="0"/>
              <a:t>Blackjack</a:t>
            </a:r>
          </a:p>
          <a:p>
            <a:pPr eaLnBrk="1" hangingPunct="1"/>
            <a:r>
              <a:rPr lang="en-US" altLang="en-US" dirty="0"/>
              <a:t>Dealer</a:t>
            </a:r>
          </a:p>
          <a:p>
            <a:pPr eaLnBrk="1" hangingPunct="1"/>
            <a:r>
              <a:rPr lang="en-US" altLang="en-US" dirty="0"/>
              <a:t>House</a:t>
            </a:r>
          </a:p>
          <a:p>
            <a:pPr eaLnBrk="1" hangingPunct="1"/>
            <a:r>
              <a:rPr lang="en-US" altLang="en-US" dirty="0"/>
              <a:t>Players</a:t>
            </a:r>
          </a:p>
          <a:p>
            <a:pPr eaLnBrk="1" hangingPunct="1"/>
            <a:r>
              <a:rPr lang="en-US" altLang="en-US" dirty="0"/>
              <a:t>Player</a:t>
            </a:r>
          </a:p>
          <a:p>
            <a:pPr eaLnBrk="1" hangingPunct="1"/>
            <a:r>
              <a:rPr lang="en-US" altLang="en-US" dirty="0"/>
              <a:t>Cards</a:t>
            </a:r>
          </a:p>
          <a:p>
            <a:pPr eaLnBrk="1" hangingPunct="1"/>
            <a:r>
              <a:rPr lang="en-US" altLang="en-US" dirty="0"/>
              <a:t>Card</a:t>
            </a:r>
          </a:p>
          <a:p>
            <a:pPr eaLnBrk="1" hangingPunct="1"/>
            <a:r>
              <a:rPr lang="en-US" altLang="en-US" dirty="0"/>
              <a:t>Deck</a:t>
            </a:r>
          </a:p>
          <a:p>
            <a:pPr eaLnBrk="1" hangingPunct="1"/>
            <a:r>
              <a:rPr lang="en-US" altLang="en-US" dirty="0"/>
              <a:t>Hand</a:t>
            </a:r>
          </a:p>
        </p:txBody>
      </p:sp>
      <p:sp>
        <p:nvSpPr>
          <p:cNvPr id="19460" name="Rectangle 5"/>
          <p:cNvSpPr>
            <a:spLocks noGrp="1" noChangeArrowheads="1"/>
          </p:cNvSpPr>
          <p:nvPr>
            <p:ph type="body" sz="half" idx="4294967295"/>
          </p:nvPr>
        </p:nvSpPr>
        <p:spPr>
          <a:xfrm>
            <a:off x="6217372" y="974951"/>
            <a:ext cx="4917600" cy="4758305"/>
          </a:xfrm>
          <a:solidFill>
            <a:schemeClr val="accent4">
              <a:lumMod val="20000"/>
              <a:lumOff val="80000"/>
            </a:schemeClr>
          </a:solidFill>
          <a:effectLst>
            <a:outerShdw blurRad="50800" dist="38100" dir="10800000" algn="r" rotWithShape="0">
              <a:prstClr val="black">
                <a:alpha val="40000"/>
              </a:prstClr>
            </a:outerShdw>
          </a:effectLst>
        </p:spPr>
        <p:txBody>
          <a:bodyPr>
            <a:noAutofit/>
          </a:bodyPr>
          <a:lstStyle/>
          <a:p>
            <a:pPr marL="360000" indent="-360000" eaLnBrk="1" hangingPunct="1">
              <a:lnSpc>
                <a:spcPct val="100000"/>
              </a:lnSpc>
              <a:spcBef>
                <a:spcPts val="0"/>
              </a:spcBef>
            </a:pPr>
            <a:r>
              <a:rPr lang="en-US" altLang="en-US" sz="2800" dirty="0"/>
              <a:t>Face value</a:t>
            </a:r>
          </a:p>
          <a:p>
            <a:pPr marL="360000" indent="-360000" eaLnBrk="1" hangingPunct="1">
              <a:lnSpc>
                <a:spcPct val="100000"/>
              </a:lnSpc>
              <a:spcBef>
                <a:spcPts val="0"/>
              </a:spcBef>
            </a:pPr>
            <a:r>
              <a:rPr lang="en-US" altLang="en-US" sz="2800" dirty="0"/>
              <a:t>Suit</a:t>
            </a:r>
          </a:p>
          <a:p>
            <a:pPr marL="360000" indent="-360000" eaLnBrk="1" hangingPunct="1">
              <a:lnSpc>
                <a:spcPct val="100000"/>
              </a:lnSpc>
              <a:spcBef>
                <a:spcPts val="0"/>
              </a:spcBef>
            </a:pPr>
            <a:r>
              <a:rPr lang="en-US" altLang="en-US" sz="2800" dirty="0"/>
              <a:t>Winner</a:t>
            </a:r>
          </a:p>
          <a:p>
            <a:pPr marL="360000" indent="-360000" eaLnBrk="1" hangingPunct="1">
              <a:lnSpc>
                <a:spcPct val="100000"/>
              </a:lnSpc>
              <a:spcBef>
                <a:spcPts val="0"/>
              </a:spcBef>
            </a:pPr>
            <a:r>
              <a:rPr lang="en-US" altLang="en-US" sz="2800" dirty="0"/>
              <a:t>Ace</a:t>
            </a:r>
          </a:p>
          <a:p>
            <a:pPr marL="360000" indent="-360000" eaLnBrk="1" hangingPunct="1">
              <a:lnSpc>
                <a:spcPct val="100000"/>
              </a:lnSpc>
              <a:spcBef>
                <a:spcPts val="0"/>
              </a:spcBef>
            </a:pPr>
            <a:r>
              <a:rPr lang="en-US" altLang="en-US" sz="2800" dirty="0"/>
              <a:t>Face card</a:t>
            </a:r>
          </a:p>
          <a:p>
            <a:pPr marL="360000" indent="-360000" eaLnBrk="1" hangingPunct="1">
              <a:lnSpc>
                <a:spcPct val="100000"/>
              </a:lnSpc>
              <a:spcBef>
                <a:spcPts val="0"/>
              </a:spcBef>
            </a:pPr>
            <a:r>
              <a:rPr lang="en-US" altLang="en-US" sz="2800" dirty="0"/>
              <a:t>King</a:t>
            </a:r>
          </a:p>
          <a:p>
            <a:pPr marL="360000" indent="-360000" eaLnBrk="1" hangingPunct="1">
              <a:lnSpc>
                <a:spcPct val="100000"/>
              </a:lnSpc>
              <a:spcBef>
                <a:spcPts val="0"/>
              </a:spcBef>
            </a:pPr>
            <a:r>
              <a:rPr lang="en-US" altLang="en-US" sz="2800" dirty="0"/>
              <a:t>Queen</a:t>
            </a:r>
          </a:p>
          <a:p>
            <a:pPr marL="360000" indent="-360000" eaLnBrk="1" hangingPunct="1">
              <a:lnSpc>
                <a:spcPct val="100000"/>
              </a:lnSpc>
              <a:spcBef>
                <a:spcPts val="0"/>
              </a:spcBef>
            </a:pPr>
            <a:r>
              <a:rPr lang="en-US" altLang="en-US" sz="2800" dirty="0"/>
              <a:t>Jack</a:t>
            </a:r>
          </a:p>
          <a:p>
            <a:pPr marL="360000" indent="-360000" eaLnBrk="1" hangingPunct="1">
              <a:lnSpc>
                <a:spcPct val="100000"/>
              </a:lnSpc>
              <a:spcBef>
                <a:spcPts val="0"/>
              </a:spcBef>
            </a:pPr>
            <a:r>
              <a:rPr lang="en-US" altLang="en-US" sz="2800" dirty="0"/>
              <a:t>Game</a:t>
            </a:r>
          </a:p>
          <a:p>
            <a:pPr marL="360000" indent="-360000" eaLnBrk="1" hangingPunct="1">
              <a:lnSpc>
                <a:spcPct val="100000"/>
              </a:lnSpc>
              <a:spcBef>
                <a:spcPts val="0"/>
              </a:spcBef>
            </a:pPr>
            <a:r>
              <a:rPr lang="en-US" altLang="en-US" sz="2800" dirty="0"/>
              <a:t>Bet</a:t>
            </a:r>
          </a:p>
        </p:txBody>
      </p:sp>
    </p:spTree>
    <p:custDataLst>
      <p:tags r:id="rId1"/>
    </p:custDataLst>
    <p:extLst>
      <p:ext uri="{BB962C8B-B14F-4D97-AF65-F5344CB8AC3E}">
        <p14:creationId xmlns:p14="http://schemas.microsoft.com/office/powerpoint/2010/main" val="2404486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tLang="en-US" dirty="0"/>
              <a:t>Process Of </a:t>
            </a:r>
            <a:r>
              <a:rPr lang="en-US" altLang="en-US" dirty="0">
                <a:solidFill>
                  <a:srgbClr val="FFFF00"/>
                </a:solidFill>
              </a:rPr>
              <a:t>Elimination</a:t>
            </a:r>
            <a:r>
              <a:rPr lang="en-US" altLang="en-US" dirty="0"/>
              <a:t>	</a:t>
            </a:r>
          </a:p>
        </p:txBody>
      </p:sp>
      <p:sp>
        <p:nvSpPr>
          <p:cNvPr id="20483" name="Rectangle 3"/>
          <p:cNvSpPr>
            <a:spLocks noGrp="1" noChangeArrowheads="1"/>
          </p:cNvSpPr>
          <p:nvPr>
            <p:ph idx="1"/>
          </p:nvPr>
        </p:nvSpPr>
        <p:spPr>
          <a:xfrm>
            <a:off x="1053852" y="968829"/>
            <a:ext cx="10081120" cy="2388163"/>
          </a:xfrm>
          <a:solidFill>
            <a:schemeClr val="bg1"/>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Now take a second look at the list and think about the nouns, like they are </a:t>
            </a:r>
            <a:r>
              <a:rPr lang="en-US" altLang="en-US" dirty="0">
                <a:solidFill>
                  <a:srgbClr val="C00000"/>
                </a:solidFill>
              </a:rPr>
              <a:t>classes</a:t>
            </a:r>
            <a:r>
              <a:rPr lang="en-US" altLang="en-US" dirty="0"/>
              <a:t>,</a:t>
            </a:r>
            <a:r>
              <a:rPr lang="en-US" altLang="en-US" dirty="0">
                <a:solidFill>
                  <a:srgbClr val="FF0000"/>
                </a:solidFill>
              </a:rPr>
              <a:t> </a:t>
            </a:r>
            <a:r>
              <a:rPr lang="en-US" altLang="en-US" dirty="0"/>
              <a:t>and start to </a:t>
            </a:r>
            <a:r>
              <a:rPr lang="en-US" altLang="en-US" dirty="0">
                <a:solidFill>
                  <a:srgbClr val="C00000"/>
                </a:solidFill>
              </a:rPr>
              <a:t>eliminate</a:t>
            </a:r>
            <a:r>
              <a:rPr lang="en-US" altLang="en-US" dirty="0"/>
              <a:t> some that are </a:t>
            </a:r>
            <a:r>
              <a:rPr lang="en-US" altLang="en-US" dirty="0">
                <a:solidFill>
                  <a:srgbClr val="C00000"/>
                </a:solidFill>
              </a:rPr>
              <a:t>not needed</a:t>
            </a:r>
            <a:r>
              <a:rPr lang="en-US" altLang="en-US" dirty="0"/>
              <a:t>.</a:t>
            </a:r>
          </a:p>
          <a:p>
            <a:pPr eaLnBrk="1" hangingPunct="1"/>
            <a:r>
              <a:rPr lang="en-US" altLang="en-US" dirty="0"/>
              <a:t>Also, think about something you might have forgotten.</a:t>
            </a:r>
          </a:p>
        </p:txBody>
      </p:sp>
    </p:spTree>
    <p:custDataLst>
      <p:tags r:id="rId1"/>
    </p:custDataLst>
    <p:extLst>
      <p:ext uri="{BB962C8B-B14F-4D97-AF65-F5344CB8AC3E}">
        <p14:creationId xmlns:p14="http://schemas.microsoft.com/office/powerpoint/2010/main" val="1437385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4"/>
          <p:cNvSpPr>
            <a:spLocks noGrp="1" noChangeArrowheads="1"/>
          </p:cNvSpPr>
          <p:nvPr>
            <p:ph idx="1"/>
          </p:nvPr>
        </p:nvSpPr>
        <p:spPr>
          <a:xfrm>
            <a:off x="1053852" y="975906"/>
            <a:ext cx="4896544" cy="4757350"/>
          </a:xfrm>
          <a:solidFill>
            <a:schemeClr val="bg1">
              <a:lumMod val="95000"/>
            </a:schemeClr>
          </a:solidFill>
          <a:effectLst>
            <a:outerShdw blurRad="50800" dist="38100" dir="10800000" algn="r" rotWithShape="0">
              <a:prstClr val="black">
                <a:alpha val="40000"/>
              </a:prstClr>
            </a:outerShdw>
          </a:effectLst>
        </p:spPr>
        <p:txBody>
          <a:bodyPr>
            <a:normAutofit lnSpcReduction="10000"/>
          </a:bodyPr>
          <a:lstStyle/>
          <a:p>
            <a:pPr eaLnBrk="1" hangingPunct="1"/>
            <a:r>
              <a:rPr lang="en-US" altLang="en-US" dirty="0"/>
              <a:t>Game</a:t>
            </a:r>
          </a:p>
          <a:p>
            <a:pPr eaLnBrk="1" hangingPunct="1"/>
            <a:r>
              <a:rPr lang="en-US" altLang="en-US" dirty="0"/>
              <a:t>Blackjack</a:t>
            </a:r>
          </a:p>
          <a:p>
            <a:pPr eaLnBrk="1" hangingPunct="1"/>
            <a:r>
              <a:rPr lang="en-US" altLang="en-US" dirty="0"/>
              <a:t>Dealer</a:t>
            </a:r>
          </a:p>
          <a:p>
            <a:pPr eaLnBrk="1" hangingPunct="1"/>
            <a:r>
              <a:rPr lang="en-US" altLang="en-US" dirty="0"/>
              <a:t>House</a:t>
            </a:r>
          </a:p>
          <a:p>
            <a:pPr eaLnBrk="1" hangingPunct="1"/>
            <a:r>
              <a:rPr lang="en-US" altLang="en-US" dirty="0"/>
              <a:t>Players</a:t>
            </a:r>
          </a:p>
          <a:p>
            <a:pPr eaLnBrk="1" hangingPunct="1"/>
            <a:r>
              <a:rPr lang="en-US" altLang="en-US" dirty="0"/>
              <a:t>Player</a:t>
            </a:r>
          </a:p>
          <a:p>
            <a:pPr eaLnBrk="1" hangingPunct="1"/>
            <a:r>
              <a:rPr lang="en-US" altLang="en-US" dirty="0"/>
              <a:t>Cards</a:t>
            </a:r>
          </a:p>
          <a:p>
            <a:pPr eaLnBrk="1" hangingPunct="1"/>
            <a:r>
              <a:rPr lang="en-US" altLang="en-US" dirty="0"/>
              <a:t>Card</a:t>
            </a:r>
          </a:p>
          <a:p>
            <a:pPr eaLnBrk="1" hangingPunct="1"/>
            <a:r>
              <a:rPr lang="en-US" altLang="en-US" dirty="0"/>
              <a:t>Deck</a:t>
            </a:r>
          </a:p>
          <a:p>
            <a:pPr eaLnBrk="1" hangingPunct="1"/>
            <a:r>
              <a:rPr lang="en-US" altLang="en-US" dirty="0"/>
              <a:t>Hand</a:t>
            </a:r>
          </a:p>
        </p:txBody>
      </p:sp>
      <p:sp>
        <p:nvSpPr>
          <p:cNvPr id="24" name="Rectangle 5"/>
          <p:cNvSpPr txBox="1">
            <a:spLocks noChangeArrowheads="1"/>
          </p:cNvSpPr>
          <p:nvPr/>
        </p:nvSpPr>
        <p:spPr>
          <a:xfrm>
            <a:off x="6094412" y="974951"/>
            <a:ext cx="4917600" cy="4758305"/>
          </a:xfrm>
          <a:prstGeom prst="rect">
            <a:avLst/>
          </a:prstGeom>
          <a:solidFill>
            <a:schemeClr val="accent4">
              <a:lumMod val="20000"/>
              <a:lumOff val="80000"/>
            </a:schemeClr>
          </a:solidFill>
          <a:effectLst>
            <a:outerShdw blurRad="50800" dist="38100" dir="10800000" algn="r" rotWithShape="0">
              <a:prstClr val="black">
                <a:alpha val="40000"/>
              </a:prstClr>
            </a:outerShdw>
          </a:effectLst>
        </p:spPr>
        <p:txBody>
          <a:bodyPr vert="horz" lIns="91440" tIns="45720" rIns="91440" bIns="45720" rtlCol="0">
            <a:noAutofit/>
          </a:bodyPr>
          <a:lstStyle>
            <a:lvl1pPr marL="228600" indent="-228600" algn="l" defTabSz="914400" rtl="0" eaLnBrk="1" latinLnBrk="0" hangingPunct="1">
              <a:lnSpc>
                <a:spcPct val="90000"/>
              </a:lnSpc>
              <a:spcBef>
                <a:spcPts val="1800"/>
              </a:spcBef>
              <a:buSzPct val="100000"/>
              <a:buFont typeface="Arial" pitchFamily="34" charset="0"/>
              <a:buChar char="▪"/>
              <a:defRPr sz="2000" kern="1200">
                <a:solidFill>
                  <a:schemeClr val="tx1"/>
                </a:solidFill>
                <a:latin typeface="Calibri" panose="020F0502020204030204" pitchFamily="34" charset="0"/>
                <a:ea typeface="+mn-ea"/>
                <a:cs typeface="+mn-cs"/>
              </a:defRPr>
            </a:lvl1pPr>
            <a:lvl2pPr marL="502920" indent="-223838" algn="l" defTabSz="914400" rtl="0" eaLnBrk="1" latinLnBrk="0" hangingPunct="1">
              <a:lnSpc>
                <a:spcPct val="90000"/>
              </a:lnSpc>
              <a:spcBef>
                <a:spcPts val="1000"/>
              </a:spcBef>
              <a:buSzPct val="90000"/>
              <a:buFont typeface="Arial" pitchFamily="34" charset="0"/>
              <a:buChar char="–"/>
              <a:defRPr sz="1800" kern="1200">
                <a:solidFill>
                  <a:schemeClr val="tx1"/>
                </a:solidFill>
                <a:latin typeface="Calibri" panose="020F0502020204030204" pitchFamily="34" charset="0"/>
                <a:ea typeface="+mn-ea"/>
                <a:cs typeface="+mn-cs"/>
              </a:defRPr>
            </a:lvl2pPr>
            <a:lvl3pPr marL="685800" indent="-182880" algn="l" defTabSz="914400" rtl="0" eaLnBrk="1" latinLnBrk="0" hangingPunct="1">
              <a:lnSpc>
                <a:spcPct val="90000"/>
              </a:lnSpc>
              <a:spcBef>
                <a:spcPts val="800"/>
              </a:spcBef>
              <a:buSzPct val="100000"/>
              <a:buFont typeface="Arial" pitchFamily="34" charset="0"/>
              <a:buChar char="▪"/>
              <a:defRPr sz="1600" kern="1200">
                <a:solidFill>
                  <a:schemeClr val="tx1"/>
                </a:solidFill>
                <a:latin typeface="Calibri" panose="020F0502020204030204" pitchFamily="34" charset="0"/>
                <a:ea typeface="+mn-ea"/>
                <a:cs typeface="+mn-cs"/>
              </a:defRPr>
            </a:lvl3pPr>
            <a:lvl4pPr marL="86868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Calibri" panose="020F0502020204030204" pitchFamily="34" charset="0"/>
                <a:ea typeface="+mn-ea"/>
                <a:cs typeface="+mn-cs"/>
              </a:defRPr>
            </a:lvl4pPr>
            <a:lvl5pPr marL="105156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Calibri" panose="020F0502020204030204" pitchFamily="34" charset="0"/>
                <a:ea typeface="+mn-ea"/>
                <a:cs typeface="+mn-cs"/>
              </a:defRPr>
            </a:lvl5pPr>
            <a:lvl6pPr marL="123444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6pPr>
            <a:lvl7pPr marL="141732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7pPr>
            <a:lvl8pPr marL="1600200" indent="-182880" algn="l" defTabSz="914400" rtl="0" eaLnBrk="1" latinLnBrk="0" hangingPunct="1">
              <a:lnSpc>
                <a:spcPct val="90000"/>
              </a:lnSpc>
              <a:spcBef>
                <a:spcPts val="600"/>
              </a:spcBef>
              <a:buSzPct val="90000"/>
              <a:buFont typeface="Arial" pitchFamily="34" charset="0"/>
              <a:buChar char="–"/>
              <a:defRPr sz="1400" kern="1200">
                <a:solidFill>
                  <a:schemeClr val="tx1"/>
                </a:solidFill>
                <a:latin typeface="+mn-lt"/>
                <a:ea typeface="+mn-ea"/>
                <a:cs typeface="+mn-cs"/>
              </a:defRPr>
            </a:lvl8pPr>
            <a:lvl9pPr marL="1783080" indent="-182880" algn="l" defTabSz="914400" rtl="0" eaLnBrk="1" latinLnBrk="0" hangingPunct="1">
              <a:lnSpc>
                <a:spcPct val="90000"/>
              </a:lnSpc>
              <a:spcBef>
                <a:spcPts val="600"/>
              </a:spcBef>
              <a:buSzPct val="100000"/>
              <a:buFont typeface="Arial" pitchFamily="34" charset="0"/>
              <a:buChar char="▪"/>
              <a:defRPr sz="1400" kern="1200">
                <a:solidFill>
                  <a:schemeClr val="tx1"/>
                </a:solidFill>
                <a:latin typeface="+mn-lt"/>
                <a:ea typeface="+mn-ea"/>
                <a:cs typeface="+mn-cs"/>
              </a:defRPr>
            </a:lvl9pPr>
          </a:lstStyle>
          <a:p>
            <a:pPr marL="360000" indent="-360000">
              <a:lnSpc>
                <a:spcPct val="100000"/>
              </a:lnSpc>
              <a:spcBef>
                <a:spcPts val="0"/>
              </a:spcBef>
            </a:pPr>
            <a:r>
              <a:rPr lang="en-US" altLang="en-US" sz="2800"/>
              <a:t>Face value</a:t>
            </a:r>
          </a:p>
          <a:p>
            <a:pPr marL="360000" indent="-360000">
              <a:lnSpc>
                <a:spcPct val="100000"/>
              </a:lnSpc>
              <a:spcBef>
                <a:spcPts val="0"/>
              </a:spcBef>
            </a:pPr>
            <a:r>
              <a:rPr lang="en-US" altLang="en-US" sz="2800"/>
              <a:t>Suit</a:t>
            </a:r>
          </a:p>
          <a:p>
            <a:pPr marL="360000" indent="-360000">
              <a:lnSpc>
                <a:spcPct val="100000"/>
              </a:lnSpc>
              <a:spcBef>
                <a:spcPts val="0"/>
              </a:spcBef>
            </a:pPr>
            <a:r>
              <a:rPr lang="en-US" altLang="en-US" sz="2800"/>
              <a:t>Winner</a:t>
            </a:r>
          </a:p>
          <a:p>
            <a:pPr marL="360000" indent="-360000">
              <a:lnSpc>
                <a:spcPct val="100000"/>
              </a:lnSpc>
              <a:spcBef>
                <a:spcPts val="0"/>
              </a:spcBef>
            </a:pPr>
            <a:r>
              <a:rPr lang="en-US" altLang="en-US" sz="2800"/>
              <a:t>Ace</a:t>
            </a:r>
          </a:p>
          <a:p>
            <a:pPr marL="360000" indent="-360000">
              <a:lnSpc>
                <a:spcPct val="100000"/>
              </a:lnSpc>
              <a:spcBef>
                <a:spcPts val="0"/>
              </a:spcBef>
            </a:pPr>
            <a:r>
              <a:rPr lang="en-US" altLang="en-US" sz="2800"/>
              <a:t>Face card</a:t>
            </a:r>
          </a:p>
          <a:p>
            <a:pPr marL="360000" indent="-360000">
              <a:lnSpc>
                <a:spcPct val="100000"/>
              </a:lnSpc>
              <a:spcBef>
                <a:spcPts val="0"/>
              </a:spcBef>
            </a:pPr>
            <a:r>
              <a:rPr lang="en-US" altLang="en-US" sz="2800"/>
              <a:t>King</a:t>
            </a:r>
          </a:p>
          <a:p>
            <a:pPr marL="360000" indent="-360000">
              <a:lnSpc>
                <a:spcPct val="100000"/>
              </a:lnSpc>
              <a:spcBef>
                <a:spcPts val="0"/>
              </a:spcBef>
            </a:pPr>
            <a:r>
              <a:rPr lang="en-US" altLang="en-US" sz="2800"/>
              <a:t>Queen</a:t>
            </a:r>
          </a:p>
          <a:p>
            <a:pPr marL="360000" indent="-360000">
              <a:lnSpc>
                <a:spcPct val="100000"/>
              </a:lnSpc>
              <a:spcBef>
                <a:spcPts val="0"/>
              </a:spcBef>
            </a:pPr>
            <a:r>
              <a:rPr lang="en-US" altLang="en-US" sz="2800"/>
              <a:t>Jack</a:t>
            </a:r>
          </a:p>
          <a:p>
            <a:pPr marL="360000" indent="-360000">
              <a:lnSpc>
                <a:spcPct val="100000"/>
              </a:lnSpc>
              <a:spcBef>
                <a:spcPts val="0"/>
              </a:spcBef>
            </a:pPr>
            <a:r>
              <a:rPr lang="en-US" altLang="en-US" sz="2800"/>
              <a:t>Game</a:t>
            </a:r>
          </a:p>
          <a:p>
            <a:pPr marL="360000" indent="-360000">
              <a:lnSpc>
                <a:spcPct val="100000"/>
              </a:lnSpc>
              <a:spcBef>
                <a:spcPts val="0"/>
              </a:spcBef>
            </a:pPr>
            <a:r>
              <a:rPr lang="en-US" altLang="en-US" sz="2800"/>
              <a:t>Bet</a:t>
            </a:r>
            <a:endParaRPr lang="en-US" altLang="en-US" sz="2800" dirty="0"/>
          </a:p>
        </p:txBody>
      </p:sp>
      <p:sp>
        <p:nvSpPr>
          <p:cNvPr id="21506" name="Rectangle 2"/>
          <p:cNvSpPr>
            <a:spLocks noGrp="1" noChangeArrowheads="1"/>
          </p:cNvSpPr>
          <p:nvPr>
            <p:ph type="title"/>
          </p:nvPr>
        </p:nvSpPr>
        <p:spPr/>
        <p:txBody>
          <a:bodyPr/>
          <a:lstStyle/>
          <a:p>
            <a:pPr eaLnBrk="1" hangingPunct="1"/>
            <a:r>
              <a:rPr lang="en-US" altLang="en-US"/>
              <a:t>Process Of Elimination		</a:t>
            </a:r>
          </a:p>
        </p:txBody>
      </p:sp>
      <p:sp>
        <p:nvSpPr>
          <p:cNvPr id="24581" name="Line 6"/>
          <p:cNvSpPr>
            <a:spLocks noChangeShapeType="1"/>
          </p:cNvSpPr>
          <p:nvPr/>
        </p:nvSpPr>
        <p:spPr bwMode="auto">
          <a:xfrm>
            <a:off x="1485900" y="1700808"/>
            <a:ext cx="12954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2" name="Line 7"/>
          <p:cNvSpPr>
            <a:spLocks noChangeShapeType="1"/>
          </p:cNvSpPr>
          <p:nvPr/>
        </p:nvSpPr>
        <p:spPr bwMode="auto">
          <a:xfrm>
            <a:off x="1485900" y="3392161"/>
            <a:ext cx="864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3" name="Line 8"/>
          <p:cNvSpPr>
            <a:spLocks noChangeShapeType="1"/>
          </p:cNvSpPr>
          <p:nvPr/>
        </p:nvSpPr>
        <p:spPr bwMode="auto">
          <a:xfrm>
            <a:off x="1485900" y="2529735"/>
            <a:ext cx="900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4" name="Line 9"/>
          <p:cNvSpPr>
            <a:spLocks noChangeShapeType="1"/>
          </p:cNvSpPr>
          <p:nvPr/>
        </p:nvSpPr>
        <p:spPr bwMode="auto">
          <a:xfrm>
            <a:off x="1485900" y="3837602"/>
            <a:ext cx="8382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5" name="Line 10"/>
          <p:cNvSpPr>
            <a:spLocks noChangeShapeType="1"/>
          </p:cNvSpPr>
          <p:nvPr/>
        </p:nvSpPr>
        <p:spPr bwMode="auto">
          <a:xfrm>
            <a:off x="6551612" y="1268760"/>
            <a:ext cx="1476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6" name="Line 11"/>
          <p:cNvSpPr>
            <a:spLocks noChangeShapeType="1"/>
          </p:cNvSpPr>
          <p:nvPr/>
        </p:nvSpPr>
        <p:spPr bwMode="auto">
          <a:xfrm>
            <a:off x="6551612" y="1677362"/>
            <a:ext cx="540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7" name="Line 12"/>
          <p:cNvSpPr>
            <a:spLocks noChangeShapeType="1"/>
          </p:cNvSpPr>
          <p:nvPr/>
        </p:nvSpPr>
        <p:spPr bwMode="auto">
          <a:xfrm>
            <a:off x="6551612" y="2529735"/>
            <a:ext cx="504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8" name="Line 13"/>
          <p:cNvSpPr>
            <a:spLocks noChangeShapeType="1"/>
          </p:cNvSpPr>
          <p:nvPr/>
        </p:nvSpPr>
        <p:spPr bwMode="auto">
          <a:xfrm>
            <a:off x="6525235" y="2948390"/>
            <a:ext cx="1368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89" name="Line 14"/>
          <p:cNvSpPr>
            <a:spLocks noChangeShapeType="1"/>
          </p:cNvSpPr>
          <p:nvPr/>
        </p:nvSpPr>
        <p:spPr bwMode="auto">
          <a:xfrm>
            <a:off x="6539889" y="3368715"/>
            <a:ext cx="6858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90" name="Line 15"/>
          <p:cNvSpPr>
            <a:spLocks noChangeShapeType="1"/>
          </p:cNvSpPr>
          <p:nvPr/>
        </p:nvSpPr>
        <p:spPr bwMode="auto">
          <a:xfrm>
            <a:off x="6551612" y="3825879"/>
            <a:ext cx="936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91" name="Line 16"/>
          <p:cNvSpPr>
            <a:spLocks noChangeShapeType="1"/>
          </p:cNvSpPr>
          <p:nvPr/>
        </p:nvSpPr>
        <p:spPr bwMode="auto">
          <a:xfrm>
            <a:off x="6551612" y="5085184"/>
            <a:ext cx="432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92" name="Line 18"/>
          <p:cNvSpPr>
            <a:spLocks noChangeShapeType="1"/>
          </p:cNvSpPr>
          <p:nvPr/>
        </p:nvSpPr>
        <p:spPr bwMode="auto">
          <a:xfrm>
            <a:off x="6539889" y="4257927"/>
            <a:ext cx="6120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93" name="Line 12"/>
          <p:cNvSpPr>
            <a:spLocks noChangeShapeType="1"/>
          </p:cNvSpPr>
          <p:nvPr/>
        </p:nvSpPr>
        <p:spPr bwMode="auto">
          <a:xfrm>
            <a:off x="6563335" y="2109410"/>
            <a:ext cx="990600" cy="0"/>
          </a:xfrm>
          <a:prstGeom prst="line">
            <a:avLst/>
          </a:prstGeom>
          <a:noFill/>
          <a:ln w="28575">
            <a:solidFill>
              <a:srgbClr val="FF3300"/>
            </a:solidFill>
            <a:round/>
            <a:headEnd/>
            <a:tailEnd/>
          </a:ln>
          <a:extLst>
            <a:ext uri="{909E8E84-426E-40dd-AFC4-6F175D3DCCD1}">
              <a14:hiddenFill xmlns="" xmlns:a14="http://schemas.microsoft.com/office/drawing/2010/main">
                <a:noFill/>
              </a14:hiddenFill>
            </a:ext>
          </a:extLst>
        </p:spPr>
        <p:txBody>
          <a:bodyPr/>
          <a:lstStyle/>
          <a:p>
            <a:endParaRPr lang="en-GB"/>
          </a:p>
        </p:txBody>
      </p:sp>
      <p:sp>
        <p:nvSpPr>
          <p:cNvPr id="24594" name="TextBox 17"/>
          <p:cNvSpPr txBox="1">
            <a:spLocks noChangeArrowheads="1"/>
          </p:cNvSpPr>
          <p:nvPr/>
        </p:nvSpPr>
        <p:spPr bwMode="auto">
          <a:xfrm>
            <a:off x="2411242" y="4900240"/>
            <a:ext cx="18002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70C0"/>
                </a:solidFill>
              </a:rPr>
              <a:t>(cards on hand)</a:t>
            </a:r>
          </a:p>
        </p:txBody>
      </p:sp>
      <p:sp>
        <p:nvSpPr>
          <p:cNvPr id="19" name="TextBox 18"/>
          <p:cNvSpPr txBox="1">
            <a:spLocks noChangeArrowheads="1"/>
          </p:cNvSpPr>
          <p:nvPr/>
        </p:nvSpPr>
        <p:spPr bwMode="auto">
          <a:xfrm>
            <a:off x="7318548" y="1484784"/>
            <a:ext cx="231298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70C0"/>
                </a:solidFill>
              </a:rPr>
              <a:t>(an attribute of Card)</a:t>
            </a:r>
          </a:p>
        </p:txBody>
      </p:sp>
      <p:sp>
        <p:nvSpPr>
          <p:cNvPr id="20" name="TextBox 19"/>
          <p:cNvSpPr txBox="1">
            <a:spLocks noChangeArrowheads="1"/>
          </p:cNvSpPr>
          <p:nvPr/>
        </p:nvSpPr>
        <p:spPr bwMode="auto">
          <a:xfrm>
            <a:off x="8171628" y="1083816"/>
            <a:ext cx="231298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dirty="0">
                <a:solidFill>
                  <a:srgbClr val="0070C0"/>
                </a:solidFill>
              </a:rPr>
              <a:t>(an attribute of Card)</a:t>
            </a:r>
          </a:p>
        </p:txBody>
      </p:sp>
    </p:spTree>
    <p:custDataLst>
      <p:tags r:id="rId1"/>
    </p:custDataLst>
    <p:extLst>
      <p:ext uri="{BB962C8B-B14F-4D97-AF65-F5344CB8AC3E}">
        <p14:creationId xmlns:p14="http://schemas.microsoft.com/office/powerpoint/2010/main" val="379610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58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58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58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59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585"/>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58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459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587"/>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58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458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590"/>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459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5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nimBg="1"/>
      <p:bldP spid="24582" grpId="0" animBg="1"/>
      <p:bldP spid="24583" grpId="0" animBg="1"/>
      <p:bldP spid="24584" grpId="0" animBg="1"/>
      <p:bldP spid="24585" grpId="0" animBg="1"/>
      <p:bldP spid="24586" grpId="0" animBg="1"/>
      <p:bldP spid="24587" grpId="0" animBg="1"/>
      <p:bldP spid="24588" grpId="0" animBg="1"/>
      <p:bldP spid="24589" grpId="0" animBg="1"/>
      <p:bldP spid="24590" grpId="0" animBg="1"/>
      <p:bldP spid="24591" grpId="0" animBg="1"/>
      <p:bldP spid="24592" grpId="0" animBg="1"/>
      <p:bldP spid="24593" grpId="0" animBg="1"/>
      <p:bldP spid="24594" grpId="0"/>
      <p:bldP spid="19"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dirty="0"/>
              <a:t>Explanation</a:t>
            </a:r>
          </a:p>
        </p:txBody>
      </p:sp>
      <p:sp>
        <p:nvSpPr>
          <p:cNvPr id="22531" name="Rectangle 3"/>
          <p:cNvSpPr>
            <a:spLocks noGrp="1" noChangeArrowheads="1"/>
          </p:cNvSpPr>
          <p:nvPr>
            <p:ph idx="1"/>
          </p:nvPr>
        </p:nvSpPr>
        <p:spPr>
          <a:xfrm>
            <a:off x="1053852" y="968829"/>
            <a:ext cx="10081120" cy="3252259"/>
          </a:xfrm>
          <a:solidFill>
            <a:schemeClr val="tx2">
              <a:lumMod val="20000"/>
              <a:lumOff val="80000"/>
            </a:schemeClr>
          </a:solidFill>
          <a:ln>
            <a:noFill/>
          </a:ln>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The noun blackjack was eliminated because game is actually the system itself.</a:t>
            </a:r>
          </a:p>
          <a:p>
            <a:pPr eaLnBrk="1" hangingPunct="1"/>
            <a:r>
              <a:rPr lang="en-US" altLang="en-US" dirty="0"/>
              <a:t>House was eliminated because, it’s just another name for the dealer.</a:t>
            </a:r>
          </a:p>
          <a:p>
            <a:pPr eaLnBrk="1" hangingPunct="1"/>
            <a:r>
              <a:rPr lang="en-US" altLang="en-US" dirty="0"/>
              <a:t>Players are eliminated because we just need a single player (class).</a:t>
            </a:r>
          </a:p>
        </p:txBody>
      </p:sp>
    </p:spTree>
    <p:custDataLst>
      <p:tags r:id="rId1"/>
    </p:custDataLst>
    <p:extLst>
      <p:ext uri="{BB962C8B-B14F-4D97-AF65-F5344CB8AC3E}">
        <p14:creationId xmlns:p14="http://schemas.microsoft.com/office/powerpoint/2010/main" val="4274964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dirty="0"/>
              <a:t>Explanation</a:t>
            </a:r>
          </a:p>
        </p:txBody>
      </p:sp>
      <p:sp>
        <p:nvSpPr>
          <p:cNvPr id="23555" name="Rectangle 3"/>
          <p:cNvSpPr>
            <a:spLocks noGrp="1" noChangeArrowheads="1"/>
          </p:cNvSpPr>
          <p:nvPr>
            <p:ph idx="1"/>
          </p:nvPr>
        </p:nvSpPr>
        <p:spPr>
          <a:xfrm>
            <a:off x="1053852" y="968829"/>
            <a:ext cx="10081120" cy="3108243"/>
          </a:xfrm>
          <a:solidFill>
            <a:schemeClr val="tx2">
              <a:lumMod val="20000"/>
              <a:lumOff val="80000"/>
            </a:schemeClr>
          </a:solidFill>
          <a:ln>
            <a:noFill/>
          </a:ln>
          <a:effectLst>
            <a:outerShdw blurRad="63500" sx="102000" sy="102000" algn="ctr" rotWithShape="0">
              <a:prstClr val="black">
                <a:alpha val="40000"/>
              </a:prstClr>
            </a:outerShdw>
          </a:effectLst>
        </p:spPr>
        <p:txBody>
          <a:bodyPr vert="horz" lIns="91440" tIns="45720" rIns="91440" bIns="45720" rtlCol="0">
            <a:normAutofit/>
          </a:bodyPr>
          <a:lstStyle/>
          <a:p>
            <a:endParaRPr lang="en-US" altLang="en-US" dirty="0"/>
          </a:p>
          <a:p>
            <a:r>
              <a:rPr lang="en-US" altLang="en-US" dirty="0"/>
              <a:t>Cards not needed just a single card (class).</a:t>
            </a:r>
          </a:p>
          <a:p>
            <a:r>
              <a:rPr lang="en-US" altLang="en-US" dirty="0"/>
              <a:t>Face value is really an </a:t>
            </a:r>
            <a:r>
              <a:rPr lang="en-US" altLang="en-US" dirty="0">
                <a:solidFill>
                  <a:srgbClr val="C00000"/>
                </a:solidFill>
              </a:rPr>
              <a:t>attribute</a:t>
            </a:r>
            <a:r>
              <a:rPr lang="en-US" altLang="en-US" dirty="0"/>
              <a:t> of the card class.</a:t>
            </a:r>
          </a:p>
          <a:p>
            <a:r>
              <a:rPr lang="en-US" altLang="en-US" dirty="0"/>
              <a:t>Suit not needed to play the blackjack game. </a:t>
            </a:r>
            <a:r>
              <a:rPr lang="en-US" altLang="en-US" dirty="0">
                <a:solidFill>
                  <a:srgbClr val="C00000"/>
                </a:solidFill>
              </a:rPr>
              <a:t>However</a:t>
            </a:r>
            <a:r>
              <a:rPr lang="en-US" altLang="en-US" dirty="0"/>
              <a:t>, you might want to leave it if you were to use suits in </a:t>
            </a:r>
            <a:r>
              <a:rPr lang="en-US" altLang="en-US" dirty="0">
                <a:solidFill>
                  <a:srgbClr val="C00000"/>
                </a:solidFill>
              </a:rPr>
              <a:t>future</a:t>
            </a:r>
            <a:r>
              <a:rPr lang="en-US" altLang="en-US" dirty="0"/>
              <a:t> card games. Our example will leave it out.</a:t>
            </a:r>
          </a:p>
        </p:txBody>
      </p:sp>
    </p:spTree>
    <p:custDataLst>
      <p:tags r:id="rId1"/>
    </p:custDataLst>
    <p:extLst>
      <p:ext uri="{BB962C8B-B14F-4D97-AF65-F5344CB8AC3E}">
        <p14:creationId xmlns:p14="http://schemas.microsoft.com/office/powerpoint/2010/main" val="394327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dirty="0"/>
              <a:t>Explanation</a:t>
            </a:r>
          </a:p>
        </p:txBody>
      </p:sp>
      <p:sp>
        <p:nvSpPr>
          <p:cNvPr id="24579" name="Rectangle 3"/>
          <p:cNvSpPr>
            <a:spLocks noGrp="1" noChangeArrowheads="1"/>
          </p:cNvSpPr>
          <p:nvPr>
            <p:ph idx="1"/>
          </p:nvPr>
        </p:nvSpPr>
        <p:spPr>
          <a:xfrm>
            <a:off x="1053852" y="968829"/>
            <a:ext cx="10081120" cy="1956115"/>
          </a:xfrm>
          <a:solidFill>
            <a:schemeClr val="accent2">
              <a:lumMod val="20000"/>
              <a:lumOff val="80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Ace, King, Queen, Jack are better represented as </a:t>
            </a:r>
            <a:r>
              <a:rPr lang="en-US" altLang="en-US" dirty="0">
                <a:solidFill>
                  <a:srgbClr val="C00000"/>
                </a:solidFill>
              </a:rPr>
              <a:t>attributes</a:t>
            </a:r>
            <a:r>
              <a:rPr lang="en-US" altLang="en-US" dirty="0"/>
              <a:t> of the card class, instead of individual classes.</a:t>
            </a:r>
          </a:p>
        </p:txBody>
      </p:sp>
    </p:spTree>
    <p:custDataLst>
      <p:tags r:id="rId1"/>
    </p:custDataLst>
    <p:extLst>
      <p:ext uri="{BB962C8B-B14F-4D97-AF65-F5344CB8AC3E}">
        <p14:creationId xmlns:p14="http://schemas.microsoft.com/office/powerpoint/2010/main" val="492177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dirty="0"/>
              <a:t>What About Bet?	</a:t>
            </a:r>
          </a:p>
        </p:txBody>
      </p:sp>
      <p:sp>
        <p:nvSpPr>
          <p:cNvPr id="25603" name="Rectangle 3"/>
          <p:cNvSpPr>
            <a:spLocks noGrp="1" noChangeArrowheads="1"/>
          </p:cNvSpPr>
          <p:nvPr>
            <p:ph idx="1"/>
          </p:nvPr>
        </p:nvSpPr>
        <p:spPr>
          <a:xfrm>
            <a:off x="1053852" y="968829"/>
            <a:ext cx="10081120" cy="1956115"/>
          </a:xfrm>
          <a:solidFill>
            <a:schemeClr val="bg1">
              <a:lumMod val="95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Originally bet was taken out of the list, but if you really think about it we should leave it in, because of the future card usage.</a:t>
            </a:r>
          </a:p>
        </p:txBody>
      </p:sp>
    </p:spTree>
    <p:custDataLst>
      <p:tags r:id="rId1"/>
    </p:custDataLst>
    <p:extLst>
      <p:ext uri="{BB962C8B-B14F-4D97-AF65-F5344CB8AC3E}">
        <p14:creationId xmlns:p14="http://schemas.microsoft.com/office/powerpoint/2010/main" val="193826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title"/>
          </p:nvPr>
        </p:nvSpPr>
        <p:spPr/>
        <p:txBody>
          <a:bodyPr/>
          <a:lstStyle/>
          <a:p>
            <a:pPr eaLnBrk="1" hangingPunct="1"/>
            <a:r>
              <a:rPr lang="en-US" altLang="en-US"/>
              <a:t>Blackjack Game Picture</a:t>
            </a:r>
          </a:p>
        </p:txBody>
      </p:sp>
      <p:grpSp>
        <p:nvGrpSpPr>
          <p:cNvPr id="2" name="Group 1"/>
          <p:cNvGrpSpPr/>
          <p:nvPr/>
        </p:nvGrpSpPr>
        <p:grpSpPr>
          <a:xfrm>
            <a:off x="2802392" y="2089454"/>
            <a:ext cx="6584040" cy="2679092"/>
            <a:chOff x="2114492" y="1870224"/>
            <a:chExt cx="6584040" cy="2679092"/>
          </a:xfrm>
        </p:grpSpPr>
        <p:sp>
          <p:nvSpPr>
            <p:cNvPr id="26628" name="Rectangle 6"/>
            <p:cNvSpPr>
              <a:spLocks noChangeArrowheads="1"/>
            </p:cNvSpPr>
            <p:nvPr/>
          </p:nvSpPr>
          <p:spPr bwMode="auto">
            <a:xfrm>
              <a:off x="2114492" y="3558716"/>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Dealer</a:t>
              </a:r>
            </a:p>
          </p:txBody>
        </p:sp>
        <p:sp>
          <p:nvSpPr>
            <p:cNvPr id="26630" name="Rectangle 8"/>
            <p:cNvSpPr>
              <a:spLocks noChangeArrowheads="1"/>
            </p:cNvSpPr>
            <p:nvPr/>
          </p:nvSpPr>
          <p:spPr bwMode="auto">
            <a:xfrm>
              <a:off x="4654252" y="3558716"/>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Player</a:t>
              </a:r>
            </a:p>
          </p:txBody>
        </p:sp>
        <p:sp>
          <p:nvSpPr>
            <p:cNvPr id="10" name="Rectangle 5"/>
            <p:cNvSpPr>
              <a:spLocks noChangeArrowheads="1"/>
            </p:cNvSpPr>
            <p:nvPr/>
          </p:nvSpPr>
          <p:spPr bwMode="auto">
            <a:xfrm>
              <a:off x="2114492" y="1870224"/>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Card</a:t>
              </a:r>
            </a:p>
          </p:txBody>
        </p:sp>
        <p:sp>
          <p:nvSpPr>
            <p:cNvPr id="11" name="Rectangle 7"/>
            <p:cNvSpPr>
              <a:spLocks noChangeArrowheads="1"/>
            </p:cNvSpPr>
            <p:nvPr/>
          </p:nvSpPr>
          <p:spPr bwMode="auto">
            <a:xfrm>
              <a:off x="4644512" y="1870224"/>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Deck</a:t>
              </a:r>
            </a:p>
          </p:txBody>
        </p:sp>
        <p:sp>
          <p:nvSpPr>
            <p:cNvPr id="12" name="Rectangle 9"/>
            <p:cNvSpPr>
              <a:spLocks noChangeArrowheads="1"/>
            </p:cNvSpPr>
            <p:nvPr/>
          </p:nvSpPr>
          <p:spPr bwMode="auto">
            <a:xfrm>
              <a:off x="7174532" y="1870224"/>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Hand</a:t>
              </a:r>
            </a:p>
          </p:txBody>
        </p:sp>
        <p:sp>
          <p:nvSpPr>
            <p:cNvPr id="13" name="Rectangle 10"/>
            <p:cNvSpPr>
              <a:spLocks noChangeArrowheads="1"/>
            </p:cNvSpPr>
            <p:nvPr/>
          </p:nvSpPr>
          <p:spPr bwMode="auto">
            <a:xfrm>
              <a:off x="7174532" y="3558716"/>
              <a:ext cx="1524000" cy="990600"/>
            </a:xfrm>
            <a:prstGeom prst="rect">
              <a:avLst/>
            </a:prstGeom>
            <a:solidFill>
              <a:schemeClr val="bg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400" b="1" dirty="0">
                  <a:latin typeface="Calibri" panose="020F0502020204030204" pitchFamily="34" charset="0"/>
                </a:rPr>
                <a:t>Bet</a:t>
              </a:r>
            </a:p>
          </p:txBody>
        </p:sp>
      </p:grpSp>
    </p:spTree>
    <p:custDataLst>
      <p:tags r:id="rId1"/>
    </p:custDataLst>
    <p:extLst>
      <p:ext uri="{BB962C8B-B14F-4D97-AF65-F5344CB8AC3E}">
        <p14:creationId xmlns:p14="http://schemas.microsoft.com/office/powerpoint/2010/main" val="3489675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Identify Class Responsibilities</a:t>
            </a:r>
          </a:p>
        </p:txBody>
      </p:sp>
      <p:sp>
        <p:nvSpPr>
          <p:cNvPr id="27651" name="Rectangle 3"/>
          <p:cNvSpPr>
            <a:spLocks noGrp="1" noChangeArrowheads="1"/>
          </p:cNvSpPr>
          <p:nvPr>
            <p:ph idx="1"/>
          </p:nvPr>
        </p:nvSpPr>
        <p:spPr>
          <a:xfrm>
            <a:off x="1053852" y="968829"/>
            <a:ext cx="10081120" cy="1956115"/>
          </a:xfrm>
          <a:solidFill>
            <a:schemeClr val="bg1"/>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Responsibilities relate to </a:t>
            </a:r>
            <a:r>
              <a:rPr lang="en-US" altLang="en-US" dirty="0">
                <a:solidFill>
                  <a:srgbClr val="C00000"/>
                </a:solidFill>
              </a:rPr>
              <a:t>actions</a:t>
            </a:r>
            <a:r>
              <a:rPr lang="en-US" altLang="en-US" dirty="0">
                <a:solidFill>
                  <a:srgbClr val="FF0000"/>
                </a:solidFill>
              </a:rPr>
              <a:t>.</a:t>
            </a:r>
          </a:p>
          <a:p>
            <a:pPr eaLnBrk="1" hangingPunct="1"/>
            <a:r>
              <a:rPr lang="en-US" altLang="en-US" dirty="0"/>
              <a:t>Now look for </a:t>
            </a:r>
            <a:r>
              <a:rPr lang="en-US" altLang="en-US" dirty="0">
                <a:solidFill>
                  <a:srgbClr val="C00000"/>
                </a:solidFill>
              </a:rPr>
              <a:t>verbs</a:t>
            </a:r>
            <a:r>
              <a:rPr lang="en-US" altLang="en-US" dirty="0"/>
              <a:t> which will lead to responsibilities of classes.</a:t>
            </a:r>
          </a:p>
        </p:txBody>
      </p:sp>
    </p:spTree>
    <p:custDataLst>
      <p:tags r:id="rId1"/>
    </p:custDataLst>
    <p:extLst>
      <p:ext uri="{BB962C8B-B14F-4D97-AF65-F5344CB8AC3E}">
        <p14:creationId xmlns:p14="http://schemas.microsoft.com/office/powerpoint/2010/main" val="2338713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altLang="en-US" dirty="0"/>
              <a:t>What do we need to know about a card?</a:t>
            </a:r>
          </a:p>
        </p:txBody>
      </p:sp>
      <p:sp>
        <p:nvSpPr>
          <p:cNvPr id="28675" name="Rectangle 3"/>
          <p:cNvSpPr>
            <a:spLocks noGrp="1" noChangeArrowheads="1"/>
          </p:cNvSpPr>
          <p:nvPr>
            <p:ph idx="1"/>
          </p:nvPr>
        </p:nvSpPr>
        <p:spPr>
          <a:xfrm>
            <a:off x="1053852" y="968829"/>
            <a:ext cx="10081120" cy="2460171"/>
          </a:xfrm>
          <a:solidFill>
            <a:schemeClr val="accent3">
              <a:lumMod val="20000"/>
              <a:lumOff val="80000"/>
            </a:schemeClr>
          </a:solidFill>
          <a:effectLst>
            <a:outerShdw blurRad="63500" sx="102000" sy="102000" algn="ctr" rotWithShape="0">
              <a:prstClr val="black">
                <a:alpha val="40000"/>
              </a:prstClr>
            </a:outerShdw>
          </a:effectLst>
        </p:spPr>
        <p:txBody>
          <a:bodyPr/>
          <a:lstStyle/>
          <a:p>
            <a:pPr marL="360000" lvl="1">
              <a:buSzPct val="100000"/>
              <a:buFont typeface="Arial" pitchFamily="34" charset="0"/>
              <a:buChar char="▪"/>
            </a:pPr>
            <a:endParaRPr lang="en-US" altLang="en-US" dirty="0"/>
          </a:p>
          <a:p>
            <a:pPr marL="360000" lvl="1">
              <a:buSzPct val="100000"/>
              <a:buFont typeface="Arial" pitchFamily="34" charset="0"/>
              <a:buChar char="▪"/>
            </a:pPr>
            <a:r>
              <a:rPr lang="en-US" altLang="en-US" dirty="0"/>
              <a:t>It’s face value</a:t>
            </a:r>
          </a:p>
          <a:p>
            <a:pPr marL="360000" lvl="1">
              <a:buSzPct val="100000"/>
              <a:buFont typeface="Arial" pitchFamily="34" charset="0"/>
              <a:buChar char="▪"/>
            </a:pPr>
            <a:r>
              <a:rPr lang="en-US" altLang="en-US" dirty="0"/>
              <a:t>It’s suit (although not needed for blackjack)</a:t>
            </a:r>
          </a:p>
          <a:p>
            <a:pPr marL="360000" lvl="1">
              <a:buSzPct val="100000"/>
              <a:buFont typeface="Arial" pitchFamily="34" charset="0"/>
              <a:buChar char="▪"/>
            </a:pPr>
            <a:r>
              <a:rPr lang="en-US" altLang="en-US" dirty="0"/>
              <a:t>Whether it’s a face card, ace, or joker?</a:t>
            </a:r>
          </a:p>
        </p:txBody>
      </p:sp>
    </p:spTree>
    <p:custDataLst>
      <p:tags r:id="rId1"/>
    </p:custDataLst>
    <p:extLst>
      <p:ext uri="{BB962C8B-B14F-4D97-AF65-F5344CB8AC3E}">
        <p14:creationId xmlns:p14="http://schemas.microsoft.com/office/powerpoint/2010/main" val="338203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altLang="en-US" dirty="0"/>
              <a:t>Now on your own </a:t>
            </a:r>
          </a:p>
        </p:txBody>
      </p:sp>
      <p:sp>
        <p:nvSpPr>
          <p:cNvPr id="29699" name="Rectangle 3"/>
          <p:cNvSpPr>
            <a:spLocks noGrp="1" noChangeArrowheads="1"/>
          </p:cNvSpPr>
          <p:nvPr>
            <p:ph idx="1"/>
          </p:nvPr>
        </p:nvSpPr>
        <p:spPr>
          <a:xfrm>
            <a:off x="1053852" y="968829"/>
            <a:ext cx="10081120" cy="1956115"/>
          </a:xfrm>
          <a:solidFill>
            <a:schemeClr val="bg1">
              <a:lumMod val="95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Make a list of verbs that are needed for Deck, Hand, Dealer, Player and Bet.</a:t>
            </a:r>
          </a:p>
        </p:txBody>
      </p:sp>
    </p:spTree>
    <p:custDataLst>
      <p:tags r:id="rId1"/>
    </p:custDataLst>
    <p:extLst>
      <p:ext uri="{BB962C8B-B14F-4D97-AF65-F5344CB8AC3E}">
        <p14:creationId xmlns:p14="http://schemas.microsoft.com/office/powerpoint/2010/main" val="256537273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en-US" dirty="0"/>
              <a:t>What do we need to know about </a:t>
            </a:r>
            <a:r>
              <a:rPr lang="en-US" altLang="en-US" dirty="0">
                <a:solidFill>
                  <a:srgbClr val="FFFF00"/>
                </a:solidFill>
              </a:rPr>
              <a:t>Deck</a:t>
            </a:r>
            <a:r>
              <a:rPr lang="en-US" altLang="en-US" dirty="0"/>
              <a:t>?</a:t>
            </a:r>
          </a:p>
        </p:txBody>
      </p:sp>
      <p:sp>
        <p:nvSpPr>
          <p:cNvPr id="30723" name="Rectangle 3"/>
          <p:cNvSpPr>
            <a:spLocks noGrp="1" noChangeArrowheads="1"/>
          </p:cNvSpPr>
          <p:nvPr>
            <p:ph idx="1"/>
          </p:nvPr>
        </p:nvSpPr>
        <p:spPr/>
        <p:txBody>
          <a:bodyPr/>
          <a:lstStyle/>
          <a:p>
            <a:pPr eaLnBrk="1" hangingPunct="1"/>
            <a:r>
              <a:rPr lang="en-US" altLang="en-US" dirty="0"/>
              <a:t>Shuffle</a:t>
            </a:r>
          </a:p>
          <a:p>
            <a:pPr eaLnBrk="1" hangingPunct="1"/>
            <a:r>
              <a:rPr lang="en-US" altLang="en-US" dirty="0"/>
              <a:t>Deal next </a:t>
            </a:r>
            <a:r>
              <a:rPr lang="en-US" altLang="en-US" dirty="0">
                <a:solidFill>
                  <a:srgbClr val="00B050"/>
                </a:solidFill>
              </a:rPr>
              <a:t>card</a:t>
            </a:r>
          </a:p>
          <a:p>
            <a:pPr eaLnBrk="1" hangingPunct="1"/>
            <a:r>
              <a:rPr lang="en-US" altLang="en-US" dirty="0"/>
              <a:t>Know how many</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38428" y="1631682"/>
            <a:ext cx="4286250" cy="2802548"/>
          </a:xfrm>
          <a:prstGeom prst="rect">
            <a:avLst/>
          </a:prstGeom>
        </p:spPr>
      </p:pic>
    </p:spTree>
    <p:custDataLst>
      <p:tags r:id="rId1"/>
    </p:custDataLst>
    <p:extLst>
      <p:ext uri="{BB962C8B-B14F-4D97-AF65-F5344CB8AC3E}">
        <p14:creationId xmlns:p14="http://schemas.microsoft.com/office/powerpoint/2010/main" val="251319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en-US" dirty="0"/>
              <a:t>What do we need to know about </a:t>
            </a:r>
            <a:r>
              <a:rPr lang="en-US" altLang="en-US" dirty="0">
                <a:solidFill>
                  <a:srgbClr val="FFFF00"/>
                </a:solidFill>
              </a:rPr>
              <a:t>Hand</a:t>
            </a:r>
            <a:r>
              <a:rPr lang="en-US" altLang="en-US" dirty="0"/>
              <a:t>?</a:t>
            </a:r>
          </a:p>
        </p:txBody>
      </p:sp>
      <p:sp>
        <p:nvSpPr>
          <p:cNvPr id="31747" name="Rectangle 3"/>
          <p:cNvSpPr>
            <a:spLocks noGrp="1" noChangeArrowheads="1"/>
          </p:cNvSpPr>
          <p:nvPr>
            <p:ph idx="1"/>
          </p:nvPr>
        </p:nvSpPr>
        <p:spPr/>
        <p:txBody>
          <a:bodyPr/>
          <a:lstStyle/>
          <a:p>
            <a:pPr eaLnBrk="1" hangingPunct="1"/>
            <a:r>
              <a:rPr lang="en-US" altLang="en-US" dirty="0"/>
              <a:t>Know how many </a:t>
            </a:r>
            <a:r>
              <a:rPr lang="en-US" altLang="en-US" dirty="0">
                <a:solidFill>
                  <a:srgbClr val="00B050"/>
                </a:solidFill>
              </a:rPr>
              <a:t>cards</a:t>
            </a:r>
            <a:r>
              <a:rPr lang="en-US" altLang="en-US" dirty="0"/>
              <a:t> are in the hand</a:t>
            </a:r>
          </a:p>
          <a:p>
            <a:pPr eaLnBrk="1" hangingPunct="1"/>
            <a:r>
              <a:rPr lang="en-US" altLang="en-US" dirty="0"/>
              <a:t>Know the value</a:t>
            </a:r>
          </a:p>
          <a:p>
            <a:pPr eaLnBrk="1" hangingPunct="1"/>
            <a:r>
              <a:rPr lang="en-US" altLang="en-US" dirty="0"/>
              <a:t>Show the </a:t>
            </a:r>
            <a:r>
              <a:rPr lang="en-US" altLang="en-US" dirty="0">
                <a:solidFill>
                  <a:srgbClr val="00B050"/>
                </a:solidFill>
              </a:rPr>
              <a:t>hand</a:t>
            </a:r>
          </a:p>
        </p:txBody>
      </p:sp>
    </p:spTree>
    <p:custDataLst>
      <p:tags r:id="rId1"/>
    </p:custDataLst>
    <p:extLst>
      <p:ext uri="{BB962C8B-B14F-4D97-AF65-F5344CB8AC3E}">
        <p14:creationId xmlns:p14="http://schemas.microsoft.com/office/powerpoint/2010/main" val="709134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dirty="0"/>
              <a:t>What do we need to know about </a:t>
            </a:r>
            <a:r>
              <a:rPr lang="en-US" altLang="en-US" dirty="0">
                <a:solidFill>
                  <a:srgbClr val="FFFF00"/>
                </a:solidFill>
              </a:rPr>
              <a:t>Dealer</a:t>
            </a:r>
            <a:r>
              <a:rPr lang="en-US" altLang="en-US" dirty="0"/>
              <a:t>?</a:t>
            </a:r>
          </a:p>
        </p:txBody>
      </p:sp>
      <p:sp>
        <p:nvSpPr>
          <p:cNvPr id="32771" name="Rectangle 3"/>
          <p:cNvSpPr>
            <a:spLocks noGrp="1" noChangeArrowheads="1"/>
          </p:cNvSpPr>
          <p:nvPr>
            <p:ph idx="1"/>
          </p:nvPr>
        </p:nvSpPr>
        <p:spPr>
          <a:xfrm>
            <a:off x="1053852" y="968829"/>
            <a:ext cx="5688632" cy="5268483"/>
          </a:xfrm>
        </p:spPr>
        <p:txBody>
          <a:bodyPr>
            <a:normAutofit/>
          </a:bodyPr>
          <a:lstStyle/>
          <a:p>
            <a:pPr eaLnBrk="1" hangingPunct="1">
              <a:buClr>
                <a:schemeClr val="tx1"/>
              </a:buClr>
            </a:pPr>
            <a:r>
              <a:rPr lang="en-US" altLang="en-US" dirty="0"/>
              <a:t>Deal the </a:t>
            </a:r>
            <a:r>
              <a:rPr lang="en-US" altLang="en-US" dirty="0">
                <a:solidFill>
                  <a:srgbClr val="C00000"/>
                </a:solidFill>
              </a:rPr>
              <a:t>cards</a:t>
            </a:r>
          </a:p>
          <a:p>
            <a:pPr eaLnBrk="1" hangingPunct="1">
              <a:buClr>
                <a:schemeClr val="tx1"/>
              </a:buClr>
            </a:pPr>
            <a:r>
              <a:rPr lang="en-US" altLang="en-US" dirty="0"/>
              <a:t>Shuffle </a:t>
            </a:r>
            <a:r>
              <a:rPr lang="en-US" altLang="en-US" dirty="0">
                <a:solidFill>
                  <a:srgbClr val="C00000"/>
                </a:solidFill>
              </a:rPr>
              <a:t>deck</a:t>
            </a:r>
          </a:p>
          <a:p>
            <a:pPr eaLnBrk="1" hangingPunct="1">
              <a:buClr>
                <a:schemeClr val="tx1"/>
              </a:buClr>
            </a:pPr>
            <a:r>
              <a:rPr lang="en-US" altLang="en-US" dirty="0">
                <a:solidFill>
                  <a:srgbClr val="C00000"/>
                </a:solidFill>
              </a:rPr>
              <a:t>Give a card to player</a:t>
            </a:r>
          </a:p>
          <a:p>
            <a:pPr eaLnBrk="1" hangingPunct="1">
              <a:buClr>
                <a:schemeClr val="tx1"/>
              </a:buClr>
            </a:pPr>
            <a:r>
              <a:rPr lang="en-US" altLang="en-US" dirty="0"/>
              <a:t>Show the dealer’s </a:t>
            </a:r>
            <a:r>
              <a:rPr lang="en-US" altLang="en-US" dirty="0">
                <a:solidFill>
                  <a:srgbClr val="C00000"/>
                </a:solidFill>
              </a:rPr>
              <a:t>hand</a:t>
            </a:r>
          </a:p>
          <a:p>
            <a:pPr eaLnBrk="1" hangingPunct="1">
              <a:buClr>
                <a:schemeClr val="tx1"/>
              </a:buClr>
            </a:pPr>
            <a:r>
              <a:rPr lang="en-US" altLang="en-US" dirty="0"/>
              <a:t>Calculate the value of the dealer’s hand</a:t>
            </a:r>
          </a:p>
          <a:p>
            <a:pPr eaLnBrk="1" hangingPunct="1">
              <a:buClr>
                <a:schemeClr val="tx1"/>
              </a:buClr>
            </a:pPr>
            <a:r>
              <a:rPr lang="en-US" altLang="en-US" dirty="0"/>
              <a:t>Know the number of cards in the dealer’s hand</a:t>
            </a:r>
          </a:p>
          <a:p>
            <a:pPr eaLnBrk="1" hangingPunct="1">
              <a:buClr>
                <a:schemeClr val="tx1"/>
              </a:buClr>
            </a:pPr>
            <a:r>
              <a:rPr lang="en-US" altLang="en-US" dirty="0">
                <a:solidFill>
                  <a:srgbClr val="C00000"/>
                </a:solidFill>
              </a:rPr>
              <a:t>Request a card (hit or hold)</a:t>
            </a:r>
          </a:p>
          <a:p>
            <a:pPr eaLnBrk="1" hangingPunct="1">
              <a:buClr>
                <a:schemeClr val="tx1"/>
              </a:buClr>
            </a:pPr>
            <a:r>
              <a:rPr lang="en-US" altLang="en-US" dirty="0"/>
              <a:t>Determine a winner</a:t>
            </a:r>
          </a:p>
          <a:p>
            <a:pPr eaLnBrk="1" hangingPunct="1">
              <a:buClr>
                <a:schemeClr val="tx1"/>
              </a:buClr>
            </a:pPr>
            <a:r>
              <a:rPr lang="en-US" altLang="en-US" dirty="0"/>
              <a:t>Start a new hand</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9857" y="2132856"/>
            <a:ext cx="4263631" cy="2592288"/>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3916989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en-US" dirty="0"/>
              <a:t>What do we need to know about </a:t>
            </a:r>
            <a:r>
              <a:rPr lang="en-US" altLang="en-US" dirty="0">
                <a:solidFill>
                  <a:srgbClr val="FFFF00"/>
                </a:solidFill>
              </a:rPr>
              <a:t>Player</a:t>
            </a:r>
            <a:r>
              <a:rPr lang="en-US" altLang="en-US" dirty="0"/>
              <a:t>?</a:t>
            </a:r>
          </a:p>
        </p:txBody>
      </p:sp>
      <p:sp>
        <p:nvSpPr>
          <p:cNvPr id="33795" name="Rectangle 3"/>
          <p:cNvSpPr>
            <a:spLocks noGrp="1" noChangeArrowheads="1"/>
          </p:cNvSpPr>
          <p:nvPr>
            <p:ph idx="1"/>
          </p:nvPr>
        </p:nvSpPr>
        <p:spPr>
          <a:xfrm>
            <a:off x="1053851" y="968829"/>
            <a:ext cx="10080873" cy="3900331"/>
          </a:xfrm>
          <a:solidFill>
            <a:schemeClr val="accent3">
              <a:lumMod val="20000"/>
              <a:lumOff val="80000"/>
            </a:schemeClr>
          </a:solidFill>
          <a:ln>
            <a:noFill/>
          </a:ln>
          <a:effectLst>
            <a:outerShdw blurRad="63500" sx="102000" sy="102000" algn="ctr" rotWithShape="0">
              <a:prstClr val="black">
                <a:alpha val="40000"/>
              </a:prstClr>
            </a:outerShdw>
          </a:effectLst>
        </p:spPr>
        <p:txBody>
          <a:bodyPr/>
          <a:lstStyle/>
          <a:p>
            <a:pPr eaLnBrk="1" hangingPunct="1">
              <a:buClr>
                <a:schemeClr val="tx1"/>
              </a:buClr>
            </a:pPr>
            <a:endParaRPr lang="en-US" altLang="en-US" dirty="0">
              <a:solidFill>
                <a:srgbClr val="FF0000"/>
              </a:solidFill>
            </a:endParaRPr>
          </a:p>
          <a:p>
            <a:pPr eaLnBrk="1" hangingPunct="1">
              <a:buClr>
                <a:schemeClr val="tx1"/>
              </a:buClr>
            </a:pPr>
            <a:r>
              <a:rPr lang="en-US" altLang="en-US" dirty="0">
                <a:solidFill>
                  <a:srgbClr val="C00000"/>
                </a:solidFill>
              </a:rPr>
              <a:t>Request a card </a:t>
            </a:r>
            <a:r>
              <a:rPr lang="en-US" altLang="en-US" dirty="0"/>
              <a:t>(hit or hold)</a:t>
            </a:r>
          </a:p>
          <a:p>
            <a:pPr eaLnBrk="1" hangingPunct="1">
              <a:buClr>
                <a:schemeClr val="tx1"/>
              </a:buClr>
            </a:pPr>
            <a:r>
              <a:rPr lang="en-US" altLang="en-US" dirty="0"/>
              <a:t>Show the player’s </a:t>
            </a:r>
            <a:r>
              <a:rPr lang="en-US" altLang="en-US" dirty="0">
                <a:solidFill>
                  <a:srgbClr val="C00000"/>
                </a:solidFill>
              </a:rPr>
              <a:t>hand</a:t>
            </a:r>
          </a:p>
          <a:p>
            <a:pPr eaLnBrk="1" hangingPunct="1">
              <a:buClr>
                <a:schemeClr val="tx1"/>
              </a:buClr>
            </a:pPr>
            <a:r>
              <a:rPr lang="en-US" altLang="en-US" dirty="0">
                <a:solidFill>
                  <a:srgbClr val="C00000"/>
                </a:solidFill>
              </a:rPr>
              <a:t>Calculate the value of the hand</a:t>
            </a:r>
          </a:p>
          <a:p>
            <a:pPr eaLnBrk="1" hangingPunct="1">
              <a:buClr>
                <a:schemeClr val="tx1"/>
              </a:buClr>
            </a:pPr>
            <a:r>
              <a:rPr lang="en-US" altLang="en-US" dirty="0"/>
              <a:t>Know how many cards are in the hand</a:t>
            </a:r>
          </a:p>
          <a:p>
            <a:pPr eaLnBrk="1" hangingPunct="1">
              <a:buClr>
                <a:schemeClr val="tx1"/>
              </a:buClr>
            </a:pPr>
            <a:r>
              <a:rPr lang="en-US" altLang="en-US" dirty="0">
                <a:solidFill>
                  <a:srgbClr val="C00000"/>
                </a:solidFill>
              </a:rPr>
              <a:t>Know whether the value </a:t>
            </a:r>
            <a:r>
              <a:rPr lang="en-US" altLang="en-US" dirty="0"/>
              <a:t>is over 21, equal to 21 (blackjack won) or below 21</a:t>
            </a:r>
          </a:p>
          <a:p>
            <a:pPr eaLnBrk="1" hangingPunct="1">
              <a:buFont typeface="Wingdings" panose="05000000000000000000" pitchFamily="2" charset="2"/>
              <a:buNone/>
            </a:pPr>
            <a:endParaRPr lang="en-US" altLang="en-US" dirty="0"/>
          </a:p>
        </p:txBody>
      </p:sp>
    </p:spTree>
    <p:custDataLst>
      <p:tags r:id="rId1"/>
    </p:custDataLst>
    <p:extLst>
      <p:ext uri="{BB962C8B-B14F-4D97-AF65-F5344CB8AC3E}">
        <p14:creationId xmlns:p14="http://schemas.microsoft.com/office/powerpoint/2010/main" val="731266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en-US" dirty="0"/>
              <a:t>What do we need to know about </a:t>
            </a:r>
            <a:r>
              <a:rPr lang="en-US" altLang="en-US" dirty="0">
                <a:solidFill>
                  <a:srgbClr val="FFFF00"/>
                </a:solidFill>
              </a:rPr>
              <a:t>Bet</a:t>
            </a:r>
            <a:r>
              <a:rPr lang="en-US" altLang="en-US" dirty="0"/>
              <a:t>?</a:t>
            </a:r>
          </a:p>
        </p:txBody>
      </p:sp>
      <p:sp>
        <p:nvSpPr>
          <p:cNvPr id="34819" name="Rectangle 3"/>
          <p:cNvSpPr>
            <a:spLocks noGrp="1" noChangeArrowheads="1"/>
          </p:cNvSpPr>
          <p:nvPr>
            <p:ph idx="1"/>
          </p:nvPr>
        </p:nvSpPr>
        <p:spPr>
          <a:xfrm>
            <a:off x="1053852" y="968829"/>
            <a:ext cx="5112568" cy="5632713"/>
          </a:xfrm>
        </p:spPr>
        <p:txBody>
          <a:bodyPr/>
          <a:lstStyle/>
          <a:p>
            <a:pPr eaLnBrk="1" hangingPunct="1"/>
            <a:r>
              <a:rPr lang="en-US" altLang="en-US" dirty="0"/>
              <a:t>Know the </a:t>
            </a:r>
            <a:r>
              <a:rPr lang="en-US" altLang="en-US" dirty="0">
                <a:solidFill>
                  <a:srgbClr val="C00000"/>
                </a:solidFill>
              </a:rPr>
              <a:t>type of bet</a:t>
            </a:r>
          </a:p>
          <a:p>
            <a:pPr eaLnBrk="1" hangingPunct="1"/>
            <a:r>
              <a:rPr lang="en-US" altLang="en-US" dirty="0"/>
              <a:t>Know the value of bet</a:t>
            </a:r>
          </a:p>
          <a:p>
            <a:pPr eaLnBrk="1" hangingPunct="1"/>
            <a:r>
              <a:rPr lang="en-US" altLang="en-US" dirty="0"/>
              <a:t>Know how much the </a:t>
            </a:r>
            <a:r>
              <a:rPr lang="en-US" altLang="en-US" dirty="0">
                <a:solidFill>
                  <a:srgbClr val="C00000"/>
                </a:solidFill>
              </a:rPr>
              <a:t>player</a:t>
            </a:r>
            <a:r>
              <a:rPr lang="en-US" altLang="en-US" dirty="0"/>
              <a:t> has left to bet</a:t>
            </a:r>
          </a:p>
          <a:p>
            <a:pPr eaLnBrk="1" hangingPunct="1"/>
            <a:r>
              <a:rPr lang="en-US" altLang="en-US" dirty="0"/>
              <a:t>Know whether the bet can be covered</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80334" y="1772817"/>
            <a:ext cx="4223025" cy="2808312"/>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365574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en-US"/>
              <a:t>Let’s review our verbs</a:t>
            </a:r>
          </a:p>
        </p:txBody>
      </p:sp>
      <p:sp>
        <p:nvSpPr>
          <p:cNvPr id="35843" name="Rectangle 3"/>
          <p:cNvSpPr>
            <a:spLocks noGrp="1" noChangeArrowheads="1"/>
          </p:cNvSpPr>
          <p:nvPr>
            <p:ph idx="1"/>
          </p:nvPr>
        </p:nvSpPr>
        <p:spPr>
          <a:xfrm>
            <a:off x="1053852" y="968829"/>
            <a:ext cx="10081120" cy="3108243"/>
          </a:xfrm>
          <a:solidFill>
            <a:schemeClr val="bg1">
              <a:lumMod val="95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Remember we’re looking for classes and responsibilities.</a:t>
            </a:r>
          </a:p>
          <a:p>
            <a:pPr eaLnBrk="1" hangingPunct="1"/>
            <a:r>
              <a:rPr lang="en-US" altLang="en-US" dirty="0"/>
              <a:t>We don’t rush. We logically review what’s needed and what’s not needed.</a:t>
            </a:r>
          </a:p>
          <a:p>
            <a:pPr eaLnBrk="1" hangingPunct="1"/>
            <a:r>
              <a:rPr lang="en-US" altLang="en-US" dirty="0"/>
              <a:t>Let’s go over what we’ve put down.</a:t>
            </a:r>
          </a:p>
        </p:txBody>
      </p:sp>
    </p:spTree>
    <p:custDataLst>
      <p:tags r:id="rId1"/>
    </p:custDataLst>
    <p:extLst>
      <p:ext uri="{BB962C8B-B14F-4D97-AF65-F5344CB8AC3E}">
        <p14:creationId xmlns:p14="http://schemas.microsoft.com/office/powerpoint/2010/main" val="1806275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en-US"/>
              <a:t>Card</a:t>
            </a:r>
          </a:p>
        </p:txBody>
      </p:sp>
      <p:sp>
        <p:nvSpPr>
          <p:cNvPr id="36867" name="Rectangle 3"/>
          <p:cNvSpPr>
            <a:spLocks noGrp="1" noChangeArrowheads="1"/>
          </p:cNvSpPr>
          <p:nvPr>
            <p:ph idx="1"/>
          </p:nvPr>
        </p:nvSpPr>
        <p:spPr>
          <a:xfrm>
            <a:off x="1053851" y="968829"/>
            <a:ext cx="10080873" cy="5268483"/>
          </a:xfrm>
        </p:spPr>
        <p:txBody>
          <a:bodyPr>
            <a:normAutofit/>
          </a:bodyPr>
          <a:lstStyle/>
          <a:p>
            <a:pPr marL="360000" lvl="1">
              <a:buSzPct val="100000"/>
              <a:buFont typeface="Arial" pitchFamily="34" charset="0"/>
              <a:buChar char="▪"/>
            </a:pPr>
            <a:r>
              <a:rPr lang="en-US" altLang="en-US" dirty="0"/>
              <a:t>It’s face value.</a:t>
            </a:r>
          </a:p>
          <a:p>
            <a:pPr marL="360000" lvl="1">
              <a:buSzPct val="100000"/>
              <a:buFont typeface="Arial" pitchFamily="34" charset="0"/>
              <a:buChar char="▪"/>
            </a:pPr>
            <a:r>
              <a:rPr lang="en-US" altLang="en-US" dirty="0"/>
              <a:t>It’s suit (although not needed for blackjack).</a:t>
            </a:r>
          </a:p>
          <a:p>
            <a:pPr marL="360000" lvl="1">
              <a:buSzPct val="100000"/>
              <a:buFont typeface="Arial" pitchFamily="34" charset="0"/>
              <a:buChar char="▪"/>
            </a:pPr>
            <a:r>
              <a:rPr lang="en-US" altLang="en-US" dirty="0"/>
              <a:t>Whether it’s a face card, ace, or joker?- No need to have separate responsibilities for face cards aces and jokers but the report value can handle this.</a:t>
            </a:r>
          </a:p>
        </p:txBody>
      </p:sp>
      <p:sp>
        <p:nvSpPr>
          <p:cNvPr id="36868" name="Line 4"/>
          <p:cNvSpPr>
            <a:spLocks noChangeShapeType="1"/>
          </p:cNvSpPr>
          <p:nvPr/>
        </p:nvSpPr>
        <p:spPr bwMode="auto">
          <a:xfrm>
            <a:off x="1557908" y="2086248"/>
            <a:ext cx="53280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GB"/>
          </a:p>
        </p:txBody>
      </p:sp>
    </p:spTree>
    <p:custDataLst>
      <p:tags r:id="rId1"/>
    </p:custDataLst>
    <p:extLst>
      <p:ext uri="{BB962C8B-B14F-4D97-AF65-F5344CB8AC3E}">
        <p14:creationId xmlns:p14="http://schemas.microsoft.com/office/powerpoint/2010/main" val="1368990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en-US"/>
              <a:t>Deck</a:t>
            </a:r>
          </a:p>
        </p:txBody>
      </p:sp>
      <p:sp>
        <p:nvSpPr>
          <p:cNvPr id="37891" name="Rectangle 3"/>
          <p:cNvSpPr>
            <a:spLocks noGrp="1" noChangeArrowheads="1"/>
          </p:cNvSpPr>
          <p:nvPr>
            <p:ph idx="1"/>
          </p:nvPr>
        </p:nvSpPr>
        <p:spPr>
          <a:xfrm>
            <a:off x="1053852" y="968829"/>
            <a:ext cx="10081120" cy="3180251"/>
          </a:xfrm>
          <a:solidFill>
            <a:schemeClr val="bg1"/>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Shuffle: Needed.</a:t>
            </a:r>
          </a:p>
          <a:p>
            <a:pPr eaLnBrk="1" hangingPunct="1"/>
            <a:r>
              <a:rPr lang="en-US" altLang="en-US" dirty="0"/>
              <a:t>Deal next card: Needed.</a:t>
            </a:r>
          </a:p>
          <a:p>
            <a:pPr eaLnBrk="1" hangingPunct="1"/>
            <a:r>
              <a:rPr lang="en-US" altLang="en-US" dirty="0"/>
              <a:t>Know how many: Needed.</a:t>
            </a:r>
          </a:p>
          <a:p>
            <a:pPr eaLnBrk="1" hangingPunct="1"/>
            <a:r>
              <a:rPr lang="en-US" altLang="en-US" dirty="0"/>
              <a:t>What about? Know whether there is a full deck to begin: Let’s add this responsibly.</a:t>
            </a:r>
          </a:p>
          <a:p>
            <a:pPr eaLnBrk="1" hangingPunct="1"/>
            <a:endParaRPr lang="en-US" altLang="en-US" dirty="0"/>
          </a:p>
        </p:txBody>
      </p:sp>
    </p:spTree>
    <p:custDataLst>
      <p:tags r:id="rId1"/>
    </p:custDataLst>
    <p:extLst>
      <p:ext uri="{BB962C8B-B14F-4D97-AF65-F5344CB8AC3E}">
        <p14:creationId xmlns:p14="http://schemas.microsoft.com/office/powerpoint/2010/main" val="113605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en-US"/>
              <a:t>Hand- All Needed</a:t>
            </a:r>
          </a:p>
        </p:txBody>
      </p:sp>
      <p:sp>
        <p:nvSpPr>
          <p:cNvPr id="38915" name="Rectangle 3"/>
          <p:cNvSpPr>
            <a:spLocks noGrp="1" noChangeArrowheads="1"/>
          </p:cNvSpPr>
          <p:nvPr>
            <p:ph idx="1"/>
          </p:nvPr>
        </p:nvSpPr>
        <p:spPr>
          <a:xfrm>
            <a:off x="1053852" y="968829"/>
            <a:ext cx="10081120" cy="2388163"/>
          </a:xfrm>
          <a:solidFill>
            <a:schemeClr val="accent4">
              <a:lumMod val="20000"/>
              <a:lumOff val="80000"/>
            </a:schemeClr>
          </a:solidFill>
          <a:effectLst>
            <a:outerShdw blurRad="63500" sx="102000" sy="102000" algn="ctr" rotWithShape="0">
              <a:prstClr val="black">
                <a:alpha val="40000"/>
              </a:prstClr>
            </a:outerShdw>
          </a:effectLst>
        </p:spPr>
        <p:txBody>
          <a:bodyPr/>
          <a:lstStyle/>
          <a:p>
            <a:pPr eaLnBrk="1" hangingPunct="1"/>
            <a:endParaRPr lang="en-US" altLang="en-US" dirty="0"/>
          </a:p>
          <a:p>
            <a:pPr eaLnBrk="1" hangingPunct="1"/>
            <a:r>
              <a:rPr lang="en-US" altLang="en-US" dirty="0"/>
              <a:t>Know how many cards are in the hand</a:t>
            </a:r>
          </a:p>
          <a:p>
            <a:pPr eaLnBrk="1" hangingPunct="1"/>
            <a:r>
              <a:rPr lang="en-US" altLang="en-US" dirty="0"/>
              <a:t>Know the value</a:t>
            </a:r>
          </a:p>
          <a:p>
            <a:pPr eaLnBrk="1" hangingPunct="1"/>
            <a:r>
              <a:rPr lang="en-US" altLang="en-US" dirty="0"/>
              <a:t>Show the hand</a:t>
            </a:r>
          </a:p>
        </p:txBody>
      </p:sp>
    </p:spTree>
    <p:custDataLst>
      <p:tags r:id="rId1"/>
    </p:custDataLst>
    <p:extLst>
      <p:ext uri="{BB962C8B-B14F-4D97-AF65-F5344CB8AC3E}">
        <p14:creationId xmlns:p14="http://schemas.microsoft.com/office/powerpoint/2010/main" val="1917425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en-US"/>
              <a:t>Dealer</a:t>
            </a:r>
          </a:p>
        </p:txBody>
      </p:sp>
      <p:sp>
        <p:nvSpPr>
          <p:cNvPr id="39939" name="Rectangle 3"/>
          <p:cNvSpPr>
            <a:spLocks noGrp="1" noChangeArrowheads="1"/>
          </p:cNvSpPr>
          <p:nvPr>
            <p:ph idx="1"/>
          </p:nvPr>
        </p:nvSpPr>
        <p:spPr>
          <a:xfrm>
            <a:off x="1053852" y="968829"/>
            <a:ext cx="10081120" cy="5196475"/>
          </a:xfrm>
          <a:solidFill>
            <a:schemeClr val="bg1"/>
          </a:solidFill>
          <a:effectLst>
            <a:outerShdw blurRad="63500" sx="102000" sy="102000" algn="ctr" rotWithShape="0">
              <a:prstClr val="black">
                <a:alpha val="40000"/>
              </a:prstClr>
            </a:outerShdw>
          </a:effectLst>
        </p:spPr>
        <p:txBody>
          <a:bodyPr>
            <a:normAutofit fontScale="92500" lnSpcReduction="20000"/>
          </a:bodyPr>
          <a:lstStyle/>
          <a:p>
            <a:pPr eaLnBrk="1" hangingPunct="1"/>
            <a:endParaRPr lang="en-US" altLang="en-US" sz="2700" dirty="0"/>
          </a:p>
          <a:p>
            <a:pPr eaLnBrk="1" hangingPunct="1"/>
            <a:r>
              <a:rPr lang="en-US" altLang="en-US" sz="2700" dirty="0"/>
              <a:t>Deal the cards</a:t>
            </a:r>
          </a:p>
          <a:p>
            <a:pPr eaLnBrk="1" hangingPunct="1"/>
            <a:r>
              <a:rPr lang="en-US" altLang="en-US" sz="2700" dirty="0"/>
              <a:t>Shuffle deck</a:t>
            </a:r>
          </a:p>
          <a:p>
            <a:pPr eaLnBrk="1" hangingPunct="1"/>
            <a:r>
              <a:rPr lang="en-US" altLang="en-US" sz="2700" dirty="0"/>
              <a:t>Give a card to player</a:t>
            </a:r>
          </a:p>
          <a:p>
            <a:pPr eaLnBrk="1" hangingPunct="1"/>
            <a:r>
              <a:rPr lang="en-US" altLang="en-US" sz="2700" dirty="0"/>
              <a:t>Show the dealer’s hand</a:t>
            </a:r>
          </a:p>
          <a:p>
            <a:pPr eaLnBrk="1" hangingPunct="1"/>
            <a:r>
              <a:rPr lang="en-US" altLang="en-US" sz="2700" dirty="0"/>
              <a:t>Calculate the value of the dealer’s hand: </a:t>
            </a:r>
            <a:r>
              <a:rPr lang="en-US" altLang="en-US" sz="2700" dirty="0">
                <a:solidFill>
                  <a:srgbClr val="C00000"/>
                </a:solidFill>
              </a:rPr>
              <a:t>Rename to ‘Show the value of dealer’s hand’</a:t>
            </a:r>
          </a:p>
          <a:p>
            <a:pPr eaLnBrk="1" hangingPunct="1"/>
            <a:r>
              <a:rPr lang="en-US" altLang="en-US" sz="2700" dirty="0"/>
              <a:t>Know the number of cards in the dealer’s hand</a:t>
            </a:r>
          </a:p>
          <a:p>
            <a:pPr eaLnBrk="1" hangingPunct="1"/>
            <a:r>
              <a:rPr lang="en-US" altLang="en-US" sz="2700" dirty="0"/>
              <a:t>Request a card (hit or hold)</a:t>
            </a:r>
          </a:p>
          <a:p>
            <a:pPr eaLnBrk="1" hangingPunct="1"/>
            <a:r>
              <a:rPr lang="en-US" altLang="en-US" sz="2700" dirty="0"/>
              <a:t>Determine a winner</a:t>
            </a:r>
          </a:p>
          <a:p>
            <a:pPr eaLnBrk="1" hangingPunct="1"/>
            <a:r>
              <a:rPr lang="en-US" altLang="en-US" sz="2700" dirty="0"/>
              <a:t>Start a new hand</a:t>
            </a:r>
          </a:p>
          <a:p>
            <a:pPr eaLnBrk="1" hangingPunct="1">
              <a:lnSpc>
                <a:spcPct val="80000"/>
              </a:lnSpc>
            </a:pPr>
            <a:endParaRPr lang="en-US" altLang="en-US" sz="2700" dirty="0"/>
          </a:p>
        </p:txBody>
      </p:sp>
    </p:spTree>
    <p:custDataLst>
      <p:tags r:id="rId1"/>
    </p:custDataLst>
    <p:extLst>
      <p:ext uri="{BB962C8B-B14F-4D97-AF65-F5344CB8AC3E}">
        <p14:creationId xmlns:p14="http://schemas.microsoft.com/office/powerpoint/2010/main" val="2212531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a:t>Player</a:t>
            </a:r>
          </a:p>
        </p:txBody>
      </p:sp>
      <p:sp>
        <p:nvSpPr>
          <p:cNvPr id="40963" name="Rectangle 3"/>
          <p:cNvSpPr>
            <a:spLocks noGrp="1" noChangeArrowheads="1"/>
          </p:cNvSpPr>
          <p:nvPr>
            <p:ph idx="1"/>
          </p:nvPr>
        </p:nvSpPr>
        <p:spPr>
          <a:xfrm>
            <a:off x="1053852" y="968829"/>
            <a:ext cx="10081120" cy="4260371"/>
          </a:xfrm>
          <a:solidFill>
            <a:schemeClr val="accent1">
              <a:lumMod val="20000"/>
              <a:lumOff val="80000"/>
            </a:schemeClr>
          </a:solidFill>
          <a:effectLst>
            <a:outerShdw blurRad="50800" dist="38100" dir="8100000" algn="tr" rotWithShape="0">
              <a:prstClr val="black">
                <a:alpha val="40000"/>
              </a:prstClr>
            </a:outerShdw>
          </a:effectLst>
        </p:spPr>
        <p:txBody>
          <a:bodyPr/>
          <a:lstStyle/>
          <a:p>
            <a:pPr eaLnBrk="1" hangingPunct="1"/>
            <a:endParaRPr lang="en-US" altLang="en-US" dirty="0"/>
          </a:p>
          <a:p>
            <a:pPr eaLnBrk="1" hangingPunct="1"/>
            <a:r>
              <a:rPr lang="en-US" altLang="en-US" dirty="0"/>
              <a:t>Request a card (hit or hold)</a:t>
            </a:r>
          </a:p>
          <a:p>
            <a:pPr eaLnBrk="1" hangingPunct="1"/>
            <a:r>
              <a:rPr lang="en-US" altLang="en-US" dirty="0"/>
              <a:t>Show the player’s hand</a:t>
            </a:r>
          </a:p>
          <a:p>
            <a:pPr eaLnBrk="1" hangingPunct="1"/>
            <a:r>
              <a:rPr lang="en-US" altLang="en-US" dirty="0"/>
              <a:t>Calculate the value of the hand: </a:t>
            </a:r>
            <a:r>
              <a:rPr lang="en-US" altLang="en-US" dirty="0">
                <a:solidFill>
                  <a:srgbClr val="C00000"/>
                </a:solidFill>
              </a:rPr>
              <a:t>Rename to ‘Show value of the player’s hand’</a:t>
            </a:r>
          </a:p>
          <a:p>
            <a:pPr eaLnBrk="1" hangingPunct="1"/>
            <a:r>
              <a:rPr lang="en-US" altLang="en-US" dirty="0"/>
              <a:t>Know how many cards are in the hand</a:t>
            </a:r>
          </a:p>
          <a:p>
            <a:pPr eaLnBrk="1" hangingPunct="1"/>
            <a:r>
              <a:rPr lang="en-US" altLang="en-US" dirty="0"/>
              <a:t>Know whether the value is over 21, equal to 21 (blackjack won) or below 21</a:t>
            </a:r>
          </a:p>
          <a:p>
            <a:pPr eaLnBrk="1" hangingPunct="1">
              <a:buFont typeface="Wingdings" panose="05000000000000000000" pitchFamily="2" charset="2"/>
              <a:buNone/>
            </a:pPr>
            <a:endParaRPr lang="en-US" altLang="en-US" dirty="0"/>
          </a:p>
          <a:p>
            <a:pPr eaLnBrk="1" hangingPunct="1"/>
            <a:endParaRPr lang="en-US" altLang="en-US" dirty="0"/>
          </a:p>
        </p:txBody>
      </p:sp>
    </p:spTree>
    <p:custDataLst>
      <p:tags r:id="rId1"/>
    </p:custDataLst>
    <p:extLst>
      <p:ext uri="{BB962C8B-B14F-4D97-AF65-F5344CB8AC3E}">
        <p14:creationId xmlns:p14="http://schemas.microsoft.com/office/powerpoint/2010/main" val="3665889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en-US" dirty="0"/>
              <a:t>Bet Class Issues</a:t>
            </a:r>
          </a:p>
        </p:txBody>
      </p:sp>
      <p:sp>
        <p:nvSpPr>
          <p:cNvPr id="41987" name="Rectangle 3"/>
          <p:cNvSpPr>
            <a:spLocks noGrp="1" noChangeArrowheads="1"/>
          </p:cNvSpPr>
          <p:nvPr>
            <p:ph idx="1"/>
          </p:nvPr>
        </p:nvSpPr>
        <p:spPr>
          <a:xfrm>
            <a:off x="1053852" y="968829"/>
            <a:ext cx="10081120" cy="3684307"/>
          </a:xfrm>
          <a:solidFill>
            <a:schemeClr val="accent3">
              <a:lumMod val="20000"/>
              <a:lumOff val="80000"/>
            </a:schemeClr>
          </a:solidFill>
          <a:effectLst>
            <a:outerShdw blurRad="50800" dist="38100" dir="8100000" algn="tr" rotWithShape="0">
              <a:prstClr val="black">
                <a:alpha val="40000"/>
              </a:prstClr>
            </a:outerShdw>
          </a:effectLst>
        </p:spPr>
        <p:txBody>
          <a:bodyPr/>
          <a:lstStyle/>
          <a:p>
            <a:pPr eaLnBrk="1" hangingPunct="1"/>
            <a:endParaRPr lang="en-US" altLang="en-US" dirty="0"/>
          </a:p>
          <a:p>
            <a:pPr eaLnBrk="1" hangingPunct="1"/>
            <a:r>
              <a:rPr lang="en-US" altLang="en-US" dirty="0"/>
              <a:t>Know the type of bet</a:t>
            </a:r>
          </a:p>
          <a:p>
            <a:pPr eaLnBrk="1" hangingPunct="1"/>
            <a:r>
              <a:rPr lang="en-US" altLang="en-US" dirty="0"/>
              <a:t>Know the value of bet</a:t>
            </a:r>
          </a:p>
          <a:p>
            <a:pPr eaLnBrk="1" hangingPunct="1"/>
            <a:r>
              <a:rPr lang="en-US" altLang="en-US" dirty="0"/>
              <a:t>Know how much the player has left to bet</a:t>
            </a:r>
          </a:p>
          <a:p>
            <a:pPr eaLnBrk="1" hangingPunct="1"/>
            <a:r>
              <a:rPr lang="en-US" altLang="en-US" dirty="0"/>
              <a:t>Know whether the bet can be covered</a:t>
            </a:r>
          </a:p>
          <a:p>
            <a:pPr eaLnBrk="1" hangingPunct="1">
              <a:buClr>
                <a:schemeClr val="tx1"/>
              </a:buClr>
            </a:pPr>
            <a:r>
              <a:rPr lang="en-US" altLang="en-US" dirty="0">
                <a:solidFill>
                  <a:srgbClr val="C00000"/>
                </a:solidFill>
              </a:rPr>
              <a:t>This class is not needed at this site, and can be added later if necessary</a:t>
            </a:r>
          </a:p>
        </p:txBody>
      </p:sp>
    </p:spTree>
    <p:custDataLst>
      <p:tags r:id="rId1"/>
    </p:custDataLst>
    <p:extLst>
      <p:ext uri="{BB962C8B-B14F-4D97-AF65-F5344CB8AC3E}">
        <p14:creationId xmlns:p14="http://schemas.microsoft.com/office/powerpoint/2010/main" val="319669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en-US"/>
              <a:t>Ready To Create CRC Cards</a:t>
            </a:r>
          </a:p>
        </p:txBody>
      </p:sp>
      <p:sp>
        <p:nvSpPr>
          <p:cNvPr id="43011" name="Rectangle 3"/>
          <p:cNvSpPr>
            <a:spLocks noGrp="1" noChangeArrowheads="1"/>
          </p:cNvSpPr>
          <p:nvPr>
            <p:ph idx="1"/>
          </p:nvPr>
        </p:nvSpPr>
        <p:spPr/>
        <p:txBody>
          <a:bodyPr/>
          <a:lstStyle/>
          <a:p>
            <a:pPr eaLnBrk="1" hangingPunct="1"/>
            <a:r>
              <a:rPr lang="en-US" altLang="en-US" dirty="0"/>
              <a:t>Now need to identify objects and messages it exchanges using CRC cards.</a:t>
            </a:r>
          </a:p>
        </p:txBody>
      </p:sp>
      <p:graphicFrame>
        <p:nvGraphicFramePr>
          <p:cNvPr id="4" name="Table 3"/>
          <p:cNvGraphicFramePr>
            <a:graphicFrameLocks noGrp="1"/>
          </p:cNvGraphicFramePr>
          <p:nvPr/>
        </p:nvGraphicFramePr>
        <p:xfrm>
          <a:off x="3090900" y="2132856"/>
          <a:ext cx="6007025" cy="3947160"/>
        </p:xfrm>
        <a:graphic>
          <a:graphicData uri="http://schemas.openxmlformats.org/drawingml/2006/table">
            <a:tbl>
              <a:tblPr/>
              <a:tblGrid>
                <a:gridCol w="2991734">
                  <a:extLst>
                    <a:ext uri="{9D8B030D-6E8A-4147-A177-3AD203B41FA5}">
                      <a16:colId xmlns:a16="http://schemas.microsoft.com/office/drawing/2014/main" val="20000"/>
                    </a:ext>
                  </a:extLst>
                </a:gridCol>
                <a:gridCol w="3015291">
                  <a:extLst>
                    <a:ext uri="{9D8B030D-6E8A-4147-A177-3AD203B41FA5}">
                      <a16:colId xmlns:a16="http://schemas.microsoft.com/office/drawing/2014/main" val="20001"/>
                    </a:ext>
                  </a:extLst>
                </a:gridCol>
              </a:tblGrid>
              <a:tr h="182880">
                <a:tc gridSpan="2">
                  <a:txBody>
                    <a:bodyPr/>
                    <a:lstStyle/>
                    <a:p>
                      <a:pPr algn="l" fontAlgn="b"/>
                      <a:r>
                        <a:rPr lang="en-GB" sz="1800" b="0" i="0" u="none" strike="noStrike" dirty="0">
                          <a:solidFill>
                            <a:srgbClr val="000000"/>
                          </a:solidFill>
                          <a:effectLst/>
                          <a:latin typeface="Calibri" panose="020F0502020204030204" pitchFamily="34" charset="0"/>
                        </a:rPr>
                        <a:t>Class Name: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0"/>
                  </a:ext>
                </a:extLst>
              </a:tr>
              <a:tr h="182880">
                <a:tc gridSpan="2">
                  <a:txBody>
                    <a:bodyPr/>
                    <a:lstStyle/>
                    <a:p>
                      <a:pPr algn="l" fontAlgn="b"/>
                      <a:r>
                        <a:rPr lang="en-GB" sz="1800" b="0" i="0" u="none" strike="noStrike">
                          <a:solidFill>
                            <a:srgbClr val="000000"/>
                          </a:solidFill>
                          <a:effectLst/>
                          <a:latin typeface="Calibri" panose="020F0502020204030204" pitchFamily="34" charset="0"/>
                        </a:rPr>
                        <a:t>Superclasses: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82880">
                <a:tc gridSpan="2">
                  <a:txBody>
                    <a:bodyPr/>
                    <a:lstStyle/>
                    <a:p>
                      <a:pPr algn="l" fontAlgn="b"/>
                      <a:r>
                        <a:rPr lang="en-GB" sz="1800" b="0" i="0" u="none" strike="noStrike" dirty="0">
                          <a:solidFill>
                            <a:srgbClr val="000000"/>
                          </a:solidFill>
                          <a:effectLst/>
                          <a:latin typeface="Calibri" panose="020F0502020204030204" pitchFamily="34" charset="0"/>
                        </a:rPr>
                        <a:t>Subclasses: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2"/>
                  </a:ext>
                </a:extLst>
              </a:tr>
              <a:tr h="182880">
                <a:tc>
                  <a:txBody>
                    <a:bodyPr/>
                    <a:lstStyle/>
                    <a:p>
                      <a:pPr algn="l" fontAlgn="b"/>
                      <a:r>
                        <a:rPr lang="en-GB" sz="1800" b="0" i="0" u="none" strike="noStrike">
                          <a:solidFill>
                            <a:srgbClr val="000000"/>
                          </a:solidFill>
                          <a:effectLst/>
                          <a:latin typeface="Calibri" panose="020F0502020204030204" pitchFamily="34" charset="0"/>
                        </a:rPr>
                        <a:t>Responsibilities: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Collaborators: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2880">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2880">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ustDataLst>
      <p:tags r:id="rId1"/>
    </p:custDataLst>
    <p:extLst>
      <p:ext uri="{BB962C8B-B14F-4D97-AF65-F5344CB8AC3E}">
        <p14:creationId xmlns:p14="http://schemas.microsoft.com/office/powerpoint/2010/main" val="2320703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altLang="en-US"/>
              <a:t>CRC Cards</a:t>
            </a:r>
          </a:p>
        </p:txBody>
      </p:sp>
      <p:sp>
        <p:nvSpPr>
          <p:cNvPr id="44035" name="Rectangle 3"/>
          <p:cNvSpPr>
            <a:spLocks noGrp="1" noChangeArrowheads="1"/>
          </p:cNvSpPr>
          <p:nvPr>
            <p:ph idx="1"/>
          </p:nvPr>
        </p:nvSpPr>
        <p:spPr/>
        <p:txBody>
          <a:bodyPr/>
          <a:lstStyle/>
          <a:p>
            <a:pPr eaLnBrk="1" hangingPunct="1"/>
            <a:r>
              <a:rPr lang="en-US" altLang="en-US" dirty="0"/>
              <a:t>CRC cards are a useful tool that help design classes that you will use for any project.</a:t>
            </a:r>
          </a:p>
        </p:txBody>
      </p:sp>
      <p:graphicFrame>
        <p:nvGraphicFramePr>
          <p:cNvPr id="6" name="Table 5"/>
          <p:cNvGraphicFramePr>
            <a:graphicFrameLocks noGrp="1"/>
          </p:cNvGraphicFramePr>
          <p:nvPr/>
        </p:nvGraphicFramePr>
        <p:xfrm>
          <a:off x="3090900" y="2132856"/>
          <a:ext cx="6007025" cy="3947160"/>
        </p:xfrm>
        <a:graphic>
          <a:graphicData uri="http://schemas.openxmlformats.org/drawingml/2006/table">
            <a:tbl>
              <a:tblPr/>
              <a:tblGrid>
                <a:gridCol w="2991734">
                  <a:extLst>
                    <a:ext uri="{9D8B030D-6E8A-4147-A177-3AD203B41FA5}">
                      <a16:colId xmlns:a16="http://schemas.microsoft.com/office/drawing/2014/main" val="20000"/>
                    </a:ext>
                  </a:extLst>
                </a:gridCol>
                <a:gridCol w="3015291">
                  <a:extLst>
                    <a:ext uri="{9D8B030D-6E8A-4147-A177-3AD203B41FA5}">
                      <a16:colId xmlns:a16="http://schemas.microsoft.com/office/drawing/2014/main" val="20001"/>
                    </a:ext>
                  </a:extLst>
                </a:gridCol>
              </a:tblGrid>
              <a:tr h="182880">
                <a:tc gridSpan="2">
                  <a:txBody>
                    <a:bodyPr/>
                    <a:lstStyle/>
                    <a:p>
                      <a:pPr algn="l" fontAlgn="b"/>
                      <a:r>
                        <a:rPr lang="en-GB" sz="1800" b="0" i="0" u="none" strike="noStrike" dirty="0">
                          <a:solidFill>
                            <a:srgbClr val="000000"/>
                          </a:solidFill>
                          <a:effectLst/>
                          <a:latin typeface="Calibri" panose="020F0502020204030204" pitchFamily="34" charset="0"/>
                        </a:rPr>
                        <a:t>Class Name:</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0"/>
                  </a:ext>
                </a:extLst>
              </a:tr>
              <a:tr h="182880">
                <a:tc gridSpan="2">
                  <a:txBody>
                    <a:bodyPr/>
                    <a:lstStyle/>
                    <a:p>
                      <a:pPr algn="l" fontAlgn="b"/>
                      <a:r>
                        <a:rPr lang="en-GB" sz="1800" b="0" i="0" u="none" strike="noStrike">
                          <a:solidFill>
                            <a:srgbClr val="000000"/>
                          </a:solidFill>
                          <a:effectLst/>
                          <a:latin typeface="Calibri" panose="020F0502020204030204" pitchFamily="34" charset="0"/>
                        </a:rPr>
                        <a:t>Superclasses: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1"/>
                  </a:ext>
                </a:extLst>
              </a:tr>
              <a:tr h="182880">
                <a:tc gridSpan="2">
                  <a:txBody>
                    <a:bodyPr/>
                    <a:lstStyle/>
                    <a:p>
                      <a:pPr algn="l" fontAlgn="b"/>
                      <a:r>
                        <a:rPr lang="en-GB" sz="1800" b="0" i="0" u="none" strike="noStrike" dirty="0">
                          <a:solidFill>
                            <a:srgbClr val="000000"/>
                          </a:solidFill>
                          <a:effectLst/>
                          <a:latin typeface="Calibri" panose="020F0502020204030204" pitchFamily="34" charset="0"/>
                        </a:rPr>
                        <a:t>Subclasses: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GB"/>
                    </a:p>
                  </a:txBody>
                  <a:tcPr/>
                </a:tc>
                <a:extLst>
                  <a:ext uri="{0D108BD9-81ED-4DB2-BD59-A6C34878D82A}">
                    <a16:rowId xmlns:a16="http://schemas.microsoft.com/office/drawing/2014/main" val="10002"/>
                  </a:ext>
                </a:extLst>
              </a:tr>
              <a:tr h="182880">
                <a:tc>
                  <a:txBody>
                    <a:bodyPr/>
                    <a:lstStyle/>
                    <a:p>
                      <a:pPr algn="l" fontAlgn="b"/>
                      <a:r>
                        <a:rPr lang="en-GB" sz="1800" b="0" i="0" u="none" strike="noStrike">
                          <a:solidFill>
                            <a:srgbClr val="000000"/>
                          </a:solidFill>
                          <a:effectLst/>
                          <a:latin typeface="Calibri" panose="020F0502020204030204" pitchFamily="34" charset="0"/>
                        </a:rPr>
                        <a:t>Responsibilities: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Collaborators:</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82880">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182880">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82880">
                <a:tc>
                  <a:txBody>
                    <a:bodyPr/>
                    <a:lstStyle/>
                    <a:p>
                      <a:pPr algn="l" fontAlgn="b"/>
                      <a:r>
                        <a:rPr lang="en-GB" sz="1800" b="0" i="0" u="none" strike="noStrike">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800" b="0" i="0" u="none" strike="noStrike" dirty="0">
                          <a:solidFill>
                            <a:srgbClr val="000000"/>
                          </a:solidFill>
                          <a:effectLst/>
                          <a:latin typeface="Calibri" panose="020F0502020204030204" pitchFamily="34" charset="0"/>
                        </a:rPr>
                        <a:t> </a:t>
                      </a:r>
                    </a:p>
                  </a:txBody>
                  <a:tcPr marL="7620" marR="7620" marT="762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spTree>
    <p:custDataLst>
      <p:tags r:id="rId1"/>
    </p:custDataLst>
    <p:extLst>
      <p:ext uri="{BB962C8B-B14F-4D97-AF65-F5344CB8AC3E}">
        <p14:creationId xmlns:p14="http://schemas.microsoft.com/office/powerpoint/2010/main" val="260548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a:t>History on CRC Cards</a:t>
            </a:r>
          </a:p>
        </p:txBody>
      </p:sp>
      <p:sp>
        <p:nvSpPr>
          <p:cNvPr id="45059" name="Rectangle 3"/>
          <p:cNvSpPr>
            <a:spLocks noGrp="1" noChangeArrowheads="1"/>
          </p:cNvSpPr>
          <p:nvPr>
            <p:ph idx="1"/>
          </p:nvPr>
        </p:nvSpPr>
        <p:spPr>
          <a:xfrm>
            <a:off x="1053852" y="968829"/>
            <a:ext cx="10081120" cy="4620411"/>
          </a:xfrm>
          <a:solidFill>
            <a:schemeClr val="accent2">
              <a:lumMod val="20000"/>
              <a:lumOff val="80000"/>
            </a:schemeClr>
          </a:solidFill>
          <a:effectLst>
            <a:outerShdw blurRad="50800" dist="38100" dir="8100000" algn="tr" rotWithShape="0">
              <a:prstClr val="black">
                <a:alpha val="40000"/>
              </a:prstClr>
            </a:outerShdw>
          </a:effectLst>
        </p:spPr>
        <p:txBody>
          <a:bodyPr>
            <a:normAutofit/>
          </a:bodyPr>
          <a:lstStyle/>
          <a:p>
            <a:pPr eaLnBrk="1" hangingPunct="1"/>
            <a:endParaRPr lang="en-US" altLang="en-US" dirty="0"/>
          </a:p>
          <a:p>
            <a:pPr eaLnBrk="1" hangingPunct="1"/>
            <a:r>
              <a:rPr lang="en-US" altLang="en-US" dirty="0"/>
              <a:t>CRC cards were introduced by </a:t>
            </a:r>
            <a:r>
              <a:rPr lang="en-US" altLang="en-US" dirty="0">
                <a:solidFill>
                  <a:srgbClr val="C00000"/>
                </a:solidFill>
              </a:rPr>
              <a:t>Kent Beck and Ward Cunningham </a:t>
            </a:r>
            <a:r>
              <a:rPr lang="en-US" altLang="en-US" dirty="0"/>
              <a:t>in their paper "</a:t>
            </a:r>
            <a:r>
              <a:rPr lang="en-US" altLang="en-US" i="1" dirty="0"/>
              <a:t>A Laboratory for </a:t>
            </a:r>
            <a:r>
              <a:rPr lang="en-US" altLang="en-US" i="1" dirty="0">
                <a:solidFill>
                  <a:srgbClr val="C00000"/>
                </a:solidFill>
              </a:rPr>
              <a:t>Teaching Object-Oriented Thinking</a:t>
            </a:r>
            <a:r>
              <a:rPr lang="en-US" altLang="en-US" dirty="0"/>
              <a:t>" released in OOPLSA '89. Their original purpose was to teach programmers the object-oriented paradigm. When Kent Beck wrote the draft version of their paper, he changed Collaborators to helpers. Ward Cunningham changed it back to Collaborators when he reviewed the paper. The initials of Cunningham's son is CRC. </a:t>
            </a:r>
          </a:p>
        </p:txBody>
      </p:sp>
    </p:spTree>
    <p:custDataLst>
      <p:tags r:id="rId1"/>
    </p:custDataLst>
    <p:extLst>
      <p:ext uri="{BB962C8B-B14F-4D97-AF65-F5344CB8AC3E}">
        <p14:creationId xmlns:p14="http://schemas.microsoft.com/office/powerpoint/2010/main" val="3858278858"/>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altLang="en-US"/>
              <a:t>Why Use CRC Cards?</a:t>
            </a:r>
          </a:p>
        </p:txBody>
      </p:sp>
      <p:sp>
        <p:nvSpPr>
          <p:cNvPr id="46083" name="Rectangle 3"/>
          <p:cNvSpPr>
            <a:spLocks noGrp="1" noChangeArrowheads="1"/>
          </p:cNvSpPr>
          <p:nvPr>
            <p:ph idx="1"/>
          </p:nvPr>
        </p:nvSpPr>
        <p:spPr>
          <a:xfrm>
            <a:off x="1053852" y="968829"/>
            <a:ext cx="10081120" cy="4476395"/>
          </a:xfrm>
          <a:solidFill>
            <a:schemeClr val="bg1">
              <a:lumMod val="95000"/>
            </a:schemeClr>
          </a:solidFill>
          <a:effectLst>
            <a:outerShdw blurRad="50800" dist="38100" dir="8100000" algn="tr" rotWithShape="0">
              <a:prstClr val="black">
                <a:alpha val="40000"/>
              </a:prstClr>
            </a:outerShdw>
          </a:effectLst>
        </p:spPr>
        <p:txBody>
          <a:bodyPr/>
          <a:lstStyle/>
          <a:p>
            <a:pPr eaLnBrk="1" hangingPunct="1"/>
            <a:endParaRPr lang="en-US" altLang="en-US" sz="2800" dirty="0"/>
          </a:p>
          <a:p>
            <a:pPr eaLnBrk="1" hangingPunct="1"/>
            <a:r>
              <a:rPr lang="en-US" altLang="en-US" sz="2800" dirty="0"/>
              <a:t>They are portable. </a:t>
            </a:r>
            <a:r>
              <a:rPr lang="en-US" altLang="en-US" sz="2800" dirty="0">
                <a:solidFill>
                  <a:srgbClr val="C00000"/>
                </a:solidFill>
              </a:rPr>
              <a:t>No computers </a:t>
            </a:r>
            <a:r>
              <a:rPr lang="en-US" altLang="en-US" sz="2800" dirty="0"/>
              <a:t>are required so they can be used anywhere. </a:t>
            </a:r>
          </a:p>
          <a:p>
            <a:pPr eaLnBrk="1" hangingPunct="1"/>
            <a:r>
              <a:rPr lang="en-US" altLang="en-US" sz="2800" dirty="0"/>
              <a:t>They allow the participants to </a:t>
            </a:r>
            <a:r>
              <a:rPr lang="en-US" altLang="en-US" sz="2800" dirty="0">
                <a:solidFill>
                  <a:srgbClr val="C00000"/>
                </a:solidFill>
              </a:rPr>
              <a:t>experience first hand </a:t>
            </a:r>
            <a:r>
              <a:rPr lang="en-US" altLang="en-US" sz="2800" dirty="0"/>
              <a:t>how the system will work. No computer tool can replace the </a:t>
            </a:r>
            <a:r>
              <a:rPr lang="en-US" altLang="en-US" sz="2800" dirty="0">
                <a:solidFill>
                  <a:srgbClr val="C00000"/>
                </a:solidFill>
              </a:rPr>
              <a:t>interaction</a:t>
            </a:r>
            <a:r>
              <a:rPr lang="en-US" altLang="en-US" sz="2800" dirty="0"/>
              <a:t> that happens by physically picking up the cards and </a:t>
            </a:r>
            <a:r>
              <a:rPr lang="en-US" altLang="en-US" sz="2800" dirty="0">
                <a:solidFill>
                  <a:srgbClr val="C00000"/>
                </a:solidFill>
              </a:rPr>
              <a:t>playing the role of that object</a:t>
            </a:r>
            <a:r>
              <a:rPr lang="en-US" altLang="en-US" sz="2800" dirty="0"/>
              <a:t>.</a:t>
            </a:r>
          </a:p>
          <a:p>
            <a:pPr eaLnBrk="1" hangingPunct="1"/>
            <a:r>
              <a:rPr lang="en-US" altLang="en-US" sz="2800" dirty="0"/>
              <a:t>It is a useful tool for teaching people the object-oriented paradigm. </a:t>
            </a:r>
          </a:p>
        </p:txBody>
      </p:sp>
    </p:spTree>
    <p:custDataLst>
      <p:tags r:id="rId1"/>
    </p:custDataLst>
    <p:extLst>
      <p:ext uri="{BB962C8B-B14F-4D97-AF65-F5344CB8AC3E}">
        <p14:creationId xmlns:p14="http://schemas.microsoft.com/office/powerpoint/2010/main" val="3377888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a:t>Card CRC</a:t>
            </a:r>
          </a:p>
        </p:txBody>
      </p:sp>
      <p:graphicFrame>
        <p:nvGraphicFramePr>
          <p:cNvPr id="98425" name="Group 121"/>
          <p:cNvGraphicFramePr>
            <a:graphicFrameLocks noGrp="1"/>
          </p:cNvGraphicFramePr>
          <p:nvPr>
            <p:ph idx="1"/>
          </p:nvPr>
        </p:nvGraphicFramePr>
        <p:xfrm>
          <a:off x="1054100" y="981075"/>
          <a:ext cx="10080625" cy="4940314"/>
        </p:xfrm>
        <a:graphic>
          <a:graphicData uri="http://schemas.openxmlformats.org/drawingml/2006/table">
            <a:tbl>
              <a:tblPr/>
              <a:tblGrid>
                <a:gridCol w="4826337">
                  <a:extLst>
                    <a:ext uri="{9D8B030D-6E8A-4147-A177-3AD203B41FA5}">
                      <a16:colId xmlns:a16="http://schemas.microsoft.com/office/drawing/2014/main" val="20000"/>
                    </a:ext>
                  </a:extLst>
                </a:gridCol>
                <a:gridCol w="523051">
                  <a:extLst>
                    <a:ext uri="{9D8B030D-6E8A-4147-A177-3AD203B41FA5}">
                      <a16:colId xmlns:a16="http://schemas.microsoft.com/office/drawing/2014/main" val="20001"/>
                    </a:ext>
                  </a:extLst>
                </a:gridCol>
                <a:gridCol w="4731237">
                  <a:extLst>
                    <a:ext uri="{9D8B030D-6E8A-4147-A177-3AD203B41FA5}">
                      <a16:colId xmlns:a16="http://schemas.microsoft.com/office/drawing/2014/main" val="20002"/>
                    </a:ext>
                  </a:extLst>
                </a:gridCol>
              </a:tblGrid>
              <a:tr h="2746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rgbClr val="0070C0"/>
                          </a:solidFill>
                          <a:effectLst/>
                          <a:latin typeface="Calibri" panose="020F0502020204030204" pitchFamily="34" charset="0"/>
                          <a:ea typeface="Times New Roman" pitchFamily="18" charset="0"/>
                          <a:cs typeface="Arial" pitchFamily="34" charset="0"/>
                        </a:rPr>
                        <a:t>Class</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rgbClr val="FF3300"/>
                          </a:solidFill>
                          <a:effectLst/>
                          <a:latin typeface="Calibri" panose="020F0502020204030204" pitchFamily="34" charset="0"/>
                          <a:ea typeface="Times New Roman" pitchFamily="18" charset="0"/>
                          <a:cs typeface="Arial" pitchFamily="34" charset="0"/>
                        </a:rPr>
                        <a:t>CARD</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54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27463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rgbClr val="0070C0"/>
                          </a:solidFill>
                          <a:effectLst/>
                          <a:latin typeface="Calibri" panose="020F0502020204030204" pitchFamily="34" charset="0"/>
                          <a:ea typeface="Times New Roman" pitchFamily="18" charset="0"/>
                          <a:cs typeface="Arial" pitchFamily="34" charset="0"/>
                        </a:rPr>
                        <a:t>Responsibility</a:t>
                      </a:r>
                    </a:p>
                  </a:txBody>
                  <a:tcPr marL="114120" marR="114120" marT="45723" marB="45723"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rgbClr val="0070C0"/>
                          </a:solidFill>
                          <a:effectLst/>
                          <a:latin typeface="Calibri" panose="020F0502020204030204" pitchFamily="34" charset="0"/>
                          <a:ea typeface="Times New Roman" pitchFamily="18" charset="0"/>
                          <a:cs typeface="Arial" pitchFamily="34" charset="0"/>
                        </a:rPr>
                        <a:t>Collaborators</a:t>
                      </a:r>
                    </a:p>
                  </a:txBody>
                  <a:tcPr marL="114120" marR="114120" marT="45723" marB="45723"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rgbClr val="FF3300"/>
                          </a:solidFill>
                          <a:effectLst/>
                          <a:latin typeface="Calibri" panose="020F0502020204030204" pitchFamily="34" charset="0"/>
                          <a:ea typeface="Times New Roman" pitchFamily="18" charset="0"/>
                          <a:cs typeface="Arial" pitchFamily="34" charset="0"/>
                        </a:rPr>
                        <a:t>Get name</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rgbClr val="FF3300"/>
                          </a:solidFill>
                          <a:effectLst/>
                          <a:latin typeface="Calibri" panose="020F0502020204030204" pitchFamily="34" charset="0"/>
                          <a:ea typeface="Times New Roman" pitchFamily="18" charset="0"/>
                          <a:cs typeface="Arial" pitchFamily="34" charset="0"/>
                        </a:rPr>
                        <a:t>Deck</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rgbClr val="FF3300"/>
                          </a:solidFill>
                          <a:effectLst/>
                          <a:latin typeface="Calibri" panose="020F0502020204030204" pitchFamily="34" charset="0"/>
                          <a:ea typeface="Times New Roman" pitchFamily="18" charset="0"/>
                          <a:cs typeface="Arial" pitchFamily="34" charset="0"/>
                        </a:rPr>
                        <a:t>Get value</a:t>
                      </a: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4120" marR="11412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ustDataLst>
      <p:tags r:id="rId1"/>
    </p:custDataLst>
    <p:extLst>
      <p:ext uri="{BB962C8B-B14F-4D97-AF65-F5344CB8AC3E}">
        <p14:creationId xmlns:p14="http://schemas.microsoft.com/office/powerpoint/2010/main" val="4216171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ltLang="en-US"/>
              <a:t>Deck CRC</a:t>
            </a:r>
          </a:p>
        </p:txBody>
      </p:sp>
      <p:graphicFrame>
        <p:nvGraphicFramePr>
          <p:cNvPr id="101488" name="Group 112"/>
          <p:cNvGraphicFramePr>
            <a:graphicFrameLocks noGrp="1"/>
          </p:cNvGraphicFramePr>
          <p:nvPr>
            <p:ph idx="1"/>
          </p:nvPr>
        </p:nvGraphicFramePr>
        <p:xfrm>
          <a:off x="1054100" y="981075"/>
          <a:ext cx="10080625" cy="4813865"/>
        </p:xfrm>
        <a:graphic>
          <a:graphicData uri="http://schemas.openxmlformats.org/drawingml/2006/table">
            <a:tbl>
              <a:tblPr/>
              <a:tblGrid>
                <a:gridCol w="4828220">
                  <a:extLst>
                    <a:ext uri="{9D8B030D-6E8A-4147-A177-3AD203B41FA5}">
                      <a16:colId xmlns:a16="http://schemas.microsoft.com/office/drawing/2014/main" val="20000"/>
                    </a:ext>
                  </a:extLst>
                </a:gridCol>
                <a:gridCol w="253679">
                  <a:extLst>
                    <a:ext uri="{9D8B030D-6E8A-4147-A177-3AD203B41FA5}">
                      <a16:colId xmlns:a16="http://schemas.microsoft.com/office/drawing/2014/main" val="20001"/>
                    </a:ext>
                  </a:extLst>
                </a:gridCol>
                <a:gridCol w="4998726">
                  <a:extLst>
                    <a:ext uri="{9D8B030D-6E8A-4147-A177-3AD203B41FA5}">
                      <a16:colId xmlns:a16="http://schemas.microsoft.com/office/drawing/2014/main" val="20002"/>
                    </a:ext>
                  </a:extLst>
                </a:gridCol>
              </a:tblGrid>
              <a:tr h="323983">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Class</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DECK</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3489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3489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54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323983">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Responsibility</a:t>
                      </a:r>
                    </a:p>
                  </a:txBody>
                  <a:tcPr marL="119770" marR="119770" marT="45723" marB="45723"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Collaborators</a:t>
                      </a:r>
                    </a:p>
                  </a:txBody>
                  <a:tcPr marL="119770" marR="119770" marT="45723" marB="45723"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0123">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Reset deck</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Dealer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43204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Get deck size</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Card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43204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Get next card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360040">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Shuffle deck</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43204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Show deck</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534898">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534898">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ustDataLst>
      <p:tags r:id="rId1"/>
    </p:custDataLst>
    <p:extLst>
      <p:ext uri="{BB962C8B-B14F-4D97-AF65-F5344CB8AC3E}">
        <p14:creationId xmlns:p14="http://schemas.microsoft.com/office/powerpoint/2010/main" val="2828443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14"/>
          <p:cNvSpPr>
            <a:spLocks noGrp="1" noChangeArrowheads="1"/>
          </p:cNvSpPr>
          <p:nvPr>
            <p:ph type="title"/>
          </p:nvPr>
        </p:nvSpPr>
        <p:spPr/>
        <p:txBody>
          <a:bodyPr/>
          <a:lstStyle/>
          <a:p>
            <a:pPr eaLnBrk="1" hangingPunct="1"/>
            <a:r>
              <a:rPr lang="en-US" altLang="en-US"/>
              <a:t>Dealer CRC</a:t>
            </a:r>
          </a:p>
        </p:txBody>
      </p:sp>
      <p:graphicFrame>
        <p:nvGraphicFramePr>
          <p:cNvPr id="103647" name="Group 223"/>
          <p:cNvGraphicFramePr>
            <a:graphicFrameLocks noGrp="1"/>
          </p:cNvGraphicFramePr>
          <p:nvPr>
            <p:ph idx="1"/>
          </p:nvPr>
        </p:nvGraphicFramePr>
        <p:xfrm>
          <a:off x="1054100" y="981075"/>
          <a:ext cx="10080625" cy="4543452"/>
        </p:xfrm>
        <a:graphic>
          <a:graphicData uri="http://schemas.openxmlformats.org/drawingml/2006/table">
            <a:tbl>
              <a:tblPr/>
              <a:tblGrid>
                <a:gridCol w="4828220">
                  <a:extLst>
                    <a:ext uri="{9D8B030D-6E8A-4147-A177-3AD203B41FA5}">
                      <a16:colId xmlns:a16="http://schemas.microsoft.com/office/drawing/2014/main" val="20000"/>
                    </a:ext>
                  </a:extLst>
                </a:gridCol>
                <a:gridCol w="253679">
                  <a:extLst>
                    <a:ext uri="{9D8B030D-6E8A-4147-A177-3AD203B41FA5}">
                      <a16:colId xmlns:a16="http://schemas.microsoft.com/office/drawing/2014/main" val="20001"/>
                    </a:ext>
                  </a:extLst>
                </a:gridCol>
                <a:gridCol w="4998726">
                  <a:extLst>
                    <a:ext uri="{9D8B030D-6E8A-4147-A177-3AD203B41FA5}">
                      <a16:colId xmlns:a16="http://schemas.microsoft.com/office/drawing/2014/main" val="20002"/>
                    </a:ext>
                  </a:extLst>
                </a:gridCol>
              </a:tblGrid>
              <a:tr h="2746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Class</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Dealer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54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27463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Responsibility</a:t>
                      </a:r>
                    </a:p>
                  </a:txBody>
                  <a:tcPr marL="119770" marR="119770" marT="45723" marB="45723"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Collaborators</a:t>
                      </a:r>
                    </a:p>
                  </a:txBody>
                  <a:tcPr marL="119770" marR="119770" marT="45723" marB="45723"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Start a new game</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Get a card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Player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Deck</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ustDataLst>
      <p:tags r:id="rId1"/>
    </p:custDataLst>
    <p:extLst>
      <p:ext uri="{BB962C8B-B14F-4D97-AF65-F5344CB8AC3E}">
        <p14:creationId xmlns:p14="http://schemas.microsoft.com/office/powerpoint/2010/main" val="2539232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a:spLocks noGrp="1" noChangeArrowheads="1"/>
          </p:cNvSpPr>
          <p:nvPr>
            <p:ph type="title"/>
          </p:nvPr>
        </p:nvSpPr>
        <p:spPr/>
        <p:txBody>
          <a:bodyPr/>
          <a:lstStyle/>
          <a:p>
            <a:pPr eaLnBrk="1" hangingPunct="1"/>
            <a:r>
              <a:rPr lang="en-US" altLang="en-US"/>
              <a:t>Player CRC</a:t>
            </a:r>
          </a:p>
        </p:txBody>
      </p:sp>
      <p:graphicFrame>
        <p:nvGraphicFramePr>
          <p:cNvPr id="106609" name="Group 113"/>
          <p:cNvGraphicFramePr>
            <a:graphicFrameLocks noGrp="1"/>
          </p:cNvGraphicFramePr>
          <p:nvPr>
            <p:ph idx="1"/>
          </p:nvPr>
        </p:nvGraphicFramePr>
        <p:xfrm>
          <a:off x="1054100" y="981075"/>
          <a:ext cx="10080625" cy="4543452"/>
        </p:xfrm>
        <a:graphic>
          <a:graphicData uri="http://schemas.openxmlformats.org/drawingml/2006/table">
            <a:tbl>
              <a:tblPr/>
              <a:tblGrid>
                <a:gridCol w="4828220">
                  <a:extLst>
                    <a:ext uri="{9D8B030D-6E8A-4147-A177-3AD203B41FA5}">
                      <a16:colId xmlns:a16="http://schemas.microsoft.com/office/drawing/2014/main" val="20000"/>
                    </a:ext>
                  </a:extLst>
                </a:gridCol>
                <a:gridCol w="253679">
                  <a:extLst>
                    <a:ext uri="{9D8B030D-6E8A-4147-A177-3AD203B41FA5}">
                      <a16:colId xmlns:a16="http://schemas.microsoft.com/office/drawing/2014/main" val="20001"/>
                    </a:ext>
                  </a:extLst>
                </a:gridCol>
                <a:gridCol w="4998726">
                  <a:extLst>
                    <a:ext uri="{9D8B030D-6E8A-4147-A177-3AD203B41FA5}">
                      <a16:colId xmlns:a16="http://schemas.microsoft.com/office/drawing/2014/main" val="20002"/>
                    </a:ext>
                  </a:extLst>
                </a:gridCol>
              </a:tblGrid>
              <a:tr h="2746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Class</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Player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54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27463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Responsibility</a:t>
                      </a:r>
                    </a:p>
                  </a:txBody>
                  <a:tcPr marL="119770" marR="119770" marT="45723" marB="45723"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Collaborators</a:t>
                      </a:r>
                    </a:p>
                  </a:txBody>
                  <a:tcPr marL="119770" marR="119770" marT="45723" marB="45723"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Want more cards?</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Get a card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Dealer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Show 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Get value of 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ustDataLst>
      <p:tags r:id="rId1"/>
    </p:custDataLst>
    <p:extLst>
      <p:ext uri="{BB962C8B-B14F-4D97-AF65-F5344CB8AC3E}">
        <p14:creationId xmlns:p14="http://schemas.microsoft.com/office/powerpoint/2010/main" val="4040256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ltLang="en-US" dirty="0"/>
              <a:t>Hand CRC</a:t>
            </a:r>
          </a:p>
        </p:txBody>
      </p:sp>
      <p:graphicFrame>
        <p:nvGraphicFramePr>
          <p:cNvPr id="111728" name="Group 112"/>
          <p:cNvGraphicFramePr>
            <a:graphicFrameLocks noGrp="1"/>
          </p:cNvGraphicFramePr>
          <p:nvPr>
            <p:ph idx="1"/>
          </p:nvPr>
        </p:nvGraphicFramePr>
        <p:xfrm>
          <a:off x="1054100" y="981075"/>
          <a:ext cx="10080625" cy="4543452"/>
        </p:xfrm>
        <a:graphic>
          <a:graphicData uri="http://schemas.openxmlformats.org/drawingml/2006/table">
            <a:tbl>
              <a:tblPr/>
              <a:tblGrid>
                <a:gridCol w="4828220">
                  <a:extLst>
                    <a:ext uri="{9D8B030D-6E8A-4147-A177-3AD203B41FA5}">
                      <a16:colId xmlns:a16="http://schemas.microsoft.com/office/drawing/2014/main" val="20000"/>
                    </a:ext>
                  </a:extLst>
                </a:gridCol>
                <a:gridCol w="253679">
                  <a:extLst>
                    <a:ext uri="{9D8B030D-6E8A-4147-A177-3AD203B41FA5}">
                      <a16:colId xmlns:a16="http://schemas.microsoft.com/office/drawing/2014/main" val="20001"/>
                    </a:ext>
                  </a:extLst>
                </a:gridCol>
                <a:gridCol w="4998726">
                  <a:extLst>
                    <a:ext uri="{9D8B030D-6E8A-4147-A177-3AD203B41FA5}">
                      <a16:colId xmlns:a16="http://schemas.microsoft.com/office/drawing/2014/main" val="20002"/>
                    </a:ext>
                  </a:extLst>
                </a:gridCol>
              </a:tblGrid>
              <a:tr h="274638">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Class</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503237">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254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r h="274638">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Responsibility</a:t>
                      </a:r>
                    </a:p>
                  </a:txBody>
                  <a:tcPr marL="119770" marR="119770" marT="45723" marB="45723"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Collaborators</a:t>
                      </a:r>
                    </a:p>
                  </a:txBody>
                  <a:tcPr marL="119770" marR="119770" marT="45723" marB="45723"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Return value</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Player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Calibri" panose="020F0502020204030204" pitchFamily="34" charset="0"/>
                          <a:ea typeface="Times New Roman" pitchFamily="18" charset="0"/>
                          <a:cs typeface="Arial" pitchFamily="34" charset="0"/>
                        </a:rPr>
                        <a:t>Add a card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Dealer</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5"/>
                  </a:ext>
                </a:extLst>
              </a:tr>
              <a:tr h="274638">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Show hand</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6"/>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7"/>
                  </a:ext>
                </a:extLst>
              </a:tr>
              <a:tr h="503237">
                <a:tc gridSpan="2">
                  <a:txBody>
                    <a:bodyPr/>
                    <a:lstStyle/>
                    <a:p>
                      <a:pPr marL="342900" marR="0" lvl="0" indent="-342900" algn="just" defTabSz="914400" rtl="0" eaLnBrk="1" fontAlgn="base" latinLnBrk="0" hangingPunct="1">
                        <a:lnSpc>
                          <a:spcPct val="100000"/>
                        </a:lnSpc>
                        <a:spcBef>
                          <a:spcPct val="0"/>
                        </a:spcBef>
                        <a:spcAft>
                          <a:spcPct val="0"/>
                        </a:spcAft>
                        <a:buClrTx/>
                        <a:buSzTx/>
                        <a:buFontTx/>
                        <a:buNone/>
                        <a:tabLst/>
                      </a:pPr>
                      <a:r>
                        <a:rPr kumimoji="0" lang="en-GB" altLang="en-US" sz="1400" b="1" i="0" u="none" strike="noStrike" cap="none" normalizeH="0" baseline="0">
                          <a:ln>
                            <a:noFill/>
                          </a:ln>
                          <a:solidFill>
                            <a:schemeClr val="tx1"/>
                          </a:solidFill>
                          <a:effectLst/>
                          <a:latin typeface="Calibri" panose="020F0502020204030204" pitchFamily="34" charset="0"/>
                          <a:ea typeface="Times New Roman" pitchFamily="18" charset="0"/>
                          <a:cs typeface="Arial" pitchFamily="34" charset="0"/>
                        </a:rPr>
                        <a:t> </a:t>
                      </a: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8"/>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9"/>
                  </a:ext>
                </a:extLst>
              </a:tr>
              <a:tr h="503237">
                <a:tc gridSpan="2">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en-US" altLang="en-US" sz="1400" b="1" i="0" u="none" strike="noStrike" cap="none" normalizeH="0" baseline="0" dirty="0">
                        <a:ln>
                          <a:noFill/>
                        </a:ln>
                        <a:solidFill>
                          <a:schemeClr val="tx1"/>
                        </a:solidFill>
                        <a:effectLst/>
                        <a:latin typeface="Calibri" panose="020F0502020204030204" pitchFamily="34" charset="0"/>
                      </a:endParaRPr>
                    </a:p>
                  </a:txBody>
                  <a:tcPr marL="119770" marR="119770" marT="45723" marB="45723"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ustDataLst>
      <p:tags r:id="rId1"/>
    </p:custDataLst>
    <p:extLst>
      <p:ext uri="{BB962C8B-B14F-4D97-AF65-F5344CB8AC3E}">
        <p14:creationId xmlns:p14="http://schemas.microsoft.com/office/powerpoint/2010/main" val="109712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ext Box 5"/>
          <p:cNvSpPr txBox="1">
            <a:spLocks noChangeArrowheads="1"/>
          </p:cNvSpPr>
          <p:nvPr/>
        </p:nvSpPr>
        <p:spPr bwMode="auto">
          <a:xfrm>
            <a:off x="1053852" y="980728"/>
            <a:ext cx="4246802" cy="35394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60000" indent="-360000">
              <a:buFont typeface="Wingdings" panose="05000000000000000000" pitchFamily="2" charset="2"/>
              <a:buChar char="§"/>
            </a:pPr>
            <a:r>
              <a:rPr lang="en-US" altLang="en-US" sz="2800" dirty="0">
                <a:latin typeface="Calibri" panose="020F0502020204030204" pitchFamily="34" charset="0"/>
              </a:rPr>
              <a:t>UML shows structure of class along with attributes and methods.</a:t>
            </a:r>
          </a:p>
          <a:p>
            <a:pPr marL="360000" indent="-360000">
              <a:buFont typeface="Wingdings" panose="05000000000000000000" pitchFamily="2" charset="2"/>
              <a:buChar char="§"/>
            </a:pPr>
            <a:r>
              <a:rPr lang="en-US" altLang="en-US" sz="2800" dirty="0">
                <a:latin typeface="Calibri" panose="020F0502020204030204" pitchFamily="34" charset="0"/>
              </a:rPr>
              <a:t>A plus sign represents whether the attribute or method is public and a minus sign means it’s private.</a:t>
            </a:r>
          </a:p>
        </p:txBody>
      </p:sp>
      <p:sp>
        <p:nvSpPr>
          <p:cNvPr id="1028" name="Rectangle 6"/>
          <p:cNvSpPr>
            <a:spLocks noGrp="1" noChangeArrowheads="1"/>
          </p:cNvSpPr>
          <p:nvPr>
            <p:ph type="title"/>
          </p:nvPr>
        </p:nvSpPr>
        <p:spPr/>
        <p:txBody>
          <a:bodyPr/>
          <a:lstStyle/>
          <a:p>
            <a:pPr eaLnBrk="1" hangingPunct="1"/>
            <a:r>
              <a:rPr lang="en-US" altLang="en-US" dirty="0"/>
              <a:t>Blackjack UML</a:t>
            </a:r>
          </a:p>
        </p:txBody>
      </p:sp>
      <p:graphicFrame>
        <p:nvGraphicFramePr>
          <p:cNvPr id="1026" name="Object 4" hidden="1"/>
          <p:cNvGraphicFramePr>
            <a:graphicFrameLocks noChangeAspect="1"/>
          </p:cNvGraphicFramePr>
          <p:nvPr/>
        </p:nvGraphicFramePr>
        <p:xfrm>
          <a:off x="-1824211" y="1134482"/>
          <a:ext cx="5345113" cy="4800600"/>
        </p:xfrm>
        <a:graphic>
          <a:graphicData uri="http://schemas.openxmlformats.org/presentationml/2006/ole">
            <mc:AlternateContent xmlns:mc="http://schemas.openxmlformats.org/markup-compatibility/2006">
              <mc:Choice xmlns:v="urn:schemas-microsoft-com:vml" Requires="v">
                <p:oleObj name="Image" r:id="rId4" imgW="4297689" imgH="3858449" progId="Photoshop.Image.8">
                  <p:embed/>
                </p:oleObj>
              </mc:Choice>
              <mc:Fallback>
                <p:oleObj name="Image" r:id="rId4" imgW="4297689" imgH="3858449" progId="Photoshop.Image.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4211" y="1134482"/>
                        <a:ext cx="5345113" cy="4800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TextBox 2"/>
          <p:cNvSpPr txBox="1"/>
          <p:nvPr/>
        </p:nvSpPr>
        <p:spPr>
          <a:xfrm>
            <a:off x="6254045" y="794089"/>
            <a:ext cx="1872208" cy="1569660"/>
          </a:xfrm>
          <a:prstGeom prst="rect">
            <a:avLst/>
          </a:prstGeom>
          <a:noFill/>
          <a:ln w="19050">
            <a:solidFill>
              <a:schemeClr val="tx1"/>
            </a:solidFill>
          </a:ln>
        </p:spPr>
        <p:txBody>
          <a:bodyPr wrap="square" rtlCol="0">
            <a:spAutoFit/>
          </a:bodyPr>
          <a:lstStyle/>
          <a:p>
            <a:pPr algn="ctr"/>
            <a:r>
              <a:rPr lang="en-US" sz="1200" b="1" dirty="0">
                <a:latin typeface="Calibri" panose="020F0502020204030204" pitchFamily="34" charset="0"/>
              </a:rPr>
              <a:t>Hand</a:t>
            </a:r>
          </a:p>
          <a:p>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value:Int</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hand:Vector</a:t>
            </a:r>
            <a:endParaRPr lang="en-US" sz="1200" dirty="0">
              <a:latin typeface="Calibri" panose="020F0502020204030204" pitchFamily="34" charset="0"/>
            </a:endParaRPr>
          </a:p>
          <a:p>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getValue:Int</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addToHand:void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showHand:void</a:t>
            </a:r>
            <a:endParaRPr lang="en-GB" sz="1200" dirty="0">
              <a:latin typeface="Calibri" panose="020F0502020204030204" pitchFamily="34" charset="0"/>
            </a:endParaRPr>
          </a:p>
        </p:txBody>
      </p:sp>
      <p:sp>
        <p:nvSpPr>
          <p:cNvPr id="7" name="TextBox 6"/>
          <p:cNvSpPr txBox="1"/>
          <p:nvPr/>
        </p:nvSpPr>
        <p:spPr>
          <a:xfrm>
            <a:off x="8989255" y="724000"/>
            <a:ext cx="1872208" cy="1754326"/>
          </a:xfrm>
          <a:prstGeom prst="rect">
            <a:avLst/>
          </a:prstGeom>
          <a:noFill/>
          <a:ln w="19050">
            <a:solidFill>
              <a:schemeClr val="tx1"/>
            </a:solidFill>
          </a:ln>
        </p:spPr>
        <p:txBody>
          <a:bodyPr wrap="square" rtlCol="0">
            <a:spAutoFit/>
          </a:bodyPr>
          <a:lstStyle/>
          <a:p>
            <a:pPr algn="ctr"/>
            <a:r>
              <a:rPr lang="en-US" sz="1200" b="1" dirty="0">
                <a:latin typeface="Calibri" panose="020F0502020204030204" pitchFamily="34" charset="0"/>
              </a:rPr>
              <a:t>Player</a:t>
            </a:r>
          </a:p>
          <a:p>
            <a:endParaRPr lang="en-US" sz="1200" dirty="0">
              <a:latin typeface="Calibri" panose="020F0502020204030204" pitchFamily="34" charset="0"/>
            </a:endParaRPr>
          </a:p>
          <a:p>
            <a:r>
              <a:rPr lang="en-US" sz="1200" dirty="0" err="1">
                <a:latin typeface="Calibri" panose="020F0502020204030204" pitchFamily="34" charset="0"/>
              </a:rPr>
              <a:t>limit:Int</a:t>
            </a:r>
            <a:endParaRPr lang="en-US" sz="1200" dirty="0">
              <a:latin typeface="Calibri" panose="020F0502020204030204" pitchFamily="34" charset="0"/>
            </a:endParaRPr>
          </a:p>
          <a:p>
            <a:endParaRPr lang="en-US" sz="1200" dirty="0">
              <a:latin typeface="Calibri" panose="020F0502020204030204" pitchFamily="34" charset="0"/>
            </a:endParaRPr>
          </a:p>
          <a:p>
            <a:r>
              <a:rPr lang="en-US" sz="1200" dirty="0">
                <a:latin typeface="Calibri" panose="020F0502020204030204" pitchFamily="34" charset="0"/>
              </a:rPr>
              <a:t>Player:</a:t>
            </a:r>
          </a:p>
          <a:p>
            <a:r>
              <a:rPr lang="en-US" sz="1200" dirty="0">
                <a:latin typeface="Calibri" panose="020F0502020204030204" pitchFamily="34" charset="0"/>
              </a:rPr>
              <a:t>+</a:t>
            </a:r>
            <a:r>
              <a:rPr lang="en-US" sz="1200" dirty="0" err="1">
                <a:latin typeface="Calibri" panose="020F0502020204030204" pitchFamily="34" charset="0"/>
              </a:rPr>
              <a:t>moreCards:boolean</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getCard:void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showHand:void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getValueOfHand:int</a:t>
            </a:r>
            <a:endParaRPr lang="en-GB" sz="1200" dirty="0">
              <a:latin typeface="Calibri" panose="020F0502020204030204" pitchFamily="34" charset="0"/>
            </a:endParaRPr>
          </a:p>
        </p:txBody>
      </p:sp>
      <p:sp>
        <p:nvSpPr>
          <p:cNvPr id="8" name="TextBox 7"/>
          <p:cNvSpPr txBox="1"/>
          <p:nvPr/>
        </p:nvSpPr>
        <p:spPr>
          <a:xfrm>
            <a:off x="7447857" y="2856074"/>
            <a:ext cx="1872208" cy="830997"/>
          </a:xfrm>
          <a:prstGeom prst="rect">
            <a:avLst/>
          </a:prstGeom>
          <a:noFill/>
          <a:ln w="19050">
            <a:solidFill>
              <a:schemeClr val="tx1"/>
            </a:solidFill>
          </a:ln>
        </p:spPr>
        <p:txBody>
          <a:bodyPr wrap="square" rtlCol="0">
            <a:spAutoFit/>
          </a:bodyPr>
          <a:lstStyle/>
          <a:p>
            <a:pPr algn="ctr"/>
            <a:r>
              <a:rPr lang="en-US" sz="1200" b="1" dirty="0">
                <a:latin typeface="Calibri" panose="020F0502020204030204" pitchFamily="34" charset="0"/>
              </a:rPr>
              <a:t>Dealer</a:t>
            </a:r>
          </a:p>
          <a:p>
            <a:endParaRPr lang="en-US" sz="1200" dirty="0">
              <a:latin typeface="Calibri" panose="020F0502020204030204" pitchFamily="34" charset="0"/>
            </a:endParaRPr>
          </a:p>
          <a:p>
            <a:r>
              <a:rPr lang="en-US" sz="1200" dirty="0" err="1">
                <a:latin typeface="Calibri" panose="020F0502020204030204" pitchFamily="34" charset="0"/>
              </a:rPr>
              <a:t>startNewGame:void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getCard:Card</a:t>
            </a:r>
            <a:endParaRPr lang="en-GB" sz="1200" dirty="0">
              <a:latin typeface="Calibri" panose="020F0502020204030204" pitchFamily="34" charset="0"/>
            </a:endParaRPr>
          </a:p>
        </p:txBody>
      </p:sp>
      <p:sp>
        <p:nvSpPr>
          <p:cNvPr id="9" name="TextBox 8"/>
          <p:cNvSpPr txBox="1"/>
          <p:nvPr/>
        </p:nvSpPr>
        <p:spPr>
          <a:xfrm>
            <a:off x="6516810" y="3882805"/>
            <a:ext cx="1584176" cy="2308324"/>
          </a:xfrm>
          <a:prstGeom prst="rect">
            <a:avLst/>
          </a:prstGeom>
          <a:noFill/>
          <a:ln w="19050">
            <a:solidFill>
              <a:schemeClr val="tx1"/>
            </a:solidFill>
          </a:ln>
        </p:spPr>
        <p:txBody>
          <a:bodyPr wrap="square" rtlCol="0">
            <a:spAutoFit/>
          </a:bodyPr>
          <a:lstStyle/>
          <a:p>
            <a:pPr algn="ctr"/>
            <a:r>
              <a:rPr lang="en-US" sz="1200" b="1" dirty="0">
                <a:latin typeface="Calibri" panose="020F0502020204030204" pitchFamily="34" charset="0"/>
              </a:rPr>
              <a:t>Card</a:t>
            </a:r>
          </a:p>
          <a:p>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name:String</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value:int</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suit:String</a:t>
            </a:r>
            <a:endParaRPr lang="en-US" sz="1200" dirty="0">
              <a:latin typeface="Calibri" panose="020F0502020204030204" pitchFamily="34" charset="0"/>
            </a:endParaRPr>
          </a:p>
          <a:p>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getName:String</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getValue:int</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getSuit:String</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setName:void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setValue:void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setSuit:void</a:t>
            </a:r>
            <a:endParaRPr lang="en-GB" sz="1200" dirty="0">
              <a:latin typeface="Calibri" panose="020F0502020204030204" pitchFamily="34" charset="0"/>
            </a:endParaRPr>
          </a:p>
        </p:txBody>
      </p:sp>
      <p:sp>
        <p:nvSpPr>
          <p:cNvPr id="10" name="TextBox 9"/>
          <p:cNvSpPr txBox="1"/>
          <p:nvPr/>
        </p:nvSpPr>
        <p:spPr>
          <a:xfrm>
            <a:off x="9478788" y="2660358"/>
            <a:ext cx="1855687" cy="3600986"/>
          </a:xfrm>
          <a:prstGeom prst="rect">
            <a:avLst/>
          </a:prstGeom>
          <a:noFill/>
          <a:ln w="19050">
            <a:solidFill>
              <a:schemeClr val="tx1"/>
            </a:solidFill>
          </a:ln>
        </p:spPr>
        <p:txBody>
          <a:bodyPr wrap="square" rtlCol="0">
            <a:spAutoFit/>
          </a:bodyPr>
          <a:lstStyle/>
          <a:p>
            <a:pPr algn="ctr"/>
            <a:r>
              <a:rPr lang="en-US" sz="1200" b="1" dirty="0">
                <a:latin typeface="Calibri" panose="020F0502020204030204" pitchFamily="34" charset="0"/>
              </a:rPr>
              <a:t>Deck</a:t>
            </a:r>
          </a:p>
          <a:p>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cards:Vector</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shuffledCards:Vector</a:t>
            </a:r>
            <a:endParaRPr lang="en-US" sz="1200" dirty="0">
              <a:latin typeface="Calibri" panose="020F0502020204030204" pitchFamily="34" charset="0"/>
            </a:endParaRPr>
          </a:p>
          <a:p>
            <a:r>
              <a:rPr lang="en-US" sz="1200" dirty="0" err="1">
                <a:latin typeface="Calibri" panose="020F0502020204030204" pitchFamily="34" charset="0"/>
              </a:rPr>
              <a:t>Random:Random</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nextItem:int</a:t>
            </a:r>
            <a:endParaRPr lang="en-US" sz="1200" dirty="0">
              <a:latin typeface="Calibri" panose="020F0502020204030204" pitchFamily="34" charset="0"/>
            </a:endParaRPr>
          </a:p>
          <a:p>
            <a:endParaRPr lang="en-US" sz="1200" dirty="0">
              <a:latin typeface="Calibri" panose="020F0502020204030204" pitchFamily="34" charset="0"/>
            </a:endParaRPr>
          </a:p>
          <a:p>
            <a:r>
              <a:rPr lang="en-US" sz="1200" dirty="0">
                <a:latin typeface="Calibri" panose="020F0502020204030204" pitchFamily="34" charset="0"/>
              </a:rPr>
              <a:t>Deck:</a:t>
            </a:r>
          </a:p>
          <a:p>
            <a:r>
              <a:rPr lang="en-US" sz="1200" dirty="0">
                <a:latin typeface="Calibri" panose="020F0502020204030204" pitchFamily="34" charset="0"/>
              </a:rPr>
              <a:t>+</a:t>
            </a:r>
            <a:r>
              <a:rPr lang="en-US" sz="1200" dirty="0" err="1">
                <a:latin typeface="Calibri" panose="020F0502020204030204" pitchFamily="34" charset="0"/>
              </a:rPr>
              <a:t>resetDeck:void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getDeckSize:int</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getNextCard:Card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shuffleDeck:void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showOriginalDeck:void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showShuffleDeck:void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completeDeck:void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createHearts:void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createSpades:void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createClubs:void</a:t>
            </a:r>
            <a:endParaRPr lang="en-US" sz="1200" dirty="0">
              <a:latin typeface="Calibri" panose="020F0502020204030204" pitchFamily="34" charset="0"/>
            </a:endParaRPr>
          </a:p>
          <a:p>
            <a:r>
              <a:rPr lang="en-US" sz="1200" dirty="0">
                <a:latin typeface="Calibri" panose="020F0502020204030204" pitchFamily="34" charset="0"/>
              </a:rPr>
              <a:t>-</a:t>
            </a:r>
            <a:r>
              <a:rPr lang="en-US" sz="1200" dirty="0" err="1">
                <a:latin typeface="Calibri" panose="020F0502020204030204" pitchFamily="34" charset="0"/>
              </a:rPr>
              <a:t>createDiamonds:void</a:t>
            </a:r>
            <a:endParaRPr lang="en-GB" sz="1200" dirty="0">
              <a:latin typeface="Calibri" panose="020F0502020204030204" pitchFamily="34" charset="0"/>
            </a:endParaRPr>
          </a:p>
        </p:txBody>
      </p:sp>
      <p:cxnSp>
        <p:nvCxnSpPr>
          <p:cNvPr id="4" name="Straight Connector 3"/>
          <p:cNvCxnSpPr/>
          <p:nvPr/>
        </p:nvCxnSpPr>
        <p:spPr>
          <a:xfrm>
            <a:off x="6273597" y="1090898"/>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a:off x="6273597" y="1674022"/>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p:cNvCxnSpPr/>
          <p:nvPr/>
        </p:nvCxnSpPr>
        <p:spPr>
          <a:xfrm>
            <a:off x="9008824" y="993449"/>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p:cNvCxnSpPr/>
          <p:nvPr/>
        </p:nvCxnSpPr>
        <p:spPr>
          <a:xfrm>
            <a:off x="9011571" y="1427492"/>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a:off x="7483861" y="3166626"/>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6" name="Straight Connector 15"/>
          <p:cNvCxnSpPr/>
          <p:nvPr/>
        </p:nvCxnSpPr>
        <p:spPr>
          <a:xfrm>
            <a:off x="7483861" y="3140968"/>
            <a:ext cx="1800200"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a:off x="9533211" y="2924944"/>
            <a:ext cx="1728000"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p:cNvCxnSpPr/>
          <p:nvPr/>
        </p:nvCxnSpPr>
        <p:spPr>
          <a:xfrm>
            <a:off x="9533211" y="3933056"/>
            <a:ext cx="1728000" cy="0"/>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p:cNvCxnSpPr/>
          <p:nvPr/>
        </p:nvCxnSpPr>
        <p:spPr>
          <a:xfrm>
            <a:off x="6580628" y="4197642"/>
            <a:ext cx="1440000" cy="0"/>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p:cNvCxnSpPr/>
          <p:nvPr/>
        </p:nvCxnSpPr>
        <p:spPr>
          <a:xfrm>
            <a:off x="6592351" y="4941168"/>
            <a:ext cx="1440000"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p:cNvCxnSpPr/>
          <p:nvPr/>
        </p:nvCxnSpPr>
        <p:spPr>
          <a:xfrm>
            <a:off x="8074788" y="5517232"/>
            <a:ext cx="1404000" cy="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p:cNvCxnSpPr>
            <a:stCxn id="3" idx="2"/>
          </p:cNvCxnSpPr>
          <p:nvPr/>
        </p:nvCxnSpPr>
        <p:spPr>
          <a:xfrm>
            <a:off x="7190149" y="2363749"/>
            <a:ext cx="786137" cy="488840"/>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p:cNvCxnSpPr/>
          <p:nvPr/>
        </p:nvCxnSpPr>
        <p:spPr>
          <a:xfrm>
            <a:off x="9118748" y="2478326"/>
            <a:ext cx="0" cy="374263"/>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p:cNvCxnSpPr/>
          <p:nvPr/>
        </p:nvCxnSpPr>
        <p:spPr>
          <a:xfrm flipH="1" flipV="1">
            <a:off x="8110636" y="1674022"/>
            <a:ext cx="864000" cy="0"/>
          </a:xfrm>
          <a:prstGeom prst="line">
            <a:avLst/>
          </a:prstGeom>
        </p:spPr>
        <p:style>
          <a:lnRef idx="2">
            <a:schemeClr val="dk1"/>
          </a:lnRef>
          <a:fillRef idx="0">
            <a:schemeClr val="dk1"/>
          </a:fillRef>
          <a:effectRef idx="1">
            <a:schemeClr val="dk1"/>
          </a:effectRef>
          <a:fontRef idx="minor">
            <a:schemeClr val="tx1"/>
          </a:fontRef>
        </p:style>
      </p:cxnSp>
      <p:cxnSp>
        <p:nvCxnSpPr>
          <p:cNvPr id="29" name="Straight Connector 28"/>
          <p:cNvCxnSpPr>
            <a:stCxn id="8" idx="3"/>
          </p:cNvCxnSpPr>
          <p:nvPr/>
        </p:nvCxnSpPr>
        <p:spPr>
          <a:xfrm flipV="1">
            <a:off x="9320065" y="3270413"/>
            <a:ext cx="158723" cy="1160"/>
          </a:xfrm>
          <a:prstGeom prst="line">
            <a:avLst/>
          </a:prstGeom>
        </p:spPr>
        <p:style>
          <a:lnRef idx="2">
            <a:schemeClr val="dk1"/>
          </a:lnRef>
          <a:fillRef idx="0">
            <a:schemeClr val="dk1"/>
          </a:fillRef>
          <a:effectRef idx="1">
            <a:schemeClr val="dk1"/>
          </a:effectRef>
          <a:fontRef idx="minor">
            <a:schemeClr val="tx1"/>
          </a:fontRef>
        </p:style>
      </p:cxnSp>
    </p:spTree>
    <p:custDataLst>
      <p:tags r:id="rId1"/>
    </p:custDataLst>
    <p:extLst>
      <p:ext uri="{BB962C8B-B14F-4D97-AF65-F5344CB8AC3E}">
        <p14:creationId xmlns:p14="http://schemas.microsoft.com/office/powerpoint/2010/main" val="234827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sosceles Triangle 1"/>
          <p:cNvSpPr/>
          <p:nvPr/>
        </p:nvSpPr>
        <p:spPr>
          <a:xfrm rot="5400000">
            <a:off x="9496790" y="2402886"/>
            <a:ext cx="3888432" cy="612068"/>
          </a:xfrm>
          <a:prstGeom prst="triangle">
            <a:avLst/>
          </a:prstGeom>
          <a:solidFill>
            <a:schemeClr val="accent5">
              <a:lumMod val="40000"/>
              <a:lumOff val="6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226" name="Rectangle 2"/>
          <p:cNvSpPr>
            <a:spLocks noGrp="1" noChangeArrowheads="1"/>
          </p:cNvSpPr>
          <p:nvPr>
            <p:ph type="title"/>
          </p:nvPr>
        </p:nvSpPr>
        <p:spPr/>
        <p:txBody>
          <a:bodyPr/>
          <a:lstStyle/>
          <a:p>
            <a:pPr eaLnBrk="1" hangingPunct="1"/>
            <a:r>
              <a:rPr lang="en-US" altLang="en-US" dirty="0"/>
              <a:t>What’s next ?</a:t>
            </a:r>
          </a:p>
        </p:txBody>
      </p:sp>
      <p:sp>
        <p:nvSpPr>
          <p:cNvPr id="52227" name="Rectangle 3"/>
          <p:cNvSpPr>
            <a:spLocks noGrp="1" noChangeArrowheads="1"/>
          </p:cNvSpPr>
          <p:nvPr>
            <p:ph idx="1"/>
          </p:nvPr>
        </p:nvSpPr>
        <p:spPr>
          <a:xfrm>
            <a:off x="1053852" y="1010783"/>
            <a:ext cx="10081120" cy="3396275"/>
          </a:xfrm>
          <a:solidFill>
            <a:schemeClr val="accent5">
              <a:lumMod val="40000"/>
              <a:lumOff val="60000"/>
            </a:schemeClr>
          </a:solidFill>
          <a:effectLst>
            <a:outerShdw blurRad="50800" dist="38100" dir="5400000" algn="t" rotWithShape="0">
              <a:prstClr val="black">
                <a:alpha val="40000"/>
              </a:prstClr>
            </a:outerShdw>
          </a:effectLst>
        </p:spPr>
        <p:txBody>
          <a:bodyPr/>
          <a:lstStyle/>
          <a:p>
            <a:pPr eaLnBrk="1" hangingPunct="1"/>
            <a:r>
              <a:rPr lang="en-US" altLang="en-US" dirty="0"/>
              <a:t>Designing of classes requires further thinking.</a:t>
            </a:r>
          </a:p>
          <a:p>
            <a:pPr eaLnBrk="1" hangingPunct="1"/>
            <a:r>
              <a:rPr lang="en-US" altLang="en-US" dirty="0"/>
              <a:t>Teams are created and much discussion is done to generate good software design.</a:t>
            </a:r>
          </a:p>
          <a:p>
            <a:pPr eaLnBrk="1" hangingPunct="1"/>
            <a:r>
              <a:rPr lang="en-US" altLang="en-US" dirty="0"/>
              <a:t>Is your design complete?</a:t>
            </a:r>
          </a:p>
          <a:p>
            <a:pPr eaLnBrk="1" hangingPunct="1"/>
            <a:r>
              <a:rPr lang="en-US" altLang="en-US" dirty="0"/>
              <a:t>Will there be changes along the way?</a:t>
            </a:r>
          </a:p>
          <a:p>
            <a:pPr eaLnBrk="1" hangingPunct="1"/>
            <a:r>
              <a:rPr lang="en-US" altLang="en-US" dirty="0"/>
              <a:t>Changes do take place but at least what you have here is a start to write the code.</a:t>
            </a:r>
          </a:p>
          <a:p>
            <a:pPr eaLnBrk="1" hangingPunct="1"/>
            <a:endParaRPr lang="en-US" altLang="en-US" dirty="0"/>
          </a:p>
        </p:txBody>
      </p:sp>
    </p:spTree>
    <p:custDataLst>
      <p:tags r:id="rId1"/>
    </p:custDataLst>
    <p:extLst>
      <p:ext uri="{BB962C8B-B14F-4D97-AF65-F5344CB8AC3E}">
        <p14:creationId xmlns:p14="http://schemas.microsoft.com/office/powerpoint/2010/main" val="11957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Lst>
</file>

<file path=ppt/tags/tag11.xml><?xml version="1.0" encoding="utf-8"?>
<p:tagLst xmlns:a="http://schemas.openxmlformats.org/drawingml/2006/main" xmlns:r="http://schemas.openxmlformats.org/officeDocument/2006/relationships" xmlns:p="http://schemas.openxmlformats.org/presentationml/2006/main">
  <p:tag name="NOPREFERENCE" val="False"/>
</p:tagLst>
</file>

<file path=ppt/tags/tag12.xml><?xml version="1.0" encoding="utf-8"?>
<p:tagLst xmlns:a="http://schemas.openxmlformats.org/drawingml/2006/main" xmlns:r="http://schemas.openxmlformats.org/officeDocument/2006/relationships" xmlns:p="http://schemas.openxmlformats.org/presentationml/2006/main">
  <p:tag name="NOPREFERENCE" val="False"/>
</p:tagLst>
</file>

<file path=ppt/tags/tag13.xml><?xml version="1.0" encoding="utf-8"?>
<p:tagLst xmlns:a="http://schemas.openxmlformats.org/drawingml/2006/main" xmlns:r="http://schemas.openxmlformats.org/officeDocument/2006/relationships" xmlns:p="http://schemas.openxmlformats.org/presentationml/2006/main">
  <p:tag name="NOPREFERENCE" val="False"/>
</p:tagLst>
</file>

<file path=ppt/tags/tag14.xml><?xml version="1.0" encoding="utf-8"?>
<p:tagLst xmlns:a="http://schemas.openxmlformats.org/drawingml/2006/main" xmlns:r="http://schemas.openxmlformats.org/officeDocument/2006/relationships" xmlns:p="http://schemas.openxmlformats.org/presentationml/2006/main">
  <p:tag name="NOPREFERENCE" val="False"/>
</p:tagLst>
</file>

<file path=ppt/tags/tag15.xml><?xml version="1.0" encoding="utf-8"?>
<p:tagLst xmlns:a="http://schemas.openxmlformats.org/drawingml/2006/main" xmlns:r="http://schemas.openxmlformats.org/officeDocument/2006/relationships" xmlns:p="http://schemas.openxmlformats.org/presentationml/2006/main">
  <p:tag name="NOPREFERENCE" val="False"/>
</p:tagLst>
</file>

<file path=ppt/tags/tag16.xml><?xml version="1.0" encoding="utf-8"?>
<p:tagLst xmlns:a="http://schemas.openxmlformats.org/drawingml/2006/main" xmlns:r="http://schemas.openxmlformats.org/officeDocument/2006/relationships" xmlns:p="http://schemas.openxmlformats.org/presentationml/2006/main">
  <p:tag name="NOPREFERENCE" val="False"/>
</p:tagLst>
</file>

<file path=ppt/tags/tag17.xml><?xml version="1.0" encoding="utf-8"?>
<p:tagLst xmlns:a="http://schemas.openxmlformats.org/drawingml/2006/main" xmlns:r="http://schemas.openxmlformats.org/officeDocument/2006/relationships" xmlns:p="http://schemas.openxmlformats.org/presentationml/2006/main">
  <p:tag name="NOPREFERENCE" val="False"/>
</p:tagLst>
</file>

<file path=ppt/tags/tag18.xml><?xml version="1.0" encoding="utf-8"?>
<p:tagLst xmlns:a="http://schemas.openxmlformats.org/drawingml/2006/main" xmlns:r="http://schemas.openxmlformats.org/officeDocument/2006/relationships" xmlns:p="http://schemas.openxmlformats.org/presentationml/2006/main">
  <p:tag name="NOPREFERENCE" val="False"/>
</p:tagLst>
</file>

<file path=ppt/tags/tag19.xml><?xml version="1.0" encoding="utf-8"?>
<p:tagLst xmlns:a="http://schemas.openxmlformats.org/drawingml/2006/main" xmlns:r="http://schemas.openxmlformats.org/officeDocument/2006/relationships" xmlns:p="http://schemas.openxmlformats.org/presentationml/2006/main">
  <p:tag name="NOPREFERENCE" val="False"/>
</p:tagLst>
</file>

<file path=ppt/tags/tag20.xml><?xml version="1.0" encoding="utf-8"?>
<p:tagLst xmlns:a="http://schemas.openxmlformats.org/drawingml/2006/main" xmlns:r="http://schemas.openxmlformats.org/officeDocument/2006/relationships" xmlns:p="http://schemas.openxmlformats.org/presentationml/2006/main">
  <p:tag name="NOPREFERENCE" val="False"/>
</p:tagLst>
</file>

<file path=ppt/tags/tag21.xml><?xml version="1.0" encoding="utf-8"?>
<p:tagLst xmlns:a="http://schemas.openxmlformats.org/drawingml/2006/main" xmlns:r="http://schemas.openxmlformats.org/officeDocument/2006/relationships" xmlns:p="http://schemas.openxmlformats.org/presentationml/2006/main">
  <p:tag name="NOPREFERENCE" val="False"/>
</p:tagLst>
</file>

<file path=ppt/tags/tag22.xml><?xml version="1.0" encoding="utf-8"?>
<p:tagLst xmlns:a="http://schemas.openxmlformats.org/drawingml/2006/main" xmlns:r="http://schemas.openxmlformats.org/officeDocument/2006/relationships" xmlns:p="http://schemas.openxmlformats.org/presentationml/2006/main">
  <p:tag name="NOPREFERENCE" val="False"/>
</p:tagLst>
</file>

<file path=ppt/tags/tag23.xml><?xml version="1.0" encoding="utf-8"?>
<p:tagLst xmlns:a="http://schemas.openxmlformats.org/drawingml/2006/main" xmlns:r="http://schemas.openxmlformats.org/officeDocument/2006/relationships" xmlns:p="http://schemas.openxmlformats.org/presentationml/2006/main">
  <p:tag name="NOPREFERENCE" val="False"/>
</p:tagLst>
</file>

<file path=ppt/tags/tag24.xml><?xml version="1.0" encoding="utf-8"?>
<p:tagLst xmlns:a="http://schemas.openxmlformats.org/drawingml/2006/main" xmlns:r="http://schemas.openxmlformats.org/officeDocument/2006/relationships" xmlns:p="http://schemas.openxmlformats.org/presentationml/2006/main">
  <p:tag name="NOPREFERENCE" val="False"/>
</p:tagLst>
</file>

<file path=ppt/tags/tag25.xml><?xml version="1.0" encoding="utf-8"?>
<p:tagLst xmlns:a="http://schemas.openxmlformats.org/drawingml/2006/main" xmlns:r="http://schemas.openxmlformats.org/officeDocument/2006/relationships" xmlns:p="http://schemas.openxmlformats.org/presentationml/2006/main">
  <p:tag name="NOPREFERENCE" val="False"/>
</p:tagLst>
</file>

<file path=ppt/tags/tag26.xml><?xml version="1.0" encoding="utf-8"?>
<p:tagLst xmlns:a="http://schemas.openxmlformats.org/drawingml/2006/main" xmlns:r="http://schemas.openxmlformats.org/officeDocument/2006/relationships" xmlns:p="http://schemas.openxmlformats.org/presentationml/2006/main">
  <p:tag name="NOPREFERENCE" val="False"/>
</p:tagLst>
</file>

<file path=ppt/tags/tag27.xml><?xml version="1.0" encoding="utf-8"?>
<p:tagLst xmlns:a="http://schemas.openxmlformats.org/drawingml/2006/main" xmlns:r="http://schemas.openxmlformats.org/officeDocument/2006/relationships" xmlns:p="http://schemas.openxmlformats.org/presentationml/2006/main">
  <p:tag name="NOPREFERENCE" val="False"/>
</p:tagLst>
</file>

<file path=ppt/tags/tag28.xml><?xml version="1.0" encoding="utf-8"?>
<p:tagLst xmlns:a="http://schemas.openxmlformats.org/drawingml/2006/main" xmlns:r="http://schemas.openxmlformats.org/officeDocument/2006/relationships" xmlns:p="http://schemas.openxmlformats.org/presentationml/2006/main">
  <p:tag name="NOPREFERENCE" val="False"/>
</p:tagLst>
</file>

<file path=ppt/tags/tag29.xml><?xml version="1.0" encoding="utf-8"?>
<p:tagLst xmlns:a="http://schemas.openxmlformats.org/drawingml/2006/main" xmlns:r="http://schemas.openxmlformats.org/officeDocument/2006/relationships" xmlns:p="http://schemas.openxmlformats.org/presentationml/2006/main">
  <p:tag name="NOPREFERENCE" val="False"/>
</p:tagLst>
</file>

<file path=ppt/tags/tag30.xml><?xml version="1.0" encoding="utf-8"?>
<p:tagLst xmlns:a="http://schemas.openxmlformats.org/drawingml/2006/main" xmlns:r="http://schemas.openxmlformats.org/officeDocument/2006/relationships" xmlns:p="http://schemas.openxmlformats.org/presentationml/2006/main">
  <p:tag name="NOPREFERENCE" val="False"/>
</p:tagLst>
</file>

<file path=ppt/tags/tag31.xml><?xml version="1.0" encoding="utf-8"?>
<p:tagLst xmlns:a="http://schemas.openxmlformats.org/drawingml/2006/main" xmlns:r="http://schemas.openxmlformats.org/officeDocument/2006/relationships" xmlns:p="http://schemas.openxmlformats.org/presentationml/2006/main">
  <p:tag name="NOPREFERENCE" val="False"/>
</p:tagLst>
</file>

<file path=ppt/tags/tag32.xml><?xml version="1.0" encoding="utf-8"?>
<p:tagLst xmlns:a="http://schemas.openxmlformats.org/drawingml/2006/main" xmlns:r="http://schemas.openxmlformats.org/officeDocument/2006/relationships" xmlns:p="http://schemas.openxmlformats.org/presentationml/2006/main">
  <p:tag name="NOPREFERENCE" val="False"/>
</p:tagLst>
</file>

<file path=ppt/tags/tag33.xml><?xml version="1.0" encoding="utf-8"?>
<p:tagLst xmlns:a="http://schemas.openxmlformats.org/drawingml/2006/main" xmlns:r="http://schemas.openxmlformats.org/officeDocument/2006/relationships" xmlns:p="http://schemas.openxmlformats.org/presentationml/2006/main">
  <p:tag name="NOPREFERENCE" val="False"/>
</p:tagLst>
</file>

<file path=ppt/tags/tag34.xml><?xml version="1.0" encoding="utf-8"?>
<p:tagLst xmlns:a="http://schemas.openxmlformats.org/drawingml/2006/main" xmlns:r="http://schemas.openxmlformats.org/officeDocument/2006/relationships" xmlns:p="http://schemas.openxmlformats.org/presentationml/2006/main">
  <p:tag name="NOPREFERENCE" val="False"/>
</p:tagLst>
</file>

<file path=ppt/tags/tag35.xml><?xml version="1.0" encoding="utf-8"?>
<p:tagLst xmlns:a="http://schemas.openxmlformats.org/drawingml/2006/main" xmlns:r="http://schemas.openxmlformats.org/officeDocument/2006/relationships" xmlns:p="http://schemas.openxmlformats.org/presentationml/2006/main">
  <p:tag name="NOPREFERENCE" val="False"/>
</p:tagLst>
</file>

<file path=ppt/tags/tag36.xml><?xml version="1.0" encoding="utf-8"?>
<p:tagLst xmlns:a="http://schemas.openxmlformats.org/drawingml/2006/main" xmlns:r="http://schemas.openxmlformats.org/officeDocument/2006/relationships" xmlns:p="http://schemas.openxmlformats.org/presentationml/2006/main">
  <p:tag name="NOPREFERENCE" val="False"/>
</p:tagLst>
</file>

<file path=ppt/tags/tag37.xml><?xml version="1.0" encoding="utf-8"?>
<p:tagLst xmlns:a="http://schemas.openxmlformats.org/drawingml/2006/main" xmlns:r="http://schemas.openxmlformats.org/officeDocument/2006/relationships" xmlns:p="http://schemas.openxmlformats.org/presentationml/2006/main">
  <p:tag name="NOPREFERENCE" val="False"/>
</p:tagLst>
</file>

<file path=ppt/tags/tag38.xml><?xml version="1.0" encoding="utf-8"?>
<p:tagLst xmlns:a="http://schemas.openxmlformats.org/drawingml/2006/main" xmlns:r="http://schemas.openxmlformats.org/officeDocument/2006/relationships" xmlns:p="http://schemas.openxmlformats.org/presentationml/2006/main">
  <p:tag name="NOPREFERENCE" val="False"/>
</p:tagLst>
</file>

<file path=ppt/tags/tag39.xml><?xml version="1.0" encoding="utf-8"?>
<p:tagLst xmlns:a="http://schemas.openxmlformats.org/drawingml/2006/main" xmlns:r="http://schemas.openxmlformats.org/officeDocument/2006/relationships" xmlns:p="http://schemas.openxmlformats.org/presentationml/2006/main">
  <p:tag name="NOPREFERENCE" val="False"/>
</p:tagLst>
</file>

<file path=ppt/tags/tag40.xml><?xml version="1.0" encoding="utf-8"?>
<p:tagLst xmlns:a="http://schemas.openxmlformats.org/drawingml/2006/main" xmlns:r="http://schemas.openxmlformats.org/officeDocument/2006/relationships" xmlns:p="http://schemas.openxmlformats.org/presentationml/2006/main">
  <p:tag name="NOPREFERENCE" val="False"/>
</p:tagLst>
</file>

<file path=ppt/tags/tag41.xml><?xml version="1.0" encoding="utf-8"?>
<p:tagLst xmlns:a="http://schemas.openxmlformats.org/drawingml/2006/main" xmlns:r="http://schemas.openxmlformats.org/officeDocument/2006/relationships" xmlns:p="http://schemas.openxmlformats.org/presentationml/2006/main">
  <p:tag name="NOPREFERENCE" val="False"/>
</p:tagLst>
</file>

<file path=ppt/tags/tag42.xml><?xml version="1.0" encoding="utf-8"?>
<p:tagLst xmlns:a="http://schemas.openxmlformats.org/drawingml/2006/main" xmlns:r="http://schemas.openxmlformats.org/officeDocument/2006/relationships" xmlns:p="http://schemas.openxmlformats.org/presentationml/2006/main">
  <p:tag name="NOPREFERENCE" val="False"/>
</p:tagLst>
</file>

<file path=ppt/tags/tag43.xml><?xml version="1.0" encoding="utf-8"?>
<p:tagLst xmlns:a="http://schemas.openxmlformats.org/drawingml/2006/main" xmlns:r="http://schemas.openxmlformats.org/officeDocument/2006/relationships" xmlns:p="http://schemas.openxmlformats.org/presentationml/2006/main">
  <p:tag name="NOPREFERENCE" val="False"/>
</p:tagLst>
</file>

<file path=ppt/tags/tag44.xml><?xml version="1.0" encoding="utf-8"?>
<p:tagLst xmlns:a="http://schemas.openxmlformats.org/drawingml/2006/main" xmlns:r="http://schemas.openxmlformats.org/officeDocument/2006/relationships" xmlns:p="http://schemas.openxmlformats.org/presentationml/2006/main">
  <p:tag name="NOPREFERENCE" val="False"/>
</p:tagLst>
</file>

<file path=ppt/tags/tag45.xml><?xml version="1.0" encoding="utf-8"?>
<p:tagLst xmlns:a="http://schemas.openxmlformats.org/drawingml/2006/main" xmlns:r="http://schemas.openxmlformats.org/officeDocument/2006/relationships" xmlns:p="http://schemas.openxmlformats.org/presentationml/2006/main">
  <p:tag name="NOPREFERENCE" val="False"/>
</p:tagLst>
</file>

<file path=ppt/tags/tag46.xml><?xml version="1.0" encoding="utf-8"?>
<p:tagLst xmlns:a="http://schemas.openxmlformats.org/drawingml/2006/main" xmlns:r="http://schemas.openxmlformats.org/officeDocument/2006/relationships" xmlns:p="http://schemas.openxmlformats.org/presentationml/2006/main">
  <p:tag name="NOPREFERENCE" val="False"/>
</p:tagLst>
</file>

<file path=ppt/tags/tag47.xml><?xml version="1.0" encoding="utf-8"?>
<p:tagLst xmlns:a="http://schemas.openxmlformats.org/drawingml/2006/main" xmlns:r="http://schemas.openxmlformats.org/officeDocument/2006/relationships" xmlns:p="http://schemas.openxmlformats.org/presentationml/2006/main">
  <p:tag name="NOPREFERENCE" val="False"/>
</p:tagLst>
</file>

<file path=ppt/tags/tag48.xml><?xml version="1.0" encoding="utf-8"?>
<p:tagLst xmlns:a="http://schemas.openxmlformats.org/drawingml/2006/main" xmlns:r="http://schemas.openxmlformats.org/officeDocument/2006/relationships" xmlns:p="http://schemas.openxmlformats.org/presentationml/2006/main">
  <p:tag name="NOPREFERENCE" val="False"/>
</p:tagLst>
</file>

<file path=ppt/tags/tag49.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Curves 16x9">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Curves 16x9">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ves_16x9">
      <a:dk1>
        <a:sysClr val="windowText" lastClr="000000"/>
      </a:dk1>
      <a:lt1>
        <a:sysClr val="window" lastClr="FFFFFF"/>
      </a:lt1>
      <a:dk2>
        <a:srgbClr val="1D4D53"/>
      </a:dk2>
      <a:lt2>
        <a:srgbClr val="96D2DA"/>
      </a:lt2>
      <a:accent1>
        <a:srgbClr val="00B1C5"/>
      </a:accent1>
      <a:accent2>
        <a:srgbClr val="49AF0A"/>
      </a:accent2>
      <a:accent3>
        <a:srgbClr val="6457DB"/>
      </a:accent3>
      <a:accent4>
        <a:srgbClr val="CF4895"/>
      </a:accent4>
      <a:accent5>
        <a:srgbClr val="0065E1"/>
      </a:accent5>
      <a:accent6>
        <a:srgbClr val="A84BE1"/>
      </a:accent6>
      <a:hlink>
        <a:srgbClr val="CF4895"/>
      </a:hlink>
      <a:folHlink>
        <a:srgbClr val="7F7F7F"/>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Curves_16x9">
      <a:dk1>
        <a:sysClr val="windowText" lastClr="000000"/>
      </a:dk1>
      <a:lt1>
        <a:sysClr val="window" lastClr="FFFFFF"/>
      </a:lt1>
      <a:dk2>
        <a:srgbClr val="1D4D53"/>
      </a:dk2>
      <a:lt2>
        <a:srgbClr val="96D2DA"/>
      </a:lt2>
      <a:accent1>
        <a:srgbClr val="00B1C5"/>
      </a:accent1>
      <a:accent2>
        <a:srgbClr val="49AF0A"/>
      </a:accent2>
      <a:accent3>
        <a:srgbClr val="6457DB"/>
      </a:accent3>
      <a:accent4>
        <a:srgbClr val="CF4895"/>
      </a:accent4>
      <a:accent5>
        <a:srgbClr val="0065E1"/>
      </a:accent5>
      <a:accent6>
        <a:srgbClr val="A84BE1"/>
      </a:accent6>
      <a:hlink>
        <a:srgbClr val="CF4895"/>
      </a:hlink>
      <a:folHlink>
        <a:srgbClr val="7F7F7F"/>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D8D31E73-3400-43EB-B8BB-CAAED88672E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Musical curves presentation (widescreen)</Template>
  <TotalTime>0</TotalTime>
  <Words>6946</Words>
  <Application>Microsoft Office PowerPoint</Application>
  <PresentationFormat>Custom</PresentationFormat>
  <Paragraphs>682</Paragraphs>
  <Slides>63</Slides>
  <Notes>45</Notes>
  <HiddenSlides>2</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63</vt:i4>
      </vt:variant>
    </vt:vector>
  </HeadingPairs>
  <TitlesOfParts>
    <vt:vector size="71" baseType="lpstr">
      <vt:lpstr>PMingLiU</vt:lpstr>
      <vt:lpstr>Arial</vt:lpstr>
      <vt:lpstr>Calibri</vt:lpstr>
      <vt:lpstr>Euphemia</vt:lpstr>
      <vt:lpstr>Wingdings</vt:lpstr>
      <vt:lpstr>Curves 16x9</vt:lpstr>
      <vt:lpstr>1_Curves 16x9</vt:lpstr>
      <vt:lpstr>Image</vt:lpstr>
      <vt:lpstr>PowerPoint Presentation</vt:lpstr>
      <vt:lpstr>Objectives</vt:lpstr>
      <vt:lpstr>Modeling Real World Systems</vt:lpstr>
      <vt:lpstr>Modeling OO Application</vt:lpstr>
      <vt:lpstr>Modeling OO Application</vt:lpstr>
      <vt:lpstr>Software Development Process</vt:lpstr>
      <vt:lpstr>A Short Example</vt:lpstr>
      <vt:lpstr>A Short Example</vt:lpstr>
      <vt:lpstr>A Short Example</vt:lpstr>
      <vt:lpstr>A Short Example</vt:lpstr>
      <vt:lpstr>A Short Example</vt:lpstr>
      <vt:lpstr>Case Study: A Blackjack Example</vt:lpstr>
      <vt:lpstr>Blackjack Requirement</vt:lpstr>
      <vt:lpstr>Class Diagram</vt:lpstr>
      <vt:lpstr>Objectives</vt:lpstr>
      <vt:lpstr>Design Case Study</vt:lpstr>
      <vt:lpstr>Requirements  </vt:lpstr>
      <vt:lpstr>Blackjack Rules  </vt:lpstr>
      <vt:lpstr>Goal of Game</vt:lpstr>
      <vt:lpstr>Dealer’s Role</vt:lpstr>
      <vt:lpstr>Card</vt:lpstr>
      <vt:lpstr>Player</vt:lpstr>
      <vt:lpstr>Card</vt:lpstr>
      <vt:lpstr>Rules</vt:lpstr>
      <vt:lpstr>Draw </vt:lpstr>
      <vt:lpstr>Topic 2: Steps in Designing a Case Study</vt:lpstr>
      <vt:lpstr>Next Step</vt:lpstr>
      <vt:lpstr>Blackjack CRC </vt:lpstr>
      <vt:lpstr>Nouns</vt:lpstr>
      <vt:lpstr>Identify Nouns </vt:lpstr>
      <vt:lpstr>Process Of Elimination </vt:lpstr>
      <vt:lpstr>Process Of Elimination  </vt:lpstr>
      <vt:lpstr>Explanation</vt:lpstr>
      <vt:lpstr>Explanation</vt:lpstr>
      <vt:lpstr>Explanation</vt:lpstr>
      <vt:lpstr>What About Bet? </vt:lpstr>
      <vt:lpstr>Blackjack Game Picture</vt:lpstr>
      <vt:lpstr>Identify Class Responsibilities</vt:lpstr>
      <vt:lpstr>What do we need to know about a card?</vt:lpstr>
      <vt:lpstr>Now on your own </vt:lpstr>
      <vt:lpstr>What do we need to know about Deck?</vt:lpstr>
      <vt:lpstr>What do we need to know about Hand?</vt:lpstr>
      <vt:lpstr>What do we need to know about Dealer?</vt:lpstr>
      <vt:lpstr>What do we need to know about Player?</vt:lpstr>
      <vt:lpstr>What do we need to know about Bet?</vt:lpstr>
      <vt:lpstr>Let’s review our verbs</vt:lpstr>
      <vt:lpstr>Card</vt:lpstr>
      <vt:lpstr>Deck</vt:lpstr>
      <vt:lpstr>Hand- All Needed</vt:lpstr>
      <vt:lpstr>Dealer</vt:lpstr>
      <vt:lpstr>Player</vt:lpstr>
      <vt:lpstr>Bet Class Issues</vt:lpstr>
      <vt:lpstr>Ready To Create CRC Cards</vt:lpstr>
      <vt:lpstr>CRC Cards</vt:lpstr>
      <vt:lpstr>History on CRC Cards</vt:lpstr>
      <vt:lpstr>Why Use CRC Cards?</vt:lpstr>
      <vt:lpstr>Card CRC</vt:lpstr>
      <vt:lpstr>Deck CRC</vt:lpstr>
      <vt:lpstr>Dealer CRC</vt:lpstr>
      <vt:lpstr>Player CRC</vt:lpstr>
      <vt:lpstr>Hand CRC</vt:lpstr>
      <vt:lpstr>Blackjack UML</vt:lpstr>
      <vt:lpstr>What’s next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2016-09-21T07:05:32Z</dcterms:created>
  <dcterms:modified xsi:type="dcterms:W3CDTF">2024-10-30T08:15:55Z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TC028010949991</vt:lpwstr>
  </property>
</Properties>
</file>